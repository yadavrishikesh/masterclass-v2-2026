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78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CS391R:</a:t>
            </a:r>
            <a:r>
              <a:rPr spc="25" dirty="0"/>
              <a:t> </a:t>
            </a:r>
            <a:r>
              <a:rPr dirty="0"/>
              <a:t>Robot</a:t>
            </a:r>
            <a:r>
              <a:rPr spc="30" dirty="0"/>
              <a:t> </a:t>
            </a:r>
            <a:r>
              <a:rPr dirty="0"/>
              <a:t>Learning</a:t>
            </a:r>
            <a:r>
              <a:rPr spc="30" dirty="0"/>
              <a:t> </a:t>
            </a:r>
            <a:r>
              <a:rPr spc="-30" dirty="0"/>
              <a:t>(Fall</a:t>
            </a:r>
            <a:r>
              <a:rPr spc="30" dirty="0"/>
              <a:t> </a:t>
            </a:r>
            <a:r>
              <a:rPr spc="-10" dirty="0"/>
              <a:t>2022)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CS391R:</a:t>
            </a:r>
            <a:r>
              <a:rPr spc="25" dirty="0"/>
              <a:t> </a:t>
            </a:r>
            <a:r>
              <a:rPr dirty="0"/>
              <a:t>Robot</a:t>
            </a:r>
            <a:r>
              <a:rPr spc="30" dirty="0"/>
              <a:t> </a:t>
            </a:r>
            <a:r>
              <a:rPr dirty="0"/>
              <a:t>Learning</a:t>
            </a:r>
            <a:r>
              <a:rPr spc="30" dirty="0"/>
              <a:t> </a:t>
            </a:r>
            <a:r>
              <a:rPr spc="-30" dirty="0"/>
              <a:t>(Fall</a:t>
            </a:r>
            <a:r>
              <a:rPr spc="30" dirty="0"/>
              <a:t> </a:t>
            </a:r>
            <a:r>
              <a:rPr spc="-10" dirty="0"/>
              <a:t>2022)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4725" y="1095913"/>
            <a:ext cx="3890645" cy="2799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CS391R:</a:t>
            </a:r>
            <a:r>
              <a:rPr spc="25" dirty="0"/>
              <a:t> </a:t>
            </a:r>
            <a:r>
              <a:rPr dirty="0"/>
              <a:t>Robot</a:t>
            </a:r>
            <a:r>
              <a:rPr spc="30" dirty="0"/>
              <a:t> </a:t>
            </a:r>
            <a:r>
              <a:rPr dirty="0"/>
              <a:t>Learning</a:t>
            </a:r>
            <a:r>
              <a:rPr spc="30" dirty="0"/>
              <a:t> </a:t>
            </a:r>
            <a:r>
              <a:rPr spc="-30" dirty="0"/>
              <a:t>(Fall</a:t>
            </a:r>
            <a:r>
              <a:rPr spc="30" dirty="0"/>
              <a:t> </a:t>
            </a:r>
            <a:r>
              <a:rPr spc="-10" dirty="0"/>
              <a:t>2022)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CS391R:</a:t>
            </a:r>
            <a:r>
              <a:rPr spc="25" dirty="0"/>
              <a:t> </a:t>
            </a:r>
            <a:r>
              <a:rPr dirty="0"/>
              <a:t>Robot</a:t>
            </a:r>
            <a:r>
              <a:rPr spc="30" dirty="0"/>
              <a:t> </a:t>
            </a:r>
            <a:r>
              <a:rPr dirty="0"/>
              <a:t>Learning</a:t>
            </a:r>
            <a:r>
              <a:rPr spc="30" dirty="0"/>
              <a:t> </a:t>
            </a:r>
            <a:r>
              <a:rPr spc="-30" dirty="0"/>
              <a:t>(Fall</a:t>
            </a:r>
            <a:r>
              <a:rPr spc="30" dirty="0"/>
              <a:t> </a:t>
            </a:r>
            <a:r>
              <a:rPr spc="-10" dirty="0"/>
              <a:t>2022)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CS391R:</a:t>
            </a:r>
            <a:r>
              <a:rPr spc="25" dirty="0"/>
              <a:t> </a:t>
            </a:r>
            <a:r>
              <a:rPr dirty="0"/>
              <a:t>Robot</a:t>
            </a:r>
            <a:r>
              <a:rPr spc="30" dirty="0"/>
              <a:t> </a:t>
            </a:r>
            <a:r>
              <a:rPr dirty="0"/>
              <a:t>Learning</a:t>
            </a:r>
            <a:r>
              <a:rPr spc="30" dirty="0"/>
              <a:t> </a:t>
            </a:r>
            <a:r>
              <a:rPr spc="-30" dirty="0"/>
              <a:t>(Fall</a:t>
            </a:r>
            <a:r>
              <a:rPr spc="30" dirty="0"/>
              <a:t> </a:t>
            </a:r>
            <a:r>
              <a:rPr spc="-10" dirty="0"/>
              <a:t>2022)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44398"/>
            <a:ext cx="9144000" cy="299720"/>
          </a:xfrm>
          <a:custGeom>
            <a:avLst/>
            <a:gdLst/>
            <a:ahLst/>
            <a:cxnLst/>
            <a:rect l="l" t="t" r="r" b="b"/>
            <a:pathLst>
              <a:path w="9144000" h="299720">
                <a:moveTo>
                  <a:pt x="9143999" y="299101"/>
                </a:moveTo>
                <a:lnTo>
                  <a:pt x="0" y="299101"/>
                </a:lnTo>
                <a:lnTo>
                  <a:pt x="0" y="0"/>
                </a:lnTo>
                <a:lnTo>
                  <a:pt x="9143999" y="0"/>
                </a:lnTo>
                <a:lnTo>
                  <a:pt x="9143999" y="299101"/>
                </a:lnTo>
                <a:close/>
              </a:path>
            </a:pathLst>
          </a:custGeom>
          <a:solidFill>
            <a:srgbClr val="BE5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66764"/>
            <a:ext cx="637413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4751" y="1086273"/>
            <a:ext cx="4778375" cy="294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186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CS391R:</a:t>
            </a:r>
            <a:r>
              <a:rPr spc="25" dirty="0"/>
              <a:t> </a:t>
            </a:r>
            <a:r>
              <a:rPr dirty="0"/>
              <a:t>Robot</a:t>
            </a:r>
            <a:r>
              <a:rPr spc="30" dirty="0"/>
              <a:t> </a:t>
            </a:r>
            <a:r>
              <a:rPr dirty="0"/>
              <a:t>Learning</a:t>
            </a:r>
            <a:r>
              <a:rPr spc="30" dirty="0"/>
              <a:t> </a:t>
            </a:r>
            <a:r>
              <a:rPr spc="-30" dirty="0"/>
              <a:t>(Fall</a:t>
            </a:r>
            <a:r>
              <a:rPr spc="30" dirty="0"/>
              <a:t> </a:t>
            </a:r>
            <a:r>
              <a:rPr spc="-10" dirty="0"/>
              <a:t>2022)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04367" y="4911998"/>
            <a:ext cx="2051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02.09402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QQlZhbC5ps" TargetMode="External"/><Relationship Id="rId2" Type="http://schemas.openxmlformats.org/officeDocument/2006/relationships/hyperlink" Target="https://jalammar.github.io/illustrated-transformer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9144000" cy="556260"/>
          </a:xfrm>
          <a:custGeom>
            <a:avLst/>
            <a:gdLst/>
            <a:ahLst/>
            <a:cxnLst/>
            <a:rect l="l" t="t" r="r" b="b"/>
            <a:pathLst>
              <a:path w="9144000" h="556260">
                <a:moveTo>
                  <a:pt x="9143999" y="556259"/>
                </a:moveTo>
                <a:lnTo>
                  <a:pt x="0" y="55625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56259"/>
                </a:lnTo>
                <a:close/>
              </a:path>
            </a:pathLst>
          </a:custGeom>
          <a:solidFill>
            <a:srgbClr val="BE5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68252" y="1674843"/>
            <a:ext cx="5005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Attention</a:t>
            </a:r>
            <a:r>
              <a:rPr sz="3600" spc="-80" dirty="0"/>
              <a:t> </a:t>
            </a:r>
            <a:r>
              <a:rPr sz="3600" dirty="0"/>
              <a:t>is</a:t>
            </a:r>
            <a:r>
              <a:rPr sz="3600" spc="-250" dirty="0"/>
              <a:t> </a:t>
            </a:r>
            <a:r>
              <a:rPr sz="3600" dirty="0"/>
              <a:t>All</a:t>
            </a:r>
            <a:r>
              <a:rPr sz="3600" spc="-130" dirty="0"/>
              <a:t> </a:t>
            </a:r>
            <a:r>
              <a:rPr sz="3600" spc="-50" dirty="0"/>
              <a:t>You</a:t>
            </a:r>
            <a:r>
              <a:rPr sz="3600" spc="-65" dirty="0"/>
              <a:t> </a:t>
            </a:r>
            <a:r>
              <a:rPr sz="3600" spc="-20" dirty="0"/>
              <a:t>Need</a:t>
            </a:r>
            <a:endParaRPr sz="360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10" dirty="0"/>
              <a:t>Master Class 2026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147971" y="2862358"/>
            <a:ext cx="2846705" cy="13465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000" spc="-10" dirty="0">
                <a:solidFill>
                  <a:srgbClr val="595959"/>
                </a:solidFill>
                <a:latin typeface="Arial MT"/>
                <a:cs typeface="Arial MT"/>
              </a:rPr>
              <a:t>Prof. Sarita Azad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000" spc="-10" dirty="0">
                <a:solidFill>
                  <a:srgbClr val="595959"/>
                </a:solidFill>
                <a:latin typeface="Arial MT"/>
                <a:cs typeface="Arial MT"/>
              </a:rPr>
              <a:t>IIT Mandi 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2000" dirty="0">
              <a:latin typeface="Arial MT"/>
              <a:cs typeface="Arial MT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lang="en-US" sz="2000" spc="-10" dirty="0">
                <a:solidFill>
                  <a:srgbClr val="595959"/>
                </a:solidFill>
                <a:latin typeface="Arial MT"/>
                <a:cs typeface="Arial MT"/>
              </a:rPr>
              <a:t>5</a:t>
            </a:r>
            <a:r>
              <a:rPr lang="en-US" sz="2000" spc="-10" baseline="30000" dirty="0">
                <a:solidFill>
                  <a:srgbClr val="595959"/>
                </a:solidFill>
                <a:latin typeface="Arial MT"/>
                <a:cs typeface="Arial MT"/>
              </a:rPr>
              <a:t>th</a:t>
            </a:r>
            <a:r>
              <a:rPr lang="en-US" sz="2000" spc="-10" dirty="0">
                <a:solidFill>
                  <a:srgbClr val="595959"/>
                </a:solidFill>
                <a:latin typeface="Arial MT"/>
                <a:cs typeface="Arial MT"/>
              </a:rPr>
              <a:t> June 2026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6225" y="1579680"/>
            <a:ext cx="3726295" cy="2061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1274" y="979458"/>
            <a:ext cx="7580630" cy="3009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3188970" indent="-320675">
              <a:lnSpc>
                <a:spcPct val="151000"/>
              </a:lnSpc>
              <a:spcBef>
                <a:spcPts val="100"/>
              </a:spcBef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Transformers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were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developed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solve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problem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machine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translation</a:t>
            </a:r>
            <a:r>
              <a:rPr sz="12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transduction,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neural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machine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translation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…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but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they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so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much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more!</a:t>
            </a:r>
            <a:endParaRPr sz="1200">
              <a:latin typeface="Arial MT"/>
              <a:cs typeface="Arial MT"/>
            </a:endParaRPr>
          </a:p>
          <a:p>
            <a:pPr marL="789940" marR="3695700" lvl="1" indent="-320675">
              <a:lnSpc>
                <a:spcPct val="151000"/>
              </a:lnSpc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Great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performance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computer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vision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like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ViT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(Dosovitskiy,</a:t>
            </a:r>
            <a:r>
              <a:rPr sz="1200" spc="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2020)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735"/>
              </a:spcBef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Image</a:t>
            </a:r>
            <a:r>
              <a:rPr sz="12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Classification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(CoCa</a:t>
            </a:r>
            <a:r>
              <a:rPr sz="12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Transformer)</a:t>
            </a:r>
            <a:endParaRPr sz="1200">
              <a:latin typeface="Arial MT"/>
              <a:cs typeface="Arial MT"/>
            </a:endParaRPr>
          </a:p>
          <a:p>
            <a:pPr marL="789940" marR="3888104" lvl="1" indent="-320675">
              <a:lnSpc>
                <a:spcPct val="151000"/>
              </a:lnSpc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Semantic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Segmentation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(ex: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FD-SwinV2-</a:t>
            </a:r>
            <a:r>
              <a:rPr sz="1200" spc="-50" dirty="0">
                <a:solidFill>
                  <a:srgbClr val="595959"/>
                </a:solidFill>
                <a:latin typeface="Arial MT"/>
                <a:cs typeface="Arial MT"/>
              </a:rPr>
              <a:t>G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Transformer)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735"/>
              </a:spcBef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Object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Detection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(ex: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FD-SwinV2-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G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Transformer)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200">
              <a:latin typeface="Arial MT"/>
              <a:cs typeface="Arial MT"/>
            </a:endParaRPr>
          </a:p>
          <a:p>
            <a:pPr marL="4971415">
              <a:lnSpc>
                <a:spcPct val="100000"/>
              </a:lnSpc>
            </a:pPr>
            <a:r>
              <a:rPr sz="1000" dirty="0">
                <a:latin typeface="Arial MT"/>
                <a:cs typeface="Arial MT"/>
              </a:rPr>
              <a:t>Neural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Machine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Translation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(Bahdanau,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2014)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Previous</a:t>
            </a:r>
            <a:r>
              <a:rPr spc="-114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1274" y="1171109"/>
            <a:ext cx="5071745" cy="337820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309"/>
              </a:spcBef>
              <a:buChar char="●"/>
              <a:tabLst>
                <a:tab pos="332740" algn="l"/>
              </a:tabLst>
            </a:pP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Pre-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2014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RNN,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LSTM,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GRU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09"/>
              </a:spcBef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RNNs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struggled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long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09"/>
              </a:spcBef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Could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not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handle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long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lengths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(forgetful)</a:t>
            </a:r>
            <a:endParaRPr sz="1200">
              <a:latin typeface="Arial MT"/>
              <a:cs typeface="Arial MT"/>
            </a:endParaRPr>
          </a:p>
          <a:p>
            <a:pPr marL="1247140" lvl="2" indent="-320040">
              <a:lnSpc>
                <a:spcPct val="100000"/>
              </a:lnSpc>
              <a:spcBef>
                <a:spcPts val="209"/>
              </a:spcBef>
              <a:buChar char="■"/>
              <a:tabLst>
                <a:tab pos="12471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Example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next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slide</a:t>
            </a:r>
            <a:endParaRPr sz="1200">
              <a:latin typeface="Arial MT"/>
              <a:cs typeface="Arial MT"/>
            </a:endParaRPr>
          </a:p>
          <a:p>
            <a:pPr marL="332740" marR="56515" indent="-320675">
              <a:lnSpc>
                <a:spcPct val="114599"/>
              </a:lnSpc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Neural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Machine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Translation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Jointly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Learning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200" spc="-8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Align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Translate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(Bahdanau,</a:t>
            </a:r>
            <a:r>
              <a:rPr sz="12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2014)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09"/>
              </a:spcBef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Landmark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Paper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09"/>
              </a:spcBef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Proposed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New</a:t>
            </a:r>
            <a:r>
              <a:rPr sz="1200" spc="-8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Architecture:</a:t>
            </a:r>
            <a:endParaRPr sz="1200">
              <a:latin typeface="Arial MT"/>
              <a:cs typeface="Arial MT"/>
            </a:endParaRPr>
          </a:p>
          <a:p>
            <a:pPr marL="1247140" marR="115570" lvl="2" indent="-320675">
              <a:lnSpc>
                <a:spcPct val="114599"/>
              </a:lnSpc>
              <a:buChar char="■"/>
              <a:tabLst>
                <a:tab pos="12471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bidirectional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RNN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encoder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RNN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decoder,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attention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mechanism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between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09"/>
              </a:spcBef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Proposed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initial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idea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attention</a:t>
            </a:r>
            <a:endParaRPr sz="1200">
              <a:latin typeface="Arial MT"/>
              <a:cs typeface="Arial MT"/>
            </a:endParaRPr>
          </a:p>
          <a:p>
            <a:pPr marL="789940" marR="5080" lvl="1" indent="-320675">
              <a:lnSpc>
                <a:spcPct val="114599"/>
              </a:lnSpc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gave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attention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particular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hidden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states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when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decoding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word</a:t>
            </a:r>
            <a:endParaRPr sz="1200">
              <a:latin typeface="Arial MT"/>
              <a:cs typeface="Arial MT"/>
            </a:endParaRPr>
          </a:p>
          <a:p>
            <a:pPr marL="1247140" marR="623570" lvl="2" indent="-320675">
              <a:lnSpc>
                <a:spcPct val="114599"/>
              </a:lnSpc>
              <a:buChar char="■"/>
              <a:tabLst>
                <a:tab pos="12471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Learned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which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words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give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attention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during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translation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word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decoder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09"/>
              </a:spcBef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Still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required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RNN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2000" y="975159"/>
            <a:ext cx="3155624" cy="32375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Context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83820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59974" y="1100116"/>
            <a:ext cx="3908425" cy="297815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300" b="1" dirty="0">
                <a:solidFill>
                  <a:srgbClr val="595959"/>
                </a:solidFill>
                <a:latin typeface="Arial"/>
                <a:cs typeface="Arial"/>
              </a:rPr>
              <a:t>What</a:t>
            </a:r>
            <a:r>
              <a:rPr sz="13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595959"/>
                </a:solidFill>
                <a:latin typeface="Arial"/>
                <a:cs typeface="Arial"/>
              </a:rPr>
              <a:t>issue</a:t>
            </a:r>
            <a:r>
              <a:rPr sz="13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3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sz="13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595959"/>
                </a:solidFill>
                <a:latin typeface="Arial"/>
                <a:cs typeface="Arial"/>
              </a:rPr>
              <a:t>solving?</a:t>
            </a:r>
            <a:endParaRPr sz="1300">
              <a:latin typeface="Arial"/>
              <a:cs typeface="Arial"/>
            </a:endParaRPr>
          </a:p>
          <a:p>
            <a:pPr marL="469265" indent="-371475">
              <a:lnSpc>
                <a:spcPct val="100000"/>
              </a:lnSpc>
              <a:spcBef>
                <a:spcPts val="765"/>
              </a:spcBef>
              <a:buFont typeface="Segoe UI Symbol"/>
              <a:buChar char="❖"/>
              <a:tabLst>
                <a:tab pos="469265" algn="l"/>
              </a:tabLst>
            </a:pP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Previous</a:t>
            </a:r>
            <a:r>
              <a:rPr sz="13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Work:</a:t>
            </a:r>
            <a:r>
              <a:rPr sz="13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RNN,</a:t>
            </a:r>
            <a:r>
              <a:rPr sz="13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LSTM,</a:t>
            </a:r>
            <a:r>
              <a:rPr sz="13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GRU</a:t>
            </a:r>
            <a:endParaRPr sz="1300">
              <a:latin typeface="Arial MT"/>
              <a:cs typeface="Arial MT"/>
            </a:endParaRPr>
          </a:p>
          <a:p>
            <a:pPr marL="469265" indent="-389890">
              <a:lnSpc>
                <a:spcPct val="100000"/>
              </a:lnSpc>
              <a:spcBef>
                <a:spcPts val="765"/>
              </a:spcBef>
              <a:buFont typeface="MS PGothic"/>
              <a:buChar char="❖"/>
              <a:tabLst>
                <a:tab pos="469265" algn="l"/>
              </a:tabLst>
            </a:pP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Slow</a:t>
            </a:r>
            <a:r>
              <a:rPr sz="13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train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(inefficient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/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not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parallelizable)</a:t>
            </a:r>
            <a:endParaRPr sz="1300">
              <a:latin typeface="Arial MT"/>
              <a:cs typeface="Arial MT"/>
            </a:endParaRPr>
          </a:p>
          <a:p>
            <a:pPr marL="927100" marR="5080" lvl="1" indent="-328295">
              <a:lnSpc>
                <a:spcPct val="149000"/>
              </a:lnSpc>
              <a:buChar char="○"/>
              <a:tabLst>
                <a:tab pos="927100" algn="l"/>
              </a:tabLst>
            </a:pP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factorization</a:t>
            </a:r>
            <a:r>
              <a:rPr sz="13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tricks</a:t>
            </a:r>
            <a:r>
              <a:rPr sz="13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help</a:t>
            </a:r>
            <a:r>
              <a:rPr sz="13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efficiency</a:t>
            </a:r>
            <a:r>
              <a:rPr sz="13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but</a:t>
            </a:r>
            <a:r>
              <a:rPr sz="13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still </a:t>
            </a:r>
            <a:r>
              <a:rPr sz="1300" spc="-20" dirty="0">
                <a:solidFill>
                  <a:srgbClr val="595959"/>
                </a:solidFill>
                <a:latin typeface="Arial MT"/>
                <a:cs typeface="Arial MT"/>
              </a:rPr>
              <a:t>slow</a:t>
            </a:r>
            <a:endParaRPr sz="1300">
              <a:latin typeface="Arial MT"/>
              <a:cs typeface="Arial MT"/>
            </a:endParaRPr>
          </a:p>
          <a:p>
            <a:pPr marL="469265" indent="-389890">
              <a:lnSpc>
                <a:spcPct val="100000"/>
              </a:lnSpc>
              <a:spcBef>
                <a:spcPts val="765"/>
              </a:spcBef>
              <a:buFont typeface="MS PGothic"/>
              <a:buChar char="❖"/>
              <a:tabLst>
                <a:tab pos="469265" algn="l"/>
              </a:tabLst>
            </a:pP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Suffer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exploding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vanishing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gradients</a:t>
            </a:r>
            <a:endParaRPr sz="1300">
              <a:latin typeface="Arial MT"/>
              <a:cs typeface="Arial MT"/>
            </a:endParaRPr>
          </a:p>
          <a:p>
            <a:pPr marL="469265" indent="-389890">
              <a:lnSpc>
                <a:spcPct val="100000"/>
              </a:lnSpc>
              <a:spcBef>
                <a:spcPts val="765"/>
              </a:spcBef>
              <a:buFont typeface="MS PGothic"/>
              <a:buChar char="❖"/>
              <a:tabLst>
                <a:tab pos="469265" algn="l"/>
              </a:tabLst>
            </a:pP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Cannot</a:t>
            </a:r>
            <a:r>
              <a:rPr sz="13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handle</a:t>
            </a:r>
            <a:r>
              <a:rPr sz="13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very</a:t>
            </a:r>
            <a:r>
              <a:rPr sz="13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long-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term</a:t>
            </a:r>
            <a:r>
              <a:rPr sz="13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dependencies</a:t>
            </a:r>
            <a:endParaRPr sz="1300">
              <a:latin typeface="Arial MT"/>
              <a:cs typeface="Arial MT"/>
            </a:endParaRPr>
          </a:p>
          <a:p>
            <a:pPr marL="927100" marR="377825" lvl="1" indent="-328295">
              <a:lnSpc>
                <a:spcPct val="149000"/>
              </a:lnSpc>
              <a:buChar char="○"/>
              <a:tabLst>
                <a:tab pos="927100" algn="l"/>
              </a:tabLst>
            </a:pP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3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595959"/>
                </a:solidFill>
                <a:latin typeface="Arial MT"/>
                <a:cs typeface="Arial MT"/>
              </a:rPr>
              <a:t>Seq-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Seq</a:t>
            </a:r>
            <a:r>
              <a:rPr sz="13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models,</a:t>
            </a:r>
            <a:r>
              <a:rPr sz="13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decoder</a:t>
            </a:r>
            <a:r>
              <a:rPr sz="13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595959"/>
                </a:solidFill>
                <a:latin typeface="Arial MT"/>
                <a:cs typeface="Arial MT"/>
              </a:rPr>
              <a:t>only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accesses</a:t>
            </a:r>
            <a:r>
              <a:rPr sz="1300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last</a:t>
            </a:r>
            <a:r>
              <a:rPr sz="1300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hidden</a:t>
            </a:r>
            <a:r>
              <a:rPr sz="13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state.</a:t>
            </a:r>
            <a:r>
              <a:rPr sz="1300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Early information</a:t>
            </a:r>
            <a:r>
              <a:rPr sz="13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3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sentence</a:t>
            </a:r>
            <a:r>
              <a:rPr sz="13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3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sz="13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95959"/>
                </a:solidFill>
                <a:latin typeface="Arial MT"/>
                <a:cs typeface="Arial MT"/>
              </a:rPr>
              <a:t>lost.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15075" y="1355573"/>
            <a:ext cx="4494530" cy="27263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9695">
              <a:lnSpc>
                <a:spcPct val="100000"/>
              </a:lnSpc>
              <a:spcBef>
                <a:spcPts val="100"/>
              </a:spcBef>
              <a:tabLst>
                <a:tab pos="695960" algn="l"/>
              </a:tabLst>
            </a:pPr>
            <a:r>
              <a:rPr lang="en-IN" sz="1400" dirty="0">
                <a:latin typeface="Arial MT"/>
                <a:cs typeface="Arial MT"/>
              </a:rPr>
              <a:t>T</a:t>
            </a:r>
            <a:r>
              <a:rPr sz="1400" dirty="0">
                <a:latin typeface="Arial MT"/>
                <a:cs typeface="Arial MT"/>
              </a:rPr>
              <a:t>o</a:t>
            </a:r>
            <a:r>
              <a:rPr lang="en-US" sz="1400" spc="-30" dirty="0">
                <a:latin typeface="Arial MT"/>
                <a:cs typeface="Arial MT"/>
              </a:rPr>
              <a:t> r</a:t>
            </a:r>
            <a:r>
              <a:rPr sz="1400" dirty="0">
                <a:latin typeface="Arial MT"/>
                <a:cs typeface="Arial MT"/>
              </a:rPr>
              <a:t>ead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Attention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All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35" dirty="0">
                <a:latin typeface="Arial MT"/>
                <a:cs typeface="Arial MT"/>
              </a:rPr>
              <a:t>You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Need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Paper.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paper </a:t>
            </a:r>
            <a:r>
              <a:rPr sz="1400" dirty="0">
                <a:latin typeface="Arial MT"/>
                <a:cs typeface="Arial MT"/>
              </a:rPr>
              <a:t>proposes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new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simple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neural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network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architecture </a:t>
            </a:r>
            <a:r>
              <a:rPr sz="1400" dirty="0">
                <a:latin typeface="Arial MT"/>
                <a:cs typeface="Arial MT"/>
              </a:rPr>
              <a:t>called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Transformer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which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relies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upon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attention.</a:t>
            </a:r>
            <a:r>
              <a:rPr sz="1400" spc="-25" dirty="0">
                <a:latin typeface="Arial MT"/>
                <a:cs typeface="Arial MT"/>
              </a:rPr>
              <a:t> It </a:t>
            </a:r>
            <a:r>
              <a:rPr sz="1400" dirty="0">
                <a:latin typeface="Arial MT"/>
                <a:cs typeface="Arial MT"/>
              </a:rPr>
              <a:t>outperforms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RNNs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doesn’t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rely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recurrence</a:t>
            </a:r>
            <a:r>
              <a:rPr sz="1400" spc="-25" dirty="0">
                <a:latin typeface="Arial MT"/>
                <a:cs typeface="Arial MT"/>
              </a:rPr>
              <a:t> or </a:t>
            </a:r>
            <a:r>
              <a:rPr sz="1400" dirty="0">
                <a:latin typeface="Arial MT"/>
                <a:cs typeface="Arial MT"/>
              </a:rPr>
              <a:t>convolution.</a:t>
            </a:r>
            <a:r>
              <a:rPr sz="1400" spc="-30" dirty="0">
                <a:latin typeface="Arial MT"/>
                <a:cs typeface="Arial MT"/>
              </a:rPr>
              <a:t> 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400" dirty="0">
              <a:latin typeface="Arial MT"/>
              <a:cs typeface="Arial MT"/>
            </a:endParaRPr>
          </a:p>
          <a:p>
            <a:pPr marL="4889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 MT"/>
                <a:cs typeface="Arial MT"/>
              </a:rPr>
              <a:t>How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would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RNN,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LSTM,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GRU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fill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word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mask?</a:t>
            </a:r>
            <a:endParaRPr sz="1400" dirty="0">
              <a:latin typeface="Arial MT"/>
              <a:cs typeface="Arial MT"/>
            </a:endParaRPr>
          </a:p>
          <a:p>
            <a:pPr marL="506095" indent="-376555">
              <a:lnSpc>
                <a:spcPct val="100000"/>
              </a:lnSpc>
              <a:buAutoNum type="arabicPeriod"/>
              <a:tabLst>
                <a:tab pos="506095" algn="l"/>
              </a:tabLst>
            </a:pPr>
            <a:r>
              <a:rPr sz="1400" dirty="0">
                <a:latin typeface="Arial MT"/>
                <a:cs typeface="Arial MT"/>
              </a:rPr>
              <a:t>Encode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name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inside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cell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state</a:t>
            </a:r>
            <a:endParaRPr sz="1400" dirty="0">
              <a:latin typeface="Arial MT"/>
              <a:cs typeface="Arial MT"/>
            </a:endParaRPr>
          </a:p>
          <a:p>
            <a:pPr marL="506095" indent="-376555">
              <a:lnSpc>
                <a:spcPct val="100000"/>
              </a:lnSpc>
              <a:buAutoNum type="arabicPeriod"/>
              <a:tabLst>
                <a:tab pos="506095" algn="l"/>
              </a:tabLst>
            </a:pPr>
            <a:r>
              <a:rPr sz="1400" dirty="0">
                <a:latin typeface="Arial MT"/>
                <a:cs typeface="Arial MT"/>
              </a:rPr>
              <a:t>Transfer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cell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word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another</a:t>
            </a:r>
            <a:endParaRPr sz="1400" dirty="0">
              <a:latin typeface="Arial MT"/>
              <a:cs typeface="Arial MT"/>
            </a:endParaRPr>
          </a:p>
          <a:p>
            <a:pPr marL="506095" indent="-376555">
              <a:lnSpc>
                <a:spcPct val="100000"/>
              </a:lnSpc>
              <a:buAutoNum type="arabicPeriod"/>
              <a:tabLst>
                <a:tab pos="506095" algn="l"/>
              </a:tabLst>
            </a:pPr>
            <a:r>
              <a:rPr sz="1400" dirty="0">
                <a:latin typeface="Arial MT"/>
                <a:cs typeface="Arial MT"/>
              </a:rPr>
              <a:t>Decode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name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previous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cell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state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 dirty="0">
              <a:latin typeface="Arial MT"/>
              <a:cs typeface="Arial MT"/>
            </a:endParaRPr>
          </a:p>
          <a:p>
            <a:pPr marL="4889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 MT"/>
                <a:cs typeface="Arial MT"/>
              </a:rPr>
              <a:t>Definitely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not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ideal!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There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better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way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…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Self-</a:t>
            </a:r>
            <a:r>
              <a:rPr spc="-10" dirty="0"/>
              <a:t>Attention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993" y="1086273"/>
            <a:ext cx="4335145" cy="229235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69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element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attends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every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other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element</a:t>
            </a:r>
            <a:endParaRPr sz="1400">
              <a:latin typeface="Arial MT"/>
              <a:cs typeface="Arial MT"/>
            </a:endParaRPr>
          </a:p>
          <a:p>
            <a:pPr marL="348615" marR="17145" indent="-336550">
              <a:lnSpc>
                <a:spcPct val="151800"/>
              </a:lnSpc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an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attention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mechanism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relating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different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positions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single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order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compute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representation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same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endParaRPr sz="1400">
              <a:latin typeface="Arial MT"/>
              <a:cs typeface="Arial MT"/>
            </a:endParaRPr>
          </a:p>
          <a:p>
            <a:pPr marL="348615" marR="5080" indent="-336550">
              <a:lnSpc>
                <a:spcPct val="151800"/>
              </a:lnSpc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4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element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becomes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query,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key,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value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from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embeddings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multiplying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weight matrix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4821" y="772351"/>
            <a:ext cx="3578027" cy="34527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16525" y="4472198"/>
            <a:ext cx="21964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 MT"/>
                <a:cs typeface="Arial MT"/>
              </a:rPr>
              <a:t>https://jalammar.github.io/illustrated-transformer/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3339"/>
            <a:ext cx="34048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Idea</a:t>
            </a:r>
            <a:r>
              <a:rPr spc="-55" dirty="0"/>
              <a:t> </a:t>
            </a:r>
            <a:r>
              <a:rPr spc="-20" dirty="0"/>
              <a:t>Behind</a:t>
            </a:r>
            <a:r>
              <a:rPr spc="-175" dirty="0"/>
              <a:t> </a:t>
            </a:r>
            <a:r>
              <a:rPr spc="-10" dirty="0"/>
              <a:t>Attention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804866" y="377833"/>
            <a:ext cx="3640454" cy="223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 marR="5080" indent="-304165">
              <a:lnSpc>
                <a:spcPct val="151000"/>
              </a:lnSpc>
              <a:spcBef>
                <a:spcPts val="100"/>
              </a:spcBef>
              <a:buFont typeface="Segoe UI Symbol"/>
              <a:buChar char="❖"/>
              <a:tabLst>
                <a:tab pos="316230" algn="l"/>
              </a:tabLst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Paper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“A</a:t>
            </a:r>
            <a:r>
              <a:rPr sz="1200" b="1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mapping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query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set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key-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pairs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output,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query,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keys,</a:t>
            </a:r>
            <a:r>
              <a:rPr sz="12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values,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2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output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2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vectors.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output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computed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weighted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sum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values,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weight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assigned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computed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 compatibility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function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query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corresponding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key”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(Vaswani,</a:t>
            </a:r>
            <a:r>
              <a:rPr sz="1200" b="1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2017)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0970">
              <a:lnSpc>
                <a:spcPct val="100000"/>
              </a:lnSpc>
              <a:spcBef>
                <a:spcPts val="100"/>
              </a:spcBef>
            </a:pPr>
            <a:r>
              <a:rPr dirty="0"/>
              <a:t>Goal:</a:t>
            </a:r>
            <a:r>
              <a:rPr spc="-35" dirty="0"/>
              <a:t> </a:t>
            </a:r>
            <a:r>
              <a:rPr dirty="0"/>
              <a:t>Learn</a:t>
            </a:r>
            <a:r>
              <a:rPr spc="-20" dirty="0"/>
              <a:t> </a:t>
            </a:r>
            <a:r>
              <a:rPr dirty="0"/>
              <a:t>(differentiable)</a:t>
            </a:r>
            <a:r>
              <a:rPr spc="-20" dirty="0"/>
              <a:t> </a:t>
            </a:r>
            <a:r>
              <a:rPr dirty="0"/>
              <a:t>how</a:t>
            </a:r>
            <a:r>
              <a:rPr spc="-2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pick</a:t>
            </a:r>
            <a:r>
              <a:rPr spc="-20" dirty="0"/>
              <a:t> </a:t>
            </a:r>
            <a:r>
              <a:rPr spc="-10" dirty="0"/>
              <a:t>relevant </a:t>
            </a:r>
            <a:r>
              <a:rPr dirty="0"/>
              <a:t>information</a:t>
            </a:r>
            <a:r>
              <a:rPr spc="-30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input</a:t>
            </a:r>
            <a:r>
              <a:rPr spc="-25" dirty="0"/>
              <a:t> </a:t>
            </a:r>
            <a:r>
              <a:rPr spc="-20" dirty="0"/>
              <a:t>data</a:t>
            </a: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pc="-20" dirty="0"/>
          </a:p>
          <a:p>
            <a:pPr marL="469900" marR="156210" indent="-377190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469900" algn="l"/>
              </a:tabLst>
            </a:pPr>
            <a:r>
              <a:rPr dirty="0"/>
              <a:t>Create</a:t>
            </a:r>
            <a:r>
              <a:rPr spc="-30" dirty="0"/>
              <a:t> </a:t>
            </a:r>
            <a:r>
              <a:rPr dirty="0"/>
              <a:t>three</a:t>
            </a:r>
            <a:r>
              <a:rPr spc="-15" dirty="0"/>
              <a:t> </a:t>
            </a:r>
            <a:r>
              <a:rPr dirty="0"/>
              <a:t>vectors</a:t>
            </a:r>
            <a:r>
              <a:rPr spc="-15" dirty="0"/>
              <a:t> </a:t>
            </a:r>
            <a:r>
              <a:rPr dirty="0"/>
              <a:t>from</a:t>
            </a:r>
            <a:r>
              <a:rPr spc="-15" dirty="0"/>
              <a:t> </a:t>
            </a:r>
            <a:r>
              <a:rPr dirty="0"/>
              <a:t>each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the </a:t>
            </a:r>
            <a:r>
              <a:rPr dirty="0"/>
              <a:t>encoder’s</a:t>
            </a:r>
            <a:r>
              <a:rPr spc="-30" dirty="0"/>
              <a:t> </a:t>
            </a:r>
            <a:r>
              <a:rPr dirty="0"/>
              <a:t>input</a:t>
            </a:r>
            <a:r>
              <a:rPr spc="-25" dirty="0"/>
              <a:t> </a:t>
            </a:r>
            <a:r>
              <a:rPr dirty="0"/>
              <a:t>values</a:t>
            </a:r>
            <a:r>
              <a:rPr spc="-25" dirty="0"/>
              <a:t> </a:t>
            </a:r>
            <a:r>
              <a:rPr spc="-10" dirty="0"/>
              <a:t>(</a:t>
            </a:r>
            <a:r>
              <a:rPr spc="-10" dirty="0">
                <a:solidFill>
                  <a:srgbClr val="BE5700"/>
                </a:solidFill>
              </a:rPr>
              <a:t>query,</a:t>
            </a:r>
            <a:r>
              <a:rPr spc="-25" dirty="0">
                <a:solidFill>
                  <a:srgbClr val="BE5700"/>
                </a:solidFill>
              </a:rPr>
              <a:t> </a:t>
            </a:r>
            <a:r>
              <a:rPr spc="-10" dirty="0">
                <a:solidFill>
                  <a:srgbClr val="37761C"/>
                </a:solidFill>
              </a:rPr>
              <a:t>key,</a:t>
            </a:r>
            <a:r>
              <a:rPr spc="-25" dirty="0">
                <a:solidFill>
                  <a:srgbClr val="37761C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value</a:t>
            </a:r>
            <a:r>
              <a:rPr spc="-10" dirty="0"/>
              <a:t>)</a:t>
            </a:r>
          </a:p>
          <a:p>
            <a:pPr marL="469900" marR="5080" indent="-37719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/>
              <a:t>Calculate</a:t>
            </a:r>
            <a:r>
              <a:rPr spc="-3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score</a:t>
            </a:r>
            <a:r>
              <a:rPr spc="-1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how</a:t>
            </a:r>
            <a:r>
              <a:rPr spc="-20" dirty="0"/>
              <a:t> </a:t>
            </a:r>
            <a:r>
              <a:rPr dirty="0"/>
              <a:t>much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focus</a:t>
            </a:r>
            <a:r>
              <a:rPr spc="-15" dirty="0"/>
              <a:t> </a:t>
            </a:r>
            <a:r>
              <a:rPr spc="-35" dirty="0"/>
              <a:t>on </a:t>
            </a:r>
            <a:r>
              <a:rPr dirty="0"/>
              <a:t>each</a:t>
            </a:r>
            <a:r>
              <a:rPr spc="-30" dirty="0"/>
              <a:t> </a:t>
            </a:r>
            <a:r>
              <a:rPr dirty="0"/>
              <a:t>part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input</a:t>
            </a:r>
            <a:r>
              <a:rPr spc="-20" dirty="0"/>
              <a:t> </a:t>
            </a:r>
            <a:r>
              <a:rPr dirty="0"/>
              <a:t>when</a:t>
            </a:r>
            <a:r>
              <a:rPr spc="-15" dirty="0"/>
              <a:t> </a:t>
            </a:r>
            <a:r>
              <a:rPr dirty="0"/>
              <a:t>we</a:t>
            </a:r>
            <a:r>
              <a:rPr spc="-15" dirty="0"/>
              <a:t> </a:t>
            </a:r>
            <a:r>
              <a:rPr spc="-10" dirty="0"/>
              <a:t>encode </a:t>
            </a:r>
            <a:r>
              <a:rPr dirty="0"/>
              <a:t>words</a:t>
            </a:r>
            <a:r>
              <a:rPr spc="-10" dirty="0"/>
              <a:t> </a:t>
            </a:r>
            <a:r>
              <a:rPr dirty="0"/>
              <a:t>at</a:t>
            </a:r>
            <a:r>
              <a:rPr spc="-5" dirty="0"/>
              <a:t> </a:t>
            </a:r>
            <a:r>
              <a:rPr dirty="0"/>
              <a:t>specific</a:t>
            </a:r>
            <a:r>
              <a:rPr spc="-5" dirty="0"/>
              <a:t> </a:t>
            </a:r>
            <a:r>
              <a:rPr spc="-10" dirty="0"/>
              <a:t>positions</a:t>
            </a:r>
          </a:p>
          <a:p>
            <a:pPr marL="469265" indent="-37655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pc="-20" dirty="0"/>
              <a:t>How?</a:t>
            </a:r>
          </a:p>
          <a:p>
            <a:pPr marL="927100" marR="33020" lvl="1" indent="-336550">
              <a:lnSpc>
                <a:spcPct val="100000"/>
              </a:lnSpc>
              <a:buClr>
                <a:srgbClr val="000000"/>
              </a:buClr>
              <a:buChar char="○"/>
              <a:tabLst>
                <a:tab pos="92710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Actual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math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next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slide,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but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idea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select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000FF"/>
                </a:solidFill>
                <a:latin typeface="Arial MT"/>
                <a:cs typeface="Arial MT"/>
              </a:rPr>
              <a:t>value</a:t>
            </a:r>
            <a:r>
              <a:rPr sz="14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(referenced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7761C"/>
                </a:solidFill>
                <a:latin typeface="Arial MT"/>
                <a:cs typeface="Arial MT"/>
              </a:rPr>
              <a:t>key</a:t>
            </a:r>
            <a:r>
              <a:rPr sz="1400" dirty="0">
                <a:latin typeface="Arial MT"/>
                <a:cs typeface="Arial MT"/>
              </a:rPr>
              <a:t>)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relevant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400" dirty="0">
                <a:solidFill>
                  <a:srgbClr val="BE5700"/>
                </a:solidFill>
                <a:latin typeface="Arial MT"/>
                <a:cs typeface="Arial MT"/>
              </a:rPr>
              <a:t>query</a:t>
            </a:r>
            <a:r>
              <a:rPr sz="1400" spc="-10" dirty="0">
                <a:solidFill>
                  <a:srgbClr val="BE570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(what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trying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pull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input)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53662" y="2827499"/>
          <a:ext cx="2372360" cy="1584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key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value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name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Quinn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position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quarterback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Handedness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right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144474" y="4546548"/>
            <a:ext cx="26441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Arial MT"/>
                <a:cs typeface="Arial MT"/>
              </a:rPr>
              <a:t>Keys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values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are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actually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word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embeddings,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not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words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4436" y="3008662"/>
            <a:ext cx="215363" cy="759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2040" y="734709"/>
            <a:ext cx="3570929" cy="6156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55800" y="1279475"/>
            <a:ext cx="4094479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675">
              <a:lnSpc>
                <a:spcPct val="150000"/>
              </a:lnSpc>
              <a:spcBef>
                <a:spcPts val="100"/>
              </a:spcBef>
              <a:buChar char="●"/>
              <a:tabLst>
                <a:tab pos="332740" algn="l"/>
              </a:tabLst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consists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queries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keys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dimension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dk,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values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dimension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595959"/>
                </a:solidFill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Char char="●"/>
              <a:tabLst>
                <a:tab pos="332740" algn="l"/>
              </a:tabLst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Queries</a:t>
            </a:r>
            <a:r>
              <a:rPr sz="12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packed</a:t>
            </a:r>
            <a:r>
              <a:rPr sz="12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into</a:t>
            </a:r>
            <a:r>
              <a:rPr sz="12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matrix</a:t>
            </a:r>
            <a:r>
              <a:rPr sz="12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595959"/>
                </a:solidFill>
                <a:latin typeface="Arial"/>
                <a:cs typeface="Arial"/>
              </a:rPr>
              <a:t>Q</a:t>
            </a:r>
            <a:endParaRPr sz="1200">
              <a:latin typeface="Arial"/>
              <a:cs typeface="Arial"/>
            </a:endParaRPr>
          </a:p>
          <a:p>
            <a:pPr marL="332740" marR="114300" indent="-320675">
              <a:lnSpc>
                <a:spcPct val="150000"/>
              </a:lnSpc>
              <a:buChar char="●"/>
              <a:tabLst>
                <a:tab pos="332740" algn="l"/>
              </a:tabLst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keys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values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also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packed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together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into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matrices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V</a:t>
            </a: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72387" y="3114312"/>
            <a:ext cx="490220" cy="515620"/>
            <a:chOff x="6172387" y="3114312"/>
            <a:chExt cx="490220" cy="515620"/>
          </a:xfrm>
        </p:grpSpPr>
        <p:sp>
          <p:nvSpPr>
            <p:cNvPr id="6" name="object 6"/>
            <p:cNvSpPr/>
            <p:nvPr/>
          </p:nvSpPr>
          <p:spPr>
            <a:xfrm>
              <a:off x="6177150" y="3119074"/>
              <a:ext cx="160655" cy="506095"/>
            </a:xfrm>
            <a:custGeom>
              <a:avLst/>
              <a:gdLst/>
              <a:ahLst/>
              <a:cxnLst/>
              <a:rect l="l" t="t" r="r" b="b"/>
              <a:pathLst>
                <a:path w="160654" h="506095">
                  <a:moveTo>
                    <a:pt x="160199" y="505499"/>
                  </a:moveTo>
                  <a:lnTo>
                    <a:pt x="0" y="505499"/>
                  </a:lnTo>
                  <a:lnTo>
                    <a:pt x="0" y="0"/>
                  </a:lnTo>
                  <a:lnTo>
                    <a:pt x="160199" y="0"/>
                  </a:lnTo>
                  <a:lnTo>
                    <a:pt x="160199" y="505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77150" y="3119074"/>
              <a:ext cx="160655" cy="506095"/>
            </a:xfrm>
            <a:custGeom>
              <a:avLst/>
              <a:gdLst/>
              <a:ahLst/>
              <a:cxnLst/>
              <a:rect l="l" t="t" r="r" b="b"/>
              <a:pathLst>
                <a:path w="160654" h="506095">
                  <a:moveTo>
                    <a:pt x="0" y="0"/>
                  </a:moveTo>
                  <a:lnTo>
                    <a:pt x="160199" y="0"/>
                  </a:lnTo>
                  <a:lnTo>
                    <a:pt x="160199" y="505499"/>
                  </a:lnTo>
                  <a:lnTo>
                    <a:pt x="0" y="505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37350" y="3119074"/>
              <a:ext cx="160655" cy="506095"/>
            </a:xfrm>
            <a:custGeom>
              <a:avLst/>
              <a:gdLst/>
              <a:ahLst/>
              <a:cxnLst/>
              <a:rect l="l" t="t" r="r" b="b"/>
              <a:pathLst>
                <a:path w="160654" h="506095">
                  <a:moveTo>
                    <a:pt x="160199" y="505499"/>
                  </a:moveTo>
                  <a:lnTo>
                    <a:pt x="0" y="505499"/>
                  </a:lnTo>
                  <a:lnTo>
                    <a:pt x="0" y="0"/>
                  </a:lnTo>
                  <a:lnTo>
                    <a:pt x="160199" y="0"/>
                  </a:lnTo>
                  <a:lnTo>
                    <a:pt x="160199" y="505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37350" y="3119074"/>
              <a:ext cx="160655" cy="506095"/>
            </a:xfrm>
            <a:custGeom>
              <a:avLst/>
              <a:gdLst/>
              <a:ahLst/>
              <a:cxnLst/>
              <a:rect l="l" t="t" r="r" b="b"/>
              <a:pathLst>
                <a:path w="160654" h="506095">
                  <a:moveTo>
                    <a:pt x="0" y="0"/>
                  </a:moveTo>
                  <a:lnTo>
                    <a:pt x="160199" y="0"/>
                  </a:lnTo>
                  <a:lnTo>
                    <a:pt x="160199" y="505499"/>
                  </a:lnTo>
                  <a:lnTo>
                    <a:pt x="0" y="505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97550" y="3119074"/>
              <a:ext cx="160655" cy="506095"/>
            </a:xfrm>
            <a:custGeom>
              <a:avLst/>
              <a:gdLst/>
              <a:ahLst/>
              <a:cxnLst/>
              <a:rect l="l" t="t" r="r" b="b"/>
              <a:pathLst>
                <a:path w="160654" h="506095">
                  <a:moveTo>
                    <a:pt x="160199" y="505499"/>
                  </a:moveTo>
                  <a:lnTo>
                    <a:pt x="0" y="505499"/>
                  </a:lnTo>
                  <a:lnTo>
                    <a:pt x="0" y="0"/>
                  </a:lnTo>
                  <a:lnTo>
                    <a:pt x="160199" y="0"/>
                  </a:lnTo>
                  <a:lnTo>
                    <a:pt x="160199" y="505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97550" y="3119074"/>
              <a:ext cx="160655" cy="506095"/>
            </a:xfrm>
            <a:custGeom>
              <a:avLst/>
              <a:gdLst/>
              <a:ahLst/>
              <a:cxnLst/>
              <a:rect l="l" t="t" r="r" b="b"/>
              <a:pathLst>
                <a:path w="160654" h="506095">
                  <a:moveTo>
                    <a:pt x="0" y="0"/>
                  </a:moveTo>
                  <a:lnTo>
                    <a:pt x="160199" y="0"/>
                  </a:lnTo>
                  <a:lnTo>
                    <a:pt x="160199" y="505499"/>
                  </a:lnTo>
                  <a:lnTo>
                    <a:pt x="0" y="505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62662" y="2818713"/>
            <a:ext cx="13785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0125" algn="l"/>
              </a:tabLst>
            </a:pPr>
            <a:r>
              <a:rPr sz="2100" spc="-15" baseline="1984" dirty="0">
                <a:latin typeface="Arial MT"/>
                <a:cs typeface="Arial MT"/>
              </a:rPr>
              <a:t>queries</a:t>
            </a:r>
            <a:r>
              <a:rPr sz="2100" baseline="1984" dirty="0">
                <a:latin typeface="Arial MT"/>
                <a:cs typeface="Arial MT"/>
              </a:rPr>
              <a:t>	</a:t>
            </a:r>
            <a:r>
              <a:rPr sz="1400" spc="-20" dirty="0">
                <a:latin typeface="Arial MT"/>
                <a:cs typeface="Arial MT"/>
              </a:rPr>
              <a:t>keys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6174" y="3131333"/>
            <a:ext cx="1104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07725" y="3352815"/>
            <a:ext cx="6483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softmax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78499" y="3225815"/>
            <a:ext cx="203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=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11375" y="2781937"/>
            <a:ext cx="5397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values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047712" y="3129950"/>
            <a:ext cx="652145" cy="483870"/>
            <a:chOff x="7047712" y="3129950"/>
            <a:chExt cx="652145" cy="483870"/>
          </a:xfrm>
        </p:grpSpPr>
        <p:sp>
          <p:nvSpPr>
            <p:cNvPr id="18" name="object 18"/>
            <p:cNvSpPr/>
            <p:nvPr/>
          </p:nvSpPr>
          <p:spPr>
            <a:xfrm>
              <a:off x="7052474" y="3134712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642599" y="163799"/>
                  </a:moveTo>
                  <a:lnTo>
                    <a:pt x="0" y="163799"/>
                  </a:lnTo>
                  <a:lnTo>
                    <a:pt x="0" y="0"/>
                  </a:lnTo>
                  <a:lnTo>
                    <a:pt x="642599" y="0"/>
                  </a:lnTo>
                  <a:lnTo>
                    <a:pt x="642599" y="163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52474" y="3134712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0" y="0"/>
                  </a:moveTo>
                  <a:lnTo>
                    <a:pt x="642599" y="0"/>
                  </a:lnTo>
                  <a:lnTo>
                    <a:pt x="642599" y="163799"/>
                  </a:lnTo>
                  <a:lnTo>
                    <a:pt x="0" y="163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52487" y="3292562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642599" y="163799"/>
                  </a:moveTo>
                  <a:lnTo>
                    <a:pt x="0" y="163799"/>
                  </a:lnTo>
                  <a:lnTo>
                    <a:pt x="0" y="0"/>
                  </a:lnTo>
                  <a:lnTo>
                    <a:pt x="642599" y="0"/>
                  </a:lnTo>
                  <a:lnTo>
                    <a:pt x="642599" y="163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52487" y="3292562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0" y="0"/>
                  </a:moveTo>
                  <a:lnTo>
                    <a:pt x="642599" y="0"/>
                  </a:lnTo>
                  <a:lnTo>
                    <a:pt x="642599" y="163799"/>
                  </a:lnTo>
                  <a:lnTo>
                    <a:pt x="0" y="163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52474" y="3445087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642599" y="163799"/>
                  </a:moveTo>
                  <a:lnTo>
                    <a:pt x="0" y="163799"/>
                  </a:lnTo>
                  <a:lnTo>
                    <a:pt x="0" y="0"/>
                  </a:lnTo>
                  <a:lnTo>
                    <a:pt x="642599" y="0"/>
                  </a:lnTo>
                  <a:lnTo>
                    <a:pt x="642599" y="163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52474" y="3445087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0" y="0"/>
                  </a:moveTo>
                  <a:lnTo>
                    <a:pt x="642599" y="0"/>
                  </a:lnTo>
                  <a:lnTo>
                    <a:pt x="642599" y="163799"/>
                  </a:lnTo>
                  <a:lnTo>
                    <a:pt x="0" y="163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7299" y="3396069"/>
            <a:ext cx="75699" cy="7481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89712" y="3351395"/>
            <a:ext cx="75699" cy="74817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384725" y="307283"/>
            <a:ext cx="3918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Scaled</a:t>
            </a:r>
            <a:r>
              <a:rPr sz="2400" spc="-80" dirty="0"/>
              <a:t> </a:t>
            </a:r>
            <a:r>
              <a:rPr sz="2400" dirty="0"/>
              <a:t>Dot</a:t>
            </a:r>
            <a:r>
              <a:rPr sz="2400" spc="-45" dirty="0"/>
              <a:t> </a:t>
            </a:r>
            <a:r>
              <a:rPr sz="2400" spc="-20" dirty="0"/>
              <a:t>Product</a:t>
            </a:r>
            <a:r>
              <a:rPr sz="2400" spc="-145" dirty="0"/>
              <a:t> </a:t>
            </a:r>
            <a:r>
              <a:rPr sz="2400" spc="-10" dirty="0"/>
              <a:t>Attention</a:t>
            </a:r>
            <a:endParaRPr sz="2400"/>
          </a:p>
        </p:txBody>
      </p:sp>
      <p:sp>
        <p:nvSpPr>
          <p:cNvPr id="27" name="object 27"/>
          <p:cNvSpPr txBox="1"/>
          <p:nvPr/>
        </p:nvSpPr>
        <p:spPr>
          <a:xfrm>
            <a:off x="213549" y="769834"/>
            <a:ext cx="3046730" cy="57785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35"/>
              </a:spcBef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Key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algorithm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transformers</a:t>
            </a:r>
            <a:endParaRPr sz="1200">
              <a:latin typeface="Arial MT"/>
              <a:cs typeface="Arial MT"/>
            </a:endParaRPr>
          </a:p>
          <a:p>
            <a:pPr marL="332740" indent="-320040">
              <a:lnSpc>
                <a:spcPct val="100000"/>
              </a:lnSpc>
              <a:spcBef>
                <a:spcPts val="735"/>
              </a:spcBef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Attention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weights: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likely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query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8149" y="1322284"/>
            <a:ext cx="345821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140" marR="441325">
              <a:lnSpc>
                <a:spcPct val="151000"/>
              </a:lnSpc>
              <a:spcBef>
                <a:spcPts val="100"/>
              </a:spcBef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matches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key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(used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weighted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sum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of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values)</a:t>
            </a:r>
            <a:endParaRPr sz="1200">
              <a:latin typeface="Arial MT"/>
              <a:cs typeface="Arial MT"/>
            </a:endParaRPr>
          </a:p>
          <a:p>
            <a:pPr marL="358140" indent="-320040">
              <a:lnSpc>
                <a:spcPct val="100000"/>
              </a:lnSpc>
              <a:spcBef>
                <a:spcPts val="735"/>
              </a:spcBef>
              <a:buChar char="●"/>
              <a:tabLst>
                <a:tab pos="3581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Dividing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200" baseline="-31250" dirty="0">
                <a:solidFill>
                  <a:srgbClr val="595959"/>
                </a:solidFill>
                <a:latin typeface="Arial MT"/>
                <a:cs typeface="Arial MT"/>
              </a:rPr>
              <a:t>k</a:t>
            </a:r>
            <a:r>
              <a:rPr sz="1200" spc="150" baseline="-312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makes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algorithm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easier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train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0749" y="2150959"/>
            <a:ext cx="268351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675">
              <a:lnSpc>
                <a:spcPct val="151000"/>
              </a:lnSpc>
              <a:spcBef>
                <a:spcPts val="100"/>
              </a:spcBef>
              <a:buChar char="○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prevents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binary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prediction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one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595959"/>
                </a:solidFill>
                <a:latin typeface="Arial MT"/>
                <a:cs typeface="Arial MT"/>
              </a:rPr>
              <a:t>1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whole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bunch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zeros</a:t>
            </a:r>
            <a:endParaRPr sz="1200">
              <a:latin typeface="Arial MT"/>
              <a:cs typeface="Arial MT"/>
            </a:endParaRPr>
          </a:p>
          <a:p>
            <a:pPr marL="332740" indent="-320040">
              <a:lnSpc>
                <a:spcPct val="100000"/>
              </a:lnSpc>
              <a:spcBef>
                <a:spcPts val="735"/>
              </a:spcBef>
              <a:buChar char="○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helps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gradients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flow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3549" y="2979634"/>
            <a:ext cx="3382645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172720" indent="-320675">
              <a:lnSpc>
                <a:spcPct val="151000"/>
              </a:lnSpc>
              <a:spcBef>
                <a:spcPts val="100"/>
              </a:spcBef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then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take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loss,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backpropagate,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update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weights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values</a:t>
            </a:r>
            <a:endParaRPr sz="1200">
              <a:latin typeface="Arial MT"/>
              <a:cs typeface="Arial MT"/>
            </a:endParaRPr>
          </a:p>
          <a:p>
            <a:pPr marL="332740" marR="5080" indent="-320675">
              <a:lnSpc>
                <a:spcPct val="151000"/>
              </a:lnSpc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NOT</a:t>
            </a:r>
            <a:r>
              <a:rPr sz="12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stepping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through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like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RNN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339900" y="3679175"/>
            <a:ext cx="1457960" cy="0"/>
          </a:xfrm>
          <a:custGeom>
            <a:avLst/>
            <a:gdLst/>
            <a:ahLst/>
            <a:cxnLst/>
            <a:rect l="l" t="t" r="r" b="b"/>
            <a:pathLst>
              <a:path w="1457959">
                <a:moveTo>
                  <a:pt x="0" y="0"/>
                </a:moveTo>
                <a:lnTo>
                  <a:pt x="14573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210025" y="3692545"/>
            <a:ext cx="16135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sqrt(num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dimensions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key)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291699" y="3129962"/>
            <a:ext cx="601980" cy="483870"/>
            <a:chOff x="5291699" y="3129962"/>
            <a:chExt cx="601980" cy="483870"/>
          </a:xfrm>
        </p:grpSpPr>
        <p:sp>
          <p:nvSpPr>
            <p:cNvPr id="34" name="object 34"/>
            <p:cNvSpPr/>
            <p:nvPr/>
          </p:nvSpPr>
          <p:spPr>
            <a:xfrm>
              <a:off x="5296462" y="3445099"/>
              <a:ext cx="592455" cy="163830"/>
            </a:xfrm>
            <a:custGeom>
              <a:avLst/>
              <a:gdLst/>
              <a:ahLst/>
              <a:cxnLst/>
              <a:rect l="l" t="t" r="r" b="b"/>
              <a:pathLst>
                <a:path w="592454" h="163829">
                  <a:moveTo>
                    <a:pt x="592199" y="163799"/>
                  </a:moveTo>
                  <a:lnTo>
                    <a:pt x="0" y="163799"/>
                  </a:lnTo>
                  <a:lnTo>
                    <a:pt x="0" y="0"/>
                  </a:lnTo>
                  <a:lnTo>
                    <a:pt x="592199" y="0"/>
                  </a:lnTo>
                  <a:lnTo>
                    <a:pt x="592199" y="163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96462" y="3445099"/>
              <a:ext cx="592455" cy="163830"/>
            </a:xfrm>
            <a:custGeom>
              <a:avLst/>
              <a:gdLst/>
              <a:ahLst/>
              <a:cxnLst/>
              <a:rect l="l" t="t" r="r" b="b"/>
              <a:pathLst>
                <a:path w="592454" h="163829">
                  <a:moveTo>
                    <a:pt x="0" y="0"/>
                  </a:moveTo>
                  <a:lnTo>
                    <a:pt x="592199" y="0"/>
                  </a:lnTo>
                  <a:lnTo>
                    <a:pt x="592199" y="163799"/>
                  </a:lnTo>
                  <a:lnTo>
                    <a:pt x="0" y="163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296462" y="3298524"/>
              <a:ext cx="592455" cy="163830"/>
            </a:xfrm>
            <a:custGeom>
              <a:avLst/>
              <a:gdLst/>
              <a:ahLst/>
              <a:cxnLst/>
              <a:rect l="l" t="t" r="r" b="b"/>
              <a:pathLst>
                <a:path w="592454" h="163829">
                  <a:moveTo>
                    <a:pt x="592199" y="163799"/>
                  </a:moveTo>
                  <a:lnTo>
                    <a:pt x="0" y="163799"/>
                  </a:lnTo>
                  <a:lnTo>
                    <a:pt x="0" y="0"/>
                  </a:lnTo>
                  <a:lnTo>
                    <a:pt x="592199" y="0"/>
                  </a:lnTo>
                  <a:lnTo>
                    <a:pt x="592199" y="163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96462" y="3298524"/>
              <a:ext cx="592455" cy="163830"/>
            </a:xfrm>
            <a:custGeom>
              <a:avLst/>
              <a:gdLst/>
              <a:ahLst/>
              <a:cxnLst/>
              <a:rect l="l" t="t" r="r" b="b"/>
              <a:pathLst>
                <a:path w="592454" h="163829">
                  <a:moveTo>
                    <a:pt x="0" y="0"/>
                  </a:moveTo>
                  <a:lnTo>
                    <a:pt x="592199" y="0"/>
                  </a:lnTo>
                  <a:lnTo>
                    <a:pt x="592199" y="163799"/>
                  </a:lnTo>
                  <a:lnTo>
                    <a:pt x="0" y="163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96462" y="3134724"/>
              <a:ext cx="592455" cy="163830"/>
            </a:xfrm>
            <a:custGeom>
              <a:avLst/>
              <a:gdLst/>
              <a:ahLst/>
              <a:cxnLst/>
              <a:rect l="l" t="t" r="r" b="b"/>
              <a:pathLst>
                <a:path w="592454" h="163829">
                  <a:moveTo>
                    <a:pt x="592199" y="163799"/>
                  </a:moveTo>
                  <a:lnTo>
                    <a:pt x="0" y="163799"/>
                  </a:lnTo>
                  <a:lnTo>
                    <a:pt x="0" y="0"/>
                  </a:lnTo>
                  <a:lnTo>
                    <a:pt x="592199" y="0"/>
                  </a:lnTo>
                  <a:lnTo>
                    <a:pt x="592199" y="163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96462" y="3134724"/>
              <a:ext cx="592455" cy="163830"/>
            </a:xfrm>
            <a:custGeom>
              <a:avLst/>
              <a:gdLst/>
              <a:ahLst/>
              <a:cxnLst/>
              <a:rect l="l" t="t" r="r" b="b"/>
              <a:pathLst>
                <a:path w="592454" h="163829">
                  <a:moveTo>
                    <a:pt x="0" y="0"/>
                  </a:moveTo>
                  <a:lnTo>
                    <a:pt x="592199" y="0"/>
                  </a:lnTo>
                  <a:lnTo>
                    <a:pt x="592199" y="163799"/>
                  </a:lnTo>
                  <a:lnTo>
                    <a:pt x="0" y="163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014575" y="2812950"/>
            <a:ext cx="6089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outputs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024762" y="3111462"/>
            <a:ext cx="652145" cy="502284"/>
            <a:chOff x="8024762" y="3111462"/>
            <a:chExt cx="652145" cy="502284"/>
          </a:xfrm>
        </p:grpSpPr>
        <p:sp>
          <p:nvSpPr>
            <p:cNvPr id="42" name="object 42"/>
            <p:cNvSpPr/>
            <p:nvPr/>
          </p:nvSpPr>
          <p:spPr>
            <a:xfrm>
              <a:off x="8029524" y="3116224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642599" y="163799"/>
                  </a:moveTo>
                  <a:lnTo>
                    <a:pt x="0" y="163799"/>
                  </a:lnTo>
                  <a:lnTo>
                    <a:pt x="0" y="0"/>
                  </a:lnTo>
                  <a:lnTo>
                    <a:pt x="642599" y="0"/>
                  </a:lnTo>
                  <a:lnTo>
                    <a:pt x="642599" y="163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029524" y="3116224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0" y="0"/>
                  </a:moveTo>
                  <a:lnTo>
                    <a:pt x="642599" y="0"/>
                  </a:lnTo>
                  <a:lnTo>
                    <a:pt x="642599" y="163799"/>
                  </a:lnTo>
                  <a:lnTo>
                    <a:pt x="0" y="163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029524" y="3265649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642599" y="163799"/>
                  </a:moveTo>
                  <a:lnTo>
                    <a:pt x="0" y="163799"/>
                  </a:lnTo>
                  <a:lnTo>
                    <a:pt x="0" y="0"/>
                  </a:lnTo>
                  <a:lnTo>
                    <a:pt x="642599" y="0"/>
                  </a:lnTo>
                  <a:lnTo>
                    <a:pt x="642599" y="163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029524" y="3265649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0" y="0"/>
                  </a:moveTo>
                  <a:lnTo>
                    <a:pt x="642599" y="0"/>
                  </a:lnTo>
                  <a:lnTo>
                    <a:pt x="642599" y="163799"/>
                  </a:lnTo>
                  <a:lnTo>
                    <a:pt x="0" y="163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029524" y="3445099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642599" y="163799"/>
                  </a:moveTo>
                  <a:lnTo>
                    <a:pt x="0" y="163799"/>
                  </a:lnTo>
                  <a:lnTo>
                    <a:pt x="0" y="0"/>
                  </a:lnTo>
                  <a:lnTo>
                    <a:pt x="642599" y="0"/>
                  </a:lnTo>
                  <a:lnTo>
                    <a:pt x="642599" y="1637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29524" y="3445099"/>
              <a:ext cx="642620" cy="163830"/>
            </a:xfrm>
            <a:custGeom>
              <a:avLst/>
              <a:gdLst/>
              <a:ahLst/>
              <a:cxnLst/>
              <a:rect l="l" t="t" r="r" b="b"/>
              <a:pathLst>
                <a:path w="642620" h="163829">
                  <a:moveTo>
                    <a:pt x="0" y="0"/>
                  </a:moveTo>
                  <a:lnTo>
                    <a:pt x="642599" y="0"/>
                  </a:lnTo>
                  <a:lnTo>
                    <a:pt x="642599" y="163799"/>
                  </a:lnTo>
                  <a:lnTo>
                    <a:pt x="0" y="163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3658599" y="4038749"/>
          <a:ext cx="592455" cy="643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spc="-25" dirty="0">
                          <a:latin typeface="Arial MT"/>
                          <a:cs typeface="Arial MT"/>
                        </a:rPr>
                        <a:t>In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3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Robotics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35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Today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…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object 49"/>
          <p:cNvSpPr txBox="1"/>
          <p:nvPr/>
        </p:nvSpPr>
        <p:spPr>
          <a:xfrm>
            <a:off x="3668900" y="3745596"/>
            <a:ext cx="4756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Arial MT"/>
                <a:cs typeface="Arial MT"/>
              </a:rPr>
              <a:t>Inputs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250812" y="3384165"/>
            <a:ext cx="1985645" cy="959485"/>
            <a:chOff x="4250812" y="3384165"/>
            <a:chExt cx="1985645" cy="959485"/>
          </a:xfrm>
        </p:grpSpPr>
        <p:sp>
          <p:nvSpPr>
            <p:cNvPr id="51" name="object 51"/>
            <p:cNvSpPr/>
            <p:nvPr/>
          </p:nvSpPr>
          <p:spPr>
            <a:xfrm>
              <a:off x="4311262" y="3415320"/>
              <a:ext cx="940435" cy="725170"/>
            </a:xfrm>
            <a:custGeom>
              <a:avLst/>
              <a:gdLst/>
              <a:ahLst/>
              <a:cxnLst/>
              <a:rect l="l" t="t" r="r" b="b"/>
              <a:pathLst>
                <a:path w="940435" h="725170">
                  <a:moveTo>
                    <a:pt x="0" y="724704"/>
                  </a:moveTo>
                  <a:lnTo>
                    <a:pt x="93994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241596" y="3388927"/>
              <a:ext cx="44450" cy="39370"/>
            </a:xfrm>
            <a:custGeom>
              <a:avLst/>
              <a:gdLst/>
              <a:ahLst/>
              <a:cxnLst/>
              <a:rect l="l" t="t" r="r" b="b"/>
              <a:pathLst>
                <a:path w="44450" h="39370">
                  <a:moveTo>
                    <a:pt x="19212" y="38852"/>
                  </a:moveTo>
                  <a:lnTo>
                    <a:pt x="0" y="13933"/>
                  </a:lnTo>
                  <a:lnTo>
                    <a:pt x="43838" y="0"/>
                  </a:lnTo>
                  <a:lnTo>
                    <a:pt x="19212" y="3885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241596" y="3388927"/>
              <a:ext cx="44450" cy="39370"/>
            </a:xfrm>
            <a:custGeom>
              <a:avLst/>
              <a:gdLst/>
              <a:ahLst/>
              <a:cxnLst/>
              <a:rect l="l" t="t" r="r" b="b"/>
              <a:pathLst>
                <a:path w="44450" h="39370">
                  <a:moveTo>
                    <a:pt x="19212" y="38852"/>
                  </a:moveTo>
                  <a:lnTo>
                    <a:pt x="43838" y="0"/>
                  </a:lnTo>
                  <a:lnTo>
                    <a:pt x="0" y="13933"/>
                  </a:lnTo>
                  <a:lnTo>
                    <a:pt x="19212" y="388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2387" y="3642773"/>
              <a:ext cx="63734" cy="8406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255575" y="3657437"/>
              <a:ext cx="1964055" cy="681355"/>
            </a:xfrm>
            <a:custGeom>
              <a:avLst/>
              <a:gdLst/>
              <a:ahLst/>
              <a:cxnLst/>
              <a:rect l="l" t="t" r="r" b="b"/>
              <a:pathLst>
                <a:path w="1964054" h="681354">
                  <a:moveTo>
                    <a:pt x="0" y="654624"/>
                  </a:moveTo>
                  <a:lnTo>
                    <a:pt x="29339" y="655909"/>
                  </a:lnTo>
                  <a:lnTo>
                    <a:pt x="64784" y="658351"/>
                  </a:lnTo>
                  <a:lnTo>
                    <a:pt x="105706" y="661629"/>
                  </a:lnTo>
                  <a:lnTo>
                    <a:pt x="151477" y="665426"/>
                  </a:lnTo>
                  <a:lnTo>
                    <a:pt x="201470" y="669421"/>
                  </a:lnTo>
                  <a:lnTo>
                    <a:pt x="255055" y="673296"/>
                  </a:lnTo>
                  <a:lnTo>
                    <a:pt x="311607" y="676731"/>
                  </a:lnTo>
                  <a:lnTo>
                    <a:pt x="370495" y="679407"/>
                  </a:lnTo>
                  <a:lnTo>
                    <a:pt x="431094" y="681004"/>
                  </a:lnTo>
                  <a:lnTo>
                    <a:pt x="492774" y="681204"/>
                  </a:lnTo>
                  <a:lnTo>
                    <a:pt x="554907" y="679687"/>
                  </a:lnTo>
                  <a:lnTo>
                    <a:pt x="616867" y="676134"/>
                  </a:lnTo>
                  <a:lnTo>
                    <a:pt x="678024" y="670224"/>
                  </a:lnTo>
                  <a:lnTo>
                    <a:pt x="723146" y="664761"/>
                  </a:lnTo>
                  <a:lnTo>
                    <a:pt x="770805" y="658744"/>
                  </a:lnTo>
                  <a:lnTo>
                    <a:pt x="820628" y="652149"/>
                  </a:lnTo>
                  <a:lnTo>
                    <a:pt x="872243" y="644954"/>
                  </a:lnTo>
                  <a:lnTo>
                    <a:pt x="925277" y="637132"/>
                  </a:lnTo>
                  <a:lnTo>
                    <a:pt x="979357" y="628662"/>
                  </a:lnTo>
                  <a:lnTo>
                    <a:pt x="1034110" y="619517"/>
                  </a:lnTo>
                  <a:lnTo>
                    <a:pt x="1089164" y="609676"/>
                  </a:lnTo>
                  <a:lnTo>
                    <a:pt x="1144146" y="599112"/>
                  </a:lnTo>
                  <a:lnTo>
                    <a:pt x="1198683" y="587803"/>
                  </a:lnTo>
                  <a:lnTo>
                    <a:pt x="1252402" y="575724"/>
                  </a:lnTo>
                  <a:lnTo>
                    <a:pt x="1304931" y="562851"/>
                  </a:lnTo>
                  <a:lnTo>
                    <a:pt x="1355896" y="549161"/>
                  </a:lnTo>
                  <a:lnTo>
                    <a:pt x="1404925" y="534629"/>
                  </a:lnTo>
                  <a:lnTo>
                    <a:pt x="1451645" y="519230"/>
                  </a:lnTo>
                  <a:lnTo>
                    <a:pt x="1495684" y="502942"/>
                  </a:lnTo>
                  <a:lnTo>
                    <a:pt x="1536668" y="485740"/>
                  </a:lnTo>
                  <a:lnTo>
                    <a:pt x="1574224" y="467599"/>
                  </a:lnTo>
                  <a:lnTo>
                    <a:pt x="1621864" y="439037"/>
                  </a:lnTo>
                  <a:lnTo>
                    <a:pt x="1665973" y="405572"/>
                  </a:lnTo>
                  <a:lnTo>
                    <a:pt x="1706714" y="368205"/>
                  </a:lnTo>
                  <a:lnTo>
                    <a:pt x="1744245" y="327937"/>
                  </a:lnTo>
                  <a:lnTo>
                    <a:pt x="1778725" y="285767"/>
                  </a:lnTo>
                  <a:lnTo>
                    <a:pt x="1810314" y="242696"/>
                  </a:lnTo>
                  <a:lnTo>
                    <a:pt x="1839172" y="199725"/>
                  </a:lnTo>
                  <a:lnTo>
                    <a:pt x="1865459" y="157853"/>
                  </a:lnTo>
                  <a:lnTo>
                    <a:pt x="1889333" y="118081"/>
                  </a:lnTo>
                  <a:lnTo>
                    <a:pt x="1910954" y="81409"/>
                  </a:lnTo>
                  <a:lnTo>
                    <a:pt x="1930483" y="48838"/>
                  </a:lnTo>
                  <a:lnTo>
                    <a:pt x="1948078" y="21368"/>
                  </a:lnTo>
                  <a:lnTo>
                    <a:pt x="19638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7244437" y="3714094"/>
            <a:ext cx="40640" cy="106045"/>
            <a:chOff x="7244437" y="3714094"/>
            <a:chExt cx="40640" cy="106045"/>
          </a:xfrm>
        </p:grpSpPr>
        <p:sp>
          <p:nvSpPr>
            <p:cNvPr id="57" name="object 57"/>
            <p:cNvSpPr/>
            <p:nvPr/>
          </p:nvSpPr>
          <p:spPr>
            <a:xfrm>
              <a:off x="7249200" y="3760397"/>
              <a:ext cx="15875" cy="54610"/>
            </a:xfrm>
            <a:custGeom>
              <a:avLst/>
              <a:gdLst/>
              <a:ahLst/>
              <a:cxnLst/>
              <a:rect l="l" t="t" r="r" b="b"/>
              <a:pathLst>
                <a:path w="15875" h="54610">
                  <a:moveTo>
                    <a:pt x="0" y="54577"/>
                  </a:moveTo>
                  <a:lnTo>
                    <a:pt x="156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49780" y="371885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30238" y="45890"/>
                  </a:moveTo>
                  <a:lnTo>
                    <a:pt x="0" y="37190"/>
                  </a:lnTo>
                  <a:lnTo>
                    <a:pt x="27070" y="0"/>
                  </a:lnTo>
                  <a:lnTo>
                    <a:pt x="30238" y="4589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49780" y="371885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79" h="46354">
                  <a:moveTo>
                    <a:pt x="30238" y="45890"/>
                  </a:moveTo>
                  <a:lnTo>
                    <a:pt x="27070" y="0"/>
                  </a:lnTo>
                  <a:lnTo>
                    <a:pt x="0" y="37190"/>
                  </a:lnTo>
                  <a:lnTo>
                    <a:pt x="30238" y="4589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46012" y="3724886"/>
            <a:ext cx="2349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Wq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810562" y="4146811"/>
            <a:ext cx="22732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Wk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329062" y="4406386"/>
            <a:ext cx="22732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Wv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4250812" y="3009012"/>
            <a:ext cx="3036570" cy="1578610"/>
            <a:chOff x="4250812" y="3009012"/>
            <a:chExt cx="3036570" cy="1578610"/>
          </a:xfrm>
        </p:grpSpPr>
        <p:sp>
          <p:nvSpPr>
            <p:cNvPr id="64" name="object 64"/>
            <p:cNvSpPr/>
            <p:nvPr/>
          </p:nvSpPr>
          <p:spPr>
            <a:xfrm>
              <a:off x="4255575" y="3749449"/>
              <a:ext cx="3027045" cy="833119"/>
            </a:xfrm>
            <a:custGeom>
              <a:avLst/>
              <a:gdLst/>
              <a:ahLst/>
              <a:cxnLst/>
              <a:rect l="l" t="t" r="r" b="b"/>
              <a:pathLst>
                <a:path w="3027045" h="833120">
                  <a:moveTo>
                    <a:pt x="0" y="731449"/>
                  </a:moveTo>
                  <a:lnTo>
                    <a:pt x="56663" y="736046"/>
                  </a:lnTo>
                  <a:lnTo>
                    <a:pt x="126309" y="743053"/>
                  </a:lnTo>
                  <a:lnTo>
                    <a:pt x="165500" y="747300"/>
                  </a:lnTo>
                  <a:lnTo>
                    <a:pt x="207336" y="751957"/>
                  </a:lnTo>
                  <a:lnTo>
                    <a:pt x="251617" y="756961"/>
                  </a:lnTo>
                  <a:lnTo>
                    <a:pt x="298143" y="762247"/>
                  </a:lnTo>
                  <a:lnTo>
                    <a:pt x="346714" y="767750"/>
                  </a:lnTo>
                  <a:lnTo>
                    <a:pt x="397131" y="773408"/>
                  </a:lnTo>
                  <a:lnTo>
                    <a:pt x="449193" y="779155"/>
                  </a:lnTo>
                  <a:lnTo>
                    <a:pt x="502699" y="784927"/>
                  </a:lnTo>
                  <a:lnTo>
                    <a:pt x="557451" y="790661"/>
                  </a:lnTo>
                  <a:lnTo>
                    <a:pt x="613247" y="796292"/>
                  </a:lnTo>
                  <a:lnTo>
                    <a:pt x="669888" y="801757"/>
                  </a:lnTo>
                  <a:lnTo>
                    <a:pt x="727174" y="806990"/>
                  </a:lnTo>
                  <a:lnTo>
                    <a:pt x="784905" y="811928"/>
                  </a:lnTo>
                  <a:lnTo>
                    <a:pt x="842881" y="816507"/>
                  </a:lnTo>
                  <a:lnTo>
                    <a:pt x="900901" y="820663"/>
                  </a:lnTo>
                  <a:lnTo>
                    <a:pt x="958766" y="824331"/>
                  </a:lnTo>
                  <a:lnTo>
                    <a:pt x="1016275" y="827448"/>
                  </a:lnTo>
                  <a:lnTo>
                    <a:pt x="1073229" y="829948"/>
                  </a:lnTo>
                  <a:lnTo>
                    <a:pt x="1129427" y="831769"/>
                  </a:lnTo>
                  <a:lnTo>
                    <a:pt x="1184670" y="832846"/>
                  </a:lnTo>
                  <a:lnTo>
                    <a:pt x="1238757" y="833114"/>
                  </a:lnTo>
                  <a:lnTo>
                    <a:pt x="1291489" y="832511"/>
                  </a:lnTo>
                  <a:lnTo>
                    <a:pt x="1342665" y="830971"/>
                  </a:lnTo>
                  <a:lnTo>
                    <a:pt x="1392085" y="828430"/>
                  </a:lnTo>
                  <a:lnTo>
                    <a:pt x="1439549" y="824824"/>
                  </a:lnTo>
                  <a:lnTo>
                    <a:pt x="1491708" y="819675"/>
                  </a:lnTo>
                  <a:lnTo>
                    <a:pt x="1544546" y="813537"/>
                  </a:lnTo>
                  <a:lnTo>
                    <a:pt x="1597942" y="806455"/>
                  </a:lnTo>
                  <a:lnTo>
                    <a:pt x="1651768" y="798477"/>
                  </a:lnTo>
                  <a:lnTo>
                    <a:pt x="1705900" y="789648"/>
                  </a:lnTo>
                  <a:lnTo>
                    <a:pt x="1760215" y="780017"/>
                  </a:lnTo>
                  <a:lnTo>
                    <a:pt x="1814585" y="769628"/>
                  </a:lnTo>
                  <a:lnTo>
                    <a:pt x="1868888" y="758528"/>
                  </a:lnTo>
                  <a:lnTo>
                    <a:pt x="1922998" y="746765"/>
                  </a:lnTo>
                  <a:lnTo>
                    <a:pt x="1976789" y="734384"/>
                  </a:lnTo>
                  <a:lnTo>
                    <a:pt x="2030138" y="721431"/>
                  </a:lnTo>
                  <a:lnTo>
                    <a:pt x="2082920" y="707954"/>
                  </a:lnTo>
                  <a:lnTo>
                    <a:pt x="2135009" y="693999"/>
                  </a:lnTo>
                  <a:lnTo>
                    <a:pt x="2186281" y="679613"/>
                  </a:lnTo>
                  <a:lnTo>
                    <a:pt x="2236610" y="664841"/>
                  </a:lnTo>
                  <a:lnTo>
                    <a:pt x="2285873" y="649730"/>
                  </a:lnTo>
                  <a:lnTo>
                    <a:pt x="2333944" y="634328"/>
                  </a:lnTo>
                  <a:lnTo>
                    <a:pt x="2380698" y="618679"/>
                  </a:lnTo>
                  <a:lnTo>
                    <a:pt x="2426011" y="602832"/>
                  </a:lnTo>
                  <a:lnTo>
                    <a:pt x="2469757" y="586831"/>
                  </a:lnTo>
                  <a:lnTo>
                    <a:pt x="2511812" y="570724"/>
                  </a:lnTo>
                  <a:lnTo>
                    <a:pt x="2552051" y="554558"/>
                  </a:lnTo>
                  <a:lnTo>
                    <a:pt x="2590349" y="538378"/>
                  </a:lnTo>
                  <a:lnTo>
                    <a:pt x="2626582" y="522232"/>
                  </a:lnTo>
                  <a:lnTo>
                    <a:pt x="2692349" y="490224"/>
                  </a:lnTo>
                  <a:lnTo>
                    <a:pt x="2749093" y="456276"/>
                  </a:lnTo>
                  <a:lnTo>
                    <a:pt x="2797747" y="418467"/>
                  </a:lnTo>
                  <a:lnTo>
                    <a:pt x="2839108" y="377680"/>
                  </a:lnTo>
                  <a:lnTo>
                    <a:pt x="2873974" y="334796"/>
                  </a:lnTo>
                  <a:lnTo>
                    <a:pt x="2903141" y="290697"/>
                  </a:lnTo>
                  <a:lnTo>
                    <a:pt x="2927406" y="246265"/>
                  </a:lnTo>
                  <a:lnTo>
                    <a:pt x="2947566" y="202382"/>
                  </a:lnTo>
                  <a:lnTo>
                    <a:pt x="2964418" y="159930"/>
                  </a:lnTo>
                  <a:lnTo>
                    <a:pt x="2978759" y="119790"/>
                  </a:lnTo>
                  <a:lnTo>
                    <a:pt x="2991386" y="82846"/>
                  </a:lnTo>
                  <a:lnTo>
                    <a:pt x="3003095" y="49978"/>
                  </a:lnTo>
                  <a:lnTo>
                    <a:pt x="3014684" y="22069"/>
                  </a:lnTo>
                  <a:lnTo>
                    <a:pt x="30269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7325" y="3009012"/>
              <a:ext cx="215374" cy="759599"/>
            </a:xfrm>
            <a:prstGeom prst="rect">
              <a:avLst/>
            </a:prstGeom>
          </p:spPr>
        </p:pic>
      </p:grp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Multi-</a:t>
            </a:r>
            <a:r>
              <a:rPr spc="-20" dirty="0"/>
              <a:t>Head</a:t>
            </a:r>
            <a:r>
              <a:rPr spc="-114" dirty="0"/>
              <a:t> </a:t>
            </a:r>
            <a:r>
              <a:rPr spc="-10" dirty="0"/>
              <a:t>Attention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9005" y="1198286"/>
            <a:ext cx="648970" cy="364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5120" marR="5080" indent="-313055">
              <a:lnSpc>
                <a:spcPct val="102299"/>
              </a:lnSpc>
              <a:spcBef>
                <a:spcPts val="70"/>
              </a:spcBef>
              <a:buChar char="●"/>
              <a:tabLst>
                <a:tab pos="437515" algn="l"/>
              </a:tabLst>
            </a:pPr>
            <a:r>
              <a:rPr sz="1100" spc="-10" dirty="0">
                <a:latin typeface="Arial MT"/>
                <a:cs typeface="Arial MT"/>
              </a:rPr>
              <a:t>Idea: 	</a:t>
            </a:r>
            <a:r>
              <a:rPr sz="1100" spc="-25" dirty="0">
                <a:latin typeface="Arial MT"/>
                <a:cs typeface="Arial MT"/>
              </a:rPr>
              <a:t>a.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4100" y="1369736"/>
            <a:ext cx="3573145" cy="7073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57505" marR="5080">
              <a:lnSpc>
                <a:spcPct val="102299"/>
              </a:lnSpc>
              <a:spcBef>
                <a:spcPts val="70"/>
              </a:spcBef>
            </a:pPr>
            <a:r>
              <a:rPr sz="1100" dirty="0">
                <a:latin typeface="Arial MT"/>
                <a:cs typeface="Arial MT"/>
              </a:rPr>
              <a:t>Stack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linear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layers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(weight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matrices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without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biases)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independent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each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queries,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values.</a:t>
            </a:r>
            <a:endParaRPr sz="1100">
              <a:latin typeface="Arial MT"/>
              <a:cs typeface="Arial MT"/>
            </a:endParaRPr>
          </a:p>
          <a:p>
            <a:pPr marL="357505" marR="25400" indent="-345440">
              <a:lnSpc>
                <a:spcPct val="102299"/>
              </a:lnSpc>
              <a:tabLst>
                <a:tab pos="357505" algn="l"/>
              </a:tabLst>
            </a:pPr>
            <a:r>
              <a:rPr sz="1100" spc="-25" dirty="0">
                <a:latin typeface="Arial MT"/>
                <a:cs typeface="Arial MT"/>
              </a:rPr>
              <a:t>b.</a:t>
            </a:r>
            <a:r>
              <a:rPr sz="1100" dirty="0">
                <a:latin typeface="Arial MT"/>
                <a:cs typeface="Arial MT"/>
              </a:rPr>
              <a:t>	Concatenate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attention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heads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(plus non-</a:t>
            </a:r>
            <a:r>
              <a:rPr sz="1100" dirty="0">
                <a:latin typeface="Arial MT"/>
                <a:cs typeface="Arial MT"/>
              </a:rPr>
              <a:t>linearity)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output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layer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9005" y="2055537"/>
            <a:ext cx="3672204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Char char="●"/>
              <a:tabLst>
                <a:tab pos="325120" algn="l"/>
              </a:tabLst>
            </a:pPr>
            <a:r>
              <a:rPr sz="1100" spc="-20" dirty="0">
                <a:latin typeface="Arial MT"/>
                <a:cs typeface="Arial MT"/>
              </a:rPr>
              <a:t>Why?</a:t>
            </a:r>
            <a:endParaRPr sz="1100">
              <a:latin typeface="Arial MT"/>
              <a:cs typeface="Arial MT"/>
            </a:endParaRPr>
          </a:p>
          <a:p>
            <a:pPr marL="782320" lvl="1" indent="-344805">
              <a:lnSpc>
                <a:spcPct val="100000"/>
              </a:lnSpc>
              <a:spcBef>
                <a:spcPts val="30"/>
              </a:spcBef>
              <a:buAutoNum type="alphaLcPeriod"/>
              <a:tabLst>
                <a:tab pos="782320" algn="l"/>
              </a:tabLst>
            </a:pPr>
            <a:r>
              <a:rPr sz="1100" dirty="0">
                <a:latin typeface="Arial MT"/>
                <a:cs typeface="Arial MT"/>
              </a:rPr>
              <a:t>Allows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focus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different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positions</a:t>
            </a:r>
            <a:endParaRPr sz="1100">
              <a:latin typeface="Arial MT"/>
              <a:cs typeface="Arial MT"/>
            </a:endParaRPr>
          </a:p>
          <a:p>
            <a:pPr marL="782320" marR="109855" lvl="1" indent="-345440">
              <a:lnSpc>
                <a:spcPct val="102299"/>
              </a:lnSpc>
              <a:buAutoNum type="alphaLcPeriod"/>
              <a:tabLst>
                <a:tab pos="782320" algn="l"/>
              </a:tabLst>
            </a:pPr>
            <a:r>
              <a:rPr sz="1100" dirty="0">
                <a:latin typeface="Arial MT"/>
                <a:cs typeface="Arial MT"/>
              </a:rPr>
              <a:t>Gives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attention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layer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multiple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“representation subspaces”</a:t>
            </a:r>
            <a:endParaRPr sz="1100">
              <a:latin typeface="Arial MT"/>
              <a:cs typeface="Arial MT"/>
            </a:endParaRPr>
          </a:p>
          <a:p>
            <a:pPr marL="782320" marR="109855" lvl="1" indent="-337185">
              <a:lnSpc>
                <a:spcPct val="102299"/>
              </a:lnSpc>
              <a:buAutoNum type="alphaLcPeriod"/>
              <a:tabLst>
                <a:tab pos="782320" algn="l"/>
              </a:tabLst>
            </a:pPr>
            <a:r>
              <a:rPr sz="1100" dirty="0">
                <a:latin typeface="Arial MT"/>
                <a:cs typeface="Arial MT"/>
              </a:rPr>
              <a:t>No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longer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oversaturate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attention mechanism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1193" y="3371514"/>
            <a:ext cx="3827779" cy="690245"/>
            <a:chOff x="351193" y="3371514"/>
            <a:chExt cx="3827779" cy="6902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193" y="3371514"/>
              <a:ext cx="3634092" cy="4542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7496" y="3838645"/>
              <a:ext cx="502297" cy="22286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56337" y="3880905"/>
              <a:ext cx="678180" cy="175895"/>
            </a:xfrm>
            <a:custGeom>
              <a:avLst/>
              <a:gdLst/>
              <a:ahLst/>
              <a:cxnLst/>
              <a:rect l="l" t="t" r="r" b="b"/>
              <a:pathLst>
                <a:path w="678179" h="175895">
                  <a:moveTo>
                    <a:pt x="0" y="175844"/>
                  </a:moveTo>
                  <a:lnTo>
                    <a:pt x="67758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9967" y="3865677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7903" y="30456"/>
                  </a:moveTo>
                  <a:lnTo>
                    <a:pt x="0" y="0"/>
                  </a:lnTo>
                  <a:lnTo>
                    <a:pt x="45791" y="4369"/>
                  </a:lnTo>
                  <a:lnTo>
                    <a:pt x="7903" y="3045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9967" y="3865677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7903" y="30456"/>
                  </a:moveTo>
                  <a:lnTo>
                    <a:pt x="45791" y="4369"/>
                  </a:lnTo>
                  <a:lnTo>
                    <a:pt x="0" y="0"/>
                  </a:lnTo>
                  <a:lnTo>
                    <a:pt x="7903" y="3045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56337" y="3429899"/>
              <a:ext cx="1217930" cy="618490"/>
            </a:xfrm>
            <a:custGeom>
              <a:avLst/>
              <a:gdLst/>
              <a:ahLst/>
              <a:cxnLst/>
              <a:rect l="l" t="t" r="r" b="b"/>
              <a:pathLst>
                <a:path w="1217929" h="618489">
                  <a:moveTo>
                    <a:pt x="840874" y="4343"/>
                  </a:moveTo>
                  <a:lnTo>
                    <a:pt x="879958" y="2997"/>
                  </a:lnTo>
                  <a:lnTo>
                    <a:pt x="936403" y="499"/>
                  </a:lnTo>
                  <a:lnTo>
                    <a:pt x="997258" y="1454"/>
                  </a:lnTo>
                  <a:lnTo>
                    <a:pt x="1049574" y="10468"/>
                  </a:lnTo>
                  <a:lnTo>
                    <a:pt x="1092920" y="25864"/>
                  </a:lnTo>
                  <a:lnTo>
                    <a:pt x="1133193" y="46154"/>
                  </a:lnTo>
                  <a:lnTo>
                    <a:pt x="1166945" y="76226"/>
                  </a:lnTo>
                  <a:lnTo>
                    <a:pt x="1190724" y="120968"/>
                  </a:lnTo>
                  <a:lnTo>
                    <a:pt x="1209065" y="203208"/>
                  </a:lnTo>
                  <a:lnTo>
                    <a:pt x="1215095" y="254419"/>
                  </a:lnTo>
                  <a:lnTo>
                    <a:pt x="1217458" y="307419"/>
                  </a:lnTo>
                  <a:lnTo>
                    <a:pt x="1214971" y="358505"/>
                  </a:lnTo>
                  <a:lnTo>
                    <a:pt x="1206453" y="403972"/>
                  </a:lnTo>
                  <a:lnTo>
                    <a:pt x="1190724" y="440118"/>
                  </a:lnTo>
                  <a:lnTo>
                    <a:pt x="1142759" y="491949"/>
                  </a:lnTo>
                  <a:lnTo>
                    <a:pt x="1064104" y="519914"/>
                  </a:lnTo>
                  <a:lnTo>
                    <a:pt x="1000695" y="531339"/>
                  </a:lnTo>
                  <a:lnTo>
                    <a:pt x="914524" y="544468"/>
                  </a:lnTo>
                  <a:lnTo>
                    <a:pt x="835912" y="554403"/>
                  </a:lnTo>
                  <a:lnTo>
                    <a:pt x="788459" y="559372"/>
                  </a:lnTo>
                  <a:lnTo>
                    <a:pt x="736639" y="564312"/>
                  </a:lnTo>
                  <a:lnTo>
                    <a:pt x="681251" y="569202"/>
                  </a:lnTo>
                  <a:lnTo>
                    <a:pt x="623095" y="574020"/>
                  </a:lnTo>
                  <a:lnTo>
                    <a:pt x="562968" y="578742"/>
                  </a:lnTo>
                  <a:lnTo>
                    <a:pt x="501670" y="583348"/>
                  </a:lnTo>
                  <a:lnTo>
                    <a:pt x="439999" y="587815"/>
                  </a:lnTo>
                  <a:lnTo>
                    <a:pt x="378755" y="592120"/>
                  </a:lnTo>
                  <a:lnTo>
                    <a:pt x="318736" y="596243"/>
                  </a:lnTo>
                  <a:lnTo>
                    <a:pt x="260740" y="600160"/>
                  </a:lnTo>
                  <a:lnTo>
                    <a:pt x="205567" y="603850"/>
                  </a:lnTo>
                  <a:lnTo>
                    <a:pt x="154016" y="607291"/>
                  </a:lnTo>
                  <a:lnTo>
                    <a:pt x="106884" y="610460"/>
                  </a:lnTo>
                  <a:lnTo>
                    <a:pt x="64972" y="613336"/>
                  </a:lnTo>
                  <a:lnTo>
                    <a:pt x="29078" y="615896"/>
                  </a:lnTo>
                  <a:lnTo>
                    <a:pt x="0" y="618118"/>
                  </a:lnTo>
                </a:path>
                <a:path w="1217929" h="618489">
                  <a:moveTo>
                    <a:pt x="949349" y="0"/>
                  </a:moveTo>
                  <a:lnTo>
                    <a:pt x="852477" y="1554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66136" y="3429910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171" y="31067"/>
                  </a:moveTo>
                  <a:lnTo>
                    <a:pt x="0" y="22382"/>
                  </a:lnTo>
                  <a:lnTo>
                    <a:pt x="40186" y="0"/>
                  </a:lnTo>
                  <a:lnTo>
                    <a:pt x="45171" y="310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66136" y="3429910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0186" y="0"/>
                  </a:moveTo>
                  <a:lnTo>
                    <a:pt x="0" y="22382"/>
                  </a:lnTo>
                  <a:lnTo>
                    <a:pt x="45171" y="31067"/>
                  </a:lnTo>
                  <a:lnTo>
                    <a:pt x="40186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3190" y="3943241"/>
            <a:ext cx="1540520" cy="10195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233312" y="4125711"/>
            <a:ext cx="138049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Learnable</a:t>
            </a:r>
            <a:r>
              <a:rPr sz="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595959"/>
                </a:solidFill>
                <a:latin typeface="Arial MT"/>
                <a:cs typeface="Arial MT"/>
              </a:rPr>
              <a:t>parameter</a:t>
            </a:r>
            <a:r>
              <a:rPr sz="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 MT"/>
                <a:cs typeface="Arial MT"/>
              </a:rPr>
              <a:t>matrices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77451" y="901405"/>
            <a:ext cx="2377382" cy="3297673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Multi-</a:t>
            </a:r>
            <a:r>
              <a:rPr spc="-20" dirty="0"/>
              <a:t>Head</a:t>
            </a:r>
            <a:r>
              <a:rPr spc="-175" dirty="0"/>
              <a:t> </a:t>
            </a:r>
            <a:r>
              <a:rPr dirty="0"/>
              <a:t>Attention</a:t>
            </a:r>
            <a:r>
              <a:rPr spc="-95" dirty="0"/>
              <a:t> </a:t>
            </a:r>
            <a:r>
              <a:rPr spc="-10" dirty="0"/>
              <a:t>Continued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3057" y="1129938"/>
            <a:ext cx="5971261" cy="32118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54175" y="4508161"/>
            <a:ext cx="21964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 MT"/>
                <a:cs typeface="Arial MT"/>
              </a:rPr>
              <a:t>https://jalammar.github.io/illustrated-transformer/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15075" y="1196762"/>
            <a:ext cx="2092325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Key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points:</a:t>
            </a:r>
            <a:endParaRPr sz="1400">
              <a:latin typeface="Arial MT"/>
              <a:cs typeface="Arial MT"/>
            </a:endParaRPr>
          </a:p>
          <a:p>
            <a:pPr marL="469900" marR="64135" indent="-33655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4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calculate</a:t>
            </a:r>
            <a:r>
              <a:rPr sz="14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595959"/>
                </a:solidFill>
                <a:latin typeface="Arial MT"/>
                <a:cs typeface="Arial MT"/>
              </a:rPr>
              <a:t>8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different</a:t>
            </a:r>
            <a:r>
              <a:rPr sz="1400" spc="-7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attention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heads,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but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need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combine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them</a:t>
            </a:r>
            <a:endParaRPr sz="1400">
              <a:latin typeface="Arial MT"/>
              <a:cs typeface="Arial MT"/>
            </a:endParaRPr>
          </a:p>
          <a:p>
            <a:pPr marL="469900" marR="5080" indent="-33655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Attention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heads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are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independent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each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other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04439"/>
            <a:ext cx="31476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Positional</a:t>
            </a:r>
            <a:r>
              <a:rPr spc="-175" dirty="0"/>
              <a:t> </a:t>
            </a:r>
            <a:r>
              <a:rPr spc="-10" dirty="0"/>
              <a:t>Encoding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37" y="1008783"/>
            <a:ext cx="3801745" cy="274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320675">
              <a:lnSpc>
                <a:spcPct val="114599"/>
              </a:lnSpc>
              <a:spcBef>
                <a:spcPts val="100"/>
              </a:spcBef>
              <a:buChar char="●"/>
              <a:tabLst>
                <a:tab pos="46990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about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position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order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tokens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endParaRPr sz="1200">
              <a:latin typeface="Arial MT"/>
              <a:cs typeface="Arial MT"/>
            </a:endParaRPr>
          </a:p>
          <a:p>
            <a:pPr marL="469900" marR="276225" indent="-320675">
              <a:lnSpc>
                <a:spcPct val="114599"/>
              </a:lnSpc>
              <a:buChar char="●"/>
              <a:tabLst>
                <a:tab pos="46990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Positional</a:t>
            </a:r>
            <a:r>
              <a:rPr sz="1200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Embedding:</a:t>
            </a:r>
            <a:r>
              <a:rPr sz="12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Vector</a:t>
            </a:r>
            <a:r>
              <a:rPr sz="12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12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represents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position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token</a:t>
            </a:r>
            <a:endParaRPr sz="1200">
              <a:latin typeface="Arial MT"/>
              <a:cs typeface="Arial MT"/>
            </a:endParaRPr>
          </a:p>
          <a:p>
            <a:pPr marL="927100" marR="63500" lvl="1" indent="-320675">
              <a:lnSpc>
                <a:spcPct val="114599"/>
              </a:lnSpc>
              <a:buChar char="○"/>
              <a:tabLst>
                <a:tab pos="92710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Element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wise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addition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position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embedding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word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embedding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vector</a:t>
            </a:r>
            <a:endParaRPr sz="1200">
              <a:latin typeface="Arial MT"/>
              <a:cs typeface="Arial MT"/>
            </a:endParaRPr>
          </a:p>
          <a:p>
            <a:pPr marL="926465" lvl="1" indent="-320040">
              <a:lnSpc>
                <a:spcPct val="100000"/>
              </a:lnSpc>
              <a:spcBef>
                <a:spcPts val="209"/>
              </a:spcBef>
              <a:buChar char="○"/>
              <a:tabLst>
                <a:tab pos="926465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Positional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embedding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fixed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learned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Arial MT"/>
              <a:cs typeface="Arial MT"/>
            </a:endParaRPr>
          </a:p>
          <a:p>
            <a:pPr marL="12700" marR="106680">
              <a:lnSpc>
                <a:spcPct val="114599"/>
              </a:lnSpc>
              <a:spcBef>
                <a:spcPts val="5"/>
              </a:spcBef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“We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chose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function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because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hypothesized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it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would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allow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easily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learn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attend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by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relative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positions,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since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any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fixed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offset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k,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PEpos+k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be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represented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linear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function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PEpos.”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5869" y="1084058"/>
            <a:ext cx="3218793" cy="6437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04175" y="451130"/>
            <a:ext cx="2426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Encoding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used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paper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6460" y="1804470"/>
            <a:ext cx="3059513" cy="18210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39939" y="2077838"/>
            <a:ext cx="8441690" cy="2491105"/>
            <a:chOff x="339939" y="2077838"/>
            <a:chExt cx="8441690" cy="249110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5819" y="2077838"/>
              <a:ext cx="4185507" cy="19642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83098" y="3973725"/>
              <a:ext cx="1322050" cy="5951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9939" y="4002897"/>
              <a:ext cx="3638725" cy="5367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93411" y="3928955"/>
              <a:ext cx="189691" cy="39674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836025" y="4139132"/>
            <a:ext cx="25730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Note: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positional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embeddings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are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now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learned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Full-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25" y="892750"/>
            <a:ext cx="6628099" cy="37981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Training</a:t>
            </a:r>
            <a:r>
              <a:rPr spc="-110" dirty="0"/>
              <a:t> </a:t>
            </a:r>
            <a:r>
              <a:rPr dirty="0"/>
              <a:t>Details</a:t>
            </a:r>
            <a:r>
              <a:rPr spc="-105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Experimental</a:t>
            </a:r>
            <a:r>
              <a:rPr spc="-105" dirty="0"/>
              <a:t> </a:t>
            </a:r>
            <a:r>
              <a:rPr spc="-10" dirty="0"/>
              <a:t>Setup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1274" y="1171109"/>
            <a:ext cx="5622290" cy="265430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309"/>
              </a:spcBef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Hardware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Details: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09"/>
              </a:spcBef>
              <a:buChar char="○"/>
              <a:tabLst>
                <a:tab pos="789940" algn="l"/>
              </a:tabLst>
            </a:pP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Trained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8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NVIDIA</a:t>
            </a:r>
            <a:r>
              <a:rPr sz="1200" spc="-7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P100</a:t>
            </a:r>
            <a:r>
              <a:rPr sz="12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GPU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09"/>
              </a:spcBef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big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models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were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trained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300,000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steps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(3.5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days)</a:t>
            </a:r>
            <a:endParaRPr sz="1200">
              <a:latin typeface="Arial MT"/>
              <a:cs typeface="Arial MT"/>
            </a:endParaRPr>
          </a:p>
          <a:p>
            <a:pPr marL="332740" indent="-320040">
              <a:lnSpc>
                <a:spcPct val="100000"/>
              </a:lnSpc>
              <a:spcBef>
                <a:spcPts val="209"/>
              </a:spcBef>
              <a:buChar char="●"/>
              <a:tabLst>
                <a:tab pos="332740" algn="l"/>
              </a:tabLst>
            </a:pP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Datasets: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09"/>
              </a:spcBef>
              <a:buChar char="○"/>
              <a:tabLst>
                <a:tab pos="789940" algn="l"/>
              </a:tabLst>
            </a:pP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Trained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WMT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2014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English-to-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German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translation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task</a:t>
            </a:r>
            <a:endParaRPr sz="1200">
              <a:latin typeface="Arial MT"/>
              <a:cs typeface="Arial MT"/>
            </a:endParaRPr>
          </a:p>
          <a:p>
            <a:pPr marL="1247140" lvl="2" indent="-320040">
              <a:lnSpc>
                <a:spcPct val="100000"/>
              </a:lnSpc>
              <a:spcBef>
                <a:spcPts val="209"/>
              </a:spcBef>
              <a:buChar char="■"/>
              <a:tabLst>
                <a:tab pos="12471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4.5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million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sentence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pairs</a:t>
            </a:r>
            <a:endParaRPr sz="12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430"/>
              </a:spcBef>
              <a:buClr>
                <a:srgbClr val="595959"/>
              </a:buClr>
              <a:buFont typeface="Arial MT"/>
              <a:buChar char="■"/>
            </a:pP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buChar char="○"/>
              <a:tabLst>
                <a:tab pos="789940" algn="l"/>
              </a:tabLst>
            </a:pP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Trained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WMT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2014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English-to-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French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translation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task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30"/>
              </a:spcBef>
              <a:buClr>
                <a:srgbClr val="595959"/>
              </a:buClr>
              <a:buFont typeface="Arial MT"/>
              <a:buChar char="○"/>
            </a:pPr>
            <a:endParaRPr sz="1200">
              <a:latin typeface="Arial MT"/>
              <a:cs typeface="Arial MT"/>
            </a:endParaRPr>
          </a:p>
          <a:p>
            <a:pPr marL="1289685" lvl="2" indent="-362585">
              <a:lnSpc>
                <a:spcPct val="100000"/>
              </a:lnSpc>
              <a:buChar char="■"/>
              <a:tabLst>
                <a:tab pos="1289685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36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million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sentences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710"/>
              </a:spcBef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Sentences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encoded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byte-pair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encoding</a:t>
            </a:r>
            <a:endParaRPr sz="12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10"/>
              </a:spcBef>
              <a:buChar char="○"/>
              <a:tabLst>
                <a:tab pos="7899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Sentence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pairs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were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batched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together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approximate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length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Experimental</a:t>
            </a:r>
            <a:r>
              <a:rPr spc="-10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993" y="1086273"/>
            <a:ext cx="3098165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115570" indent="-336550">
              <a:lnSpc>
                <a:spcPct val="151800"/>
              </a:lnSpc>
              <a:spcBef>
                <a:spcPts val="100"/>
              </a:spcBef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New</a:t>
            </a:r>
            <a:r>
              <a:rPr sz="14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single-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400" spc="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state-of-the-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art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BLEU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score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41.8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endParaRPr sz="1400">
              <a:latin typeface="Arial MT"/>
              <a:cs typeface="Arial MT"/>
            </a:endParaRPr>
          </a:p>
          <a:p>
            <a:pPr marL="348615">
              <a:lnSpc>
                <a:spcPct val="100000"/>
              </a:lnSpc>
              <a:spcBef>
                <a:spcPts val="870"/>
              </a:spcBef>
            </a:pP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English-to-French</a:t>
            </a:r>
            <a:endParaRPr sz="1400">
              <a:latin typeface="Arial MT"/>
              <a:cs typeface="Arial MT"/>
            </a:endParaRPr>
          </a:p>
          <a:p>
            <a:pPr marL="805180" lvl="1" indent="-335915">
              <a:lnSpc>
                <a:spcPct val="100000"/>
              </a:lnSpc>
              <a:spcBef>
                <a:spcPts val="870"/>
              </a:spcBef>
              <a:buChar char="○"/>
              <a:tabLst>
                <a:tab pos="80518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Over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2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BLEU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improvement</a:t>
            </a: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spcBef>
                <a:spcPts val="87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28.4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BLEU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WMT</a:t>
            </a:r>
            <a:r>
              <a:rPr sz="14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2014</a:t>
            </a:r>
            <a:endParaRPr sz="1400">
              <a:latin typeface="Arial MT"/>
              <a:cs typeface="Arial MT"/>
            </a:endParaRPr>
          </a:p>
          <a:p>
            <a:pPr marL="348615">
              <a:lnSpc>
                <a:spcPct val="100000"/>
              </a:lnSpc>
              <a:spcBef>
                <a:spcPts val="870"/>
              </a:spcBef>
            </a:pP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English-to-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German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translation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task</a:t>
            </a: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spcBef>
                <a:spcPts val="87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Over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100x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less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training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loss</a:t>
            </a: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spcBef>
                <a:spcPts val="87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Generalizes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well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other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task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9700" y="1130850"/>
            <a:ext cx="4801435" cy="21034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Discussion</a:t>
            </a:r>
            <a:r>
              <a:rPr spc="-110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05993" y="1086273"/>
            <a:ext cx="5339715" cy="229235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69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Extremely</a:t>
            </a:r>
            <a:r>
              <a:rPr sz="14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efficient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parallelization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(great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GPU)</a:t>
            </a: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spcBef>
                <a:spcPts val="869"/>
              </a:spcBef>
              <a:buChar char="●"/>
              <a:tabLst>
                <a:tab pos="347980" algn="l"/>
              </a:tabLst>
            </a:pP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State-of-the-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art</a:t>
            </a:r>
            <a:r>
              <a:rPr sz="1400" spc="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performance</a:t>
            </a: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spcBef>
                <a:spcPts val="869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Authors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understood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significance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work:</a:t>
            </a:r>
            <a:endParaRPr sz="1400">
              <a:latin typeface="Arial MT"/>
              <a:cs typeface="Arial MT"/>
            </a:endParaRPr>
          </a:p>
          <a:p>
            <a:pPr marL="805815" marR="5080" lvl="1" indent="-336550">
              <a:lnSpc>
                <a:spcPct val="151800"/>
              </a:lnSpc>
              <a:buChar char="○"/>
              <a:tabLst>
                <a:tab pos="805815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conclusion,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authors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state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desire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“investigate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local,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restricted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attention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mechanisms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efficiently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handle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large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inputs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outputs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such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images,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audio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video”</a:t>
            </a: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ct val="100000"/>
              </a:lnSpc>
              <a:spcBef>
                <a:spcPts val="87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Unlike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RNN,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ability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directly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learn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dependencies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Critique</a:t>
            </a:r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dirty="0"/>
              <a:t>Limitations</a:t>
            </a:r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dirty="0"/>
              <a:t>Open</a:t>
            </a:r>
            <a:r>
              <a:rPr spc="-75" dirty="0"/>
              <a:t> </a:t>
            </a:r>
            <a:r>
              <a:rPr spc="-10" dirty="0"/>
              <a:t>Issues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05993" y="1196762"/>
            <a:ext cx="3926840" cy="2543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730885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Baseline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transformers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use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O(n^2)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in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memory/computation.</a:t>
            </a:r>
            <a:endParaRPr sz="1400">
              <a:latin typeface="Arial MT"/>
              <a:cs typeface="Arial MT"/>
            </a:endParaRPr>
          </a:p>
          <a:p>
            <a:pPr marL="805815" marR="396240" lvl="1" indent="-336550">
              <a:lnSpc>
                <a:spcPts val="1650"/>
              </a:lnSpc>
              <a:buChar char="○"/>
              <a:tabLst>
                <a:tab pos="805815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increasing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size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length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increases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computation</a:t>
            </a:r>
            <a:r>
              <a:rPr sz="14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quadratically</a:t>
            </a:r>
            <a:endParaRPr sz="1400">
              <a:latin typeface="Arial MT"/>
              <a:cs typeface="Arial MT"/>
            </a:endParaRPr>
          </a:p>
          <a:p>
            <a:pPr marL="347980" indent="-335280">
              <a:lnSpc>
                <a:spcPts val="1664"/>
              </a:lnSpc>
              <a:spcBef>
                <a:spcPts val="157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Fixed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length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unlike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RNN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arbitrary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length</a:t>
            </a:r>
            <a:endParaRPr sz="1400">
              <a:latin typeface="Arial MT"/>
              <a:cs typeface="Arial MT"/>
            </a:endParaRPr>
          </a:p>
          <a:p>
            <a:pPr marL="348615" marR="5080" indent="-336550">
              <a:lnSpc>
                <a:spcPts val="1650"/>
              </a:lnSpc>
              <a:spcBef>
                <a:spcPts val="65"/>
              </a:spcBef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Inability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process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sequentially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(not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like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human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brain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works)</a:t>
            </a:r>
            <a:endParaRPr sz="1400">
              <a:latin typeface="Arial MT"/>
              <a:cs typeface="Arial MT"/>
            </a:endParaRPr>
          </a:p>
          <a:p>
            <a:pPr marL="348615" marR="134620" indent="-336550">
              <a:lnSpc>
                <a:spcPts val="1650"/>
              </a:lnSpc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Paper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addressing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limitation</a:t>
            </a: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transformers: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https://arxiv.org/pdf/2002.09402.pdf</a:t>
            </a:r>
            <a:endParaRPr sz="1400">
              <a:latin typeface="Arial MT"/>
              <a:cs typeface="Arial MT"/>
            </a:endParaRPr>
          </a:p>
          <a:p>
            <a:pPr marL="805180" lvl="1" indent="-335915">
              <a:lnSpc>
                <a:spcPts val="1585"/>
              </a:lnSpc>
              <a:buChar char="○"/>
              <a:tabLst>
                <a:tab pos="80518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Limited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access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long</a:t>
            </a:r>
            <a:r>
              <a:rPr sz="14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memory</a:t>
            </a:r>
            <a:endParaRPr sz="1400">
              <a:latin typeface="Arial MT"/>
              <a:cs typeface="Arial MT"/>
            </a:endParaRPr>
          </a:p>
          <a:p>
            <a:pPr marL="805180" lvl="1" indent="-335915">
              <a:lnSpc>
                <a:spcPts val="1664"/>
              </a:lnSpc>
              <a:buChar char="○"/>
              <a:tabLst>
                <a:tab pos="805180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Limited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ability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update</a:t>
            </a:r>
            <a:r>
              <a:rPr sz="14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state.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70" dirty="0"/>
              <a:t> </a:t>
            </a:r>
            <a:r>
              <a:rPr dirty="0"/>
              <a:t>Work</a:t>
            </a:r>
            <a:r>
              <a:rPr spc="-65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Paper</a:t>
            </a:r>
            <a:r>
              <a:rPr spc="-7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10" dirty="0"/>
              <a:t>Reading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969"/>
              </a:spcBef>
            </a:pPr>
            <a:r>
              <a:rPr dirty="0"/>
              <a:t>Bigger</a:t>
            </a:r>
            <a:r>
              <a:rPr spc="-1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bigger</a:t>
            </a:r>
            <a:r>
              <a:rPr spc="-5" dirty="0"/>
              <a:t> </a:t>
            </a:r>
            <a:r>
              <a:rPr spc="-10" dirty="0"/>
              <a:t>transformers</a:t>
            </a:r>
          </a:p>
          <a:p>
            <a:pPr marL="337820" indent="-325120">
              <a:lnSpc>
                <a:spcPct val="100000"/>
              </a:lnSpc>
              <a:spcBef>
                <a:spcPts val="869"/>
              </a:spcBef>
              <a:buFont typeface="Segoe UI Symbol"/>
              <a:buChar char="❖"/>
              <a:tabLst>
                <a:tab pos="337820" algn="l"/>
              </a:tabLst>
            </a:pPr>
            <a:r>
              <a:rPr spc="-20" dirty="0"/>
              <a:t>NLP:</a:t>
            </a:r>
          </a:p>
          <a:p>
            <a:pPr marL="966469" lvl="1" indent="-335915">
              <a:lnSpc>
                <a:spcPct val="100000"/>
              </a:lnSpc>
              <a:spcBef>
                <a:spcPts val="869"/>
              </a:spcBef>
              <a:buChar char="○"/>
              <a:tabLst>
                <a:tab pos="966469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Masked</a:t>
            </a:r>
            <a:r>
              <a:rPr sz="14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Language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Models</a:t>
            </a:r>
            <a:endParaRPr sz="1400">
              <a:latin typeface="Arial MT"/>
              <a:cs typeface="Arial MT"/>
            </a:endParaRPr>
          </a:p>
          <a:p>
            <a:pPr marL="1423670" lvl="2" indent="-335915">
              <a:lnSpc>
                <a:spcPct val="100000"/>
              </a:lnSpc>
              <a:spcBef>
                <a:spcPts val="869"/>
              </a:spcBef>
              <a:buChar char="■"/>
              <a:tabLst>
                <a:tab pos="1423670" algn="l"/>
              </a:tabLst>
            </a:pP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BERT</a:t>
            </a:r>
            <a:r>
              <a:rPr sz="1400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Bidirectional</a:t>
            </a:r>
            <a:r>
              <a:rPr sz="1400" spc="-5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Transformers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4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Arial MT"/>
                <a:cs typeface="Arial MT"/>
              </a:rPr>
              <a:t>NLP</a:t>
            </a:r>
            <a:endParaRPr sz="1400">
              <a:latin typeface="Arial MT"/>
              <a:cs typeface="Arial MT"/>
            </a:endParaRPr>
          </a:p>
          <a:p>
            <a:pPr marL="1423670" lvl="2" indent="-335915">
              <a:lnSpc>
                <a:spcPct val="100000"/>
              </a:lnSpc>
              <a:spcBef>
                <a:spcPts val="869"/>
              </a:spcBef>
              <a:buChar char="■"/>
              <a:tabLst>
                <a:tab pos="1423670" algn="l"/>
              </a:tabLst>
            </a:pP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RoBERTa</a:t>
            </a:r>
            <a:endParaRPr sz="1400">
              <a:latin typeface="Arial MT"/>
              <a:cs typeface="Arial MT"/>
            </a:endParaRPr>
          </a:p>
          <a:p>
            <a:pPr marL="966469" lvl="1" indent="-335915">
              <a:lnSpc>
                <a:spcPct val="100000"/>
              </a:lnSpc>
              <a:spcBef>
                <a:spcPts val="869"/>
              </a:spcBef>
              <a:buChar char="○"/>
              <a:tabLst>
                <a:tab pos="966469" algn="l"/>
              </a:tabLst>
            </a:pPr>
            <a:r>
              <a:rPr sz="1400" spc="-30" dirty="0">
                <a:solidFill>
                  <a:srgbClr val="595959"/>
                </a:solidFill>
                <a:latin typeface="Arial MT"/>
                <a:cs typeface="Arial MT"/>
              </a:rPr>
              <a:t>GPT-</a:t>
            </a:r>
            <a:r>
              <a:rPr sz="1400" spc="-50" dirty="0">
                <a:solidFill>
                  <a:srgbClr val="595959"/>
                </a:solidFill>
                <a:latin typeface="Arial MT"/>
                <a:cs typeface="Arial MT"/>
              </a:rPr>
              <a:t>3</a:t>
            </a:r>
            <a:endParaRPr sz="1400">
              <a:latin typeface="Arial MT"/>
              <a:cs typeface="Arial MT"/>
            </a:endParaRPr>
          </a:p>
          <a:p>
            <a:pPr marL="337820" indent="-325120">
              <a:lnSpc>
                <a:spcPct val="100000"/>
              </a:lnSpc>
              <a:spcBef>
                <a:spcPts val="869"/>
              </a:spcBef>
              <a:buFont typeface="Segoe UI Symbol"/>
              <a:buChar char="❖"/>
              <a:tabLst>
                <a:tab pos="337820" algn="l"/>
              </a:tabLst>
            </a:pPr>
            <a:r>
              <a:rPr dirty="0"/>
              <a:t>Computer</a:t>
            </a:r>
            <a:r>
              <a:rPr spc="-5" dirty="0"/>
              <a:t> </a:t>
            </a:r>
            <a:r>
              <a:rPr spc="-10" dirty="0"/>
              <a:t>Vision:</a:t>
            </a:r>
          </a:p>
          <a:p>
            <a:pPr marL="966469" lvl="1" indent="-335915">
              <a:lnSpc>
                <a:spcPct val="100000"/>
              </a:lnSpc>
              <a:spcBef>
                <a:spcPts val="870"/>
              </a:spcBef>
              <a:buChar char="○"/>
              <a:tabLst>
                <a:tab pos="966469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Vision</a:t>
            </a:r>
            <a:r>
              <a:rPr sz="1400" spc="-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Transformer</a:t>
            </a:r>
            <a:r>
              <a:rPr sz="1400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(ViT)</a:t>
            </a:r>
            <a:endParaRPr sz="1400">
              <a:latin typeface="Arial MT"/>
              <a:cs typeface="Arial MT"/>
            </a:endParaRPr>
          </a:p>
          <a:p>
            <a:pPr marL="966469" lvl="1" indent="-335915">
              <a:lnSpc>
                <a:spcPct val="100000"/>
              </a:lnSpc>
              <a:spcBef>
                <a:spcPts val="870"/>
              </a:spcBef>
              <a:buChar char="○"/>
              <a:tabLst>
                <a:tab pos="966469" algn="l"/>
              </a:tabLst>
            </a:pPr>
            <a:r>
              <a:rPr sz="1400" dirty="0">
                <a:solidFill>
                  <a:srgbClr val="595959"/>
                </a:solidFill>
                <a:latin typeface="Arial MT"/>
                <a:cs typeface="Arial MT"/>
              </a:rPr>
              <a:t>Swin</a:t>
            </a:r>
            <a:r>
              <a:rPr sz="1400" spc="-8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 MT"/>
                <a:cs typeface="Arial MT"/>
              </a:rPr>
              <a:t>Transformers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Extended</a:t>
            </a:r>
            <a:r>
              <a:rPr spc="-160" dirty="0"/>
              <a:t> </a:t>
            </a:r>
            <a:r>
              <a:rPr spc="-10" dirty="0"/>
              <a:t>Readings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3295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spcBef>
                <a:spcPts val="70"/>
              </a:spcBef>
            </a:pPr>
            <a:r>
              <a:rPr lang="en-US" spc="-10" dirty="0"/>
              <a:t>Master Class 2026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197779"/>
            <a:ext cx="2386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Good</a:t>
            </a:r>
            <a:r>
              <a:rPr sz="12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Sources</a:t>
            </a:r>
            <a:r>
              <a:rPr sz="12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2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Explainability: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274" y="1474004"/>
            <a:ext cx="8204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har char="●"/>
              <a:tabLst>
                <a:tab pos="332740" algn="l"/>
              </a:tabLst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Blogs: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8474" y="1656883"/>
            <a:ext cx="4004945" cy="223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72390" indent="-320675" algn="just">
              <a:lnSpc>
                <a:spcPct val="151000"/>
              </a:lnSpc>
              <a:spcBef>
                <a:spcPts val="100"/>
              </a:spcBef>
              <a:buChar char="○"/>
              <a:tabLst>
                <a:tab pos="332740" algn="l"/>
                <a:tab pos="334645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https://jinglescode.github.io/2020/05/27/illustrated-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gui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de-transformer/</a:t>
            </a:r>
            <a:endParaRPr sz="1200">
              <a:latin typeface="Arial MT"/>
              <a:cs typeface="Arial MT"/>
            </a:endParaRPr>
          </a:p>
          <a:p>
            <a:pPr marL="332740" marR="73025" indent="-320675" algn="just">
              <a:lnSpc>
                <a:spcPct val="151000"/>
              </a:lnSpc>
              <a:buChar char="○"/>
              <a:tabLst>
                <a:tab pos="332740" algn="l"/>
                <a:tab pos="334645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https://towardsdatascience.com/transformers-141e32 e69591</a:t>
            </a:r>
            <a:endParaRPr sz="1200">
              <a:latin typeface="Arial MT"/>
              <a:cs typeface="Arial MT"/>
            </a:endParaRPr>
          </a:p>
          <a:p>
            <a:pPr marL="335280" indent="-322580" algn="just">
              <a:lnSpc>
                <a:spcPct val="100000"/>
              </a:lnSpc>
              <a:spcBef>
                <a:spcPts val="735"/>
              </a:spcBef>
              <a:buClr>
                <a:srgbClr val="595959"/>
              </a:buClr>
              <a:buChar char="○"/>
              <a:tabLst>
                <a:tab pos="335280" algn="l"/>
              </a:tabLst>
            </a:pP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https://jalammar.github.io/illustrated-transformer/</a:t>
            </a:r>
            <a:endParaRPr sz="1200">
              <a:latin typeface="Arial MT"/>
              <a:cs typeface="Arial MT"/>
            </a:endParaRPr>
          </a:p>
          <a:p>
            <a:pPr marL="332740" marR="5080" indent="-320675" algn="just">
              <a:lnSpc>
                <a:spcPct val="151000"/>
              </a:lnSpc>
              <a:buChar char="○"/>
              <a:tabLst>
                <a:tab pos="332740" algn="l"/>
                <a:tab pos="334645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https://medium.com/analytics-vidhya/neural-machine-</a:t>
            </a:r>
            <a:r>
              <a:rPr sz="1200" spc="-50" dirty="0">
                <a:solidFill>
                  <a:srgbClr val="595959"/>
                </a:solidFill>
                <a:latin typeface="Arial MT"/>
                <a:cs typeface="Arial MT"/>
              </a:rPr>
              <a:t>t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ranslation-using-bahdanau-attention-mechanism-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d496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c9be30c3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1274" y="3866684"/>
            <a:ext cx="4170045" cy="57785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35"/>
              </a:spcBef>
              <a:buChar char="●"/>
              <a:tabLst>
                <a:tab pos="332740" algn="l"/>
              </a:tabLst>
            </a:pP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Youtube:</a:t>
            </a:r>
            <a:endParaRPr sz="1200" dirty="0">
              <a:latin typeface="Arial"/>
              <a:cs typeface="Arial"/>
            </a:endParaRPr>
          </a:p>
          <a:p>
            <a:pPr marL="789940" lvl="1" indent="-320040">
              <a:lnSpc>
                <a:spcPct val="100000"/>
              </a:lnSpc>
              <a:spcBef>
                <a:spcPts val="735"/>
              </a:spcBef>
              <a:buChar char="○"/>
              <a:tabLst>
                <a:tab pos="789940" algn="l"/>
              </a:tabLst>
            </a:pP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  <a:hlinkClick r:id="rId3"/>
              </a:rPr>
              <a:t>https://www.youtube.com/watch?v=TQQlZhbC5ps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28299" y="1197779"/>
            <a:ext cx="1262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Relevant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Papers: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64849" y="1380658"/>
            <a:ext cx="312674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619125" indent="-320675">
              <a:lnSpc>
                <a:spcPct val="150000"/>
              </a:lnSpc>
              <a:spcBef>
                <a:spcPts val="100"/>
              </a:spcBef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Attention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1200" spc="-8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All</a:t>
            </a:r>
            <a:r>
              <a:rPr sz="12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Need: https://arxiv.org/abs/1706.03762</a:t>
            </a:r>
            <a:endParaRPr sz="1200">
              <a:latin typeface="Arial MT"/>
              <a:cs typeface="Arial MT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Char char="●"/>
              <a:tabLst>
                <a:tab pos="332740" algn="l"/>
              </a:tabLst>
            </a:pP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BERT: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https://arxiv.org/abs/1810.04805</a:t>
            </a:r>
            <a:endParaRPr sz="1200">
              <a:latin typeface="Arial MT"/>
              <a:cs typeface="Arial MT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Roberta: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https://arxiv.org/abs/1907.11692</a:t>
            </a:r>
            <a:endParaRPr sz="1200">
              <a:latin typeface="Arial MT"/>
              <a:cs typeface="Arial MT"/>
            </a:endParaRPr>
          </a:p>
          <a:p>
            <a:pPr marL="332740" marR="249554" indent="-320675">
              <a:lnSpc>
                <a:spcPct val="150000"/>
              </a:lnSpc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Swin</a:t>
            </a:r>
            <a:r>
              <a:rPr sz="12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Transformer: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Hierarchical</a:t>
            </a:r>
            <a:r>
              <a:rPr sz="12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Vision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Transformer</a:t>
            </a:r>
            <a:r>
              <a:rPr sz="12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Shifted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Windows: https://arxiv.org/abs/2103.14030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1274" y="1197779"/>
            <a:ext cx="1287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har char="●"/>
              <a:tabLst>
                <a:tab pos="332740" algn="l"/>
              </a:tabLst>
            </a:pP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Transformers: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8474" y="1380659"/>
            <a:ext cx="3256915" cy="168275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35"/>
              </a:spcBef>
              <a:buChar char="○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Dominate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Everything</a:t>
            </a:r>
            <a:endParaRPr sz="1200">
              <a:latin typeface="Arial MT"/>
              <a:cs typeface="Arial MT"/>
            </a:endParaRPr>
          </a:p>
          <a:p>
            <a:pPr marL="332740" marR="5080" indent="-320675">
              <a:lnSpc>
                <a:spcPct val="151000"/>
              </a:lnSpc>
              <a:buChar char="○"/>
              <a:tabLst>
                <a:tab pos="332740" algn="l"/>
              </a:tabLst>
            </a:pP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State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art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Image</a:t>
            </a:r>
            <a:r>
              <a:rPr sz="12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Classification,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Language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Modeling,</a:t>
            </a:r>
            <a:r>
              <a:rPr sz="12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Speech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Recognition,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Vision</a:t>
            </a:r>
            <a:r>
              <a:rPr sz="1200" spc="-7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Transformers</a:t>
            </a:r>
            <a:r>
              <a:rPr sz="12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(ex:</a:t>
            </a:r>
            <a:r>
              <a:rPr sz="12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ViT),</a:t>
            </a:r>
            <a:r>
              <a:rPr sz="12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Semantic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Segmentation,</a:t>
            </a:r>
            <a:r>
              <a:rPr sz="12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Behavior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/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95959"/>
                </a:solidFill>
                <a:latin typeface="Arial MT"/>
                <a:cs typeface="Arial MT"/>
              </a:rPr>
              <a:t>Decision</a:t>
            </a:r>
            <a:r>
              <a:rPr sz="12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Arial MT"/>
                <a:cs typeface="Arial MT"/>
              </a:rPr>
              <a:t>Making, </a:t>
            </a:r>
            <a:r>
              <a:rPr sz="1200" spc="-20" dirty="0">
                <a:solidFill>
                  <a:srgbClr val="595959"/>
                </a:solidFill>
                <a:latin typeface="Arial MT"/>
                <a:cs typeface="Arial MT"/>
              </a:rPr>
              <a:t>etc.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74952" y="1500149"/>
            <a:ext cx="3763645" cy="2431415"/>
            <a:chOff x="4374952" y="1500149"/>
            <a:chExt cx="3763645" cy="24314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4952" y="1500149"/>
              <a:ext cx="3242944" cy="24313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655826" y="1951112"/>
              <a:ext cx="478155" cy="899160"/>
            </a:xfrm>
            <a:custGeom>
              <a:avLst/>
              <a:gdLst/>
              <a:ahLst/>
              <a:cxnLst/>
              <a:rect l="l" t="t" r="r" b="b"/>
              <a:pathLst>
                <a:path w="478154" h="899160">
                  <a:moveTo>
                    <a:pt x="477773" y="89873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35535" y="191294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90" h="45719">
                  <a:moveTo>
                    <a:pt x="6398" y="45552"/>
                  </a:moveTo>
                  <a:lnTo>
                    <a:pt x="0" y="0"/>
                  </a:lnTo>
                  <a:lnTo>
                    <a:pt x="34181" y="30782"/>
                  </a:lnTo>
                  <a:lnTo>
                    <a:pt x="6398" y="4555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35535" y="1912945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90" h="45719">
                  <a:moveTo>
                    <a:pt x="34181" y="30782"/>
                  </a:moveTo>
                  <a:lnTo>
                    <a:pt x="0" y="0"/>
                  </a:lnTo>
                  <a:lnTo>
                    <a:pt x="6398" y="45552"/>
                  </a:lnTo>
                  <a:lnTo>
                    <a:pt x="34181" y="3078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93987" y="2849849"/>
              <a:ext cx="440055" cy="737235"/>
            </a:xfrm>
            <a:custGeom>
              <a:avLst/>
              <a:gdLst/>
              <a:ahLst/>
              <a:cxnLst/>
              <a:rect l="l" t="t" r="r" b="b"/>
              <a:pathLst>
                <a:path w="440054" h="737235">
                  <a:moveTo>
                    <a:pt x="439612" y="0"/>
                  </a:moveTo>
                  <a:lnTo>
                    <a:pt x="0" y="7366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71835" y="3578412"/>
              <a:ext cx="36195" cy="45720"/>
            </a:xfrm>
            <a:custGeom>
              <a:avLst/>
              <a:gdLst/>
              <a:ahLst/>
              <a:cxnLst/>
              <a:rect l="l" t="t" r="r" b="b"/>
              <a:pathLst>
                <a:path w="36195" h="45720">
                  <a:moveTo>
                    <a:pt x="0" y="45180"/>
                  </a:moveTo>
                  <a:lnTo>
                    <a:pt x="8641" y="0"/>
                  </a:lnTo>
                  <a:lnTo>
                    <a:pt x="35661" y="16124"/>
                  </a:lnTo>
                  <a:lnTo>
                    <a:pt x="0" y="4518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71835" y="3578412"/>
              <a:ext cx="36195" cy="45720"/>
            </a:xfrm>
            <a:custGeom>
              <a:avLst/>
              <a:gdLst/>
              <a:ahLst/>
              <a:cxnLst/>
              <a:rect l="l" t="t" r="r" b="b"/>
              <a:pathLst>
                <a:path w="36195" h="45720">
                  <a:moveTo>
                    <a:pt x="8641" y="0"/>
                  </a:moveTo>
                  <a:lnTo>
                    <a:pt x="0" y="45180"/>
                  </a:lnTo>
                  <a:lnTo>
                    <a:pt x="35661" y="16124"/>
                  </a:lnTo>
                  <a:lnTo>
                    <a:pt x="8641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73053" y="2469255"/>
              <a:ext cx="461009" cy="381000"/>
            </a:xfrm>
            <a:custGeom>
              <a:avLst/>
              <a:gdLst/>
              <a:ahLst/>
              <a:cxnLst/>
              <a:rect l="l" t="t" r="r" b="b"/>
              <a:pathLst>
                <a:path w="461009" h="381000">
                  <a:moveTo>
                    <a:pt x="460545" y="38059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39733" y="2441720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5" h="40005">
                  <a:moveTo>
                    <a:pt x="23297" y="39663"/>
                  </a:moveTo>
                  <a:lnTo>
                    <a:pt x="0" y="0"/>
                  </a:lnTo>
                  <a:lnTo>
                    <a:pt x="43342" y="15407"/>
                  </a:lnTo>
                  <a:lnTo>
                    <a:pt x="23297" y="3966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39733" y="2441720"/>
              <a:ext cx="43815" cy="40005"/>
            </a:xfrm>
            <a:custGeom>
              <a:avLst/>
              <a:gdLst/>
              <a:ahLst/>
              <a:cxnLst/>
              <a:rect l="l" t="t" r="r" b="b"/>
              <a:pathLst>
                <a:path w="43815" h="40005">
                  <a:moveTo>
                    <a:pt x="43342" y="15407"/>
                  </a:moveTo>
                  <a:lnTo>
                    <a:pt x="0" y="0"/>
                  </a:lnTo>
                  <a:lnTo>
                    <a:pt x="23297" y="39663"/>
                  </a:lnTo>
                  <a:lnTo>
                    <a:pt x="43342" y="1540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79687" y="2849849"/>
              <a:ext cx="454025" cy="236854"/>
            </a:xfrm>
            <a:custGeom>
              <a:avLst/>
              <a:gdLst/>
              <a:ahLst/>
              <a:cxnLst/>
              <a:rect l="l" t="t" r="r" b="b"/>
              <a:pathLst>
                <a:path w="454025" h="236855">
                  <a:moveTo>
                    <a:pt x="453912" y="0"/>
                  </a:moveTo>
                  <a:lnTo>
                    <a:pt x="0" y="23640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41349" y="3072297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0" y="33920"/>
                  </a:moveTo>
                  <a:lnTo>
                    <a:pt x="31069" y="0"/>
                  </a:lnTo>
                  <a:lnTo>
                    <a:pt x="45604" y="27907"/>
                  </a:lnTo>
                  <a:lnTo>
                    <a:pt x="0" y="3392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41349" y="3072297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31069" y="0"/>
                  </a:moveTo>
                  <a:lnTo>
                    <a:pt x="0" y="33920"/>
                  </a:lnTo>
                  <a:lnTo>
                    <a:pt x="45604" y="27907"/>
                  </a:lnTo>
                  <a:lnTo>
                    <a:pt x="31069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09925" y="1143479"/>
            <a:ext cx="2453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Image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Classification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ImageNet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73025" y="4894569"/>
            <a:ext cx="2049780" cy="1628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 dirty="0"/>
              <a:t>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0" name="object 20"/>
          <p:cNvSpPr txBox="1"/>
          <p:nvPr/>
        </p:nvSpPr>
        <p:spPr>
          <a:xfrm>
            <a:off x="8228976" y="2027375"/>
            <a:ext cx="281305" cy="137604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latin typeface="Arial MT"/>
                <a:cs typeface="Arial MT"/>
              </a:rPr>
              <a:t>Transformers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1402</Words>
  <Application>Microsoft Office PowerPoint</Application>
  <PresentationFormat>On-screen Show (16:9)</PresentationFormat>
  <Paragraphs>220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MS PGothic</vt:lpstr>
      <vt:lpstr>Arial</vt:lpstr>
      <vt:lpstr>Arial MT</vt:lpstr>
      <vt:lpstr>Segoe UI Symbol</vt:lpstr>
      <vt:lpstr>Tahoma</vt:lpstr>
      <vt:lpstr>Office Theme</vt:lpstr>
      <vt:lpstr>Attention is All You Need</vt:lpstr>
      <vt:lpstr>Motivation</vt:lpstr>
      <vt:lpstr>Previous Work</vt:lpstr>
      <vt:lpstr>Context</vt:lpstr>
      <vt:lpstr>Self-Attention</vt:lpstr>
      <vt:lpstr>Idea Behind Attention</vt:lpstr>
      <vt:lpstr>Scaled Dot Product Attention</vt:lpstr>
      <vt:lpstr>Multi-Head Attention</vt:lpstr>
      <vt:lpstr>Multi-Head Attention Continued</vt:lpstr>
      <vt:lpstr>Positional Encoding</vt:lpstr>
      <vt:lpstr>Full-Architecture</vt:lpstr>
      <vt:lpstr>Training Details and Experimental Setup</vt:lpstr>
      <vt:lpstr>Experimental Results</vt:lpstr>
      <vt:lpstr>Discussion of Results</vt:lpstr>
      <vt:lpstr>Critique / Limitations / Open Issues</vt:lpstr>
      <vt:lpstr>Future Work for Paper / Reading</vt:lpstr>
      <vt:lpstr>Extended Readings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 Presentation</dc:title>
  <dc:creator>hp</dc:creator>
  <cp:lastModifiedBy>Rahul Vaish</cp:lastModifiedBy>
  <cp:revision>4</cp:revision>
  <dcterms:created xsi:type="dcterms:W3CDTF">2026-06-02T05:53:43Z</dcterms:created>
  <dcterms:modified xsi:type="dcterms:W3CDTF">2026-06-02T06:25:55Z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2026-06-02T00:00:00Z</vt:filetime>
  </property>
  <property fmtid="{D5CDD505-2E9C-101B-9397-08002B2CF9AE}" pid="3" name="Creator">
    <vt:lpwstr>Google</vt:lpwstr>
  </property>
  <property fmtid="{D5CDD505-2E9C-101B-9397-08002B2CF9AE}" pid="4" name="LastSaved">
    <vt:filetime>2026-06-02T00:00:00Z</vt:filetime>
  </property>
</Properties>
</file>