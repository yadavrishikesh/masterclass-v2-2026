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346" r:id="rId26"/>
    <p:sldId id="347" r:id="rId27"/>
    <p:sldId id="348" r:id="rId28"/>
    <p:sldId id="349" r:id="rId29"/>
    <p:sldId id="369" r:id="rId30"/>
    <p:sldId id="372" r:id="rId31"/>
    <p:sldId id="374" r:id="rId32"/>
    <p:sldId id="375" r:id="rId33"/>
    <p:sldId id="261" r:id="rId34"/>
    <p:sldId id="262" r:id="rId35"/>
    <p:sldId id="377" r:id="rId36"/>
    <p:sldId id="378" r:id="rId37"/>
    <p:sldId id="379" r:id="rId38"/>
    <p:sldId id="380" r:id="rId39"/>
    <p:sldId id="268" r:id="rId40"/>
    <p:sldId id="269" r:id="rId41"/>
    <p:sldId id="381" r:id="rId42"/>
    <p:sldId id="382" r:id="rId43"/>
    <p:sldId id="383" r:id="rId44"/>
    <p:sldId id="384" r:id="rId45"/>
    <p:sldId id="385" r:id="rId46"/>
    <p:sldId id="386" r:id="rId47"/>
    <p:sldId id="387" r:id="rId48"/>
    <p:sldId id="388" r:id="rId49"/>
    <p:sldId id="389" r:id="rId50"/>
    <p:sldId id="390" r:id="rId51"/>
    <p:sldId id="391" r:id="rId52"/>
    <p:sldId id="392" r:id="rId53"/>
    <p:sldId id="393" r:id="rId54"/>
    <p:sldId id="394" r:id="rId55"/>
    <p:sldId id="295" r:id="rId56"/>
    <p:sldId id="296" r:id="rId57"/>
    <p:sldId id="297" r:id="rId58"/>
    <p:sldId id="298" r:id="rId59"/>
    <p:sldId id="299" r:id="rId60"/>
    <p:sldId id="300" r:id="rId61"/>
    <p:sldId id="301" r:id="rId62"/>
    <p:sldId id="302" r:id="rId63"/>
    <p:sldId id="303" r:id="rId64"/>
    <p:sldId id="304" r:id="rId65"/>
    <p:sldId id="305" r:id="rId66"/>
    <p:sldId id="306" r:id="rId67"/>
    <p:sldId id="307" r:id="rId68"/>
    <p:sldId id="308" r:id="rId69"/>
    <p:sldId id="309" r:id="rId70"/>
    <p:sldId id="310" r:id="rId71"/>
    <p:sldId id="311" r:id="rId72"/>
    <p:sldId id="312" r:id="rId73"/>
    <p:sldId id="313" r:id="rId74"/>
    <p:sldId id="314" r:id="rId75"/>
    <p:sldId id="315" r:id="rId76"/>
    <p:sldId id="316" r:id="rId77"/>
    <p:sldId id="317" r:id="rId78"/>
    <p:sldId id="318" r:id="rId79"/>
    <p:sldId id="319" r:id="rId80"/>
    <p:sldId id="320" r:id="rId81"/>
    <p:sldId id="321" r:id="rId82"/>
    <p:sldId id="322" r:id="rId8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78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9925" y="154059"/>
            <a:ext cx="7456085" cy="72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4300" y="3817933"/>
            <a:ext cx="6327140" cy="751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765899"/>
            <a:ext cx="9144000" cy="377825"/>
          </a:xfrm>
          <a:custGeom>
            <a:avLst/>
            <a:gdLst/>
            <a:ahLst/>
            <a:cxnLst/>
            <a:rect l="l" t="t" r="r" b="b"/>
            <a:pathLst>
              <a:path w="9144000" h="377825">
                <a:moveTo>
                  <a:pt x="0" y="377600"/>
                </a:moveTo>
                <a:lnTo>
                  <a:pt x="0" y="0"/>
                </a:lnTo>
                <a:lnTo>
                  <a:pt x="9143999" y="0"/>
                </a:lnTo>
                <a:lnTo>
                  <a:pt x="9143999" y="377600"/>
                </a:lnTo>
                <a:lnTo>
                  <a:pt x="0" y="377600"/>
                </a:lnTo>
                <a:close/>
              </a:path>
            </a:pathLst>
          </a:custGeom>
          <a:solidFill>
            <a:srgbClr val="8C141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8325" y="85107"/>
            <a:ext cx="8867349" cy="668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4949" y="1839073"/>
            <a:ext cx="3719195" cy="2129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456525" y="4802949"/>
            <a:ext cx="1591945" cy="309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41925" y="4802949"/>
            <a:ext cx="1380489" cy="309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375579" y="4795500"/>
            <a:ext cx="518159" cy="323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7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4.png"/><Relationship Id="rId5" Type="http://schemas.openxmlformats.org/officeDocument/2006/relationships/image" Target="../media/image27.png"/><Relationship Id="rId10" Type="http://schemas.openxmlformats.org/officeDocument/2006/relationships/image" Target="../media/image33.png"/><Relationship Id="rId4" Type="http://schemas.openxmlformats.org/officeDocument/2006/relationships/image" Target="../media/image26.png"/><Relationship Id="rId9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5.png"/><Relationship Id="rId5" Type="http://schemas.openxmlformats.org/officeDocument/2006/relationships/image" Target="../media/image27.png"/><Relationship Id="rId10" Type="http://schemas.openxmlformats.org/officeDocument/2006/relationships/image" Target="../media/image33.png"/><Relationship Id="rId4" Type="http://schemas.openxmlformats.org/officeDocument/2006/relationships/image" Target="../media/image26.png"/><Relationship Id="rId9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5.png"/><Relationship Id="rId5" Type="http://schemas.openxmlformats.org/officeDocument/2006/relationships/image" Target="../media/image27.png"/><Relationship Id="rId10" Type="http://schemas.openxmlformats.org/officeDocument/2006/relationships/image" Target="../media/image33.png"/><Relationship Id="rId4" Type="http://schemas.openxmlformats.org/officeDocument/2006/relationships/image" Target="../media/image26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5.png"/><Relationship Id="rId5" Type="http://schemas.openxmlformats.org/officeDocument/2006/relationships/image" Target="../media/image27.png"/><Relationship Id="rId10" Type="http://schemas.openxmlformats.org/officeDocument/2006/relationships/image" Target="../media/image33.png"/><Relationship Id="rId4" Type="http://schemas.openxmlformats.org/officeDocument/2006/relationships/image" Target="../media/image26.png"/><Relationship Id="rId9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12" Type="http://schemas.openxmlformats.org/officeDocument/2006/relationships/image" Target="../media/image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5.png"/><Relationship Id="rId5" Type="http://schemas.openxmlformats.org/officeDocument/2006/relationships/image" Target="../media/image27.png"/><Relationship Id="rId15" Type="http://schemas.openxmlformats.org/officeDocument/2006/relationships/image" Target="../media/image41.png"/><Relationship Id="rId10" Type="http://schemas.openxmlformats.org/officeDocument/2006/relationships/image" Target="../media/image33.png"/><Relationship Id="rId4" Type="http://schemas.openxmlformats.org/officeDocument/2006/relationships/image" Target="../media/image26.png"/><Relationship Id="rId9" Type="http://schemas.openxmlformats.org/officeDocument/2006/relationships/image" Target="../media/image32.png"/><Relationship Id="rId1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12" Type="http://schemas.openxmlformats.org/officeDocument/2006/relationships/image" Target="../media/image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5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6.png"/><Relationship Id="rId9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6.png"/><Relationship Id="rId7" Type="http://schemas.openxmlformats.org/officeDocument/2006/relationships/image" Target="../media/image4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46.jpg"/><Relationship Id="rId5" Type="http://schemas.openxmlformats.org/officeDocument/2006/relationships/image" Target="../media/image45.png"/><Relationship Id="rId10" Type="http://schemas.openxmlformats.org/officeDocument/2006/relationships/image" Target="../media/image51.png"/><Relationship Id="rId4" Type="http://schemas.openxmlformats.org/officeDocument/2006/relationships/image" Target="../media/image44.png"/><Relationship Id="rId9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6.png"/><Relationship Id="rId7" Type="http://schemas.openxmlformats.org/officeDocument/2006/relationships/image" Target="../media/image48.png"/><Relationship Id="rId12" Type="http://schemas.openxmlformats.org/officeDocument/2006/relationships/image" Target="../media/image5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46.jpg"/><Relationship Id="rId5" Type="http://schemas.openxmlformats.org/officeDocument/2006/relationships/image" Target="../media/image45.png"/><Relationship Id="rId10" Type="http://schemas.openxmlformats.org/officeDocument/2006/relationships/image" Target="../media/image51.png"/><Relationship Id="rId4" Type="http://schemas.openxmlformats.org/officeDocument/2006/relationships/image" Target="../media/image44.png"/><Relationship Id="rId9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8.png"/><Relationship Id="rId5" Type="http://schemas.openxmlformats.org/officeDocument/2006/relationships/image" Target="../media/image61.png"/><Relationship Id="rId10" Type="http://schemas.openxmlformats.org/officeDocument/2006/relationships/image" Target="../media/image67.png"/><Relationship Id="rId4" Type="http://schemas.openxmlformats.org/officeDocument/2006/relationships/image" Target="../media/image60.png"/><Relationship Id="rId9" Type="http://schemas.openxmlformats.org/officeDocument/2006/relationships/image" Target="../media/image66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8.png"/><Relationship Id="rId5" Type="http://schemas.openxmlformats.org/officeDocument/2006/relationships/image" Target="../media/image61.png"/><Relationship Id="rId10" Type="http://schemas.openxmlformats.org/officeDocument/2006/relationships/image" Target="../media/image67.png"/><Relationship Id="rId4" Type="http://schemas.openxmlformats.org/officeDocument/2006/relationships/image" Target="../media/image60.png"/><Relationship Id="rId9" Type="http://schemas.openxmlformats.org/officeDocument/2006/relationships/image" Target="../media/image6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8.png"/><Relationship Id="rId5" Type="http://schemas.openxmlformats.org/officeDocument/2006/relationships/image" Target="../media/image61.png"/><Relationship Id="rId10" Type="http://schemas.openxmlformats.org/officeDocument/2006/relationships/image" Target="../media/image67.png"/><Relationship Id="rId4" Type="http://schemas.openxmlformats.org/officeDocument/2006/relationships/image" Target="../media/image60.png"/><Relationship Id="rId9" Type="http://schemas.openxmlformats.org/officeDocument/2006/relationships/image" Target="../media/image6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8.png"/><Relationship Id="rId5" Type="http://schemas.openxmlformats.org/officeDocument/2006/relationships/image" Target="../media/image61.png"/><Relationship Id="rId10" Type="http://schemas.openxmlformats.org/officeDocument/2006/relationships/image" Target="../media/image67.png"/><Relationship Id="rId4" Type="http://schemas.openxmlformats.org/officeDocument/2006/relationships/image" Target="../media/image60.png"/><Relationship Id="rId9" Type="http://schemas.openxmlformats.org/officeDocument/2006/relationships/image" Target="../media/image66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8.png"/><Relationship Id="rId5" Type="http://schemas.openxmlformats.org/officeDocument/2006/relationships/image" Target="../media/image61.png"/><Relationship Id="rId10" Type="http://schemas.openxmlformats.org/officeDocument/2006/relationships/image" Target="../media/image67.png"/><Relationship Id="rId4" Type="http://schemas.openxmlformats.org/officeDocument/2006/relationships/image" Target="../media/image60.png"/><Relationship Id="rId9" Type="http://schemas.openxmlformats.org/officeDocument/2006/relationships/image" Target="../media/image66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8.png"/><Relationship Id="rId5" Type="http://schemas.openxmlformats.org/officeDocument/2006/relationships/image" Target="../media/image61.png"/><Relationship Id="rId10" Type="http://schemas.openxmlformats.org/officeDocument/2006/relationships/image" Target="../media/image67.png"/><Relationship Id="rId4" Type="http://schemas.openxmlformats.org/officeDocument/2006/relationships/image" Target="../media/image60.png"/><Relationship Id="rId9" Type="http://schemas.openxmlformats.org/officeDocument/2006/relationships/image" Target="../media/image6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lena-voita.github.io/nlp_course/seq2seq_and_attention.html" TargetMode="Externa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60.png"/><Relationship Id="rId7" Type="http://schemas.openxmlformats.org/officeDocument/2006/relationships/image" Target="../media/image77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58.png"/><Relationship Id="rId10" Type="http://schemas.openxmlformats.org/officeDocument/2006/relationships/image" Target="../media/image80.png"/><Relationship Id="rId4" Type="http://schemas.openxmlformats.org/officeDocument/2006/relationships/image" Target="../media/image59.png"/><Relationship Id="rId9" Type="http://schemas.openxmlformats.org/officeDocument/2006/relationships/image" Target="../media/image79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60.png"/><Relationship Id="rId7" Type="http://schemas.openxmlformats.org/officeDocument/2006/relationships/image" Target="../media/image81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58.png"/><Relationship Id="rId10" Type="http://schemas.openxmlformats.org/officeDocument/2006/relationships/image" Target="../media/image79.png"/><Relationship Id="rId4" Type="http://schemas.openxmlformats.org/officeDocument/2006/relationships/image" Target="../media/image59.png"/><Relationship Id="rId9" Type="http://schemas.openxmlformats.org/officeDocument/2006/relationships/image" Target="../media/image78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60.png"/><Relationship Id="rId7" Type="http://schemas.openxmlformats.org/officeDocument/2006/relationships/image" Target="../media/image81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58.png"/><Relationship Id="rId10" Type="http://schemas.openxmlformats.org/officeDocument/2006/relationships/image" Target="../media/image79.png"/><Relationship Id="rId4" Type="http://schemas.openxmlformats.org/officeDocument/2006/relationships/image" Target="../media/image59.png"/><Relationship Id="rId9" Type="http://schemas.openxmlformats.org/officeDocument/2006/relationships/image" Target="../media/image78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60.png"/><Relationship Id="rId7" Type="http://schemas.openxmlformats.org/officeDocument/2006/relationships/image" Target="../media/image81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58.png"/><Relationship Id="rId10" Type="http://schemas.openxmlformats.org/officeDocument/2006/relationships/image" Target="../media/image79.png"/><Relationship Id="rId4" Type="http://schemas.openxmlformats.org/officeDocument/2006/relationships/image" Target="../media/image59.png"/><Relationship Id="rId9" Type="http://schemas.openxmlformats.org/officeDocument/2006/relationships/image" Target="../media/image78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58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60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58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60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58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60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58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60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58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60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58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60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58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60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58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80.png"/><Relationship Id="rId2" Type="http://schemas.openxmlformats.org/officeDocument/2006/relationships/image" Target="../media/image59.png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60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58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79.png"/><Relationship Id="rId2" Type="http://schemas.openxmlformats.org/officeDocument/2006/relationships/image" Target="../media/image59.png"/><Relationship Id="rId16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60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58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80.png"/><Relationship Id="rId2" Type="http://schemas.openxmlformats.org/officeDocument/2006/relationships/image" Target="../media/image59.png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60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58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80.png"/><Relationship Id="rId2" Type="http://schemas.openxmlformats.org/officeDocument/2006/relationships/image" Target="../media/image59.png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60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58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60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1.png"/><Relationship Id="rId3" Type="http://schemas.openxmlformats.org/officeDocument/2006/relationships/image" Target="../media/image58.png"/><Relationship Id="rId7" Type="http://schemas.openxmlformats.org/officeDocument/2006/relationships/image" Target="../media/image84.png"/><Relationship Id="rId12" Type="http://schemas.openxmlformats.org/officeDocument/2006/relationships/image" Target="../media/image9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7.png"/><Relationship Id="rId5" Type="http://schemas.openxmlformats.org/officeDocument/2006/relationships/image" Target="../media/image82.png"/><Relationship Id="rId15" Type="http://schemas.openxmlformats.org/officeDocument/2006/relationships/image" Target="../media/image89.png"/><Relationship Id="rId10" Type="http://schemas.openxmlformats.org/officeDocument/2006/relationships/image" Target="../media/image88.png"/><Relationship Id="rId4" Type="http://schemas.openxmlformats.org/officeDocument/2006/relationships/image" Target="../media/image60.png"/><Relationship Id="rId9" Type="http://schemas.openxmlformats.org/officeDocument/2006/relationships/image" Target="../media/image86.png"/><Relationship Id="rId14" Type="http://schemas.openxmlformats.org/officeDocument/2006/relationships/image" Target="../media/image92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58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60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58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60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58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60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58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60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58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60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58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78.png"/><Relationship Id="rId2" Type="http://schemas.openxmlformats.org/officeDocument/2006/relationships/image" Target="../media/image59.png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60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7.png"/><Relationship Id="rId4" Type="http://schemas.openxmlformats.org/officeDocument/2006/relationships/image" Target="../media/image78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625" y="1555966"/>
            <a:ext cx="738060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4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4800" dirty="0">
                <a:latin typeface="Tahoma"/>
                <a:cs typeface="Tahoma"/>
              </a:rPr>
              <a:t>Recurrent</a:t>
            </a:r>
            <a:r>
              <a:rPr sz="4800" spc="-55" dirty="0">
                <a:latin typeface="Tahoma"/>
                <a:cs typeface="Tahoma"/>
              </a:rPr>
              <a:t> </a:t>
            </a:r>
            <a:r>
              <a:rPr sz="4800" dirty="0">
                <a:latin typeface="Tahoma"/>
                <a:cs typeface="Tahoma"/>
              </a:rPr>
              <a:t>Neural</a:t>
            </a:r>
            <a:r>
              <a:rPr sz="4800" spc="-50" dirty="0">
                <a:latin typeface="Tahoma"/>
                <a:cs typeface="Tahoma"/>
              </a:rPr>
              <a:t> </a:t>
            </a:r>
            <a:r>
              <a:rPr sz="4800" spc="60" dirty="0">
                <a:latin typeface="Tahoma"/>
                <a:cs typeface="Tahoma"/>
              </a:rPr>
              <a:t>Networks</a:t>
            </a:r>
            <a:endParaRPr sz="48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7456525" y="4802949"/>
            <a:ext cx="159194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lang="en-US" dirty="0"/>
              <a:t>June 6</a:t>
            </a:r>
            <a:r>
              <a:rPr dirty="0"/>
              <a:t>,</a:t>
            </a:r>
            <a:r>
              <a:rPr spc="-40" dirty="0"/>
              <a:t> </a:t>
            </a:r>
            <a:r>
              <a:rPr spc="-20" dirty="0"/>
              <a:t>202</a:t>
            </a:r>
            <a:r>
              <a:rPr lang="en-US" spc="-20" dirty="0"/>
              <a:t>6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145225" y="4807709"/>
            <a:ext cx="35255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sz="1800" spc="-10" dirty="0">
                <a:solidFill>
                  <a:srgbClr val="FFFFFF"/>
                </a:solidFill>
                <a:latin typeface="Arial MT"/>
                <a:cs typeface="Arial MT"/>
              </a:rPr>
              <a:t>Master class 2026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5" y="902375"/>
            <a:ext cx="1051655" cy="267666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119838" y="3709497"/>
            <a:ext cx="614680" cy="469900"/>
            <a:chOff x="1119838" y="3709497"/>
            <a:chExt cx="614680" cy="469900"/>
          </a:xfrm>
        </p:grpSpPr>
        <p:sp>
          <p:nvSpPr>
            <p:cNvPr id="4" name="object 4"/>
            <p:cNvSpPr/>
            <p:nvPr/>
          </p:nvSpPr>
          <p:spPr>
            <a:xfrm>
              <a:off x="1198318" y="3771165"/>
              <a:ext cx="527050" cy="398780"/>
            </a:xfrm>
            <a:custGeom>
              <a:avLst/>
              <a:gdLst/>
              <a:ahLst/>
              <a:cxnLst/>
              <a:rect l="l" t="t" r="r" b="b"/>
              <a:pathLst>
                <a:path w="527050" h="398779">
                  <a:moveTo>
                    <a:pt x="526531" y="39815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9838" y="3709497"/>
              <a:ext cx="106983" cy="9629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797874" y="3999655"/>
            <a:ext cx="2615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Vanilla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Neural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Networks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spc="-20" dirty="0"/>
              <a:t>“Vanilla”</a:t>
            </a:r>
            <a:r>
              <a:rPr sz="2800" spc="-120" dirty="0"/>
              <a:t> </a:t>
            </a:r>
            <a:r>
              <a:rPr sz="2800" dirty="0"/>
              <a:t>Neural</a:t>
            </a:r>
            <a:r>
              <a:rPr sz="2800" spc="-120" dirty="0"/>
              <a:t> </a:t>
            </a:r>
            <a:r>
              <a:rPr sz="2800" spc="-10" dirty="0"/>
              <a:t>Network</a:t>
            </a:r>
            <a:endParaRPr sz="2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A73E94-2A16-BC8F-B72F-452D2B4E1DA3}"/>
              </a:ext>
            </a:extLst>
          </p:cNvPr>
          <p:cNvSpPr txBox="1"/>
          <p:nvPr/>
        </p:nvSpPr>
        <p:spPr>
          <a:xfrm>
            <a:off x="138325" y="4781863"/>
            <a:ext cx="457200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sz="1800" spc="-10" dirty="0">
                <a:solidFill>
                  <a:srgbClr val="FFFFFF"/>
                </a:solidFill>
                <a:latin typeface="Arial MT"/>
                <a:cs typeface="Arial MT"/>
              </a:rPr>
              <a:t>Master class 2026</a:t>
            </a:r>
            <a:endParaRPr lang="en-US" sz="1800" dirty="0">
              <a:latin typeface="Arial MT"/>
              <a:cs typeface="Arial M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233178-CDAE-DE68-6B49-DA4C2860255E}"/>
              </a:ext>
            </a:extLst>
          </p:cNvPr>
          <p:cNvSpPr txBox="1"/>
          <p:nvPr/>
        </p:nvSpPr>
        <p:spPr>
          <a:xfrm>
            <a:off x="6553200" y="4781863"/>
            <a:ext cx="2590800" cy="366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2310"/>
              </a:lnSpc>
            </a:pPr>
            <a:r>
              <a:rPr lang="en-US" dirty="0">
                <a:solidFill>
                  <a:schemeClr val="bg1"/>
                </a:solidFill>
              </a:rPr>
              <a:t>June 6,</a:t>
            </a:r>
            <a:r>
              <a:rPr lang="en-US" spc="-40" dirty="0">
                <a:solidFill>
                  <a:schemeClr val="bg1"/>
                </a:solidFill>
              </a:rPr>
              <a:t> </a:t>
            </a:r>
            <a:r>
              <a:rPr lang="en-US" spc="-20" dirty="0">
                <a:solidFill>
                  <a:schemeClr val="bg1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Recurrent</a:t>
            </a:r>
            <a:r>
              <a:rPr sz="2800" spc="-140" dirty="0"/>
              <a:t> </a:t>
            </a:r>
            <a:r>
              <a:rPr sz="2800" dirty="0"/>
              <a:t>Neural</a:t>
            </a:r>
            <a:r>
              <a:rPr sz="2800" spc="-140" dirty="0"/>
              <a:t> </a:t>
            </a:r>
            <a:r>
              <a:rPr sz="2800" dirty="0"/>
              <a:t>Networks:</a:t>
            </a:r>
            <a:r>
              <a:rPr sz="2800" spc="-140" dirty="0"/>
              <a:t> </a:t>
            </a:r>
            <a:r>
              <a:rPr sz="2800" dirty="0"/>
              <a:t>Process</a:t>
            </a:r>
            <a:r>
              <a:rPr sz="2800" spc="-140" dirty="0"/>
              <a:t> </a:t>
            </a:r>
            <a:r>
              <a:rPr sz="2800" spc="-10" dirty="0"/>
              <a:t>Sequences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2042113" y="3744252"/>
            <a:ext cx="363220" cy="427355"/>
            <a:chOff x="2042113" y="3744252"/>
            <a:chExt cx="363220" cy="427355"/>
          </a:xfrm>
        </p:grpSpPr>
        <p:sp>
          <p:nvSpPr>
            <p:cNvPr id="4" name="object 4"/>
            <p:cNvSpPr/>
            <p:nvPr/>
          </p:nvSpPr>
          <p:spPr>
            <a:xfrm>
              <a:off x="2107322" y="3819905"/>
              <a:ext cx="288290" cy="342265"/>
            </a:xfrm>
            <a:custGeom>
              <a:avLst/>
              <a:gdLst/>
              <a:ahLst/>
              <a:cxnLst/>
              <a:rect l="l" t="t" r="r" b="b"/>
              <a:pathLst>
                <a:path w="288289" h="342264">
                  <a:moveTo>
                    <a:pt x="287877" y="34186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2113" y="3744252"/>
              <a:ext cx="98803" cy="10544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468225" y="3864081"/>
            <a:ext cx="29019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e.g.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Image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Captioning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image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dirty="0">
                <a:latin typeface="Arial MT"/>
                <a:cs typeface="Arial MT"/>
              </a:rPr>
              <a:t>&gt;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sequence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words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025" y="902375"/>
            <a:ext cx="2739206" cy="267666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45225" y="4807709"/>
            <a:ext cx="352552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sz="1800" spc="-10" dirty="0">
                <a:solidFill>
                  <a:srgbClr val="FFFFFF"/>
                </a:solidFill>
                <a:latin typeface="Arial MT"/>
                <a:cs typeface="Arial MT"/>
              </a:rPr>
              <a:t>Master class 2026</a:t>
            </a:r>
            <a:endParaRPr lang="en-US" sz="1800" dirty="0">
              <a:latin typeface="Arial MT"/>
              <a:cs typeface="Arial MT"/>
            </a:endParaRPr>
          </a:p>
          <a:p>
            <a:pPr marL="12700">
              <a:lnSpc>
                <a:spcPts val="2090"/>
              </a:lnSpc>
            </a:pP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5" y="902375"/>
            <a:ext cx="4418085" cy="26766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Recurrent</a:t>
            </a:r>
            <a:r>
              <a:rPr sz="2800" spc="-140" dirty="0"/>
              <a:t> </a:t>
            </a:r>
            <a:r>
              <a:rPr sz="2800" dirty="0"/>
              <a:t>Neural</a:t>
            </a:r>
            <a:r>
              <a:rPr sz="2800" spc="-140" dirty="0"/>
              <a:t> </a:t>
            </a:r>
            <a:r>
              <a:rPr sz="2800" dirty="0"/>
              <a:t>Networks:</a:t>
            </a:r>
            <a:r>
              <a:rPr sz="2800" spc="-140" dirty="0"/>
              <a:t> </a:t>
            </a:r>
            <a:r>
              <a:rPr sz="2800" dirty="0"/>
              <a:t>Process</a:t>
            </a:r>
            <a:r>
              <a:rPr sz="2800" spc="-140" dirty="0"/>
              <a:t> </a:t>
            </a:r>
            <a:r>
              <a:rPr sz="2800" spc="-10" dirty="0"/>
              <a:t>Sequences</a:t>
            </a:r>
            <a:endParaRPr sz="2800"/>
          </a:p>
        </p:txBody>
      </p:sp>
      <p:grpSp>
        <p:nvGrpSpPr>
          <p:cNvPr id="4" name="object 4"/>
          <p:cNvGrpSpPr/>
          <p:nvPr/>
        </p:nvGrpSpPr>
        <p:grpSpPr>
          <a:xfrm>
            <a:off x="3721788" y="3691527"/>
            <a:ext cx="363220" cy="427355"/>
            <a:chOff x="3721788" y="3691527"/>
            <a:chExt cx="363220" cy="427355"/>
          </a:xfrm>
        </p:grpSpPr>
        <p:sp>
          <p:nvSpPr>
            <p:cNvPr id="5" name="object 5"/>
            <p:cNvSpPr/>
            <p:nvPr/>
          </p:nvSpPr>
          <p:spPr>
            <a:xfrm>
              <a:off x="3786997" y="3767180"/>
              <a:ext cx="288290" cy="342265"/>
            </a:xfrm>
            <a:custGeom>
              <a:avLst/>
              <a:gdLst/>
              <a:ahLst/>
              <a:cxnLst/>
              <a:rect l="l" t="t" r="r" b="b"/>
              <a:pathLst>
                <a:path w="288289" h="342264">
                  <a:moveTo>
                    <a:pt x="287877" y="34186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21788" y="3691527"/>
              <a:ext cx="98803" cy="10544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275899" y="3849080"/>
            <a:ext cx="41719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e.g.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action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prediction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sequence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video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frames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dirty="0">
                <a:latin typeface="Arial MT"/>
                <a:cs typeface="Arial MT"/>
              </a:rPr>
              <a:t>&gt;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class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225" y="4807709"/>
            <a:ext cx="352552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sz="1800" spc="-10" dirty="0">
                <a:solidFill>
                  <a:srgbClr val="FFFFFF"/>
                </a:solidFill>
                <a:latin typeface="Arial MT"/>
                <a:cs typeface="Arial MT"/>
              </a:rPr>
              <a:t>Master class 2026</a:t>
            </a:r>
            <a:endParaRPr lang="en-US" sz="1800" dirty="0">
              <a:latin typeface="Arial MT"/>
              <a:cs typeface="Arial MT"/>
            </a:endParaRPr>
          </a:p>
          <a:p>
            <a:pPr marL="12700">
              <a:lnSpc>
                <a:spcPts val="2090"/>
              </a:lnSpc>
            </a:pP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5" y="902375"/>
            <a:ext cx="6944695" cy="26766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Recurrent</a:t>
            </a:r>
            <a:r>
              <a:rPr sz="2800" spc="-140" dirty="0"/>
              <a:t> </a:t>
            </a:r>
            <a:r>
              <a:rPr sz="2800" dirty="0"/>
              <a:t>Neural</a:t>
            </a:r>
            <a:r>
              <a:rPr sz="2800" spc="-140" dirty="0"/>
              <a:t> </a:t>
            </a:r>
            <a:r>
              <a:rPr sz="2800" dirty="0"/>
              <a:t>Networks:</a:t>
            </a:r>
            <a:r>
              <a:rPr sz="2800" spc="-140" dirty="0"/>
              <a:t> </a:t>
            </a:r>
            <a:r>
              <a:rPr sz="2800" dirty="0"/>
              <a:t>Process</a:t>
            </a:r>
            <a:r>
              <a:rPr sz="2800" spc="-140" dirty="0"/>
              <a:t> </a:t>
            </a:r>
            <a:r>
              <a:rPr sz="2800" spc="-10" dirty="0"/>
              <a:t>Sequences</a:t>
            </a:r>
            <a:endParaRPr sz="2800"/>
          </a:p>
        </p:txBody>
      </p:sp>
      <p:grpSp>
        <p:nvGrpSpPr>
          <p:cNvPr id="4" name="object 4"/>
          <p:cNvGrpSpPr/>
          <p:nvPr/>
        </p:nvGrpSpPr>
        <p:grpSpPr>
          <a:xfrm>
            <a:off x="5424961" y="3726997"/>
            <a:ext cx="151130" cy="429259"/>
            <a:chOff x="5424961" y="3726997"/>
            <a:chExt cx="151130" cy="429259"/>
          </a:xfrm>
        </p:grpSpPr>
        <p:sp>
          <p:nvSpPr>
            <p:cNvPr id="5" name="object 5"/>
            <p:cNvSpPr/>
            <p:nvPr/>
          </p:nvSpPr>
          <p:spPr>
            <a:xfrm>
              <a:off x="5464537" y="3819086"/>
              <a:ext cx="102235" cy="327660"/>
            </a:xfrm>
            <a:custGeom>
              <a:avLst/>
              <a:gdLst/>
              <a:ahLst/>
              <a:cxnLst/>
              <a:rect l="l" t="t" r="r" b="b"/>
              <a:pathLst>
                <a:path w="102235" h="327660">
                  <a:moveTo>
                    <a:pt x="101711" y="32763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4961" y="3726997"/>
              <a:ext cx="79151" cy="11094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326668" y="4145476"/>
            <a:ext cx="37528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E.g.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Video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Captioning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Sequence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video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frames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dirty="0">
                <a:latin typeface="Arial MT"/>
                <a:cs typeface="Arial MT"/>
              </a:rPr>
              <a:t>&gt;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caption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4941925" y="4802949"/>
            <a:ext cx="1380489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6375579" y="4795500"/>
            <a:ext cx="518159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23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7456525" y="4802949"/>
            <a:ext cx="159194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Gao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5" y="902375"/>
            <a:ext cx="8684736" cy="26766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Recurrent</a:t>
            </a:r>
            <a:r>
              <a:rPr sz="2800" spc="-140" dirty="0"/>
              <a:t> </a:t>
            </a:r>
            <a:r>
              <a:rPr sz="2800" dirty="0"/>
              <a:t>Neural</a:t>
            </a:r>
            <a:r>
              <a:rPr sz="2800" spc="-140" dirty="0"/>
              <a:t> </a:t>
            </a:r>
            <a:r>
              <a:rPr sz="2800" dirty="0"/>
              <a:t>Networks:</a:t>
            </a:r>
            <a:r>
              <a:rPr sz="2800" spc="-140" dirty="0"/>
              <a:t> </a:t>
            </a:r>
            <a:r>
              <a:rPr sz="2800" dirty="0"/>
              <a:t>Process</a:t>
            </a:r>
            <a:r>
              <a:rPr sz="2800" spc="-140" dirty="0"/>
              <a:t> </a:t>
            </a:r>
            <a:r>
              <a:rPr sz="2800" spc="-10" dirty="0"/>
              <a:t>Sequences</a:t>
            </a:r>
            <a:endParaRPr sz="2800"/>
          </a:p>
        </p:txBody>
      </p:sp>
      <p:grpSp>
        <p:nvGrpSpPr>
          <p:cNvPr id="4" name="object 4"/>
          <p:cNvGrpSpPr/>
          <p:nvPr/>
        </p:nvGrpSpPr>
        <p:grpSpPr>
          <a:xfrm>
            <a:off x="7966999" y="3679276"/>
            <a:ext cx="269240" cy="447040"/>
            <a:chOff x="7966999" y="3679276"/>
            <a:chExt cx="269240" cy="447040"/>
          </a:xfrm>
        </p:grpSpPr>
        <p:sp>
          <p:nvSpPr>
            <p:cNvPr id="5" name="object 5"/>
            <p:cNvSpPr/>
            <p:nvPr/>
          </p:nvSpPr>
          <p:spPr>
            <a:xfrm>
              <a:off x="7976524" y="3763465"/>
              <a:ext cx="206375" cy="353695"/>
            </a:xfrm>
            <a:custGeom>
              <a:avLst/>
              <a:gdLst/>
              <a:ahLst/>
              <a:cxnLst/>
              <a:rect l="l" t="t" r="r" b="b"/>
              <a:pathLst>
                <a:path w="206375" h="353695">
                  <a:moveTo>
                    <a:pt x="0" y="353084"/>
                  </a:moveTo>
                  <a:lnTo>
                    <a:pt x="206082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45907" y="3679276"/>
              <a:ext cx="89804" cy="10957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434125" y="4092731"/>
            <a:ext cx="419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e.g.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Video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classification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frame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level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62A0CF-0716-A26B-124E-0F4C960AA875}"/>
              </a:ext>
            </a:extLst>
          </p:cNvPr>
          <p:cNvSpPr txBox="1"/>
          <p:nvPr/>
        </p:nvSpPr>
        <p:spPr>
          <a:xfrm>
            <a:off x="294272" y="4781863"/>
            <a:ext cx="458724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sz="1800" spc="-10" dirty="0">
                <a:solidFill>
                  <a:srgbClr val="FFFFFF"/>
                </a:solidFill>
                <a:latin typeface="Arial MT"/>
                <a:cs typeface="Arial MT"/>
              </a:rPr>
              <a:t>Master class 2026</a:t>
            </a:r>
            <a:endParaRPr lang="en-US"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6782" y="26437"/>
            <a:ext cx="5306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Recurrent</a:t>
            </a:r>
            <a:r>
              <a:rPr spc="-45" dirty="0"/>
              <a:t> </a:t>
            </a:r>
            <a:r>
              <a:rPr dirty="0"/>
              <a:t>Neural</a:t>
            </a:r>
            <a:r>
              <a:rPr spc="-35" dirty="0"/>
              <a:t> </a:t>
            </a:r>
            <a:r>
              <a:rPr spc="-10" dirty="0"/>
              <a:t>Network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101790" y="2960809"/>
            <a:ext cx="429895" cy="1268730"/>
            <a:chOff x="4101790" y="2960809"/>
            <a:chExt cx="429895" cy="1268730"/>
          </a:xfrm>
        </p:grpSpPr>
        <p:sp>
          <p:nvSpPr>
            <p:cNvPr id="4" name="object 4"/>
            <p:cNvSpPr/>
            <p:nvPr/>
          </p:nvSpPr>
          <p:spPr>
            <a:xfrm>
              <a:off x="4106552" y="3308571"/>
              <a:ext cx="420370" cy="916305"/>
            </a:xfrm>
            <a:custGeom>
              <a:avLst/>
              <a:gdLst/>
              <a:ahLst/>
              <a:cxnLst/>
              <a:rect l="l" t="t" r="r" b="b"/>
              <a:pathLst>
                <a:path w="420370" h="916304">
                  <a:moveTo>
                    <a:pt x="419876" y="915690"/>
                  </a:moveTo>
                  <a:lnTo>
                    <a:pt x="0" y="915690"/>
                  </a:lnTo>
                  <a:lnTo>
                    <a:pt x="0" y="0"/>
                  </a:lnTo>
                  <a:lnTo>
                    <a:pt x="419876" y="0"/>
                  </a:lnTo>
                  <a:lnTo>
                    <a:pt x="419876" y="915690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06552" y="3308571"/>
              <a:ext cx="420370" cy="916305"/>
            </a:xfrm>
            <a:custGeom>
              <a:avLst/>
              <a:gdLst/>
              <a:ahLst/>
              <a:cxnLst/>
              <a:rect l="l" t="t" r="r" b="b"/>
              <a:pathLst>
                <a:path w="420370" h="916304">
                  <a:moveTo>
                    <a:pt x="0" y="0"/>
                  </a:moveTo>
                  <a:lnTo>
                    <a:pt x="419876" y="0"/>
                  </a:lnTo>
                  <a:lnTo>
                    <a:pt x="419876" y="915690"/>
                  </a:lnTo>
                  <a:lnTo>
                    <a:pt x="0" y="91569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5500" y="2960809"/>
              <a:ext cx="81981" cy="34776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799792" y="2285354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6552" y="1021033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y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75499" y="1954995"/>
            <a:ext cx="81981" cy="33035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802699" y="2442129"/>
            <a:ext cx="569595" cy="320675"/>
            <a:chOff x="4802699" y="2442129"/>
            <a:chExt cx="569595" cy="320675"/>
          </a:xfrm>
        </p:grpSpPr>
        <p:sp>
          <p:nvSpPr>
            <p:cNvPr id="11" name="object 11"/>
            <p:cNvSpPr/>
            <p:nvPr/>
          </p:nvSpPr>
          <p:spPr>
            <a:xfrm>
              <a:off x="4812224" y="2451654"/>
              <a:ext cx="550545" cy="294640"/>
            </a:xfrm>
            <a:custGeom>
              <a:avLst/>
              <a:gdLst/>
              <a:ahLst/>
              <a:cxnLst/>
              <a:rect l="l" t="t" r="r" b="b"/>
              <a:pathLst>
                <a:path w="550545" h="294639">
                  <a:moveTo>
                    <a:pt x="23210" y="0"/>
                  </a:moveTo>
                  <a:lnTo>
                    <a:pt x="51856" y="8202"/>
                  </a:lnTo>
                  <a:lnTo>
                    <a:pt x="92412" y="18643"/>
                  </a:lnTo>
                  <a:lnTo>
                    <a:pt x="142117" y="30964"/>
                  </a:lnTo>
                  <a:lnTo>
                    <a:pt x="198210" y="44805"/>
                  </a:lnTo>
                  <a:lnTo>
                    <a:pt x="257929" y="59806"/>
                  </a:lnTo>
                  <a:lnTo>
                    <a:pt x="318515" y="75606"/>
                  </a:lnTo>
                  <a:lnTo>
                    <a:pt x="377206" y="91847"/>
                  </a:lnTo>
                  <a:lnTo>
                    <a:pt x="431242" y="108169"/>
                  </a:lnTo>
                  <a:lnTo>
                    <a:pt x="477861" y="124212"/>
                  </a:lnTo>
                  <a:lnTo>
                    <a:pt x="514303" y="139616"/>
                  </a:lnTo>
                  <a:lnTo>
                    <a:pt x="545610" y="167068"/>
                  </a:lnTo>
                  <a:lnTo>
                    <a:pt x="535800" y="179458"/>
                  </a:lnTo>
                  <a:lnTo>
                    <a:pt x="471519" y="204605"/>
                  </a:lnTo>
                  <a:lnTo>
                    <a:pt x="422650" y="217062"/>
                  </a:lnTo>
                  <a:lnTo>
                    <a:pt x="366364" y="229239"/>
                  </a:lnTo>
                  <a:lnTo>
                    <a:pt x="305462" y="240987"/>
                  </a:lnTo>
                  <a:lnTo>
                    <a:pt x="242746" y="252154"/>
                  </a:lnTo>
                  <a:lnTo>
                    <a:pt x="181017" y="262590"/>
                  </a:lnTo>
                  <a:lnTo>
                    <a:pt x="123076" y="272145"/>
                  </a:lnTo>
                  <a:lnTo>
                    <a:pt x="71726" y="280669"/>
                  </a:lnTo>
                  <a:lnTo>
                    <a:pt x="29766" y="288009"/>
                  </a:lnTo>
                  <a:lnTo>
                    <a:pt x="0" y="294016"/>
                  </a:lnTo>
                </a:path>
                <a:path w="550545" h="294639">
                  <a:moveTo>
                    <a:pt x="550425" y="178095"/>
                  </a:moveTo>
                  <a:lnTo>
                    <a:pt x="112372" y="270342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0476" y="2681681"/>
              <a:ext cx="110129" cy="8063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246640" y="3629067"/>
            <a:ext cx="13970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0" dirty="0">
                <a:latin typeface="Arial MT"/>
                <a:cs typeface="Arial MT"/>
              </a:rPr>
              <a:t>x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4294967295"/>
          </p:nvPr>
        </p:nvSpPr>
        <p:spPr>
          <a:xfrm>
            <a:off x="76200" y="4781550"/>
            <a:ext cx="2590800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lang="en-US" spc="-10" dirty="0">
                <a:solidFill>
                  <a:srgbClr val="FFFFFF"/>
                </a:solidFill>
              </a:rPr>
              <a:t>Master class 2026</a:t>
            </a:r>
            <a:endParaRPr lang="en-US" dirty="0"/>
          </a:p>
          <a:p>
            <a:pPr marL="12700">
              <a:lnSpc>
                <a:spcPts val="2310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6782" y="26437"/>
            <a:ext cx="5306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Recurrent</a:t>
            </a:r>
            <a:r>
              <a:rPr spc="-45" dirty="0"/>
              <a:t> </a:t>
            </a:r>
            <a:r>
              <a:rPr dirty="0"/>
              <a:t>Neural</a:t>
            </a:r>
            <a:r>
              <a:rPr spc="-35" dirty="0"/>
              <a:t> </a:t>
            </a:r>
            <a:r>
              <a:rPr spc="-10" dirty="0"/>
              <a:t>Network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101789" y="2960809"/>
            <a:ext cx="429895" cy="1268730"/>
            <a:chOff x="4101789" y="2960809"/>
            <a:chExt cx="429895" cy="1268730"/>
          </a:xfrm>
        </p:grpSpPr>
        <p:sp>
          <p:nvSpPr>
            <p:cNvPr id="4" name="object 4"/>
            <p:cNvSpPr/>
            <p:nvPr/>
          </p:nvSpPr>
          <p:spPr>
            <a:xfrm>
              <a:off x="4106551" y="3308571"/>
              <a:ext cx="420370" cy="916305"/>
            </a:xfrm>
            <a:custGeom>
              <a:avLst/>
              <a:gdLst/>
              <a:ahLst/>
              <a:cxnLst/>
              <a:rect l="l" t="t" r="r" b="b"/>
              <a:pathLst>
                <a:path w="420370" h="916304">
                  <a:moveTo>
                    <a:pt x="419875" y="915690"/>
                  </a:moveTo>
                  <a:lnTo>
                    <a:pt x="0" y="915690"/>
                  </a:lnTo>
                  <a:lnTo>
                    <a:pt x="0" y="0"/>
                  </a:lnTo>
                  <a:lnTo>
                    <a:pt x="419875" y="0"/>
                  </a:lnTo>
                  <a:lnTo>
                    <a:pt x="419875" y="915690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06551" y="3308571"/>
              <a:ext cx="420370" cy="916305"/>
            </a:xfrm>
            <a:custGeom>
              <a:avLst/>
              <a:gdLst/>
              <a:ahLst/>
              <a:cxnLst/>
              <a:rect l="l" t="t" r="r" b="b"/>
              <a:pathLst>
                <a:path w="420370" h="916304">
                  <a:moveTo>
                    <a:pt x="0" y="0"/>
                  </a:moveTo>
                  <a:lnTo>
                    <a:pt x="419875" y="0"/>
                  </a:lnTo>
                  <a:lnTo>
                    <a:pt x="419875" y="915690"/>
                  </a:lnTo>
                  <a:lnTo>
                    <a:pt x="0" y="91569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5498" y="2960809"/>
              <a:ext cx="81981" cy="34776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799792" y="2285354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6551" y="1021033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y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75498" y="1954995"/>
            <a:ext cx="81981" cy="33035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802697" y="2171949"/>
            <a:ext cx="941069" cy="590550"/>
            <a:chOff x="4802697" y="2171949"/>
            <a:chExt cx="941069" cy="590550"/>
          </a:xfrm>
        </p:grpSpPr>
        <p:sp>
          <p:nvSpPr>
            <p:cNvPr id="11" name="object 11"/>
            <p:cNvSpPr/>
            <p:nvPr/>
          </p:nvSpPr>
          <p:spPr>
            <a:xfrm>
              <a:off x="4812222" y="2451654"/>
              <a:ext cx="546100" cy="294640"/>
            </a:xfrm>
            <a:custGeom>
              <a:avLst/>
              <a:gdLst/>
              <a:ahLst/>
              <a:cxnLst/>
              <a:rect l="l" t="t" r="r" b="b"/>
              <a:pathLst>
                <a:path w="546100" h="294639">
                  <a:moveTo>
                    <a:pt x="23210" y="0"/>
                  </a:moveTo>
                  <a:lnTo>
                    <a:pt x="51857" y="8202"/>
                  </a:lnTo>
                  <a:lnTo>
                    <a:pt x="92413" y="18643"/>
                  </a:lnTo>
                  <a:lnTo>
                    <a:pt x="142117" y="30964"/>
                  </a:lnTo>
                  <a:lnTo>
                    <a:pt x="198210" y="44805"/>
                  </a:lnTo>
                  <a:lnTo>
                    <a:pt x="257930" y="59806"/>
                  </a:lnTo>
                  <a:lnTo>
                    <a:pt x="318515" y="75606"/>
                  </a:lnTo>
                  <a:lnTo>
                    <a:pt x="377207" y="91847"/>
                  </a:lnTo>
                  <a:lnTo>
                    <a:pt x="431242" y="108169"/>
                  </a:lnTo>
                  <a:lnTo>
                    <a:pt x="477861" y="124212"/>
                  </a:lnTo>
                  <a:lnTo>
                    <a:pt x="514303" y="139616"/>
                  </a:lnTo>
                  <a:lnTo>
                    <a:pt x="545610" y="167068"/>
                  </a:lnTo>
                  <a:lnTo>
                    <a:pt x="535800" y="179458"/>
                  </a:lnTo>
                  <a:lnTo>
                    <a:pt x="471519" y="204605"/>
                  </a:lnTo>
                  <a:lnTo>
                    <a:pt x="422650" y="217062"/>
                  </a:lnTo>
                  <a:lnTo>
                    <a:pt x="366364" y="229239"/>
                  </a:lnTo>
                  <a:lnTo>
                    <a:pt x="305462" y="240987"/>
                  </a:lnTo>
                  <a:lnTo>
                    <a:pt x="242746" y="252154"/>
                  </a:lnTo>
                  <a:lnTo>
                    <a:pt x="181017" y="262590"/>
                  </a:lnTo>
                  <a:lnTo>
                    <a:pt x="123077" y="272145"/>
                  </a:lnTo>
                  <a:lnTo>
                    <a:pt x="71726" y="280669"/>
                  </a:lnTo>
                  <a:lnTo>
                    <a:pt x="29766" y="288009"/>
                  </a:lnTo>
                  <a:lnTo>
                    <a:pt x="0" y="29401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60220" y="2181474"/>
              <a:ext cx="273685" cy="236220"/>
            </a:xfrm>
            <a:custGeom>
              <a:avLst/>
              <a:gdLst/>
              <a:ahLst/>
              <a:cxnLst/>
              <a:rect l="l" t="t" r="r" b="b"/>
              <a:pathLst>
                <a:path w="273685" h="236219">
                  <a:moveTo>
                    <a:pt x="273679" y="0"/>
                  </a:moveTo>
                  <a:lnTo>
                    <a:pt x="0" y="235624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85180" y="2383729"/>
              <a:ext cx="105094" cy="993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924597" y="2629749"/>
              <a:ext cx="438150" cy="92710"/>
            </a:xfrm>
            <a:custGeom>
              <a:avLst/>
              <a:gdLst/>
              <a:ahLst/>
              <a:cxnLst/>
              <a:rect l="l" t="t" r="r" b="b"/>
              <a:pathLst>
                <a:path w="438150" h="92710">
                  <a:moveTo>
                    <a:pt x="438052" y="0"/>
                  </a:moveTo>
                  <a:lnTo>
                    <a:pt x="0" y="9224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30476" y="2681681"/>
              <a:ext cx="110129" cy="8063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902349" y="1695569"/>
            <a:ext cx="263017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Key</a:t>
            </a:r>
            <a:r>
              <a:rPr sz="1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idea:</a:t>
            </a:r>
            <a:r>
              <a:rPr sz="1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RNNs</a:t>
            </a:r>
            <a:r>
              <a:rPr sz="1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have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an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“internal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state”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that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is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updated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as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sequence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is 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processed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46640" y="3629067"/>
            <a:ext cx="13970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0" dirty="0">
                <a:latin typeface="Arial MT"/>
                <a:cs typeface="Arial MT"/>
              </a:rPr>
              <a:t>x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5225" y="4807709"/>
            <a:ext cx="352552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sz="1800" spc="-10" dirty="0">
                <a:solidFill>
                  <a:srgbClr val="FFFFFF"/>
                </a:solidFill>
                <a:latin typeface="Arial MT"/>
                <a:cs typeface="Arial MT"/>
              </a:rPr>
              <a:t>Master class 2026</a:t>
            </a:r>
            <a:endParaRPr lang="en-US" sz="1800" dirty="0">
              <a:latin typeface="Arial MT"/>
              <a:cs typeface="Arial MT"/>
            </a:endParaRPr>
          </a:p>
          <a:p>
            <a:pPr marL="12700">
              <a:lnSpc>
                <a:spcPts val="2090"/>
              </a:lnSpc>
            </a:pP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0940" y="26437"/>
            <a:ext cx="2844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Unrolled</a:t>
            </a:r>
            <a:r>
              <a:rPr spc="-40" dirty="0"/>
              <a:t> </a:t>
            </a:r>
            <a:r>
              <a:rPr spc="-25" dirty="0"/>
              <a:t>RNN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4801" y="3257683"/>
            <a:ext cx="420370" cy="916305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8041" y="2234466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4801" y="970144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748" y="1904106"/>
            <a:ext cx="81980" cy="3303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3748" y="2909921"/>
            <a:ext cx="81980" cy="3477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235376" y="3257683"/>
            <a:ext cx="420370" cy="916305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28616" y="2234466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35376" y="970144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4323" y="1904106"/>
            <a:ext cx="81981" cy="33035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4323" y="2909921"/>
            <a:ext cx="81981" cy="34776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935951" y="3257671"/>
            <a:ext cx="420370" cy="916305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3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29192" y="2234454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35951" y="970133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37" baseline="-32407" dirty="0">
                <a:latin typeface="Arial MT"/>
                <a:cs typeface="Arial MT"/>
              </a:rPr>
              <a:t>3</a:t>
            </a:r>
            <a:endParaRPr sz="1800" baseline="-32407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4898" y="1904095"/>
            <a:ext cx="81981" cy="33035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4898" y="2909909"/>
            <a:ext cx="81981" cy="347762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2261436" y="2522067"/>
            <a:ext cx="648970" cy="82550"/>
            <a:chOff x="2261436" y="2522067"/>
            <a:chExt cx="648970" cy="82550"/>
          </a:xfrm>
        </p:grpSpPr>
        <p:sp>
          <p:nvSpPr>
            <p:cNvPr id="19" name="object 19"/>
            <p:cNvSpPr/>
            <p:nvPr/>
          </p:nvSpPr>
          <p:spPr>
            <a:xfrm>
              <a:off x="2261436" y="2563058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8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04811" y="2522067"/>
              <a:ext cx="105500" cy="8198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3962012" y="2522067"/>
            <a:ext cx="648970" cy="82550"/>
            <a:chOff x="3962012" y="2522067"/>
            <a:chExt cx="648970" cy="82550"/>
          </a:xfrm>
        </p:grpSpPr>
        <p:sp>
          <p:nvSpPr>
            <p:cNvPr id="22" name="object 22"/>
            <p:cNvSpPr/>
            <p:nvPr/>
          </p:nvSpPr>
          <p:spPr>
            <a:xfrm>
              <a:off x="3962012" y="2563058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8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5387" y="2522067"/>
              <a:ext cx="105500" cy="81980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5662586" y="2530780"/>
            <a:ext cx="648970" cy="82550"/>
            <a:chOff x="5662586" y="2530780"/>
            <a:chExt cx="648970" cy="82550"/>
          </a:xfrm>
        </p:grpSpPr>
        <p:sp>
          <p:nvSpPr>
            <p:cNvPr id="25" name="object 25"/>
            <p:cNvSpPr/>
            <p:nvPr/>
          </p:nvSpPr>
          <p:spPr>
            <a:xfrm>
              <a:off x="5662586" y="2571771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8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05961" y="2530780"/>
              <a:ext cx="105500" cy="8198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6402800" y="2409131"/>
            <a:ext cx="215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...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35501" y="3264533"/>
            <a:ext cx="420370" cy="916305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3144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t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28742" y="2241316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135501" y="976995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3144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37" baseline="-32407" dirty="0">
                <a:latin typeface="Arial MT"/>
                <a:cs typeface="Arial MT"/>
              </a:rPr>
              <a:t>t</a:t>
            </a:r>
            <a:endParaRPr sz="1800" baseline="-32407">
              <a:latin typeface="Arial MT"/>
              <a:cs typeface="Arial MT"/>
            </a:endParaRPr>
          </a:p>
        </p:txBody>
      </p: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04449" y="1910956"/>
            <a:ext cx="81981" cy="33035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04449" y="2916771"/>
            <a:ext cx="81981" cy="347761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145225" y="4807709"/>
            <a:ext cx="35255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sz="1800" spc="-10" dirty="0">
                <a:solidFill>
                  <a:srgbClr val="FFFFFF"/>
                </a:solidFill>
                <a:latin typeface="Arial MT"/>
                <a:cs typeface="Arial MT"/>
              </a:rPr>
              <a:t>Master class 2026</a:t>
            </a:r>
            <a:endParaRPr lang="en-US"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0713" y="26437"/>
            <a:ext cx="5157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</a:t>
            </a:r>
            <a:r>
              <a:rPr spc="-60" dirty="0"/>
              <a:t> </a:t>
            </a:r>
            <a:r>
              <a:rPr dirty="0"/>
              <a:t>hidden</a:t>
            </a:r>
            <a:r>
              <a:rPr spc="-50" dirty="0"/>
              <a:t> </a:t>
            </a:r>
            <a:r>
              <a:rPr dirty="0"/>
              <a:t>state</a:t>
            </a:r>
            <a:r>
              <a:rPr spc="-50" dirty="0"/>
              <a:t> </a:t>
            </a:r>
            <a:r>
              <a:rPr spc="-10" dirty="0"/>
              <a:t>update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03151" y="3257671"/>
            <a:ext cx="420370" cy="916305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x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96392" y="2234454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03151" y="970133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y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2098" y="1904095"/>
            <a:ext cx="81981" cy="3303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72098" y="2909909"/>
            <a:ext cx="81981" cy="347762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8399297" y="2391229"/>
            <a:ext cx="582930" cy="321310"/>
            <a:chOff x="8399297" y="2391229"/>
            <a:chExt cx="582930" cy="321310"/>
          </a:xfrm>
        </p:grpSpPr>
        <p:sp>
          <p:nvSpPr>
            <p:cNvPr id="9" name="object 9"/>
            <p:cNvSpPr/>
            <p:nvPr/>
          </p:nvSpPr>
          <p:spPr>
            <a:xfrm>
              <a:off x="8408822" y="2400754"/>
              <a:ext cx="563880" cy="294640"/>
            </a:xfrm>
            <a:custGeom>
              <a:avLst/>
              <a:gdLst/>
              <a:ahLst/>
              <a:cxnLst/>
              <a:rect l="l" t="t" r="r" b="b"/>
              <a:pathLst>
                <a:path w="563879" h="294639">
                  <a:moveTo>
                    <a:pt x="23209" y="0"/>
                  </a:moveTo>
                  <a:lnTo>
                    <a:pt x="51856" y="8202"/>
                  </a:lnTo>
                  <a:lnTo>
                    <a:pt x="92412" y="18643"/>
                  </a:lnTo>
                  <a:lnTo>
                    <a:pt x="142117" y="30964"/>
                  </a:lnTo>
                  <a:lnTo>
                    <a:pt x="198210" y="44805"/>
                  </a:lnTo>
                  <a:lnTo>
                    <a:pt x="257929" y="59806"/>
                  </a:lnTo>
                  <a:lnTo>
                    <a:pt x="318515" y="75606"/>
                  </a:lnTo>
                  <a:lnTo>
                    <a:pt x="377206" y="91847"/>
                  </a:lnTo>
                  <a:lnTo>
                    <a:pt x="431242" y="108169"/>
                  </a:lnTo>
                  <a:lnTo>
                    <a:pt x="477861" y="124212"/>
                  </a:lnTo>
                  <a:lnTo>
                    <a:pt x="514303" y="139616"/>
                  </a:lnTo>
                  <a:lnTo>
                    <a:pt x="545610" y="167068"/>
                  </a:lnTo>
                  <a:lnTo>
                    <a:pt x="535801" y="179458"/>
                  </a:lnTo>
                  <a:lnTo>
                    <a:pt x="471519" y="204605"/>
                  </a:lnTo>
                  <a:lnTo>
                    <a:pt x="422650" y="217062"/>
                  </a:lnTo>
                  <a:lnTo>
                    <a:pt x="366363" y="229239"/>
                  </a:lnTo>
                  <a:lnTo>
                    <a:pt x="305462" y="240987"/>
                  </a:lnTo>
                  <a:lnTo>
                    <a:pt x="242746" y="252154"/>
                  </a:lnTo>
                  <a:lnTo>
                    <a:pt x="181017" y="262590"/>
                  </a:lnTo>
                  <a:lnTo>
                    <a:pt x="123076" y="272145"/>
                  </a:lnTo>
                  <a:lnTo>
                    <a:pt x="71726" y="280669"/>
                  </a:lnTo>
                  <a:lnTo>
                    <a:pt x="29766" y="288009"/>
                  </a:lnTo>
                  <a:lnTo>
                    <a:pt x="0" y="294016"/>
                  </a:lnTo>
                </a:path>
                <a:path w="563879" h="294639">
                  <a:moveTo>
                    <a:pt x="563298" y="179020"/>
                  </a:moveTo>
                  <a:lnTo>
                    <a:pt x="125245" y="271267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39947" y="2631706"/>
              <a:ext cx="110128" cy="8063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34750" y="997456"/>
            <a:ext cx="51441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We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sequence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vectors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x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 MT"/>
                <a:cs typeface="Arial MT"/>
              </a:rPr>
              <a:t>by </a:t>
            </a:r>
            <a:r>
              <a:rPr sz="1800" dirty="0">
                <a:latin typeface="Arial MT"/>
                <a:cs typeface="Arial MT"/>
              </a:rPr>
              <a:t>applying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recurrence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formula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every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step: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84874" y="2060375"/>
            <a:ext cx="4008754" cy="654050"/>
            <a:chOff x="1784874" y="2060375"/>
            <a:chExt cx="4008754" cy="65405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61248" y="2132316"/>
              <a:ext cx="3932242" cy="56955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94399" y="2069900"/>
              <a:ext cx="621030" cy="614680"/>
            </a:xfrm>
            <a:custGeom>
              <a:avLst/>
              <a:gdLst/>
              <a:ahLst/>
              <a:cxnLst/>
              <a:rect l="l" t="t" r="r" b="b"/>
              <a:pathLst>
                <a:path w="621030" h="614680">
                  <a:moveTo>
                    <a:pt x="0" y="0"/>
                  </a:moveTo>
                  <a:lnTo>
                    <a:pt x="620699" y="0"/>
                  </a:lnTo>
                  <a:lnTo>
                    <a:pt x="620699" y="614099"/>
                  </a:lnTo>
                  <a:lnTo>
                    <a:pt x="0" y="6140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58024" y="2090550"/>
              <a:ext cx="939800" cy="614680"/>
            </a:xfrm>
            <a:custGeom>
              <a:avLst/>
              <a:gdLst/>
              <a:ahLst/>
              <a:cxnLst/>
              <a:rect l="l" t="t" r="r" b="b"/>
              <a:pathLst>
                <a:path w="939800" h="614680">
                  <a:moveTo>
                    <a:pt x="0" y="0"/>
                  </a:moveTo>
                  <a:lnTo>
                    <a:pt x="939299" y="0"/>
                  </a:lnTo>
                  <a:lnTo>
                    <a:pt x="939299" y="614099"/>
                  </a:lnTo>
                  <a:lnTo>
                    <a:pt x="0" y="6140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70450" y="2090550"/>
              <a:ext cx="549275" cy="614680"/>
            </a:xfrm>
            <a:custGeom>
              <a:avLst/>
              <a:gdLst/>
              <a:ahLst/>
              <a:cxnLst/>
              <a:rect l="l" t="t" r="r" b="b"/>
              <a:pathLst>
                <a:path w="549275" h="614680">
                  <a:moveTo>
                    <a:pt x="0" y="0"/>
                  </a:moveTo>
                  <a:lnTo>
                    <a:pt x="548699" y="0"/>
                  </a:lnTo>
                  <a:lnTo>
                    <a:pt x="548699" y="614099"/>
                  </a:lnTo>
                  <a:lnTo>
                    <a:pt x="0" y="6140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194525" y="2756408"/>
            <a:ext cx="5800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80005" algn="l"/>
                <a:tab pos="3874770" algn="l"/>
              </a:tabLst>
            </a:pPr>
            <a:r>
              <a:rPr sz="3600" baseline="2314" dirty="0">
                <a:solidFill>
                  <a:srgbClr val="0000FF"/>
                </a:solidFill>
                <a:latin typeface="Arial MT"/>
                <a:cs typeface="Arial MT"/>
              </a:rPr>
              <a:t>new</a:t>
            </a:r>
            <a:r>
              <a:rPr sz="3600" spc="-89" baseline="2314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3600" spc="-15" baseline="2314" dirty="0">
                <a:solidFill>
                  <a:srgbClr val="0000FF"/>
                </a:solidFill>
                <a:latin typeface="Arial MT"/>
                <a:cs typeface="Arial MT"/>
              </a:rPr>
              <a:t>state</a:t>
            </a:r>
            <a:r>
              <a:rPr sz="3600" baseline="2314" dirty="0">
                <a:solidFill>
                  <a:srgbClr val="0000FF"/>
                </a:solidFill>
                <a:latin typeface="Arial MT"/>
                <a:cs typeface="Arial MT"/>
              </a:rPr>
              <a:t>	</a:t>
            </a:r>
            <a:r>
              <a:rPr sz="3600" baseline="2314" dirty="0">
                <a:solidFill>
                  <a:srgbClr val="37761C"/>
                </a:solidFill>
                <a:latin typeface="Arial MT"/>
                <a:cs typeface="Arial MT"/>
              </a:rPr>
              <a:t>old</a:t>
            </a:r>
            <a:r>
              <a:rPr sz="3600" spc="-75" baseline="2314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3600" spc="-15" baseline="2314" dirty="0">
                <a:solidFill>
                  <a:srgbClr val="37761C"/>
                </a:solidFill>
                <a:latin typeface="Arial MT"/>
                <a:cs typeface="Arial MT"/>
              </a:rPr>
              <a:t>state</a:t>
            </a:r>
            <a:r>
              <a:rPr sz="3600" baseline="2314" dirty="0">
                <a:solidFill>
                  <a:srgbClr val="37761C"/>
                </a:solidFill>
                <a:latin typeface="Arial MT"/>
                <a:cs typeface="Arial MT"/>
              </a:rPr>
              <a:t>	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input</a:t>
            </a:r>
            <a:r>
              <a:rPr sz="24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vector</a:t>
            </a:r>
            <a:r>
              <a:rPr sz="24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Arial MT"/>
                <a:cs typeface="Arial MT"/>
              </a:rPr>
              <a:t>at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57199" y="3122168"/>
            <a:ext cx="2091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some</a:t>
            </a:r>
            <a:r>
              <a:rPr sz="24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time</a:t>
            </a:r>
            <a:r>
              <a:rPr sz="24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step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18725" y="2069900"/>
            <a:ext cx="720090" cy="614680"/>
          </a:xfrm>
          <a:custGeom>
            <a:avLst/>
            <a:gdLst/>
            <a:ahLst/>
            <a:cxnLst/>
            <a:rect l="l" t="t" r="r" b="b"/>
            <a:pathLst>
              <a:path w="720089" h="614680">
                <a:moveTo>
                  <a:pt x="0" y="0"/>
                </a:moveTo>
                <a:lnTo>
                  <a:pt x="719699" y="0"/>
                </a:lnTo>
                <a:lnTo>
                  <a:pt x="719699" y="614099"/>
                </a:lnTo>
                <a:lnTo>
                  <a:pt x="0" y="6140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99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107125" y="3413108"/>
            <a:ext cx="2565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9900FF"/>
                </a:solidFill>
                <a:latin typeface="Arial MT"/>
                <a:cs typeface="Arial MT"/>
              </a:rPr>
              <a:t>some</a:t>
            </a:r>
            <a:r>
              <a:rPr sz="2400" spc="-80" dirty="0">
                <a:solidFill>
                  <a:srgbClr val="9900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9900FF"/>
                </a:solidFill>
                <a:latin typeface="Arial MT"/>
                <a:cs typeface="Arial MT"/>
              </a:rPr>
              <a:t>function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9900FF"/>
                </a:solidFill>
                <a:latin typeface="Arial MT"/>
                <a:cs typeface="Arial MT"/>
              </a:rPr>
              <a:t>with</a:t>
            </a:r>
            <a:r>
              <a:rPr sz="2400" spc="-95" dirty="0">
                <a:solidFill>
                  <a:srgbClr val="9900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9900FF"/>
                </a:solidFill>
                <a:latin typeface="Arial MT"/>
                <a:cs typeface="Arial MT"/>
              </a:rPr>
              <a:t>parameters</a:t>
            </a:r>
            <a:r>
              <a:rPr sz="2400" spc="-95" dirty="0">
                <a:solidFill>
                  <a:srgbClr val="9900FF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9900FF"/>
                </a:solidFill>
                <a:latin typeface="Arial MT"/>
                <a:cs typeface="Arial MT"/>
              </a:rPr>
              <a:t>W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131374" y="2760199"/>
            <a:ext cx="171450" cy="680720"/>
          </a:xfrm>
          <a:custGeom>
            <a:avLst/>
            <a:gdLst/>
            <a:ahLst/>
            <a:cxnLst/>
            <a:rect l="l" t="t" r="r" b="b"/>
            <a:pathLst>
              <a:path w="171450" h="680720">
                <a:moveTo>
                  <a:pt x="0" y="680399"/>
                </a:moveTo>
                <a:lnTo>
                  <a:pt x="170999" y="0"/>
                </a:lnTo>
              </a:path>
            </a:pathLst>
          </a:custGeom>
          <a:ln w="9524">
            <a:solidFill>
              <a:srgbClr val="99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45225" y="4807709"/>
            <a:ext cx="352552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sz="1800" spc="-10" dirty="0">
                <a:solidFill>
                  <a:srgbClr val="FFFFFF"/>
                </a:solidFill>
                <a:latin typeface="Arial MT"/>
                <a:cs typeface="Arial MT"/>
              </a:rPr>
              <a:t>Master class 2026</a:t>
            </a:r>
            <a:endParaRPr lang="en-US" sz="1800" dirty="0">
              <a:latin typeface="Arial MT"/>
              <a:cs typeface="Arial MT"/>
            </a:endParaRPr>
          </a:p>
          <a:p>
            <a:pPr marL="12700">
              <a:lnSpc>
                <a:spcPts val="2090"/>
              </a:lnSpc>
            </a:pP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91875" y="2075275"/>
            <a:ext cx="3121660" cy="756920"/>
            <a:chOff x="1891875" y="2075275"/>
            <a:chExt cx="3121660" cy="7569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1875" y="2161361"/>
              <a:ext cx="3121452" cy="6402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272325" y="2084800"/>
              <a:ext cx="598170" cy="737870"/>
            </a:xfrm>
            <a:custGeom>
              <a:avLst/>
              <a:gdLst/>
              <a:ahLst/>
              <a:cxnLst/>
              <a:rect l="l" t="t" r="r" b="b"/>
              <a:pathLst>
                <a:path w="598170" h="737869">
                  <a:moveTo>
                    <a:pt x="0" y="0"/>
                  </a:moveTo>
                  <a:lnTo>
                    <a:pt x="597599" y="0"/>
                  </a:lnTo>
                  <a:lnTo>
                    <a:pt x="597599" y="737399"/>
                  </a:lnTo>
                  <a:lnTo>
                    <a:pt x="0" y="7373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89536" y="26437"/>
            <a:ext cx="4698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</a:t>
            </a:r>
            <a:r>
              <a:rPr spc="-75" dirty="0"/>
              <a:t> </a:t>
            </a:r>
            <a:r>
              <a:rPr dirty="0"/>
              <a:t>output</a:t>
            </a:r>
            <a:r>
              <a:rPr spc="-65" dirty="0"/>
              <a:t> </a:t>
            </a:r>
            <a:r>
              <a:rPr spc="-10" dirty="0"/>
              <a:t>generation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03152" y="3257671"/>
            <a:ext cx="420370" cy="916305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x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96392" y="2234454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03152" y="970133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y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72100" y="1904095"/>
            <a:ext cx="81981" cy="33035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72100" y="2909909"/>
            <a:ext cx="81981" cy="347762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8399298" y="2391229"/>
            <a:ext cx="582930" cy="321310"/>
            <a:chOff x="8399298" y="2391229"/>
            <a:chExt cx="582930" cy="321310"/>
          </a:xfrm>
        </p:grpSpPr>
        <p:sp>
          <p:nvSpPr>
            <p:cNvPr id="12" name="object 12"/>
            <p:cNvSpPr/>
            <p:nvPr/>
          </p:nvSpPr>
          <p:spPr>
            <a:xfrm>
              <a:off x="8408823" y="2400754"/>
              <a:ext cx="563880" cy="294640"/>
            </a:xfrm>
            <a:custGeom>
              <a:avLst/>
              <a:gdLst/>
              <a:ahLst/>
              <a:cxnLst/>
              <a:rect l="l" t="t" r="r" b="b"/>
              <a:pathLst>
                <a:path w="563879" h="294639">
                  <a:moveTo>
                    <a:pt x="23210" y="0"/>
                  </a:moveTo>
                  <a:lnTo>
                    <a:pt x="51856" y="8202"/>
                  </a:lnTo>
                  <a:lnTo>
                    <a:pt x="92412" y="18643"/>
                  </a:lnTo>
                  <a:lnTo>
                    <a:pt x="142117" y="30964"/>
                  </a:lnTo>
                  <a:lnTo>
                    <a:pt x="198210" y="44805"/>
                  </a:lnTo>
                  <a:lnTo>
                    <a:pt x="257929" y="59806"/>
                  </a:lnTo>
                  <a:lnTo>
                    <a:pt x="318515" y="75606"/>
                  </a:lnTo>
                  <a:lnTo>
                    <a:pt x="377206" y="91847"/>
                  </a:lnTo>
                  <a:lnTo>
                    <a:pt x="431242" y="108169"/>
                  </a:lnTo>
                  <a:lnTo>
                    <a:pt x="477861" y="124212"/>
                  </a:lnTo>
                  <a:lnTo>
                    <a:pt x="514303" y="139616"/>
                  </a:lnTo>
                  <a:lnTo>
                    <a:pt x="545610" y="167068"/>
                  </a:lnTo>
                  <a:lnTo>
                    <a:pt x="535800" y="179458"/>
                  </a:lnTo>
                  <a:lnTo>
                    <a:pt x="471519" y="204605"/>
                  </a:lnTo>
                  <a:lnTo>
                    <a:pt x="422650" y="217062"/>
                  </a:lnTo>
                  <a:lnTo>
                    <a:pt x="366364" y="229239"/>
                  </a:lnTo>
                  <a:lnTo>
                    <a:pt x="305462" y="240987"/>
                  </a:lnTo>
                  <a:lnTo>
                    <a:pt x="242746" y="252154"/>
                  </a:lnTo>
                  <a:lnTo>
                    <a:pt x="181017" y="262590"/>
                  </a:lnTo>
                  <a:lnTo>
                    <a:pt x="123077" y="272145"/>
                  </a:lnTo>
                  <a:lnTo>
                    <a:pt x="71726" y="280669"/>
                  </a:lnTo>
                  <a:lnTo>
                    <a:pt x="29766" y="288009"/>
                  </a:lnTo>
                  <a:lnTo>
                    <a:pt x="0" y="294016"/>
                  </a:lnTo>
                </a:path>
                <a:path w="563879" h="294639">
                  <a:moveTo>
                    <a:pt x="563296" y="179020"/>
                  </a:moveTo>
                  <a:lnTo>
                    <a:pt x="125243" y="271267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39947" y="2631706"/>
              <a:ext cx="110128" cy="8063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34750" y="997456"/>
            <a:ext cx="51441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We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sequence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vectors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x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 MT"/>
                <a:cs typeface="Arial MT"/>
              </a:rPr>
              <a:t>by </a:t>
            </a:r>
            <a:r>
              <a:rPr sz="1800" dirty="0">
                <a:latin typeface="Arial MT"/>
                <a:cs typeface="Arial MT"/>
              </a:rPr>
              <a:t>applying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recurrence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formula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every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step: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18975" y="2759733"/>
            <a:ext cx="1329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new</a:t>
            </a:r>
            <a:r>
              <a:rPr sz="2400" spc="-6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Arial MT"/>
                <a:cs typeface="Arial MT"/>
              </a:rPr>
              <a:t>state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98474" y="2060375"/>
            <a:ext cx="2325370" cy="756920"/>
            <a:chOff x="1798474" y="2060375"/>
            <a:chExt cx="2325370" cy="756920"/>
          </a:xfrm>
        </p:grpSpPr>
        <p:sp>
          <p:nvSpPr>
            <p:cNvPr id="17" name="object 17"/>
            <p:cNvSpPr/>
            <p:nvPr/>
          </p:nvSpPr>
          <p:spPr>
            <a:xfrm>
              <a:off x="1807999" y="2146450"/>
              <a:ext cx="775970" cy="614680"/>
            </a:xfrm>
            <a:custGeom>
              <a:avLst/>
              <a:gdLst/>
              <a:ahLst/>
              <a:cxnLst/>
              <a:rect l="l" t="t" r="r" b="b"/>
              <a:pathLst>
                <a:path w="775969" h="614680">
                  <a:moveTo>
                    <a:pt x="0" y="0"/>
                  </a:moveTo>
                  <a:lnTo>
                    <a:pt x="775499" y="0"/>
                  </a:lnTo>
                  <a:lnTo>
                    <a:pt x="775499" y="614099"/>
                  </a:lnTo>
                  <a:lnTo>
                    <a:pt x="0" y="6140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18724" y="2069900"/>
              <a:ext cx="1095375" cy="737870"/>
            </a:xfrm>
            <a:custGeom>
              <a:avLst/>
              <a:gdLst/>
              <a:ahLst/>
              <a:cxnLst/>
              <a:rect l="l" t="t" r="r" b="b"/>
              <a:pathLst>
                <a:path w="1095375" h="737869">
                  <a:moveTo>
                    <a:pt x="0" y="0"/>
                  </a:moveTo>
                  <a:lnTo>
                    <a:pt x="1094999" y="0"/>
                  </a:lnTo>
                  <a:lnTo>
                    <a:pt x="1094999" y="737399"/>
                  </a:lnTo>
                  <a:lnTo>
                    <a:pt x="0" y="7373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99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081725" y="3413108"/>
            <a:ext cx="27298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9900FF"/>
                </a:solidFill>
                <a:latin typeface="Arial MT"/>
                <a:cs typeface="Arial MT"/>
              </a:rPr>
              <a:t>another</a:t>
            </a:r>
            <a:r>
              <a:rPr sz="2400" spc="-90" dirty="0">
                <a:solidFill>
                  <a:srgbClr val="9900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9900FF"/>
                </a:solidFill>
                <a:latin typeface="Arial MT"/>
                <a:cs typeface="Arial MT"/>
              </a:rPr>
              <a:t>function </a:t>
            </a:r>
            <a:r>
              <a:rPr sz="2400" dirty="0">
                <a:solidFill>
                  <a:srgbClr val="9900FF"/>
                </a:solidFill>
                <a:latin typeface="Arial MT"/>
                <a:cs typeface="Arial MT"/>
              </a:rPr>
              <a:t>with</a:t>
            </a:r>
            <a:r>
              <a:rPr sz="2400" spc="-95" dirty="0">
                <a:solidFill>
                  <a:srgbClr val="9900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9900FF"/>
                </a:solidFill>
                <a:latin typeface="Arial MT"/>
                <a:cs typeface="Arial MT"/>
              </a:rPr>
              <a:t>parameters</a:t>
            </a:r>
            <a:r>
              <a:rPr sz="2400" spc="-95" dirty="0">
                <a:solidFill>
                  <a:srgbClr val="9900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9900FF"/>
                </a:solidFill>
                <a:latin typeface="Arial MT"/>
                <a:cs typeface="Arial MT"/>
              </a:rPr>
              <a:t>W</a:t>
            </a:r>
            <a:r>
              <a:rPr sz="2400" spc="-37" baseline="-31250" dirty="0">
                <a:solidFill>
                  <a:srgbClr val="9900FF"/>
                </a:solidFill>
                <a:latin typeface="Arial MT"/>
                <a:cs typeface="Arial MT"/>
              </a:rPr>
              <a:t>o</a:t>
            </a:r>
            <a:endParaRPr sz="2400" baseline="-3125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131374" y="2760199"/>
            <a:ext cx="171450" cy="680720"/>
          </a:xfrm>
          <a:custGeom>
            <a:avLst/>
            <a:gdLst/>
            <a:ahLst/>
            <a:cxnLst/>
            <a:rect l="l" t="t" r="r" b="b"/>
            <a:pathLst>
              <a:path w="171450" h="680720">
                <a:moveTo>
                  <a:pt x="0" y="680399"/>
                </a:moveTo>
                <a:lnTo>
                  <a:pt x="170999" y="0"/>
                </a:lnTo>
              </a:path>
            </a:pathLst>
          </a:custGeom>
          <a:ln w="9524">
            <a:solidFill>
              <a:srgbClr val="99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25899" y="2821033"/>
            <a:ext cx="871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output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CF707F-A0CF-C7FB-F850-E2B86A9EF215}"/>
              </a:ext>
            </a:extLst>
          </p:cNvPr>
          <p:cNvSpPr txBox="1"/>
          <p:nvPr/>
        </p:nvSpPr>
        <p:spPr>
          <a:xfrm>
            <a:off x="-33282" y="4755426"/>
            <a:ext cx="457200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sz="1800" spc="-10" dirty="0">
                <a:solidFill>
                  <a:srgbClr val="FFFFFF"/>
                </a:solidFill>
                <a:latin typeface="Arial MT"/>
                <a:cs typeface="Arial MT"/>
              </a:rPr>
              <a:t>Master class 2026</a:t>
            </a:r>
            <a:endParaRPr lang="en-US"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6782" y="26437"/>
            <a:ext cx="5306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Recurrent</a:t>
            </a:r>
            <a:r>
              <a:rPr spc="-45" dirty="0"/>
              <a:t> </a:t>
            </a:r>
            <a:r>
              <a:rPr dirty="0"/>
              <a:t>Neural</a:t>
            </a:r>
            <a:r>
              <a:rPr spc="-3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4801" y="3257683"/>
            <a:ext cx="420370" cy="916305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8041" y="2234466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4801" y="970144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748" y="1904106"/>
            <a:ext cx="81980" cy="3303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3748" y="2909921"/>
            <a:ext cx="81980" cy="3477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235376" y="3257683"/>
            <a:ext cx="420370" cy="916305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28616" y="2234466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35376" y="970144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4323" y="1904106"/>
            <a:ext cx="81981" cy="33035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4323" y="2909921"/>
            <a:ext cx="81981" cy="34776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935951" y="3257671"/>
            <a:ext cx="420370" cy="916305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3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29192" y="2234454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35951" y="970133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37" baseline="-32407" dirty="0">
                <a:latin typeface="Arial MT"/>
                <a:cs typeface="Arial MT"/>
              </a:rPr>
              <a:t>3</a:t>
            </a:r>
            <a:endParaRPr sz="1800" baseline="-32407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4898" y="1904095"/>
            <a:ext cx="81981" cy="33035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4898" y="2909909"/>
            <a:ext cx="81981" cy="347762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2261436" y="2522067"/>
            <a:ext cx="648970" cy="82550"/>
            <a:chOff x="2261436" y="2522067"/>
            <a:chExt cx="648970" cy="82550"/>
          </a:xfrm>
        </p:grpSpPr>
        <p:sp>
          <p:nvSpPr>
            <p:cNvPr id="19" name="object 19"/>
            <p:cNvSpPr/>
            <p:nvPr/>
          </p:nvSpPr>
          <p:spPr>
            <a:xfrm>
              <a:off x="2261436" y="2563058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8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04811" y="2522067"/>
              <a:ext cx="105500" cy="8198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3962012" y="2522067"/>
            <a:ext cx="648970" cy="82550"/>
            <a:chOff x="3962012" y="2522067"/>
            <a:chExt cx="648970" cy="82550"/>
          </a:xfrm>
        </p:grpSpPr>
        <p:sp>
          <p:nvSpPr>
            <p:cNvPr id="22" name="object 22"/>
            <p:cNvSpPr/>
            <p:nvPr/>
          </p:nvSpPr>
          <p:spPr>
            <a:xfrm>
              <a:off x="3962012" y="2563058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8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5387" y="2522067"/>
              <a:ext cx="105500" cy="81980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5662586" y="2530780"/>
            <a:ext cx="648970" cy="82550"/>
            <a:chOff x="5662586" y="2530780"/>
            <a:chExt cx="648970" cy="82550"/>
          </a:xfrm>
        </p:grpSpPr>
        <p:sp>
          <p:nvSpPr>
            <p:cNvPr id="25" name="object 25"/>
            <p:cNvSpPr/>
            <p:nvPr/>
          </p:nvSpPr>
          <p:spPr>
            <a:xfrm>
              <a:off x="5662586" y="2571771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8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05961" y="2530780"/>
              <a:ext cx="105500" cy="8198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6402800" y="2409131"/>
            <a:ext cx="215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...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35501" y="3264533"/>
            <a:ext cx="420370" cy="916305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3144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t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28742" y="2241316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135501" y="976995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3144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37" baseline="-32407" dirty="0">
                <a:latin typeface="Arial MT"/>
                <a:cs typeface="Arial MT"/>
              </a:rPr>
              <a:t>t</a:t>
            </a:r>
            <a:endParaRPr sz="1800" baseline="-32407">
              <a:latin typeface="Arial MT"/>
              <a:cs typeface="Arial MT"/>
            </a:endParaRPr>
          </a:p>
        </p:txBody>
      </p: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04449" y="1910956"/>
            <a:ext cx="81981" cy="33035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04449" y="2916771"/>
            <a:ext cx="81981" cy="347761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2450978" y="2191330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51553" y="2191330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52127" y="2200056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3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60861" y="2511268"/>
            <a:ext cx="648970" cy="82550"/>
            <a:chOff x="560861" y="2511268"/>
            <a:chExt cx="648970" cy="82550"/>
          </a:xfrm>
        </p:grpSpPr>
        <p:sp>
          <p:nvSpPr>
            <p:cNvPr id="37" name="object 37"/>
            <p:cNvSpPr/>
            <p:nvPr/>
          </p:nvSpPr>
          <p:spPr>
            <a:xfrm>
              <a:off x="560861" y="2552258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8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4237" y="2511268"/>
              <a:ext cx="105500" cy="81980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750403" y="218053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0</a:t>
            </a:r>
            <a:endParaRPr sz="1800" baseline="-32407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6782" y="26437"/>
            <a:ext cx="5306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Recurrent</a:t>
            </a:r>
            <a:r>
              <a:rPr spc="-45" dirty="0"/>
              <a:t> </a:t>
            </a:r>
            <a:r>
              <a:rPr dirty="0"/>
              <a:t>Neural</a:t>
            </a:r>
            <a:r>
              <a:rPr spc="-3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03151" y="3257671"/>
            <a:ext cx="420370" cy="916305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x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96392" y="2234454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03151" y="970133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y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2098" y="1904095"/>
            <a:ext cx="81981" cy="3303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72098" y="2909909"/>
            <a:ext cx="81981" cy="347762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8399297" y="2391229"/>
            <a:ext cx="582930" cy="321310"/>
            <a:chOff x="8399297" y="2391229"/>
            <a:chExt cx="582930" cy="321310"/>
          </a:xfrm>
        </p:grpSpPr>
        <p:sp>
          <p:nvSpPr>
            <p:cNvPr id="9" name="object 9"/>
            <p:cNvSpPr/>
            <p:nvPr/>
          </p:nvSpPr>
          <p:spPr>
            <a:xfrm>
              <a:off x="8408822" y="2400754"/>
              <a:ext cx="563880" cy="294640"/>
            </a:xfrm>
            <a:custGeom>
              <a:avLst/>
              <a:gdLst/>
              <a:ahLst/>
              <a:cxnLst/>
              <a:rect l="l" t="t" r="r" b="b"/>
              <a:pathLst>
                <a:path w="563879" h="294639">
                  <a:moveTo>
                    <a:pt x="23209" y="0"/>
                  </a:moveTo>
                  <a:lnTo>
                    <a:pt x="51856" y="8202"/>
                  </a:lnTo>
                  <a:lnTo>
                    <a:pt x="92412" y="18643"/>
                  </a:lnTo>
                  <a:lnTo>
                    <a:pt x="142117" y="30964"/>
                  </a:lnTo>
                  <a:lnTo>
                    <a:pt x="198210" y="44805"/>
                  </a:lnTo>
                  <a:lnTo>
                    <a:pt x="257929" y="59806"/>
                  </a:lnTo>
                  <a:lnTo>
                    <a:pt x="318515" y="75606"/>
                  </a:lnTo>
                  <a:lnTo>
                    <a:pt x="377206" y="91847"/>
                  </a:lnTo>
                  <a:lnTo>
                    <a:pt x="431242" y="108169"/>
                  </a:lnTo>
                  <a:lnTo>
                    <a:pt x="477861" y="124212"/>
                  </a:lnTo>
                  <a:lnTo>
                    <a:pt x="514303" y="139616"/>
                  </a:lnTo>
                  <a:lnTo>
                    <a:pt x="545610" y="167068"/>
                  </a:lnTo>
                  <a:lnTo>
                    <a:pt x="535801" y="179458"/>
                  </a:lnTo>
                  <a:lnTo>
                    <a:pt x="471519" y="204605"/>
                  </a:lnTo>
                  <a:lnTo>
                    <a:pt x="422650" y="217062"/>
                  </a:lnTo>
                  <a:lnTo>
                    <a:pt x="366363" y="229239"/>
                  </a:lnTo>
                  <a:lnTo>
                    <a:pt x="305462" y="240987"/>
                  </a:lnTo>
                  <a:lnTo>
                    <a:pt x="242746" y="252154"/>
                  </a:lnTo>
                  <a:lnTo>
                    <a:pt x="181017" y="262590"/>
                  </a:lnTo>
                  <a:lnTo>
                    <a:pt x="123076" y="272145"/>
                  </a:lnTo>
                  <a:lnTo>
                    <a:pt x="71726" y="280669"/>
                  </a:lnTo>
                  <a:lnTo>
                    <a:pt x="29766" y="288009"/>
                  </a:lnTo>
                  <a:lnTo>
                    <a:pt x="0" y="294016"/>
                  </a:lnTo>
                </a:path>
                <a:path w="563879" h="294639">
                  <a:moveTo>
                    <a:pt x="563298" y="179020"/>
                  </a:moveTo>
                  <a:lnTo>
                    <a:pt x="125245" y="271267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39947" y="2631706"/>
              <a:ext cx="110128" cy="8063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34750" y="997456"/>
            <a:ext cx="51441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We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sequence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vectors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x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 MT"/>
                <a:cs typeface="Arial MT"/>
              </a:rPr>
              <a:t>by </a:t>
            </a:r>
            <a:r>
              <a:rPr sz="1800" dirty="0">
                <a:latin typeface="Arial MT"/>
                <a:cs typeface="Arial MT"/>
              </a:rPr>
              <a:t>applying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recurrence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formula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every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step: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61248" y="2132316"/>
            <a:ext cx="3932242" cy="56955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72100" y="3402908"/>
            <a:ext cx="58826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Notice:</a:t>
            </a:r>
            <a:r>
              <a:rPr sz="240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240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same</a:t>
            </a:r>
            <a:r>
              <a:rPr sz="24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sz="240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24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240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same</a:t>
            </a:r>
            <a:r>
              <a:rPr sz="24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Arial MT"/>
                <a:cs typeface="Arial MT"/>
              </a:rPr>
              <a:t>set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24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parameters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sz="24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used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at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every</a:t>
            </a:r>
            <a:r>
              <a:rPr sz="24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time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step.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21C500-FD61-11FE-C8F1-4623AF4D263F}"/>
              </a:ext>
            </a:extLst>
          </p:cNvPr>
          <p:cNvSpPr txBox="1"/>
          <p:nvPr/>
        </p:nvSpPr>
        <p:spPr>
          <a:xfrm>
            <a:off x="95530" y="4757713"/>
            <a:ext cx="458724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sz="1800" spc="-10" dirty="0">
                <a:solidFill>
                  <a:srgbClr val="FFFFFF"/>
                </a:solidFill>
                <a:latin typeface="Arial MT"/>
                <a:cs typeface="Arial MT"/>
              </a:rPr>
              <a:t>Master class 2026</a:t>
            </a:r>
            <a:endParaRPr lang="en-US"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2063" y="26437"/>
            <a:ext cx="7075170" cy="850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(Vanilla)</a:t>
            </a:r>
            <a:r>
              <a:rPr spc="-95" dirty="0"/>
              <a:t> </a:t>
            </a:r>
            <a:r>
              <a:rPr dirty="0"/>
              <a:t>Recurrent</a:t>
            </a:r>
            <a:r>
              <a:rPr spc="-95" dirty="0"/>
              <a:t> </a:t>
            </a:r>
            <a:r>
              <a:rPr dirty="0"/>
              <a:t>Neural</a:t>
            </a:r>
            <a:r>
              <a:rPr spc="-95" dirty="0"/>
              <a:t> </a:t>
            </a:r>
            <a:r>
              <a:rPr spc="-10" dirty="0"/>
              <a:t>Network</a:t>
            </a:r>
          </a:p>
          <a:p>
            <a:pPr marL="253365">
              <a:lnSpc>
                <a:spcPct val="100000"/>
              </a:lnSpc>
              <a:spcBef>
                <a:spcPts val="15"/>
              </a:spcBef>
            </a:pPr>
            <a:r>
              <a:rPr sz="1800" dirty="0"/>
              <a:t>The</a:t>
            </a:r>
            <a:r>
              <a:rPr sz="1800" spc="-15" dirty="0"/>
              <a:t> </a:t>
            </a:r>
            <a:r>
              <a:rPr sz="1800" dirty="0"/>
              <a:t>state</a:t>
            </a:r>
            <a:r>
              <a:rPr sz="1800" spc="-10" dirty="0"/>
              <a:t> </a:t>
            </a:r>
            <a:r>
              <a:rPr sz="1800" dirty="0"/>
              <a:t>consists</a:t>
            </a:r>
            <a:r>
              <a:rPr sz="1800" spc="-15" dirty="0"/>
              <a:t> </a:t>
            </a:r>
            <a:r>
              <a:rPr sz="1800" dirty="0"/>
              <a:t>of</a:t>
            </a:r>
            <a:r>
              <a:rPr sz="1800" spc="-10" dirty="0"/>
              <a:t> </a:t>
            </a:r>
            <a:r>
              <a:rPr sz="1800" dirty="0"/>
              <a:t>a</a:t>
            </a:r>
            <a:r>
              <a:rPr sz="1800" spc="-15" dirty="0"/>
              <a:t> </a:t>
            </a:r>
            <a:r>
              <a:rPr sz="1800" dirty="0"/>
              <a:t>single</a:t>
            </a:r>
            <a:r>
              <a:rPr sz="1800" spc="5" dirty="0"/>
              <a:t> </a:t>
            </a:r>
            <a:r>
              <a:rPr sz="1800" i="1" dirty="0">
                <a:latin typeface="Arial"/>
                <a:cs typeface="Arial"/>
              </a:rPr>
              <a:t>“hidden”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dirty="0"/>
              <a:t>vector</a:t>
            </a:r>
            <a:r>
              <a:rPr sz="1800" spc="-5" dirty="0"/>
              <a:t> </a:t>
            </a:r>
            <a:r>
              <a:rPr sz="1800" b="1" spc="-25" dirty="0">
                <a:latin typeface="Arial"/>
                <a:cs typeface="Arial"/>
              </a:rPr>
              <a:t>h</a:t>
            </a:r>
            <a:r>
              <a:rPr sz="1800" spc="-25" dirty="0"/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124" y="3339974"/>
            <a:ext cx="398145" cy="86868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x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75" y="2369824"/>
            <a:ext cx="979805" cy="623570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65100" rIns="0" bIns="0" rtlCol="0">
            <a:spAutoFit/>
          </a:bodyPr>
          <a:lstStyle/>
          <a:p>
            <a:pPr marL="241935">
              <a:lnSpc>
                <a:spcPct val="100000"/>
              </a:lnSpc>
              <a:spcBef>
                <a:spcPts val="13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24" y="1171075"/>
            <a:ext cx="398145" cy="868680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y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184" y="2057549"/>
            <a:ext cx="81980" cy="3122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184" y="3011199"/>
            <a:ext cx="81980" cy="32877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459673" y="2517974"/>
            <a:ext cx="555625" cy="313690"/>
            <a:chOff x="1459673" y="2517974"/>
            <a:chExt cx="555625" cy="313690"/>
          </a:xfrm>
        </p:grpSpPr>
        <p:sp>
          <p:nvSpPr>
            <p:cNvPr id="9" name="object 9"/>
            <p:cNvSpPr/>
            <p:nvPr/>
          </p:nvSpPr>
          <p:spPr>
            <a:xfrm>
              <a:off x="1469198" y="2527499"/>
              <a:ext cx="536575" cy="278765"/>
            </a:xfrm>
            <a:custGeom>
              <a:avLst/>
              <a:gdLst/>
              <a:ahLst/>
              <a:cxnLst/>
              <a:rect l="l" t="t" r="r" b="b"/>
              <a:pathLst>
                <a:path w="536575" h="278764">
                  <a:moveTo>
                    <a:pt x="22006" y="0"/>
                  </a:moveTo>
                  <a:lnTo>
                    <a:pt x="52235" y="8594"/>
                  </a:lnTo>
                  <a:lnTo>
                    <a:pt x="95620" y="19678"/>
                  </a:lnTo>
                  <a:lnTo>
                    <a:pt x="148761" y="32809"/>
                  </a:lnTo>
                  <a:lnTo>
                    <a:pt x="208260" y="47544"/>
                  </a:lnTo>
                  <a:lnTo>
                    <a:pt x="270719" y="63440"/>
                  </a:lnTo>
                  <a:lnTo>
                    <a:pt x="332739" y="80054"/>
                  </a:lnTo>
                  <a:lnTo>
                    <a:pt x="390922" y="96944"/>
                  </a:lnTo>
                  <a:lnTo>
                    <a:pt x="441870" y="113667"/>
                  </a:lnTo>
                  <a:lnTo>
                    <a:pt x="482183" y="129780"/>
                  </a:lnTo>
                  <a:lnTo>
                    <a:pt x="517313" y="158404"/>
                  </a:lnTo>
                  <a:lnTo>
                    <a:pt x="506383" y="171229"/>
                  </a:lnTo>
                  <a:lnTo>
                    <a:pt x="435277" y="197233"/>
                  </a:lnTo>
                  <a:lnTo>
                    <a:pt x="381998" y="210041"/>
                  </a:lnTo>
                  <a:lnTo>
                    <a:pt x="321499" y="222472"/>
                  </a:lnTo>
                  <a:lnTo>
                    <a:pt x="257229" y="234341"/>
                  </a:lnTo>
                  <a:lnTo>
                    <a:pt x="192636" y="245463"/>
                  </a:lnTo>
                  <a:lnTo>
                    <a:pt x="131168" y="255651"/>
                  </a:lnTo>
                  <a:lnTo>
                    <a:pt x="76274" y="264722"/>
                  </a:lnTo>
                  <a:lnTo>
                    <a:pt x="31401" y="272489"/>
                  </a:lnTo>
                  <a:lnTo>
                    <a:pt x="0" y="278767"/>
                  </a:lnTo>
                </a:path>
                <a:path w="536575" h="278764">
                  <a:moveTo>
                    <a:pt x="536062" y="171066"/>
                  </a:moveTo>
                  <a:lnTo>
                    <a:pt x="98009" y="263313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3087" y="2750498"/>
              <a:ext cx="110129" cy="80630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86975" y="2719198"/>
            <a:ext cx="4606469" cy="39203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86975" y="3504861"/>
            <a:ext cx="1858269" cy="39148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51299" y="1407139"/>
            <a:ext cx="3006056" cy="435392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4962104" y="2039174"/>
            <a:ext cx="41275" cy="424815"/>
            <a:chOff x="4962104" y="2039174"/>
            <a:chExt cx="41275" cy="424815"/>
          </a:xfrm>
        </p:grpSpPr>
        <p:sp>
          <p:nvSpPr>
            <p:cNvPr id="15" name="object 15"/>
            <p:cNvSpPr/>
            <p:nvPr/>
          </p:nvSpPr>
          <p:spPr>
            <a:xfrm>
              <a:off x="4982600" y="2039174"/>
              <a:ext cx="0" cy="377190"/>
            </a:xfrm>
            <a:custGeom>
              <a:avLst/>
              <a:gdLst/>
              <a:ahLst/>
              <a:cxnLst/>
              <a:rect l="l" t="t" r="r" b="b"/>
              <a:pathLst>
                <a:path h="377189">
                  <a:moveTo>
                    <a:pt x="0" y="0"/>
                  </a:moveTo>
                  <a:lnTo>
                    <a:pt x="0" y="3766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66867" y="2415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66867" y="2415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566000" y="4062288"/>
            <a:ext cx="31534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Sometimes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called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“Vanilla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RNN”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or</a:t>
            </a:r>
            <a:r>
              <a:rPr sz="1400" spc="-25" dirty="0">
                <a:latin typeface="Arial MT"/>
                <a:cs typeface="Arial MT"/>
              </a:rPr>
              <a:t> an </a:t>
            </a:r>
            <a:r>
              <a:rPr sz="1400" dirty="0">
                <a:latin typeface="Arial MT"/>
                <a:cs typeface="Arial MT"/>
              </a:rPr>
              <a:t>“Elman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RNN”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after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Prof.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Jeffrey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Elman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749" y="2151475"/>
            <a:ext cx="396240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0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01163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28276" y="2151475"/>
            <a:ext cx="396240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25685" y="2814224"/>
            <a:ext cx="82550" cy="432434"/>
            <a:chOff x="1925685" y="2814224"/>
            <a:chExt cx="82550" cy="432434"/>
          </a:xfrm>
        </p:grpSpPr>
        <p:sp>
          <p:nvSpPr>
            <p:cNvPr id="6" name="object 6"/>
            <p:cNvSpPr/>
            <p:nvPr/>
          </p:nvSpPr>
          <p:spPr>
            <a:xfrm>
              <a:off x="1966676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3749" y="2499584"/>
            <a:ext cx="338975" cy="8198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232163" y="2499654"/>
            <a:ext cx="377825" cy="82550"/>
            <a:chOff x="2232163" y="2499654"/>
            <a:chExt cx="377825" cy="82550"/>
          </a:xfrm>
        </p:grpSpPr>
        <p:sp>
          <p:nvSpPr>
            <p:cNvPr id="10" name="object 10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768525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105" dirty="0"/>
              <a:t> </a:t>
            </a:r>
            <a:r>
              <a:rPr sz="2800" spc="-10" dirty="0"/>
              <a:t>Computational</a:t>
            </a:r>
            <a:r>
              <a:rPr sz="2800" spc="-100" dirty="0"/>
              <a:t> </a:t>
            </a:r>
            <a:r>
              <a:rPr sz="2800" spc="-10" dirty="0"/>
              <a:t>Graph</a:t>
            </a:r>
            <a:endParaRPr sz="2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E687E6-356C-B51D-B97D-0954E1FC69C3}"/>
              </a:ext>
            </a:extLst>
          </p:cNvPr>
          <p:cNvSpPr txBox="1"/>
          <p:nvPr/>
        </p:nvSpPr>
        <p:spPr>
          <a:xfrm>
            <a:off x="-1" y="4781863"/>
            <a:ext cx="457200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sz="1800" spc="-10" dirty="0">
                <a:solidFill>
                  <a:srgbClr val="FFFFFF"/>
                </a:solidFill>
                <a:latin typeface="Arial MT"/>
                <a:cs typeface="Arial MT"/>
              </a:rPr>
              <a:t>Master class 2026</a:t>
            </a:r>
            <a:endParaRPr lang="en-US"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749" y="2151475"/>
            <a:ext cx="396240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0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01163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28276" y="2151475"/>
            <a:ext cx="396240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25685" y="2814224"/>
            <a:ext cx="82550" cy="432434"/>
            <a:chOff x="1925685" y="2814224"/>
            <a:chExt cx="82550" cy="432434"/>
          </a:xfrm>
        </p:grpSpPr>
        <p:sp>
          <p:nvSpPr>
            <p:cNvPr id="6" name="object 6"/>
            <p:cNvSpPr/>
            <p:nvPr/>
          </p:nvSpPr>
          <p:spPr>
            <a:xfrm>
              <a:off x="1966676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3749" y="2499584"/>
            <a:ext cx="338975" cy="8198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232163" y="2499654"/>
            <a:ext cx="377825" cy="82550"/>
            <a:chOff x="2232163" y="2499654"/>
            <a:chExt cx="377825" cy="82550"/>
          </a:xfrm>
        </p:grpSpPr>
        <p:sp>
          <p:nvSpPr>
            <p:cNvPr id="10" name="object 10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38168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08773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24276" y="2499584"/>
            <a:ext cx="338975" cy="8198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3606197" y="2814224"/>
            <a:ext cx="82550" cy="432434"/>
            <a:chOff x="3606197" y="2814224"/>
            <a:chExt cx="82550" cy="432434"/>
          </a:xfrm>
        </p:grpSpPr>
        <p:sp>
          <p:nvSpPr>
            <p:cNvPr id="16" name="object 16"/>
            <p:cNvSpPr/>
            <p:nvPr/>
          </p:nvSpPr>
          <p:spPr>
            <a:xfrm>
              <a:off x="3647188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6197" y="2814224"/>
              <a:ext cx="81981" cy="105500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3912682" y="2499654"/>
            <a:ext cx="377825" cy="82550"/>
            <a:chOff x="3912682" y="2499654"/>
            <a:chExt cx="377825" cy="82550"/>
          </a:xfrm>
        </p:grpSpPr>
        <p:sp>
          <p:nvSpPr>
            <p:cNvPr id="19" name="object 19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449037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68525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105" dirty="0"/>
              <a:t> </a:t>
            </a:r>
            <a:r>
              <a:rPr sz="2800" spc="-10" dirty="0"/>
              <a:t>Computational</a:t>
            </a:r>
            <a:r>
              <a:rPr sz="2800" spc="-100" dirty="0"/>
              <a:t> </a:t>
            </a:r>
            <a:r>
              <a:rPr sz="2800" spc="-10" dirty="0"/>
              <a:t>Graph</a:t>
            </a:r>
            <a:endParaRPr sz="2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089B00-BBEA-4E44-C67C-62A4B93F057C}"/>
              </a:ext>
            </a:extLst>
          </p:cNvPr>
          <p:cNvSpPr txBox="1"/>
          <p:nvPr/>
        </p:nvSpPr>
        <p:spPr>
          <a:xfrm>
            <a:off x="147617" y="4814379"/>
            <a:ext cx="458724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sz="1800" spc="-10" dirty="0">
                <a:solidFill>
                  <a:srgbClr val="FFFFFF"/>
                </a:solidFill>
                <a:latin typeface="Arial MT"/>
                <a:cs typeface="Arial MT"/>
              </a:rPr>
              <a:t>Master class 2026</a:t>
            </a:r>
            <a:endParaRPr lang="en-US"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749" y="2151475"/>
            <a:ext cx="396240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0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01163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28276" y="2151475"/>
            <a:ext cx="396240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25685" y="2814224"/>
            <a:ext cx="82550" cy="432434"/>
            <a:chOff x="1925685" y="2814224"/>
            <a:chExt cx="82550" cy="432434"/>
          </a:xfrm>
        </p:grpSpPr>
        <p:sp>
          <p:nvSpPr>
            <p:cNvPr id="6" name="object 6"/>
            <p:cNvSpPr/>
            <p:nvPr/>
          </p:nvSpPr>
          <p:spPr>
            <a:xfrm>
              <a:off x="1966676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3749" y="2499584"/>
            <a:ext cx="338975" cy="8198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232163" y="2499654"/>
            <a:ext cx="377825" cy="82550"/>
            <a:chOff x="2232163" y="2499654"/>
            <a:chExt cx="377825" cy="82550"/>
          </a:xfrm>
        </p:grpSpPr>
        <p:sp>
          <p:nvSpPr>
            <p:cNvPr id="10" name="object 10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38168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08773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24276" y="2499584"/>
            <a:ext cx="338975" cy="8198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3606197" y="2814224"/>
            <a:ext cx="82550" cy="432434"/>
            <a:chOff x="3606197" y="2814224"/>
            <a:chExt cx="82550" cy="432434"/>
          </a:xfrm>
        </p:grpSpPr>
        <p:sp>
          <p:nvSpPr>
            <p:cNvPr id="16" name="object 16"/>
            <p:cNvSpPr/>
            <p:nvPr/>
          </p:nvSpPr>
          <p:spPr>
            <a:xfrm>
              <a:off x="3647188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6197" y="2814224"/>
              <a:ext cx="81981" cy="105500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3912682" y="2499654"/>
            <a:ext cx="377825" cy="82550"/>
            <a:chOff x="3912682" y="2499654"/>
            <a:chExt cx="377825" cy="82550"/>
          </a:xfrm>
        </p:grpSpPr>
        <p:sp>
          <p:nvSpPr>
            <p:cNvPr id="19" name="object 19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06220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89298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3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29551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3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286710" y="2814224"/>
            <a:ext cx="82550" cy="432434"/>
            <a:chOff x="5286710" y="2814224"/>
            <a:chExt cx="82550" cy="432434"/>
          </a:xfrm>
        </p:grpSpPr>
        <p:sp>
          <p:nvSpPr>
            <p:cNvPr id="25" name="object 25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34473" y="2499584"/>
            <a:ext cx="309275" cy="81980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5593201" y="2499654"/>
            <a:ext cx="377825" cy="82550"/>
            <a:chOff x="5593201" y="2499654"/>
            <a:chExt cx="377825" cy="82550"/>
          </a:xfrm>
        </p:grpSpPr>
        <p:sp>
          <p:nvSpPr>
            <p:cNvPr id="29" name="object 29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pic>
        <p:nvPicPr>
          <p:cNvPr id="31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14998" y="2499584"/>
            <a:ext cx="293076" cy="81980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6761100" y="2128566"/>
            <a:ext cx="63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Arial MT"/>
                <a:cs typeface="Arial MT"/>
              </a:rPr>
              <a:t>…</a:t>
            </a:r>
            <a:endParaRPr sz="48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449037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68525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105" dirty="0"/>
              <a:t> </a:t>
            </a:r>
            <a:r>
              <a:rPr sz="2800" spc="-10" dirty="0"/>
              <a:t>Computational</a:t>
            </a:r>
            <a:r>
              <a:rPr sz="2800" spc="-100" dirty="0"/>
              <a:t> </a:t>
            </a:r>
            <a:r>
              <a:rPr sz="2800" spc="-10" dirty="0"/>
              <a:t>Graph</a:t>
            </a:r>
            <a:endParaRPr sz="2800"/>
          </a:p>
        </p:txBody>
      </p:sp>
      <p:sp>
        <p:nvSpPr>
          <p:cNvPr id="36" name="object 36"/>
          <p:cNvSpPr txBox="1"/>
          <p:nvPr/>
        </p:nvSpPr>
        <p:spPr>
          <a:xfrm>
            <a:off x="7728849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T</a:t>
            </a:r>
            <a:endParaRPr sz="1800" baseline="-32407">
              <a:latin typeface="Arial MT"/>
              <a:cs typeface="Arial MT"/>
            </a:endParaRPr>
          </a:p>
        </p:txBody>
      </p:sp>
      <p:pic>
        <p:nvPicPr>
          <p:cNvPr id="37" name="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432999" y="2499584"/>
            <a:ext cx="293075" cy="819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2987" y="2146712"/>
            <a:ext cx="405765" cy="788035"/>
            <a:chOff x="942987" y="2146712"/>
            <a:chExt cx="405765" cy="788035"/>
          </a:xfrm>
        </p:grpSpPr>
        <p:sp>
          <p:nvSpPr>
            <p:cNvPr id="3" name="object 3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01703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0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1163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23513" y="2146712"/>
            <a:ext cx="405765" cy="788035"/>
            <a:chOff x="2623513" y="2146712"/>
            <a:chExt cx="405765" cy="788035"/>
          </a:xfrm>
        </p:grpSpPr>
        <p:sp>
          <p:nvSpPr>
            <p:cNvPr id="8" name="object 8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82228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43749" y="2499584"/>
            <a:ext cx="1266190" cy="756285"/>
            <a:chOff x="1343749" y="2499584"/>
            <a:chExt cx="1266190" cy="756285"/>
          </a:xfrm>
        </p:grpSpPr>
        <p:sp>
          <p:nvSpPr>
            <p:cNvPr id="12" name="object 12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38168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04010" y="2146712"/>
            <a:ext cx="435609" cy="788035"/>
            <a:chOff x="4304010" y="2146712"/>
            <a:chExt cx="435609" cy="788035"/>
          </a:xfrm>
        </p:grpSpPr>
        <p:sp>
          <p:nvSpPr>
            <p:cNvPr id="19" name="object 19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377576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024276" y="2499584"/>
            <a:ext cx="1266190" cy="756285"/>
            <a:chOff x="3024276" y="2499584"/>
            <a:chExt cx="1266190" cy="75628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647188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6197" y="2814224"/>
              <a:ext cx="81981" cy="1055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06220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89298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3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29551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3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734473" y="2499584"/>
            <a:ext cx="634365" cy="756285"/>
            <a:chOff x="4734473" y="2499584"/>
            <a:chExt cx="634365" cy="756285"/>
          </a:xfrm>
        </p:grpSpPr>
        <p:sp>
          <p:nvSpPr>
            <p:cNvPr id="32" name="object 32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4473" y="2499584"/>
              <a:ext cx="309275" cy="81980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5593201" y="2499654"/>
            <a:ext cx="377825" cy="82550"/>
            <a:chOff x="5593201" y="2499654"/>
            <a:chExt cx="377825" cy="82550"/>
          </a:xfrm>
        </p:grpSpPr>
        <p:sp>
          <p:nvSpPr>
            <p:cNvPr id="36" name="object 36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pic>
        <p:nvPicPr>
          <p:cNvPr id="38" name="object 3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14998" y="2499584"/>
            <a:ext cx="293076" cy="81980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6761100" y="2128566"/>
            <a:ext cx="63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Arial MT"/>
                <a:cs typeface="Arial MT"/>
              </a:rPr>
              <a:t>…</a:t>
            </a:r>
            <a:endParaRPr sz="48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49037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68525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83532" y="3573882"/>
            <a:ext cx="541020" cy="520065"/>
            <a:chOff x="783532" y="3573882"/>
            <a:chExt cx="541020" cy="520065"/>
          </a:xfrm>
        </p:grpSpPr>
        <p:sp>
          <p:nvSpPr>
            <p:cNvPr id="43" name="object 43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61320" y="3626022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W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24272" y="2795620"/>
            <a:ext cx="6379845" cy="1652905"/>
            <a:chOff x="724272" y="2795620"/>
            <a:chExt cx="6379845" cy="1652905"/>
          </a:xfrm>
        </p:grpSpPr>
        <p:sp>
          <p:nvSpPr>
            <p:cNvPr id="47" name="object 47"/>
            <p:cNvSpPr/>
            <p:nvPr/>
          </p:nvSpPr>
          <p:spPr>
            <a:xfrm>
              <a:off x="1053795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053795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053795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733797" y="3001585"/>
              <a:ext cx="6273800" cy="1087755"/>
            </a:xfrm>
            <a:custGeom>
              <a:avLst/>
              <a:gdLst/>
              <a:ahLst/>
              <a:cxnLst/>
              <a:rect l="l" t="t" r="r" b="b"/>
              <a:pathLst>
                <a:path w="6273800" h="1087754">
                  <a:moveTo>
                    <a:pt x="319997" y="1087359"/>
                  </a:moveTo>
                  <a:lnTo>
                    <a:pt x="213331" y="1040630"/>
                  </a:lnTo>
                  <a:lnTo>
                    <a:pt x="35555" y="917437"/>
                  </a:lnTo>
                  <a:lnTo>
                    <a:pt x="0" y="743267"/>
                  </a:lnTo>
                  <a:lnTo>
                    <a:pt x="319997" y="543609"/>
                  </a:lnTo>
                  <a:lnTo>
                    <a:pt x="374056" y="525075"/>
                  </a:lnTo>
                  <a:lnTo>
                    <a:pt x="432762" y="506561"/>
                  </a:lnTo>
                  <a:lnTo>
                    <a:pt x="496064" y="488084"/>
                  </a:lnTo>
                  <a:lnTo>
                    <a:pt x="563906" y="469666"/>
                  </a:lnTo>
                  <a:lnTo>
                    <a:pt x="636237" y="451323"/>
                  </a:lnTo>
                  <a:lnTo>
                    <a:pt x="674068" y="442187"/>
                  </a:lnTo>
                  <a:lnTo>
                    <a:pt x="713002" y="433077"/>
                  </a:lnTo>
                  <a:lnTo>
                    <a:pt x="753030" y="423995"/>
                  </a:lnTo>
                  <a:lnTo>
                    <a:pt x="794147" y="414945"/>
                  </a:lnTo>
                  <a:lnTo>
                    <a:pt x="836346" y="405928"/>
                  </a:lnTo>
                  <a:lnTo>
                    <a:pt x="879621" y="396948"/>
                  </a:lnTo>
                  <a:lnTo>
                    <a:pt x="923964" y="388005"/>
                  </a:lnTo>
                  <a:lnTo>
                    <a:pt x="969368" y="379103"/>
                  </a:lnTo>
                  <a:lnTo>
                    <a:pt x="1015828" y="370245"/>
                  </a:lnTo>
                  <a:lnTo>
                    <a:pt x="1063336" y="361431"/>
                  </a:lnTo>
                  <a:lnTo>
                    <a:pt x="1111886" y="352666"/>
                  </a:lnTo>
                  <a:lnTo>
                    <a:pt x="1161472" y="343951"/>
                  </a:lnTo>
                  <a:lnTo>
                    <a:pt x="1212085" y="335288"/>
                  </a:lnTo>
                  <a:lnTo>
                    <a:pt x="1263721" y="326681"/>
                  </a:lnTo>
                  <a:lnTo>
                    <a:pt x="1316372" y="318131"/>
                  </a:lnTo>
                  <a:lnTo>
                    <a:pt x="1370031" y="309641"/>
                  </a:lnTo>
                  <a:lnTo>
                    <a:pt x="1424691" y="301213"/>
                  </a:lnTo>
                  <a:lnTo>
                    <a:pt x="1480347" y="292850"/>
                  </a:lnTo>
                  <a:lnTo>
                    <a:pt x="1536991" y="284554"/>
                  </a:lnTo>
                  <a:lnTo>
                    <a:pt x="1594617" y="276327"/>
                  </a:lnTo>
                  <a:lnTo>
                    <a:pt x="1653218" y="268172"/>
                  </a:lnTo>
                  <a:lnTo>
                    <a:pt x="1712788" y="260091"/>
                  </a:lnTo>
                  <a:lnTo>
                    <a:pt x="1773319" y="252087"/>
                  </a:lnTo>
                  <a:lnTo>
                    <a:pt x="1834805" y="244162"/>
                  </a:lnTo>
                  <a:lnTo>
                    <a:pt x="1897239" y="236318"/>
                  </a:lnTo>
                  <a:lnTo>
                    <a:pt x="1960615" y="228558"/>
                  </a:lnTo>
                  <a:lnTo>
                    <a:pt x="2024926" y="220884"/>
                  </a:lnTo>
                  <a:lnTo>
                    <a:pt x="2090165" y="213299"/>
                  </a:lnTo>
                  <a:lnTo>
                    <a:pt x="2156326" y="205804"/>
                  </a:lnTo>
                  <a:lnTo>
                    <a:pt x="2223402" y="198403"/>
                  </a:lnTo>
                  <a:lnTo>
                    <a:pt x="2291386" y="191098"/>
                  </a:lnTo>
                  <a:lnTo>
                    <a:pt x="2360271" y="183891"/>
                  </a:lnTo>
                  <a:lnTo>
                    <a:pt x="2430052" y="176784"/>
                  </a:lnTo>
                  <a:lnTo>
                    <a:pt x="2500720" y="169781"/>
                  </a:lnTo>
                  <a:lnTo>
                    <a:pt x="2545592" y="165432"/>
                  </a:lnTo>
                  <a:lnTo>
                    <a:pt x="2590811" y="161126"/>
                  </a:lnTo>
                  <a:lnTo>
                    <a:pt x="2636374" y="156862"/>
                  </a:lnTo>
                  <a:lnTo>
                    <a:pt x="2682281" y="152642"/>
                  </a:lnTo>
                  <a:lnTo>
                    <a:pt x="2728530" y="148466"/>
                  </a:lnTo>
                  <a:lnTo>
                    <a:pt x="2775118" y="144335"/>
                  </a:lnTo>
                  <a:lnTo>
                    <a:pt x="2822045" y="140248"/>
                  </a:lnTo>
                  <a:lnTo>
                    <a:pt x="2869309" y="136208"/>
                  </a:lnTo>
                  <a:lnTo>
                    <a:pt x="2916907" y="132214"/>
                  </a:lnTo>
                  <a:lnTo>
                    <a:pt x="2964839" y="128266"/>
                  </a:lnTo>
                  <a:lnTo>
                    <a:pt x="3013103" y="124367"/>
                  </a:lnTo>
                  <a:lnTo>
                    <a:pt x="3061697" y="120515"/>
                  </a:lnTo>
                  <a:lnTo>
                    <a:pt x="3110619" y="116712"/>
                  </a:lnTo>
                  <a:lnTo>
                    <a:pt x="3159868" y="112959"/>
                  </a:lnTo>
                  <a:lnTo>
                    <a:pt x="3209442" y="109255"/>
                  </a:lnTo>
                  <a:lnTo>
                    <a:pt x="3259339" y="105602"/>
                  </a:lnTo>
                  <a:lnTo>
                    <a:pt x="3309558" y="102001"/>
                  </a:lnTo>
                  <a:lnTo>
                    <a:pt x="3360097" y="98450"/>
                  </a:lnTo>
                  <a:lnTo>
                    <a:pt x="3410955" y="94953"/>
                  </a:lnTo>
                  <a:lnTo>
                    <a:pt x="3462129" y="91508"/>
                  </a:lnTo>
                  <a:lnTo>
                    <a:pt x="3513619" y="88116"/>
                  </a:lnTo>
                  <a:lnTo>
                    <a:pt x="3565422" y="84779"/>
                  </a:lnTo>
                  <a:lnTo>
                    <a:pt x="3617537" y="81496"/>
                  </a:lnTo>
                  <a:lnTo>
                    <a:pt x="3669962" y="78269"/>
                  </a:lnTo>
                  <a:lnTo>
                    <a:pt x="3722695" y="75098"/>
                  </a:lnTo>
                  <a:lnTo>
                    <a:pt x="3775736" y="71983"/>
                  </a:lnTo>
                  <a:lnTo>
                    <a:pt x="3829081" y="68925"/>
                  </a:lnTo>
                  <a:lnTo>
                    <a:pt x="3882730" y="65925"/>
                  </a:lnTo>
                  <a:lnTo>
                    <a:pt x="3936681" y="62983"/>
                  </a:lnTo>
                  <a:lnTo>
                    <a:pt x="3990932" y="60099"/>
                  </a:lnTo>
                  <a:lnTo>
                    <a:pt x="4045482" y="57276"/>
                  </a:lnTo>
                  <a:lnTo>
                    <a:pt x="4100328" y="54512"/>
                  </a:lnTo>
                  <a:lnTo>
                    <a:pt x="4155470" y="51809"/>
                  </a:lnTo>
                  <a:lnTo>
                    <a:pt x="4210905" y="49167"/>
                  </a:lnTo>
                  <a:lnTo>
                    <a:pt x="4266632" y="46587"/>
                  </a:lnTo>
                  <a:lnTo>
                    <a:pt x="4315632" y="44381"/>
                  </a:lnTo>
                  <a:lnTo>
                    <a:pt x="4364852" y="42223"/>
                  </a:lnTo>
                  <a:lnTo>
                    <a:pt x="4414293" y="40114"/>
                  </a:lnTo>
                  <a:lnTo>
                    <a:pt x="4463952" y="38053"/>
                  </a:lnTo>
                  <a:lnTo>
                    <a:pt x="4513830" y="36042"/>
                  </a:lnTo>
                  <a:lnTo>
                    <a:pt x="4563923" y="34081"/>
                  </a:lnTo>
                  <a:lnTo>
                    <a:pt x="4614233" y="32169"/>
                  </a:lnTo>
                  <a:lnTo>
                    <a:pt x="4664757" y="30309"/>
                  </a:lnTo>
                  <a:lnTo>
                    <a:pt x="4715494" y="28499"/>
                  </a:lnTo>
                  <a:lnTo>
                    <a:pt x="4766443" y="26741"/>
                  </a:lnTo>
                  <a:lnTo>
                    <a:pt x="4817604" y="25035"/>
                  </a:lnTo>
                  <a:lnTo>
                    <a:pt x="4868974" y="23380"/>
                  </a:lnTo>
                  <a:lnTo>
                    <a:pt x="4920554" y="21779"/>
                  </a:lnTo>
                  <a:lnTo>
                    <a:pt x="4972341" y="20230"/>
                  </a:lnTo>
                  <a:lnTo>
                    <a:pt x="5024335" y="18734"/>
                  </a:lnTo>
                  <a:lnTo>
                    <a:pt x="5076534" y="17293"/>
                  </a:lnTo>
                  <a:lnTo>
                    <a:pt x="5128938" y="15905"/>
                  </a:lnTo>
                  <a:lnTo>
                    <a:pt x="5181545" y="14572"/>
                  </a:lnTo>
                  <a:lnTo>
                    <a:pt x="5234355" y="13295"/>
                  </a:lnTo>
                  <a:lnTo>
                    <a:pt x="5287365" y="12072"/>
                  </a:lnTo>
                  <a:lnTo>
                    <a:pt x="5335730" y="11009"/>
                  </a:lnTo>
                  <a:lnTo>
                    <a:pt x="5384260" y="9992"/>
                  </a:lnTo>
                  <a:lnTo>
                    <a:pt x="5432953" y="9022"/>
                  </a:lnTo>
                  <a:lnTo>
                    <a:pt x="5481808" y="8099"/>
                  </a:lnTo>
                  <a:lnTo>
                    <a:pt x="5530826" y="7224"/>
                  </a:lnTo>
                  <a:lnTo>
                    <a:pt x="5580005" y="6395"/>
                  </a:lnTo>
                  <a:lnTo>
                    <a:pt x="5629344" y="5615"/>
                  </a:lnTo>
                  <a:lnTo>
                    <a:pt x="5678843" y="4883"/>
                  </a:lnTo>
                  <a:lnTo>
                    <a:pt x="5728500" y="4199"/>
                  </a:lnTo>
                  <a:lnTo>
                    <a:pt x="5778315" y="3564"/>
                  </a:lnTo>
                  <a:lnTo>
                    <a:pt x="5828287" y="2979"/>
                  </a:lnTo>
                  <a:lnTo>
                    <a:pt x="5883436" y="2391"/>
                  </a:lnTo>
                  <a:lnTo>
                    <a:pt x="5938774" y="1864"/>
                  </a:lnTo>
                  <a:lnTo>
                    <a:pt x="5994297" y="1397"/>
                  </a:lnTo>
                  <a:lnTo>
                    <a:pt x="6050007" y="992"/>
                  </a:lnTo>
                  <a:lnTo>
                    <a:pt x="6105900" y="647"/>
                  </a:lnTo>
                  <a:lnTo>
                    <a:pt x="6176025" y="304"/>
                  </a:lnTo>
                  <a:lnTo>
                    <a:pt x="6246434" y="57"/>
                  </a:lnTo>
                  <a:lnTo>
                    <a:pt x="627379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98031" y="2960595"/>
              <a:ext cx="105538" cy="81980"/>
            </a:xfrm>
            <a:prstGeom prst="rect">
              <a:avLst/>
            </a:prstGeom>
          </p:spPr>
        </p:pic>
      </p:grpSp>
      <p:sp>
        <p:nvSpPr>
          <p:cNvPr id="55" name="object 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105" dirty="0"/>
              <a:t> </a:t>
            </a:r>
            <a:r>
              <a:rPr sz="2800" spc="-10" dirty="0"/>
              <a:t>Computational</a:t>
            </a:r>
            <a:r>
              <a:rPr sz="2800" spc="-100" dirty="0"/>
              <a:t> </a:t>
            </a:r>
            <a:r>
              <a:rPr sz="2800" spc="-10" dirty="0"/>
              <a:t>Graph</a:t>
            </a:r>
            <a:endParaRPr sz="2800"/>
          </a:p>
        </p:txBody>
      </p:sp>
      <p:sp>
        <p:nvSpPr>
          <p:cNvPr id="56" name="object 56"/>
          <p:cNvSpPr txBox="1"/>
          <p:nvPr/>
        </p:nvSpPr>
        <p:spPr>
          <a:xfrm>
            <a:off x="1897075" y="1194630"/>
            <a:ext cx="5053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Re-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same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weight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matrix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every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time-</a:t>
            </a:r>
            <a:r>
              <a:rPr sz="1800" spc="-20" dirty="0">
                <a:latin typeface="Arial MT"/>
                <a:cs typeface="Arial MT"/>
              </a:rPr>
              <a:t>step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728849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T</a:t>
            </a:r>
            <a:endParaRPr sz="1800" baseline="-32407">
              <a:latin typeface="Arial MT"/>
              <a:cs typeface="Arial MT"/>
            </a:endParaRPr>
          </a:p>
        </p:txBody>
      </p:sp>
      <p:pic>
        <p:nvPicPr>
          <p:cNvPr id="58" name="object 5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32999" y="2499584"/>
            <a:ext cx="293075" cy="819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2987" y="2146712"/>
            <a:ext cx="405765" cy="788035"/>
            <a:chOff x="942987" y="2146712"/>
            <a:chExt cx="405765" cy="788035"/>
          </a:xfrm>
        </p:grpSpPr>
        <p:sp>
          <p:nvSpPr>
            <p:cNvPr id="3" name="object 3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01703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0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1163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23513" y="2146712"/>
            <a:ext cx="405765" cy="788035"/>
            <a:chOff x="2623513" y="2146712"/>
            <a:chExt cx="405765" cy="788035"/>
          </a:xfrm>
        </p:grpSpPr>
        <p:sp>
          <p:nvSpPr>
            <p:cNvPr id="8" name="object 8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82228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43749" y="2499584"/>
            <a:ext cx="1266190" cy="756285"/>
            <a:chOff x="1343749" y="2499584"/>
            <a:chExt cx="1266190" cy="756285"/>
          </a:xfrm>
        </p:grpSpPr>
        <p:sp>
          <p:nvSpPr>
            <p:cNvPr id="12" name="object 12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38168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04010" y="2146712"/>
            <a:ext cx="435609" cy="788035"/>
            <a:chOff x="4304010" y="2146712"/>
            <a:chExt cx="435609" cy="788035"/>
          </a:xfrm>
        </p:grpSpPr>
        <p:sp>
          <p:nvSpPr>
            <p:cNvPr id="19" name="object 19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377576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024276" y="2499584"/>
            <a:ext cx="1266190" cy="756285"/>
            <a:chOff x="3024276" y="2499584"/>
            <a:chExt cx="1266190" cy="75628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647188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6197" y="2814224"/>
              <a:ext cx="81981" cy="1055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06220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89298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3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29551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3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734473" y="2499584"/>
            <a:ext cx="634365" cy="756285"/>
            <a:chOff x="4734473" y="2499584"/>
            <a:chExt cx="634365" cy="756285"/>
          </a:xfrm>
        </p:grpSpPr>
        <p:sp>
          <p:nvSpPr>
            <p:cNvPr id="32" name="object 32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4473" y="2499584"/>
              <a:ext cx="309275" cy="81980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5593201" y="2499654"/>
            <a:ext cx="377825" cy="82550"/>
            <a:chOff x="5593201" y="2499654"/>
            <a:chExt cx="377825" cy="82550"/>
          </a:xfrm>
        </p:grpSpPr>
        <p:sp>
          <p:nvSpPr>
            <p:cNvPr id="36" name="object 36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7728849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858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37" baseline="-32407" dirty="0">
                <a:latin typeface="Arial MT"/>
                <a:cs typeface="Arial MT"/>
              </a:rPr>
              <a:t>T</a:t>
            </a:r>
            <a:endParaRPr sz="1800" baseline="-32407">
              <a:latin typeface="Arial MT"/>
              <a:cs typeface="Arial MT"/>
            </a:endParaRPr>
          </a:p>
        </p:txBody>
      </p:sp>
      <p:pic>
        <p:nvPicPr>
          <p:cNvPr id="39" name="object 3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14998" y="2499584"/>
            <a:ext cx="293076" cy="81980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7900708" y="1791199"/>
            <a:ext cx="82550" cy="360680"/>
            <a:chOff x="7900708" y="1791199"/>
            <a:chExt cx="82550" cy="360680"/>
          </a:xfrm>
        </p:grpSpPr>
        <p:sp>
          <p:nvSpPr>
            <p:cNvPr id="41" name="object 41"/>
            <p:cNvSpPr/>
            <p:nvPr/>
          </p:nvSpPr>
          <p:spPr>
            <a:xfrm>
              <a:off x="7941699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00708" y="1791199"/>
              <a:ext cx="81981" cy="105500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6761100" y="2128566"/>
            <a:ext cx="63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Arial MT"/>
                <a:cs typeface="Arial MT"/>
              </a:rPr>
              <a:t>…</a:t>
            </a:r>
            <a:endParaRPr sz="48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449037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768525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83532" y="3573882"/>
            <a:ext cx="541020" cy="520065"/>
            <a:chOff x="783532" y="3573882"/>
            <a:chExt cx="541020" cy="520065"/>
          </a:xfrm>
        </p:grpSpPr>
        <p:sp>
          <p:nvSpPr>
            <p:cNvPr id="47" name="object 47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861320" y="3626022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W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044269" y="2795620"/>
            <a:ext cx="6106795" cy="1745614"/>
            <a:chOff x="1044269" y="2795620"/>
            <a:chExt cx="6106795" cy="1745614"/>
          </a:xfrm>
        </p:grpSpPr>
        <p:sp>
          <p:nvSpPr>
            <p:cNvPr id="51" name="object 51"/>
            <p:cNvSpPr/>
            <p:nvPr/>
          </p:nvSpPr>
          <p:spPr>
            <a:xfrm>
              <a:off x="1053794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053794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053794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053794" y="3115147"/>
              <a:ext cx="6056630" cy="1416685"/>
            </a:xfrm>
            <a:custGeom>
              <a:avLst/>
              <a:gdLst/>
              <a:ahLst/>
              <a:cxnLst/>
              <a:rect l="l" t="t" r="r" b="b"/>
              <a:pathLst>
                <a:path w="6056630" h="1416685">
                  <a:moveTo>
                    <a:pt x="0" y="973797"/>
                  </a:moveTo>
                  <a:lnTo>
                    <a:pt x="16881" y="1013172"/>
                  </a:lnTo>
                  <a:lnTo>
                    <a:pt x="50886" y="1044214"/>
                  </a:lnTo>
                  <a:lnTo>
                    <a:pt x="83224" y="1065427"/>
                  </a:lnTo>
                  <a:lnTo>
                    <a:pt x="122986" y="1086930"/>
                  </a:lnTo>
                  <a:lnTo>
                    <a:pt x="169906" y="1108615"/>
                  </a:lnTo>
                  <a:lnTo>
                    <a:pt x="223721" y="1130376"/>
                  </a:lnTo>
                  <a:lnTo>
                    <a:pt x="284164" y="1152104"/>
                  </a:lnTo>
                  <a:lnTo>
                    <a:pt x="350972" y="1173693"/>
                  </a:lnTo>
                  <a:lnTo>
                    <a:pt x="423877" y="1195036"/>
                  </a:lnTo>
                  <a:lnTo>
                    <a:pt x="462534" y="1205581"/>
                  </a:lnTo>
                  <a:lnTo>
                    <a:pt x="502616" y="1216025"/>
                  </a:lnTo>
                  <a:lnTo>
                    <a:pt x="544090" y="1226353"/>
                  </a:lnTo>
                  <a:lnTo>
                    <a:pt x="586923" y="1236553"/>
                  </a:lnTo>
                  <a:lnTo>
                    <a:pt x="631082" y="1246610"/>
                  </a:lnTo>
                  <a:lnTo>
                    <a:pt x="676533" y="1256512"/>
                  </a:lnTo>
                  <a:lnTo>
                    <a:pt x="723244" y="1266246"/>
                  </a:lnTo>
                  <a:lnTo>
                    <a:pt x="771181" y="1275797"/>
                  </a:lnTo>
                  <a:lnTo>
                    <a:pt x="820312" y="1285152"/>
                  </a:lnTo>
                  <a:lnTo>
                    <a:pt x="870602" y="1294299"/>
                  </a:lnTo>
                  <a:lnTo>
                    <a:pt x="922019" y="1303222"/>
                  </a:lnTo>
                  <a:lnTo>
                    <a:pt x="974530" y="1311910"/>
                  </a:lnTo>
                  <a:lnTo>
                    <a:pt x="1028102" y="1320349"/>
                  </a:lnTo>
                  <a:lnTo>
                    <a:pt x="1082701" y="1328525"/>
                  </a:lnTo>
                  <a:lnTo>
                    <a:pt x="1138294" y="1336425"/>
                  </a:lnTo>
                  <a:lnTo>
                    <a:pt x="1194849" y="1344035"/>
                  </a:lnTo>
                  <a:lnTo>
                    <a:pt x="1252332" y="1351343"/>
                  </a:lnTo>
                  <a:lnTo>
                    <a:pt x="1310709" y="1358334"/>
                  </a:lnTo>
                  <a:lnTo>
                    <a:pt x="1369948" y="1364996"/>
                  </a:lnTo>
                  <a:lnTo>
                    <a:pt x="1430016" y="1371314"/>
                  </a:lnTo>
                  <a:lnTo>
                    <a:pt x="1490879" y="1377276"/>
                  </a:lnTo>
                  <a:lnTo>
                    <a:pt x="1552505" y="1382868"/>
                  </a:lnTo>
                  <a:lnTo>
                    <a:pt x="1614860" y="1388077"/>
                  </a:lnTo>
                  <a:lnTo>
                    <a:pt x="1677911" y="1392889"/>
                  </a:lnTo>
                  <a:lnTo>
                    <a:pt x="1741624" y="1397291"/>
                  </a:lnTo>
                  <a:lnTo>
                    <a:pt x="1805968" y="1401269"/>
                  </a:lnTo>
                  <a:lnTo>
                    <a:pt x="1870908" y="1404811"/>
                  </a:lnTo>
                  <a:lnTo>
                    <a:pt x="1936411" y="1407902"/>
                  </a:lnTo>
                  <a:lnTo>
                    <a:pt x="2002445" y="1410529"/>
                  </a:lnTo>
                  <a:lnTo>
                    <a:pt x="2068976" y="1412679"/>
                  </a:lnTo>
                  <a:lnTo>
                    <a:pt x="2135971" y="1414339"/>
                  </a:lnTo>
                  <a:lnTo>
                    <a:pt x="2203396" y="1415495"/>
                  </a:lnTo>
                  <a:lnTo>
                    <a:pt x="2271220" y="1416133"/>
                  </a:lnTo>
                  <a:lnTo>
                    <a:pt x="2339408" y="1416241"/>
                  </a:lnTo>
                  <a:lnTo>
                    <a:pt x="2407928" y="1415804"/>
                  </a:lnTo>
                  <a:lnTo>
                    <a:pt x="2476745" y="1414810"/>
                  </a:lnTo>
                  <a:lnTo>
                    <a:pt x="2545828" y="1413245"/>
                  </a:lnTo>
                  <a:lnTo>
                    <a:pt x="2615143" y="1411095"/>
                  </a:lnTo>
                  <a:lnTo>
                    <a:pt x="2684657" y="1408348"/>
                  </a:lnTo>
                  <a:lnTo>
                    <a:pt x="2754337" y="1404990"/>
                  </a:lnTo>
                  <a:lnTo>
                    <a:pt x="2824149" y="1401007"/>
                  </a:lnTo>
                  <a:lnTo>
                    <a:pt x="2894061" y="1396386"/>
                  </a:lnTo>
                  <a:lnTo>
                    <a:pt x="2964038" y="1391113"/>
                  </a:lnTo>
                  <a:lnTo>
                    <a:pt x="3034049" y="1385176"/>
                  </a:lnTo>
                  <a:lnTo>
                    <a:pt x="3086967" y="1380241"/>
                  </a:lnTo>
                  <a:lnTo>
                    <a:pt x="3139869" y="1374922"/>
                  </a:lnTo>
                  <a:lnTo>
                    <a:pt x="3192744" y="1369221"/>
                  </a:lnTo>
                  <a:lnTo>
                    <a:pt x="3245575" y="1363143"/>
                  </a:lnTo>
                  <a:lnTo>
                    <a:pt x="3298349" y="1356691"/>
                  </a:lnTo>
                  <a:lnTo>
                    <a:pt x="3351051" y="1349867"/>
                  </a:lnTo>
                  <a:lnTo>
                    <a:pt x="3403668" y="1342675"/>
                  </a:lnTo>
                  <a:lnTo>
                    <a:pt x="3456184" y="1335118"/>
                  </a:lnTo>
                  <a:lnTo>
                    <a:pt x="3508586" y="1327199"/>
                  </a:lnTo>
                  <a:lnTo>
                    <a:pt x="3560859" y="1318922"/>
                  </a:lnTo>
                  <a:lnTo>
                    <a:pt x="3612989" y="1310290"/>
                  </a:lnTo>
                  <a:lnTo>
                    <a:pt x="3664962" y="1301306"/>
                  </a:lnTo>
                  <a:lnTo>
                    <a:pt x="3716763" y="1291973"/>
                  </a:lnTo>
                  <a:lnTo>
                    <a:pt x="3768378" y="1282294"/>
                  </a:lnTo>
                  <a:lnTo>
                    <a:pt x="3819792" y="1272274"/>
                  </a:lnTo>
                  <a:lnTo>
                    <a:pt x="3870992" y="1261914"/>
                  </a:lnTo>
                  <a:lnTo>
                    <a:pt x="3921963" y="1251218"/>
                  </a:lnTo>
                  <a:lnTo>
                    <a:pt x="3972690" y="1240190"/>
                  </a:lnTo>
                  <a:lnTo>
                    <a:pt x="4023161" y="1228832"/>
                  </a:lnTo>
                  <a:lnTo>
                    <a:pt x="4073359" y="1217148"/>
                  </a:lnTo>
                  <a:lnTo>
                    <a:pt x="4123271" y="1205141"/>
                  </a:lnTo>
                  <a:lnTo>
                    <a:pt x="4172882" y="1192815"/>
                  </a:lnTo>
                  <a:lnTo>
                    <a:pt x="4222179" y="1180171"/>
                  </a:lnTo>
                  <a:lnTo>
                    <a:pt x="4271146" y="1167215"/>
                  </a:lnTo>
                  <a:lnTo>
                    <a:pt x="4319770" y="1153948"/>
                  </a:lnTo>
                  <a:lnTo>
                    <a:pt x="4368036" y="1140375"/>
                  </a:lnTo>
                  <a:lnTo>
                    <a:pt x="4415931" y="1126498"/>
                  </a:lnTo>
                  <a:lnTo>
                    <a:pt x="4463438" y="1112320"/>
                  </a:lnTo>
                  <a:lnTo>
                    <a:pt x="4510545" y="1097846"/>
                  </a:lnTo>
                  <a:lnTo>
                    <a:pt x="4557238" y="1083077"/>
                  </a:lnTo>
                  <a:lnTo>
                    <a:pt x="4603500" y="1068018"/>
                  </a:lnTo>
                  <a:lnTo>
                    <a:pt x="4649320" y="1052671"/>
                  </a:lnTo>
                  <a:lnTo>
                    <a:pt x="4694681" y="1037040"/>
                  </a:lnTo>
                  <a:lnTo>
                    <a:pt x="4739570" y="1021127"/>
                  </a:lnTo>
                  <a:lnTo>
                    <a:pt x="4783972" y="1004937"/>
                  </a:lnTo>
                  <a:lnTo>
                    <a:pt x="4827874" y="988472"/>
                  </a:lnTo>
                  <a:lnTo>
                    <a:pt x="4871260" y="971736"/>
                  </a:lnTo>
                  <a:lnTo>
                    <a:pt x="4914117" y="954732"/>
                  </a:lnTo>
                  <a:lnTo>
                    <a:pt x="4956431" y="937462"/>
                  </a:lnTo>
                  <a:lnTo>
                    <a:pt x="4998186" y="919931"/>
                  </a:lnTo>
                  <a:lnTo>
                    <a:pt x="5039368" y="902142"/>
                  </a:lnTo>
                  <a:lnTo>
                    <a:pt x="5079964" y="884097"/>
                  </a:lnTo>
                  <a:lnTo>
                    <a:pt x="5119959" y="865800"/>
                  </a:lnTo>
                  <a:lnTo>
                    <a:pt x="5172731" y="840822"/>
                  </a:lnTo>
                  <a:lnTo>
                    <a:pt x="5224357" y="815403"/>
                  </a:lnTo>
                  <a:lnTo>
                    <a:pt x="5274802" y="789550"/>
                  </a:lnTo>
                  <a:lnTo>
                    <a:pt x="5324032" y="763271"/>
                  </a:lnTo>
                  <a:lnTo>
                    <a:pt x="5372012" y="736574"/>
                  </a:lnTo>
                  <a:lnTo>
                    <a:pt x="5418707" y="709466"/>
                  </a:lnTo>
                  <a:lnTo>
                    <a:pt x="5464083" y="681957"/>
                  </a:lnTo>
                  <a:lnTo>
                    <a:pt x="5508104" y="654052"/>
                  </a:lnTo>
                  <a:lnTo>
                    <a:pt x="5550737" y="625761"/>
                  </a:lnTo>
                  <a:lnTo>
                    <a:pt x="5591946" y="597091"/>
                  </a:lnTo>
                  <a:lnTo>
                    <a:pt x="5631697" y="568050"/>
                  </a:lnTo>
                  <a:lnTo>
                    <a:pt x="5669955" y="538645"/>
                  </a:lnTo>
                  <a:lnTo>
                    <a:pt x="5706685" y="508885"/>
                  </a:lnTo>
                  <a:lnTo>
                    <a:pt x="5741852" y="478778"/>
                  </a:lnTo>
                  <a:lnTo>
                    <a:pt x="5775422" y="448330"/>
                  </a:lnTo>
                  <a:lnTo>
                    <a:pt x="5807361" y="417550"/>
                  </a:lnTo>
                  <a:lnTo>
                    <a:pt x="5847347" y="376008"/>
                  </a:lnTo>
                  <a:lnTo>
                    <a:pt x="5884288" y="333907"/>
                  </a:lnTo>
                  <a:lnTo>
                    <a:pt x="5918101" y="291267"/>
                  </a:lnTo>
                  <a:lnTo>
                    <a:pt x="5948704" y="248107"/>
                  </a:lnTo>
                  <a:lnTo>
                    <a:pt x="5976015" y="204444"/>
                  </a:lnTo>
                  <a:lnTo>
                    <a:pt x="5999952" y="160297"/>
                  </a:lnTo>
                  <a:lnTo>
                    <a:pt x="6029350" y="93211"/>
                  </a:lnTo>
                  <a:lnTo>
                    <a:pt x="6050693" y="25140"/>
                  </a:lnTo>
                  <a:lnTo>
                    <a:pt x="6054737" y="7976"/>
                  </a:lnTo>
                  <a:lnTo>
                    <a:pt x="60564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9399" y="3019623"/>
              <a:ext cx="81651" cy="108261"/>
            </a:xfrm>
            <a:prstGeom prst="rect">
              <a:avLst/>
            </a:prstGeom>
          </p:spPr>
        </p:pic>
      </p:grpSp>
      <p:sp>
        <p:nvSpPr>
          <p:cNvPr id="59" name="object 5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90" dirty="0"/>
              <a:t> </a:t>
            </a:r>
            <a:r>
              <a:rPr sz="2800" spc="-10" dirty="0"/>
              <a:t>Computational</a:t>
            </a:r>
            <a:r>
              <a:rPr sz="2800" spc="-85" dirty="0"/>
              <a:t> </a:t>
            </a:r>
            <a:r>
              <a:rPr sz="2800" dirty="0"/>
              <a:t>Graph:</a:t>
            </a:r>
            <a:r>
              <a:rPr sz="2800" spc="-85" dirty="0"/>
              <a:t> </a:t>
            </a:r>
            <a:r>
              <a:rPr sz="2800" dirty="0"/>
              <a:t>Many</a:t>
            </a:r>
            <a:r>
              <a:rPr sz="2800" spc="-85" dirty="0"/>
              <a:t> </a:t>
            </a:r>
            <a:r>
              <a:rPr sz="2800" dirty="0"/>
              <a:t>to</a:t>
            </a:r>
            <a:r>
              <a:rPr sz="2800" spc="-85" dirty="0"/>
              <a:t> </a:t>
            </a:r>
            <a:r>
              <a:rPr sz="2800" spc="-20" dirty="0"/>
              <a:t>Many</a:t>
            </a:r>
            <a:endParaRPr sz="2800"/>
          </a:p>
        </p:txBody>
      </p:sp>
      <p:sp>
        <p:nvSpPr>
          <p:cNvPr id="60" name="object 60"/>
          <p:cNvSpPr txBox="1"/>
          <p:nvPr/>
        </p:nvSpPr>
        <p:spPr>
          <a:xfrm>
            <a:off x="7728849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T</a:t>
            </a:r>
            <a:endParaRPr sz="1800" baseline="-32407">
              <a:latin typeface="Arial MT"/>
              <a:cs typeface="Arial MT"/>
            </a:endParaRPr>
          </a:p>
        </p:txBody>
      </p:sp>
      <p:pic>
        <p:nvPicPr>
          <p:cNvPr id="61" name="object 6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32999" y="2499584"/>
            <a:ext cx="293075" cy="81980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5989298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37" baseline="-32407" dirty="0">
                <a:latin typeface="Arial MT"/>
                <a:cs typeface="Arial MT"/>
              </a:rPr>
              <a:t>3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308773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613424" y="1021800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785285" y="1791199"/>
            <a:ext cx="3458210" cy="360680"/>
            <a:chOff x="2785285" y="1791199"/>
            <a:chExt cx="3458210" cy="360680"/>
          </a:xfrm>
        </p:grpSpPr>
        <p:sp>
          <p:nvSpPr>
            <p:cNvPr id="66" name="object 66"/>
            <p:cNvSpPr/>
            <p:nvPr/>
          </p:nvSpPr>
          <p:spPr>
            <a:xfrm>
              <a:off x="6202148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61158" y="1791199"/>
              <a:ext cx="81981" cy="10550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521622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0632" y="1791199"/>
              <a:ext cx="81981" cy="10550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85285" y="1818199"/>
              <a:ext cx="81980" cy="333275"/>
            </a:xfrm>
            <a:prstGeom prst="rect">
              <a:avLst/>
            </a:prstGeom>
          </p:spPr>
        </p:pic>
      </p:grpSp>
      <p:sp>
        <p:nvSpPr>
          <p:cNvPr id="73" name="object 73"/>
          <p:cNvSpPr txBox="1">
            <a:spLocks noGrp="1"/>
          </p:cNvSpPr>
          <p:nvPr>
            <p:ph type="ftr" sz="quarter" idx="4294967295"/>
          </p:nvPr>
        </p:nvSpPr>
        <p:spPr>
          <a:xfrm>
            <a:off x="187925" y="4778312"/>
            <a:ext cx="4313997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lang="en-US" spc="-10" dirty="0">
                <a:solidFill>
                  <a:srgbClr val="FFFFFF"/>
                </a:solidFill>
              </a:rPr>
              <a:t>Master class 2026</a:t>
            </a:r>
            <a:endParaRPr lang="en-US" dirty="0"/>
          </a:p>
          <a:p>
            <a:pPr marL="12700">
              <a:lnSpc>
                <a:spcPts val="2310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6580" y="4778889"/>
            <a:ext cx="2261820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000" spc="-10" dirty="0">
                <a:solidFill>
                  <a:srgbClr val="FFFFFF"/>
                </a:solidFill>
                <a:latin typeface="Arial MT"/>
                <a:cs typeface="Arial MT"/>
              </a:rPr>
              <a:t>Master class 2026</a:t>
            </a:r>
            <a:endParaRPr lang="en-US"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2987" y="2146712"/>
            <a:ext cx="405765" cy="788035"/>
            <a:chOff x="942987" y="2146712"/>
            <a:chExt cx="405765" cy="788035"/>
          </a:xfrm>
        </p:grpSpPr>
        <p:sp>
          <p:nvSpPr>
            <p:cNvPr id="6" name="object 6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01703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0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1163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23513" y="2146712"/>
            <a:ext cx="405765" cy="788035"/>
            <a:chOff x="2623513" y="2146712"/>
            <a:chExt cx="405765" cy="788035"/>
          </a:xfrm>
        </p:grpSpPr>
        <p:sp>
          <p:nvSpPr>
            <p:cNvPr id="11" name="object 11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682228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43749" y="2499584"/>
            <a:ext cx="1266190" cy="756285"/>
            <a:chOff x="1343749" y="2499584"/>
            <a:chExt cx="1266190" cy="756285"/>
          </a:xfrm>
        </p:grpSpPr>
        <p:sp>
          <p:nvSpPr>
            <p:cNvPr id="15" name="object 15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38168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304010" y="2146712"/>
            <a:ext cx="435609" cy="788035"/>
            <a:chOff x="4304010" y="2146712"/>
            <a:chExt cx="435609" cy="788035"/>
          </a:xfrm>
        </p:grpSpPr>
        <p:sp>
          <p:nvSpPr>
            <p:cNvPr id="22" name="object 22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377576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024276" y="2499584"/>
            <a:ext cx="1266190" cy="756285"/>
            <a:chOff x="3024276" y="2499584"/>
            <a:chExt cx="1266190" cy="756285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647188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6197" y="2814224"/>
              <a:ext cx="81981" cy="1055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506220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89298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3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29551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3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734473" y="2499584"/>
            <a:ext cx="634365" cy="756285"/>
            <a:chOff x="4734473" y="2499584"/>
            <a:chExt cx="634365" cy="756285"/>
          </a:xfrm>
        </p:grpSpPr>
        <p:sp>
          <p:nvSpPr>
            <p:cNvPr id="35" name="object 35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4473" y="2499584"/>
              <a:ext cx="309275" cy="81980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5593201" y="2499654"/>
            <a:ext cx="377825" cy="82550"/>
            <a:chOff x="5593201" y="2499654"/>
            <a:chExt cx="377825" cy="82550"/>
          </a:xfrm>
        </p:grpSpPr>
        <p:sp>
          <p:nvSpPr>
            <p:cNvPr id="39" name="object 39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7728849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858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37" baseline="-32407" dirty="0">
                <a:latin typeface="Arial MT"/>
                <a:cs typeface="Arial MT"/>
              </a:rPr>
              <a:t>T</a:t>
            </a:r>
            <a:endParaRPr sz="1800" baseline="-32407">
              <a:latin typeface="Arial MT"/>
              <a:cs typeface="Arial MT"/>
            </a:endParaRPr>
          </a:p>
        </p:txBody>
      </p:sp>
      <p:pic>
        <p:nvPicPr>
          <p:cNvPr id="42" name="object 4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14998" y="2499584"/>
            <a:ext cx="293076" cy="81980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7900708" y="1791199"/>
            <a:ext cx="82550" cy="360680"/>
            <a:chOff x="7900708" y="1791199"/>
            <a:chExt cx="82550" cy="360680"/>
          </a:xfrm>
        </p:grpSpPr>
        <p:sp>
          <p:nvSpPr>
            <p:cNvPr id="44" name="object 44"/>
            <p:cNvSpPr/>
            <p:nvPr/>
          </p:nvSpPr>
          <p:spPr>
            <a:xfrm>
              <a:off x="7941699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00708" y="1791199"/>
              <a:ext cx="81981" cy="105500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6761100" y="2128566"/>
            <a:ext cx="63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Arial MT"/>
                <a:cs typeface="Arial MT"/>
              </a:rPr>
              <a:t>…</a:t>
            </a:r>
            <a:endParaRPr sz="48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449037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768525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783532" y="3573882"/>
            <a:ext cx="541020" cy="520065"/>
            <a:chOff x="783532" y="3573882"/>
            <a:chExt cx="541020" cy="520065"/>
          </a:xfrm>
        </p:grpSpPr>
        <p:sp>
          <p:nvSpPr>
            <p:cNvPr id="50" name="object 50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61320" y="3626022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W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044269" y="2795620"/>
            <a:ext cx="6106795" cy="1745614"/>
            <a:chOff x="1044269" y="2795620"/>
            <a:chExt cx="6106795" cy="1745614"/>
          </a:xfrm>
        </p:grpSpPr>
        <p:sp>
          <p:nvSpPr>
            <p:cNvPr id="54" name="object 54"/>
            <p:cNvSpPr/>
            <p:nvPr/>
          </p:nvSpPr>
          <p:spPr>
            <a:xfrm>
              <a:off x="1053794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053794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1053794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053794" y="3115147"/>
              <a:ext cx="6056630" cy="1416685"/>
            </a:xfrm>
            <a:custGeom>
              <a:avLst/>
              <a:gdLst/>
              <a:ahLst/>
              <a:cxnLst/>
              <a:rect l="l" t="t" r="r" b="b"/>
              <a:pathLst>
                <a:path w="6056630" h="1416685">
                  <a:moveTo>
                    <a:pt x="0" y="973797"/>
                  </a:moveTo>
                  <a:lnTo>
                    <a:pt x="16881" y="1013172"/>
                  </a:lnTo>
                  <a:lnTo>
                    <a:pt x="50886" y="1044214"/>
                  </a:lnTo>
                  <a:lnTo>
                    <a:pt x="83224" y="1065427"/>
                  </a:lnTo>
                  <a:lnTo>
                    <a:pt x="122986" y="1086930"/>
                  </a:lnTo>
                  <a:lnTo>
                    <a:pt x="169906" y="1108615"/>
                  </a:lnTo>
                  <a:lnTo>
                    <a:pt x="223721" y="1130376"/>
                  </a:lnTo>
                  <a:lnTo>
                    <a:pt x="284164" y="1152104"/>
                  </a:lnTo>
                  <a:lnTo>
                    <a:pt x="350972" y="1173693"/>
                  </a:lnTo>
                  <a:lnTo>
                    <a:pt x="423877" y="1195036"/>
                  </a:lnTo>
                  <a:lnTo>
                    <a:pt x="462534" y="1205581"/>
                  </a:lnTo>
                  <a:lnTo>
                    <a:pt x="502616" y="1216025"/>
                  </a:lnTo>
                  <a:lnTo>
                    <a:pt x="544090" y="1226353"/>
                  </a:lnTo>
                  <a:lnTo>
                    <a:pt x="586923" y="1236553"/>
                  </a:lnTo>
                  <a:lnTo>
                    <a:pt x="631082" y="1246610"/>
                  </a:lnTo>
                  <a:lnTo>
                    <a:pt x="676533" y="1256512"/>
                  </a:lnTo>
                  <a:lnTo>
                    <a:pt x="723244" y="1266246"/>
                  </a:lnTo>
                  <a:lnTo>
                    <a:pt x="771181" y="1275797"/>
                  </a:lnTo>
                  <a:lnTo>
                    <a:pt x="820312" y="1285152"/>
                  </a:lnTo>
                  <a:lnTo>
                    <a:pt x="870602" y="1294299"/>
                  </a:lnTo>
                  <a:lnTo>
                    <a:pt x="922019" y="1303222"/>
                  </a:lnTo>
                  <a:lnTo>
                    <a:pt x="974530" y="1311910"/>
                  </a:lnTo>
                  <a:lnTo>
                    <a:pt x="1028102" y="1320349"/>
                  </a:lnTo>
                  <a:lnTo>
                    <a:pt x="1082701" y="1328525"/>
                  </a:lnTo>
                  <a:lnTo>
                    <a:pt x="1138294" y="1336425"/>
                  </a:lnTo>
                  <a:lnTo>
                    <a:pt x="1194849" y="1344035"/>
                  </a:lnTo>
                  <a:lnTo>
                    <a:pt x="1252332" y="1351343"/>
                  </a:lnTo>
                  <a:lnTo>
                    <a:pt x="1310709" y="1358334"/>
                  </a:lnTo>
                  <a:lnTo>
                    <a:pt x="1369948" y="1364996"/>
                  </a:lnTo>
                  <a:lnTo>
                    <a:pt x="1430016" y="1371314"/>
                  </a:lnTo>
                  <a:lnTo>
                    <a:pt x="1490879" y="1377276"/>
                  </a:lnTo>
                  <a:lnTo>
                    <a:pt x="1552505" y="1382868"/>
                  </a:lnTo>
                  <a:lnTo>
                    <a:pt x="1614860" y="1388077"/>
                  </a:lnTo>
                  <a:lnTo>
                    <a:pt x="1677911" y="1392889"/>
                  </a:lnTo>
                  <a:lnTo>
                    <a:pt x="1741624" y="1397291"/>
                  </a:lnTo>
                  <a:lnTo>
                    <a:pt x="1805968" y="1401269"/>
                  </a:lnTo>
                  <a:lnTo>
                    <a:pt x="1870908" y="1404811"/>
                  </a:lnTo>
                  <a:lnTo>
                    <a:pt x="1936411" y="1407902"/>
                  </a:lnTo>
                  <a:lnTo>
                    <a:pt x="2002445" y="1410529"/>
                  </a:lnTo>
                  <a:lnTo>
                    <a:pt x="2068976" y="1412679"/>
                  </a:lnTo>
                  <a:lnTo>
                    <a:pt x="2135971" y="1414339"/>
                  </a:lnTo>
                  <a:lnTo>
                    <a:pt x="2203396" y="1415495"/>
                  </a:lnTo>
                  <a:lnTo>
                    <a:pt x="2271220" y="1416133"/>
                  </a:lnTo>
                  <a:lnTo>
                    <a:pt x="2339408" y="1416241"/>
                  </a:lnTo>
                  <a:lnTo>
                    <a:pt x="2407928" y="1415804"/>
                  </a:lnTo>
                  <a:lnTo>
                    <a:pt x="2476745" y="1414810"/>
                  </a:lnTo>
                  <a:lnTo>
                    <a:pt x="2545828" y="1413245"/>
                  </a:lnTo>
                  <a:lnTo>
                    <a:pt x="2615143" y="1411095"/>
                  </a:lnTo>
                  <a:lnTo>
                    <a:pt x="2684657" y="1408348"/>
                  </a:lnTo>
                  <a:lnTo>
                    <a:pt x="2754337" y="1404990"/>
                  </a:lnTo>
                  <a:lnTo>
                    <a:pt x="2824149" y="1401007"/>
                  </a:lnTo>
                  <a:lnTo>
                    <a:pt x="2894061" y="1396386"/>
                  </a:lnTo>
                  <a:lnTo>
                    <a:pt x="2964038" y="1391113"/>
                  </a:lnTo>
                  <a:lnTo>
                    <a:pt x="3034049" y="1385176"/>
                  </a:lnTo>
                  <a:lnTo>
                    <a:pt x="3086967" y="1380241"/>
                  </a:lnTo>
                  <a:lnTo>
                    <a:pt x="3139869" y="1374922"/>
                  </a:lnTo>
                  <a:lnTo>
                    <a:pt x="3192744" y="1369221"/>
                  </a:lnTo>
                  <a:lnTo>
                    <a:pt x="3245575" y="1363143"/>
                  </a:lnTo>
                  <a:lnTo>
                    <a:pt x="3298349" y="1356691"/>
                  </a:lnTo>
                  <a:lnTo>
                    <a:pt x="3351051" y="1349867"/>
                  </a:lnTo>
                  <a:lnTo>
                    <a:pt x="3403668" y="1342675"/>
                  </a:lnTo>
                  <a:lnTo>
                    <a:pt x="3456184" y="1335118"/>
                  </a:lnTo>
                  <a:lnTo>
                    <a:pt x="3508586" y="1327199"/>
                  </a:lnTo>
                  <a:lnTo>
                    <a:pt x="3560859" y="1318922"/>
                  </a:lnTo>
                  <a:lnTo>
                    <a:pt x="3612989" y="1310290"/>
                  </a:lnTo>
                  <a:lnTo>
                    <a:pt x="3664962" y="1301306"/>
                  </a:lnTo>
                  <a:lnTo>
                    <a:pt x="3716763" y="1291973"/>
                  </a:lnTo>
                  <a:lnTo>
                    <a:pt x="3768378" y="1282294"/>
                  </a:lnTo>
                  <a:lnTo>
                    <a:pt x="3819792" y="1272274"/>
                  </a:lnTo>
                  <a:lnTo>
                    <a:pt x="3870992" y="1261914"/>
                  </a:lnTo>
                  <a:lnTo>
                    <a:pt x="3921963" y="1251218"/>
                  </a:lnTo>
                  <a:lnTo>
                    <a:pt x="3972690" y="1240190"/>
                  </a:lnTo>
                  <a:lnTo>
                    <a:pt x="4023161" y="1228832"/>
                  </a:lnTo>
                  <a:lnTo>
                    <a:pt x="4073359" y="1217148"/>
                  </a:lnTo>
                  <a:lnTo>
                    <a:pt x="4123271" y="1205141"/>
                  </a:lnTo>
                  <a:lnTo>
                    <a:pt x="4172882" y="1192815"/>
                  </a:lnTo>
                  <a:lnTo>
                    <a:pt x="4222179" y="1180171"/>
                  </a:lnTo>
                  <a:lnTo>
                    <a:pt x="4271146" y="1167215"/>
                  </a:lnTo>
                  <a:lnTo>
                    <a:pt x="4319770" y="1153948"/>
                  </a:lnTo>
                  <a:lnTo>
                    <a:pt x="4368036" y="1140375"/>
                  </a:lnTo>
                  <a:lnTo>
                    <a:pt x="4415931" y="1126498"/>
                  </a:lnTo>
                  <a:lnTo>
                    <a:pt x="4463438" y="1112320"/>
                  </a:lnTo>
                  <a:lnTo>
                    <a:pt x="4510545" y="1097846"/>
                  </a:lnTo>
                  <a:lnTo>
                    <a:pt x="4557238" y="1083077"/>
                  </a:lnTo>
                  <a:lnTo>
                    <a:pt x="4603500" y="1068018"/>
                  </a:lnTo>
                  <a:lnTo>
                    <a:pt x="4649320" y="1052671"/>
                  </a:lnTo>
                  <a:lnTo>
                    <a:pt x="4694681" y="1037040"/>
                  </a:lnTo>
                  <a:lnTo>
                    <a:pt x="4739570" y="1021127"/>
                  </a:lnTo>
                  <a:lnTo>
                    <a:pt x="4783972" y="1004937"/>
                  </a:lnTo>
                  <a:lnTo>
                    <a:pt x="4827874" y="988472"/>
                  </a:lnTo>
                  <a:lnTo>
                    <a:pt x="4871260" y="971736"/>
                  </a:lnTo>
                  <a:lnTo>
                    <a:pt x="4914117" y="954732"/>
                  </a:lnTo>
                  <a:lnTo>
                    <a:pt x="4956431" y="937462"/>
                  </a:lnTo>
                  <a:lnTo>
                    <a:pt x="4998186" y="919931"/>
                  </a:lnTo>
                  <a:lnTo>
                    <a:pt x="5039368" y="902142"/>
                  </a:lnTo>
                  <a:lnTo>
                    <a:pt x="5079964" y="884097"/>
                  </a:lnTo>
                  <a:lnTo>
                    <a:pt x="5119959" y="865800"/>
                  </a:lnTo>
                  <a:lnTo>
                    <a:pt x="5172731" y="840822"/>
                  </a:lnTo>
                  <a:lnTo>
                    <a:pt x="5224357" y="815403"/>
                  </a:lnTo>
                  <a:lnTo>
                    <a:pt x="5274802" y="789550"/>
                  </a:lnTo>
                  <a:lnTo>
                    <a:pt x="5324032" y="763271"/>
                  </a:lnTo>
                  <a:lnTo>
                    <a:pt x="5372012" y="736574"/>
                  </a:lnTo>
                  <a:lnTo>
                    <a:pt x="5418707" y="709466"/>
                  </a:lnTo>
                  <a:lnTo>
                    <a:pt x="5464083" y="681957"/>
                  </a:lnTo>
                  <a:lnTo>
                    <a:pt x="5508104" y="654052"/>
                  </a:lnTo>
                  <a:lnTo>
                    <a:pt x="5550737" y="625761"/>
                  </a:lnTo>
                  <a:lnTo>
                    <a:pt x="5591946" y="597091"/>
                  </a:lnTo>
                  <a:lnTo>
                    <a:pt x="5631697" y="568050"/>
                  </a:lnTo>
                  <a:lnTo>
                    <a:pt x="5669955" y="538645"/>
                  </a:lnTo>
                  <a:lnTo>
                    <a:pt x="5706685" y="508885"/>
                  </a:lnTo>
                  <a:lnTo>
                    <a:pt x="5741852" y="478778"/>
                  </a:lnTo>
                  <a:lnTo>
                    <a:pt x="5775422" y="448330"/>
                  </a:lnTo>
                  <a:lnTo>
                    <a:pt x="5807361" y="417550"/>
                  </a:lnTo>
                  <a:lnTo>
                    <a:pt x="5847347" y="376008"/>
                  </a:lnTo>
                  <a:lnTo>
                    <a:pt x="5884288" y="333907"/>
                  </a:lnTo>
                  <a:lnTo>
                    <a:pt x="5918101" y="291267"/>
                  </a:lnTo>
                  <a:lnTo>
                    <a:pt x="5948704" y="248107"/>
                  </a:lnTo>
                  <a:lnTo>
                    <a:pt x="5976015" y="204444"/>
                  </a:lnTo>
                  <a:lnTo>
                    <a:pt x="5999952" y="160297"/>
                  </a:lnTo>
                  <a:lnTo>
                    <a:pt x="6029350" y="93211"/>
                  </a:lnTo>
                  <a:lnTo>
                    <a:pt x="6050693" y="25140"/>
                  </a:lnTo>
                  <a:lnTo>
                    <a:pt x="6054737" y="7976"/>
                  </a:lnTo>
                  <a:lnTo>
                    <a:pt x="60564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9399" y="3019623"/>
              <a:ext cx="81651" cy="108261"/>
            </a:xfrm>
            <a:prstGeom prst="rect">
              <a:avLst/>
            </a:prstGeom>
          </p:spPr>
        </p:pic>
      </p:grp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90" dirty="0"/>
              <a:t> </a:t>
            </a:r>
            <a:r>
              <a:rPr sz="2800" spc="-10" dirty="0"/>
              <a:t>Computational</a:t>
            </a:r>
            <a:r>
              <a:rPr sz="2800" spc="-85" dirty="0"/>
              <a:t> </a:t>
            </a:r>
            <a:r>
              <a:rPr sz="2800" dirty="0"/>
              <a:t>Graph:</a:t>
            </a:r>
            <a:r>
              <a:rPr sz="2800" spc="-85" dirty="0"/>
              <a:t> </a:t>
            </a:r>
            <a:r>
              <a:rPr sz="2800" dirty="0"/>
              <a:t>Many</a:t>
            </a:r>
            <a:r>
              <a:rPr sz="2800" spc="-85" dirty="0"/>
              <a:t> </a:t>
            </a:r>
            <a:r>
              <a:rPr sz="2800" dirty="0"/>
              <a:t>to</a:t>
            </a:r>
            <a:r>
              <a:rPr sz="2800" spc="-85" dirty="0"/>
              <a:t> </a:t>
            </a:r>
            <a:r>
              <a:rPr sz="2800" spc="-20" dirty="0"/>
              <a:t>Many</a:t>
            </a:r>
            <a:endParaRPr sz="2800"/>
          </a:p>
        </p:txBody>
      </p:sp>
      <p:sp>
        <p:nvSpPr>
          <p:cNvPr id="63" name="object 63"/>
          <p:cNvSpPr txBox="1"/>
          <p:nvPr/>
        </p:nvSpPr>
        <p:spPr>
          <a:xfrm>
            <a:off x="7728849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T</a:t>
            </a:r>
            <a:endParaRPr sz="1800" baseline="-32407">
              <a:latin typeface="Arial MT"/>
              <a:cs typeface="Arial MT"/>
            </a:endParaRPr>
          </a:p>
        </p:txBody>
      </p:sp>
      <p:pic>
        <p:nvPicPr>
          <p:cNvPr id="64" name="object 6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32999" y="2499584"/>
            <a:ext cx="293075" cy="81980"/>
          </a:xfrm>
          <a:prstGeom prst="rect">
            <a:avLst/>
          </a:prstGeom>
        </p:spPr>
      </p:pic>
      <p:sp>
        <p:nvSpPr>
          <p:cNvPr id="65" name="object 65"/>
          <p:cNvSpPr txBox="1"/>
          <p:nvPr/>
        </p:nvSpPr>
        <p:spPr>
          <a:xfrm>
            <a:off x="5989298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37" baseline="-32407" dirty="0">
                <a:latin typeface="Arial MT"/>
                <a:cs typeface="Arial MT"/>
              </a:rPr>
              <a:t>3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308773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613424" y="1021800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2785285" y="1791199"/>
            <a:ext cx="3458210" cy="360680"/>
            <a:chOff x="2785285" y="1791199"/>
            <a:chExt cx="3458210" cy="360680"/>
          </a:xfrm>
        </p:grpSpPr>
        <p:sp>
          <p:nvSpPr>
            <p:cNvPr id="69" name="object 69"/>
            <p:cNvSpPr/>
            <p:nvPr/>
          </p:nvSpPr>
          <p:spPr>
            <a:xfrm>
              <a:off x="6202148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61158" y="1791199"/>
              <a:ext cx="81981" cy="105500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4521622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0632" y="1791199"/>
              <a:ext cx="81981" cy="10550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85285" y="1818199"/>
              <a:ext cx="81980" cy="333275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3429562" y="1195837"/>
            <a:ext cx="435609" cy="430530"/>
            <a:chOff x="3429562" y="1195837"/>
            <a:chExt cx="435609" cy="430530"/>
          </a:xfrm>
        </p:grpSpPr>
        <p:sp>
          <p:nvSpPr>
            <p:cNvPr id="75" name="object 75"/>
            <p:cNvSpPr/>
            <p:nvPr/>
          </p:nvSpPr>
          <p:spPr>
            <a:xfrm>
              <a:off x="3434324" y="1200599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5" h="421005">
                  <a:moveTo>
                    <a:pt x="425699" y="420599"/>
                  </a:moveTo>
                  <a:lnTo>
                    <a:pt x="0" y="4205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4205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434324" y="1200599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5" h="421005">
                  <a:moveTo>
                    <a:pt x="0" y="0"/>
                  </a:moveTo>
                  <a:lnTo>
                    <a:pt x="425699" y="0"/>
                  </a:lnTo>
                  <a:lnTo>
                    <a:pt x="425699" y="420599"/>
                  </a:lnTo>
                  <a:lnTo>
                    <a:pt x="0" y="420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3503128" y="1251896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L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5114762" y="1168712"/>
            <a:ext cx="435609" cy="430530"/>
            <a:chOff x="5114762" y="1168712"/>
            <a:chExt cx="435609" cy="430530"/>
          </a:xfrm>
        </p:grpSpPr>
        <p:sp>
          <p:nvSpPr>
            <p:cNvPr id="79" name="object 79"/>
            <p:cNvSpPr/>
            <p:nvPr/>
          </p:nvSpPr>
          <p:spPr>
            <a:xfrm>
              <a:off x="5119525" y="1173474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5" h="421005">
                  <a:moveTo>
                    <a:pt x="425699" y="420599"/>
                  </a:moveTo>
                  <a:lnTo>
                    <a:pt x="0" y="4205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4205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119525" y="1173474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5" h="421005">
                  <a:moveTo>
                    <a:pt x="0" y="0"/>
                  </a:moveTo>
                  <a:lnTo>
                    <a:pt x="425699" y="0"/>
                  </a:lnTo>
                  <a:lnTo>
                    <a:pt x="425699" y="420599"/>
                  </a:lnTo>
                  <a:lnTo>
                    <a:pt x="0" y="420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5188327" y="1224770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L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6854312" y="1168712"/>
            <a:ext cx="435609" cy="430530"/>
            <a:chOff x="6854312" y="1168712"/>
            <a:chExt cx="435609" cy="430530"/>
          </a:xfrm>
        </p:grpSpPr>
        <p:sp>
          <p:nvSpPr>
            <p:cNvPr id="83" name="object 83"/>
            <p:cNvSpPr/>
            <p:nvPr/>
          </p:nvSpPr>
          <p:spPr>
            <a:xfrm>
              <a:off x="6859075" y="1173474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4" h="421005">
                  <a:moveTo>
                    <a:pt x="425699" y="420599"/>
                  </a:moveTo>
                  <a:lnTo>
                    <a:pt x="0" y="4205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4205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859075" y="1173474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4" h="421005">
                  <a:moveTo>
                    <a:pt x="0" y="0"/>
                  </a:moveTo>
                  <a:lnTo>
                    <a:pt x="425699" y="0"/>
                  </a:lnTo>
                  <a:lnTo>
                    <a:pt x="425699" y="420599"/>
                  </a:lnTo>
                  <a:lnTo>
                    <a:pt x="0" y="420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6927877" y="1224770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L</a:t>
            </a:r>
            <a:r>
              <a:rPr sz="1800" spc="-37" baseline="-32407" dirty="0">
                <a:latin typeface="Arial MT"/>
                <a:cs typeface="Arial MT"/>
              </a:rPr>
              <a:t>3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8593862" y="1168712"/>
            <a:ext cx="435609" cy="430530"/>
            <a:chOff x="8593862" y="1168712"/>
            <a:chExt cx="435609" cy="430530"/>
          </a:xfrm>
        </p:grpSpPr>
        <p:sp>
          <p:nvSpPr>
            <p:cNvPr id="87" name="object 87"/>
            <p:cNvSpPr/>
            <p:nvPr/>
          </p:nvSpPr>
          <p:spPr>
            <a:xfrm>
              <a:off x="8598624" y="1173474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4" h="421005">
                  <a:moveTo>
                    <a:pt x="425699" y="420599"/>
                  </a:moveTo>
                  <a:lnTo>
                    <a:pt x="0" y="4205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4205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598624" y="1173474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4" h="421005">
                  <a:moveTo>
                    <a:pt x="0" y="0"/>
                  </a:moveTo>
                  <a:lnTo>
                    <a:pt x="425699" y="0"/>
                  </a:lnTo>
                  <a:lnTo>
                    <a:pt x="425699" y="420599"/>
                  </a:lnTo>
                  <a:lnTo>
                    <a:pt x="0" y="420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8663261" y="1224770"/>
            <a:ext cx="296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L</a:t>
            </a:r>
            <a:r>
              <a:rPr sz="1800" spc="-37" baseline="-32407" dirty="0">
                <a:latin typeface="Arial MT"/>
                <a:cs typeface="Arial MT"/>
              </a:rPr>
              <a:t>T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3039123" y="1369909"/>
            <a:ext cx="377190" cy="82550"/>
            <a:chOff x="3039123" y="1369909"/>
            <a:chExt cx="377190" cy="82550"/>
          </a:xfrm>
        </p:grpSpPr>
        <p:sp>
          <p:nvSpPr>
            <p:cNvPr id="91" name="object 91"/>
            <p:cNvSpPr/>
            <p:nvPr/>
          </p:nvSpPr>
          <p:spPr>
            <a:xfrm>
              <a:off x="3039123" y="1410900"/>
              <a:ext cx="281305" cy="0"/>
            </a:xfrm>
            <a:custGeom>
              <a:avLst/>
              <a:gdLst/>
              <a:ahLst/>
              <a:cxnLst/>
              <a:rect l="l" t="t" r="r" b="b"/>
              <a:pathLst>
                <a:path w="281304">
                  <a:moveTo>
                    <a:pt x="0" y="0"/>
                  </a:moveTo>
                  <a:lnTo>
                    <a:pt x="2807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10398" y="1369909"/>
              <a:ext cx="105500" cy="81980"/>
            </a:xfrm>
            <a:prstGeom prst="rect">
              <a:avLst/>
            </a:prstGeom>
          </p:spPr>
        </p:pic>
      </p:grpSp>
      <p:grpSp>
        <p:nvGrpSpPr>
          <p:cNvPr id="93" name="object 93"/>
          <p:cNvGrpSpPr/>
          <p:nvPr/>
        </p:nvGrpSpPr>
        <p:grpSpPr>
          <a:xfrm>
            <a:off x="4734473" y="1342784"/>
            <a:ext cx="367030" cy="82550"/>
            <a:chOff x="4734473" y="1342784"/>
            <a:chExt cx="367030" cy="82550"/>
          </a:xfrm>
        </p:grpSpPr>
        <p:sp>
          <p:nvSpPr>
            <p:cNvPr id="94" name="object 94"/>
            <p:cNvSpPr/>
            <p:nvPr/>
          </p:nvSpPr>
          <p:spPr>
            <a:xfrm>
              <a:off x="4734473" y="1383775"/>
              <a:ext cx="271145" cy="0"/>
            </a:xfrm>
            <a:custGeom>
              <a:avLst/>
              <a:gdLst/>
              <a:ahLst/>
              <a:cxnLst/>
              <a:rect l="l" t="t" r="r" b="b"/>
              <a:pathLst>
                <a:path w="271145">
                  <a:moveTo>
                    <a:pt x="0" y="0"/>
                  </a:moveTo>
                  <a:lnTo>
                    <a:pt x="2708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5848" y="1342784"/>
              <a:ext cx="105500" cy="81980"/>
            </a:xfrm>
            <a:prstGeom prst="rect">
              <a:avLst/>
            </a:prstGeom>
          </p:spPr>
        </p:pic>
      </p:grpSp>
      <p:grpSp>
        <p:nvGrpSpPr>
          <p:cNvPr id="96" name="object 96"/>
          <p:cNvGrpSpPr/>
          <p:nvPr/>
        </p:nvGrpSpPr>
        <p:grpSpPr>
          <a:xfrm>
            <a:off x="6414998" y="1342784"/>
            <a:ext cx="426084" cy="82550"/>
            <a:chOff x="6414998" y="1342784"/>
            <a:chExt cx="426084" cy="82550"/>
          </a:xfrm>
        </p:grpSpPr>
        <p:sp>
          <p:nvSpPr>
            <p:cNvPr id="97" name="object 97"/>
            <p:cNvSpPr/>
            <p:nvPr/>
          </p:nvSpPr>
          <p:spPr>
            <a:xfrm>
              <a:off x="6414998" y="1383775"/>
              <a:ext cx="330200" cy="0"/>
            </a:xfrm>
            <a:custGeom>
              <a:avLst/>
              <a:gdLst/>
              <a:ahLst/>
              <a:cxnLst/>
              <a:rect l="l" t="t" r="r" b="b"/>
              <a:pathLst>
                <a:path w="330200">
                  <a:moveTo>
                    <a:pt x="0" y="0"/>
                  </a:moveTo>
                  <a:lnTo>
                    <a:pt x="32970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9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35174" y="1342784"/>
              <a:ext cx="105500" cy="81980"/>
            </a:xfrm>
            <a:prstGeom prst="rect">
              <a:avLst/>
            </a:prstGeom>
          </p:spPr>
        </p:pic>
      </p:grpSp>
      <p:grpSp>
        <p:nvGrpSpPr>
          <p:cNvPr id="99" name="object 99"/>
          <p:cNvGrpSpPr/>
          <p:nvPr/>
        </p:nvGrpSpPr>
        <p:grpSpPr>
          <a:xfrm>
            <a:off x="8154549" y="1342784"/>
            <a:ext cx="426084" cy="82550"/>
            <a:chOff x="8154549" y="1342784"/>
            <a:chExt cx="426084" cy="82550"/>
          </a:xfrm>
        </p:grpSpPr>
        <p:sp>
          <p:nvSpPr>
            <p:cNvPr id="100" name="object 100"/>
            <p:cNvSpPr/>
            <p:nvPr/>
          </p:nvSpPr>
          <p:spPr>
            <a:xfrm>
              <a:off x="8154549" y="1383775"/>
              <a:ext cx="330200" cy="0"/>
            </a:xfrm>
            <a:custGeom>
              <a:avLst/>
              <a:gdLst/>
              <a:ahLst/>
              <a:cxnLst/>
              <a:rect l="l" t="t" r="r" b="b"/>
              <a:pathLst>
                <a:path w="330200">
                  <a:moveTo>
                    <a:pt x="0" y="0"/>
                  </a:moveTo>
                  <a:lnTo>
                    <a:pt x="329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474724" y="1342784"/>
              <a:ext cx="105500" cy="819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532" y="51387"/>
            <a:ext cx="8245554" cy="448952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01703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0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225" y="4807709"/>
            <a:ext cx="352552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sz="1800" spc="-10" dirty="0">
                <a:solidFill>
                  <a:srgbClr val="FFFFFF"/>
                </a:solidFill>
                <a:latin typeface="Arial MT"/>
                <a:cs typeface="Arial MT"/>
              </a:rPr>
              <a:t>Master class 2026</a:t>
            </a:r>
            <a:endParaRPr lang="en-US" sz="1800" dirty="0">
              <a:latin typeface="Arial MT"/>
              <a:cs typeface="Arial MT"/>
            </a:endParaRPr>
          </a:p>
          <a:p>
            <a:pPr marL="12700">
              <a:lnSpc>
                <a:spcPts val="2090"/>
              </a:lnSpc>
            </a:pPr>
            <a:endParaRPr sz="18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1320" y="3626022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W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2950" y="277443"/>
            <a:ext cx="67995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90" dirty="0"/>
              <a:t> </a:t>
            </a:r>
            <a:r>
              <a:rPr sz="2800" spc="-10" dirty="0"/>
              <a:t>Computational</a:t>
            </a:r>
            <a:r>
              <a:rPr sz="2800" spc="-85" dirty="0"/>
              <a:t> </a:t>
            </a:r>
            <a:r>
              <a:rPr sz="2800" dirty="0"/>
              <a:t>Graph:</a:t>
            </a:r>
            <a:r>
              <a:rPr sz="2800" spc="-85" dirty="0"/>
              <a:t> </a:t>
            </a:r>
            <a:r>
              <a:rPr sz="2800" dirty="0"/>
              <a:t>Many</a:t>
            </a:r>
            <a:r>
              <a:rPr sz="2800" spc="-85" dirty="0"/>
              <a:t> </a:t>
            </a:r>
            <a:r>
              <a:rPr sz="2800" dirty="0"/>
              <a:t>to</a:t>
            </a:r>
            <a:r>
              <a:rPr sz="2800" spc="-85" dirty="0"/>
              <a:t> </a:t>
            </a:r>
            <a:r>
              <a:rPr sz="2800" spc="-20" dirty="0"/>
              <a:t>Many</a:t>
            </a:r>
            <a:endParaRPr sz="2800"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55139" y="1259125"/>
          <a:ext cx="7199629" cy="2576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4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94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0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24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2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334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065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1800" spc="-37" baseline="-32407" dirty="0">
                          <a:latin typeface="Arial MT"/>
                          <a:cs typeface="Arial MT"/>
                        </a:rPr>
                        <a:t>1</a:t>
                      </a:r>
                      <a:endParaRPr sz="1800" baseline="-32407">
                        <a:latin typeface="Arial MT"/>
                        <a:cs typeface="Arial MT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L</a:t>
                      </a:r>
                      <a:r>
                        <a:rPr sz="1800" spc="-37" baseline="-32407" dirty="0">
                          <a:latin typeface="Arial MT"/>
                          <a:cs typeface="Arial MT"/>
                        </a:rPr>
                        <a:t>1</a:t>
                      </a:r>
                      <a:endParaRPr sz="1800" baseline="-32407">
                        <a:latin typeface="Arial MT"/>
                        <a:cs typeface="Arial MT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R="258445" algn="r">
                        <a:lnSpc>
                          <a:spcPts val="1989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1800" spc="-37" baseline="-32407" dirty="0">
                          <a:latin typeface="Arial MT"/>
                          <a:cs typeface="Arial MT"/>
                        </a:rPr>
                        <a:t>2</a:t>
                      </a:r>
                      <a:endParaRPr sz="1800" baseline="-32407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1989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L</a:t>
                      </a:r>
                      <a:r>
                        <a:rPr sz="1800" spc="-37" baseline="-32407" dirty="0">
                          <a:latin typeface="Arial MT"/>
                          <a:cs typeface="Arial MT"/>
                        </a:rPr>
                        <a:t>2</a:t>
                      </a:r>
                      <a:endParaRPr sz="1800" baseline="-32407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9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1800" spc="-37" baseline="-32407" dirty="0">
                          <a:latin typeface="Arial MT"/>
                          <a:cs typeface="Arial MT"/>
                        </a:rPr>
                        <a:t>3</a:t>
                      </a:r>
                      <a:endParaRPr sz="1800" baseline="-32407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989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L</a:t>
                      </a:r>
                      <a:r>
                        <a:rPr sz="1800" spc="-37" baseline="-32407" dirty="0">
                          <a:latin typeface="Arial MT"/>
                          <a:cs typeface="Arial MT"/>
                        </a:rPr>
                        <a:t>3</a:t>
                      </a:r>
                      <a:endParaRPr sz="1800" baseline="-32407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989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1800" spc="-37" baseline="-32407" dirty="0">
                          <a:latin typeface="Arial MT"/>
                          <a:cs typeface="Arial MT"/>
                        </a:rPr>
                        <a:t>T</a:t>
                      </a:r>
                      <a:endParaRPr sz="1800" baseline="-32407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4485">
                        <a:lnSpc>
                          <a:spcPts val="1989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L</a:t>
                      </a:r>
                      <a:r>
                        <a:rPr sz="1800" spc="-37" baseline="-32407" dirty="0">
                          <a:latin typeface="Arial MT"/>
                          <a:cs typeface="Arial MT"/>
                        </a:rPr>
                        <a:t>T</a:t>
                      </a:r>
                      <a:endParaRPr sz="1800" baseline="-32407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2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f</a:t>
                      </a:r>
                      <a:r>
                        <a:rPr sz="2400" spc="-37" baseline="-31250" dirty="0">
                          <a:latin typeface="Arial MT"/>
                          <a:cs typeface="Arial MT"/>
                        </a:rPr>
                        <a:t>W</a:t>
                      </a:r>
                      <a:endParaRPr sz="2400" baseline="-312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11760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37" baseline="-32407" dirty="0">
                          <a:latin typeface="Arial MT"/>
                          <a:cs typeface="Arial MT"/>
                        </a:rPr>
                        <a:t>1</a:t>
                      </a:r>
                      <a:endParaRPr sz="1800" baseline="-32407">
                        <a:latin typeface="Arial MT"/>
                        <a:cs typeface="Arial MT"/>
                      </a:endParaRPr>
                    </a:p>
                  </a:txBody>
                  <a:tcPr marL="0" marR="0" marT="1187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259715" algn="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h</a:t>
                      </a:r>
                      <a:r>
                        <a:rPr sz="1800" spc="-37" baseline="-32407" dirty="0">
                          <a:latin typeface="Arial MT"/>
                          <a:cs typeface="Arial MT"/>
                        </a:rPr>
                        <a:t>1</a:t>
                      </a:r>
                      <a:endParaRPr sz="1800" baseline="-32407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67335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f</a:t>
                      </a:r>
                      <a:r>
                        <a:rPr sz="2400" spc="-37" baseline="-31250" dirty="0">
                          <a:latin typeface="Arial MT"/>
                          <a:cs typeface="Arial MT"/>
                        </a:rPr>
                        <a:t>W</a:t>
                      </a:r>
                      <a:endParaRPr sz="2400" baseline="-312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47345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37" baseline="-32407" dirty="0">
                          <a:latin typeface="Arial MT"/>
                          <a:cs typeface="Arial MT"/>
                        </a:rPr>
                        <a:t>2</a:t>
                      </a:r>
                      <a:endParaRPr sz="1800" baseline="-32407">
                        <a:latin typeface="Arial MT"/>
                        <a:cs typeface="Arial MT"/>
                      </a:endParaRPr>
                    </a:p>
                  </a:txBody>
                  <a:tcPr marL="0" marR="0" marT="1187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252095" algn="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h</a:t>
                      </a:r>
                      <a:r>
                        <a:rPr sz="1800" spc="-37" baseline="-32407" dirty="0">
                          <a:latin typeface="Arial MT"/>
                          <a:cs typeface="Arial MT"/>
                        </a:rPr>
                        <a:t>2</a:t>
                      </a:r>
                      <a:endParaRPr sz="1800" baseline="-32407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59715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f</a:t>
                      </a:r>
                      <a:r>
                        <a:rPr sz="2400" spc="-37" baseline="-31250" dirty="0">
                          <a:latin typeface="Arial MT"/>
                          <a:cs typeface="Arial MT"/>
                        </a:rPr>
                        <a:t>W</a:t>
                      </a:r>
                      <a:endParaRPr sz="2400" baseline="-312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40360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37" baseline="-32407" dirty="0">
                          <a:latin typeface="Arial MT"/>
                          <a:cs typeface="Arial MT"/>
                        </a:rPr>
                        <a:t>3</a:t>
                      </a:r>
                      <a:endParaRPr sz="1800" baseline="-32407">
                        <a:latin typeface="Arial MT"/>
                        <a:cs typeface="Arial MT"/>
                      </a:endParaRPr>
                    </a:p>
                  </a:txBody>
                  <a:tcPr marL="0" marR="0" marT="1187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h</a:t>
                      </a:r>
                      <a:r>
                        <a:rPr sz="1800" spc="-37" baseline="-32407" dirty="0">
                          <a:latin typeface="Arial MT"/>
                          <a:cs typeface="Arial MT"/>
                        </a:rPr>
                        <a:t>3</a:t>
                      </a:r>
                      <a:endParaRPr sz="1800" baseline="-32407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4800" spc="-50" dirty="0">
                          <a:latin typeface="Arial MT"/>
                          <a:cs typeface="Arial MT"/>
                        </a:rPr>
                        <a:t>…</a:t>
                      </a:r>
                      <a:endParaRPr sz="4800">
                        <a:latin typeface="Arial MT"/>
                        <a:cs typeface="Arial MT"/>
                      </a:endParaRPr>
                    </a:p>
                  </a:txBody>
                  <a:tcPr marL="0" marR="0" marT="1479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h</a:t>
                      </a:r>
                      <a:r>
                        <a:rPr sz="1800" spc="-37" baseline="-32407" dirty="0">
                          <a:latin typeface="Arial MT"/>
                          <a:cs typeface="Arial MT"/>
                        </a:rPr>
                        <a:t>T</a:t>
                      </a:r>
                      <a:endParaRPr sz="1800" baseline="-32407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8432717" y="176427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L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2987" y="2146712"/>
            <a:ext cx="405765" cy="788035"/>
            <a:chOff x="942987" y="2146712"/>
            <a:chExt cx="405765" cy="788035"/>
          </a:xfrm>
        </p:grpSpPr>
        <p:sp>
          <p:nvSpPr>
            <p:cNvPr id="3" name="object 3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01703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0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1163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23513" y="2146712"/>
            <a:ext cx="405765" cy="788035"/>
            <a:chOff x="2623513" y="2146712"/>
            <a:chExt cx="405765" cy="788035"/>
          </a:xfrm>
        </p:grpSpPr>
        <p:sp>
          <p:nvSpPr>
            <p:cNvPr id="8" name="object 8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82228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43749" y="2499584"/>
            <a:ext cx="1266190" cy="756285"/>
            <a:chOff x="1343749" y="2499584"/>
            <a:chExt cx="1266190" cy="756285"/>
          </a:xfrm>
        </p:grpSpPr>
        <p:sp>
          <p:nvSpPr>
            <p:cNvPr id="12" name="object 12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38168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04010" y="2146712"/>
            <a:ext cx="435609" cy="788035"/>
            <a:chOff x="4304010" y="2146712"/>
            <a:chExt cx="435609" cy="788035"/>
          </a:xfrm>
        </p:grpSpPr>
        <p:sp>
          <p:nvSpPr>
            <p:cNvPr id="19" name="object 19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377576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024276" y="2499584"/>
            <a:ext cx="1266190" cy="756285"/>
            <a:chOff x="3024276" y="2499584"/>
            <a:chExt cx="1266190" cy="75628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647188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6197" y="2814224"/>
              <a:ext cx="81981" cy="1055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06220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89298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3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29551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3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734473" y="2499584"/>
            <a:ext cx="634365" cy="756285"/>
            <a:chOff x="4734473" y="2499584"/>
            <a:chExt cx="634365" cy="756285"/>
          </a:xfrm>
        </p:grpSpPr>
        <p:sp>
          <p:nvSpPr>
            <p:cNvPr id="32" name="object 32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4473" y="2499584"/>
              <a:ext cx="309275" cy="81980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5593201" y="2499654"/>
            <a:ext cx="377825" cy="82550"/>
            <a:chOff x="5593201" y="2499654"/>
            <a:chExt cx="377825" cy="82550"/>
          </a:xfrm>
        </p:grpSpPr>
        <p:sp>
          <p:nvSpPr>
            <p:cNvPr id="36" name="object 36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7728849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10"/>
              </a:spcBef>
            </a:pPr>
            <a:r>
              <a:rPr sz="1800" spc="-50" dirty="0">
                <a:latin typeface="Arial MT"/>
                <a:cs typeface="Arial MT"/>
              </a:rPr>
              <a:t>y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9" name="object 3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14998" y="2499584"/>
            <a:ext cx="293076" cy="81980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7900708" y="1791199"/>
            <a:ext cx="82550" cy="360680"/>
            <a:chOff x="7900708" y="1791199"/>
            <a:chExt cx="82550" cy="360680"/>
          </a:xfrm>
        </p:grpSpPr>
        <p:sp>
          <p:nvSpPr>
            <p:cNvPr id="41" name="object 41"/>
            <p:cNvSpPr/>
            <p:nvPr/>
          </p:nvSpPr>
          <p:spPr>
            <a:xfrm>
              <a:off x="7941699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00708" y="1791199"/>
              <a:ext cx="81981" cy="105500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6761100" y="2128566"/>
            <a:ext cx="63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Arial MT"/>
                <a:cs typeface="Arial MT"/>
              </a:rPr>
              <a:t>…</a:t>
            </a:r>
            <a:endParaRPr sz="48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449037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768525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83532" y="3573882"/>
            <a:ext cx="541020" cy="520065"/>
            <a:chOff x="783532" y="3573882"/>
            <a:chExt cx="541020" cy="520065"/>
          </a:xfrm>
        </p:grpSpPr>
        <p:sp>
          <p:nvSpPr>
            <p:cNvPr id="47" name="object 47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861320" y="3626022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W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044269" y="2795620"/>
            <a:ext cx="6106795" cy="1745614"/>
            <a:chOff x="1044269" y="2795620"/>
            <a:chExt cx="6106795" cy="1745614"/>
          </a:xfrm>
        </p:grpSpPr>
        <p:sp>
          <p:nvSpPr>
            <p:cNvPr id="51" name="object 51"/>
            <p:cNvSpPr/>
            <p:nvPr/>
          </p:nvSpPr>
          <p:spPr>
            <a:xfrm>
              <a:off x="1053794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053794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053794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053794" y="3115147"/>
              <a:ext cx="6056630" cy="1416685"/>
            </a:xfrm>
            <a:custGeom>
              <a:avLst/>
              <a:gdLst/>
              <a:ahLst/>
              <a:cxnLst/>
              <a:rect l="l" t="t" r="r" b="b"/>
              <a:pathLst>
                <a:path w="6056630" h="1416685">
                  <a:moveTo>
                    <a:pt x="0" y="973797"/>
                  </a:moveTo>
                  <a:lnTo>
                    <a:pt x="16881" y="1013172"/>
                  </a:lnTo>
                  <a:lnTo>
                    <a:pt x="50886" y="1044214"/>
                  </a:lnTo>
                  <a:lnTo>
                    <a:pt x="83224" y="1065427"/>
                  </a:lnTo>
                  <a:lnTo>
                    <a:pt x="122986" y="1086930"/>
                  </a:lnTo>
                  <a:lnTo>
                    <a:pt x="169906" y="1108615"/>
                  </a:lnTo>
                  <a:lnTo>
                    <a:pt x="223721" y="1130376"/>
                  </a:lnTo>
                  <a:lnTo>
                    <a:pt x="284164" y="1152104"/>
                  </a:lnTo>
                  <a:lnTo>
                    <a:pt x="350972" y="1173693"/>
                  </a:lnTo>
                  <a:lnTo>
                    <a:pt x="423877" y="1195036"/>
                  </a:lnTo>
                  <a:lnTo>
                    <a:pt x="462534" y="1205581"/>
                  </a:lnTo>
                  <a:lnTo>
                    <a:pt x="502616" y="1216025"/>
                  </a:lnTo>
                  <a:lnTo>
                    <a:pt x="544090" y="1226353"/>
                  </a:lnTo>
                  <a:lnTo>
                    <a:pt x="586923" y="1236553"/>
                  </a:lnTo>
                  <a:lnTo>
                    <a:pt x="631082" y="1246610"/>
                  </a:lnTo>
                  <a:lnTo>
                    <a:pt x="676533" y="1256512"/>
                  </a:lnTo>
                  <a:lnTo>
                    <a:pt x="723244" y="1266246"/>
                  </a:lnTo>
                  <a:lnTo>
                    <a:pt x="771181" y="1275797"/>
                  </a:lnTo>
                  <a:lnTo>
                    <a:pt x="820312" y="1285152"/>
                  </a:lnTo>
                  <a:lnTo>
                    <a:pt x="870602" y="1294299"/>
                  </a:lnTo>
                  <a:lnTo>
                    <a:pt x="922019" y="1303222"/>
                  </a:lnTo>
                  <a:lnTo>
                    <a:pt x="974530" y="1311910"/>
                  </a:lnTo>
                  <a:lnTo>
                    <a:pt x="1028102" y="1320349"/>
                  </a:lnTo>
                  <a:lnTo>
                    <a:pt x="1082701" y="1328525"/>
                  </a:lnTo>
                  <a:lnTo>
                    <a:pt x="1138294" y="1336425"/>
                  </a:lnTo>
                  <a:lnTo>
                    <a:pt x="1194849" y="1344035"/>
                  </a:lnTo>
                  <a:lnTo>
                    <a:pt x="1252332" y="1351343"/>
                  </a:lnTo>
                  <a:lnTo>
                    <a:pt x="1310709" y="1358334"/>
                  </a:lnTo>
                  <a:lnTo>
                    <a:pt x="1369948" y="1364996"/>
                  </a:lnTo>
                  <a:lnTo>
                    <a:pt x="1430016" y="1371314"/>
                  </a:lnTo>
                  <a:lnTo>
                    <a:pt x="1490879" y="1377276"/>
                  </a:lnTo>
                  <a:lnTo>
                    <a:pt x="1552505" y="1382868"/>
                  </a:lnTo>
                  <a:lnTo>
                    <a:pt x="1614860" y="1388077"/>
                  </a:lnTo>
                  <a:lnTo>
                    <a:pt x="1677911" y="1392889"/>
                  </a:lnTo>
                  <a:lnTo>
                    <a:pt x="1741624" y="1397291"/>
                  </a:lnTo>
                  <a:lnTo>
                    <a:pt x="1805968" y="1401269"/>
                  </a:lnTo>
                  <a:lnTo>
                    <a:pt x="1870908" y="1404811"/>
                  </a:lnTo>
                  <a:lnTo>
                    <a:pt x="1936411" y="1407902"/>
                  </a:lnTo>
                  <a:lnTo>
                    <a:pt x="2002445" y="1410529"/>
                  </a:lnTo>
                  <a:lnTo>
                    <a:pt x="2068976" y="1412679"/>
                  </a:lnTo>
                  <a:lnTo>
                    <a:pt x="2135971" y="1414339"/>
                  </a:lnTo>
                  <a:lnTo>
                    <a:pt x="2203396" y="1415495"/>
                  </a:lnTo>
                  <a:lnTo>
                    <a:pt x="2271220" y="1416133"/>
                  </a:lnTo>
                  <a:lnTo>
                    <a:pt x="2339408" y="1416241"/>
                  </a:lnTo>
                  <a:lnTo>
                    <a:pt x="2407928" y="1415804"/>
                  </a:lnTo>
                  <a:lnTo>
                    <a:pt x="2476745" y="1414810"/>
                  </a:lnTo>
                  <a:lnTo>
                    <a:pt x="2545828" y="1413245"/>
                  </a:lnTo>
                  <a:lnTo>
                    <a:pt x="2615143" y="1411095"/>
                  </a:lnTo>
                  <a:lnTo>
                    <a:pt x="2684657" y="1408348"/>
                  </a:lnTo>
                  <a:lnTo>
                    <a:pt x="2754337" y="1404990"/>
                  </a:lnTo>
                  <a:lnTo>
                    <a:pt x="2824149" y="1401007"/>
                  </a:lnTo>
                  <a:lnTo>
                    <a:pt x="2894061" y="1396386"/>
                  </a:lnTo>
                  <a:lnTo>
                    <a:pt x="2964038" y="1391113"/>
                  </a:lnTo>
                  <a:lnTo>
                    <a:pt x="3034049" y="1385176"/>
                  </a:lnTo>
                  <a:lnTo>
                    <a:pt x="3086967" y="1380241"/>
                  </a:lnTo>
                  <a:lnTo>
                    <a:pt x="3139869" y="1374922"/>
                  </a:lnTo>
                  <a:lnTo>
                    <a:pt x="3192744" y="1369221"/>
                  </a:lnTo>
                  <a:lnTo>
                    <a:pt x="3245575" y="1363143"/>
                  </a:lnTo>
                  <a:lnTo>
                    <a:pt x="3298349" y="1356691"/>
                  </a:lnTo>
                  <a:lnTo>
                    <a:pt x="3351051" y="1349867"/>
                  </a:lnTo>
                  <a:lnTo>
                    <a:pt x="3403668" y="1342675"/>
                  </a:lnTo>
                  <a:lnTo>
                    <a:pt x="3456184" y="1335118"/>
                  </a:lnTo>
                  <a:lnTo>
                    <a:pt x="3508586" y="1327199"/>
                  </a:lnTo>
                  <a:lnTo>
                    <a:pt x="3560859" y="1318922"/>
                  </a:lnTo>
                  <a:lnTo>
                    <a:pt x="3612989" y="1310290"/>
                  </a:lnTo>
                  <a:lnTo>
                    <a:pt x="3664962" y="1301306"/>
                  </a:lnTo>
                  <a:lnTo>
                    <a:pt x="3716763" y="1291973"/>
                  </a:lnTo>
                  <a:lnTo>
                    <a:pt x="3768378" y="1282294"/>
                  </a:lnTo>
                  <a:lnTo>
                    <a:pt x="3819792" y="1272274"/>
                  </a:lnTo>
                  <a:lnTo>
                    <a:pt x="3870992" y="1261914"/>
                  </a:lnTo>
                  <a:lnTo>
                    <a:pt x="3921963" y="1251218"/>
                  </a:lnTo>
                  <a:lnTo>
                    <a:pt x="3972690" y="1240190"/>
                  </a:lnTo>
                  <a:lnTo>
                    <a:pt x="4023161" y="1228832"/>
                  </a:lnTo>
                  <a:lnTo>
                    <a:pt x="4073359" y="1217148"/>
                  </a:lnTo>
                  <a:lnTo>
                    <a:pt x="4123271" y="1205141"/>
                  </a:lnTo>
                  <a:lnTo>
                    <a:pt x="4172882" y="1192815"/>
                  </a:lnTo>
                  <a:lnTo>
                    <a:pt x="4222179" y="1180171"/>
                  </a:lnTo>
                  <a:lnTo>
                    <a:pt x="4271146" y="1167215"/>
                  </a:lnTo>
                  <a:lnTo>
                    <a:pt x="4319770" y="1153948"/>
                  </a:lnTo>
                  <a:lnTo>
                    <a:pt x="4368036" y="1140375"/>
                  </a:lnTo>
                  <a:lnTo>
                    <a:pt x="4415931" y="1126498"/>
                  </a:lnTo>
                  <a:lnTo>
                    <a:pt x="4463438" y="1112320"/>
                  </a:lnTo>
                  <a:lnTo>
                    <a:pt x="4510545" y="1097846"/>
                  </a:lnTo>
                  <a:lnTo>
                    <a:pt x="4557238" y="1083077"/>
                  </a:lnTo>
                  <a:lnTo>
                    <a:pt x="4603500" y="1068018"/>
                  </a:lnTo>
                  <a:lnTo>
                    <a:pt x="4649320" y="1052671"/>
                  </a:lnTo>
                  <a:lnTo>
                    <a:pt x="4694681" y="1037040"/>
                  </a:lnTo>
                  <a:lnTo>
                    <a:pt x="4739570" y="1021127"/>
                  </a:lnTo>
                  <a:lnTo>
                    <a:pt x="4783972" y="1004937"/>
                  </a:lnTo>
                  <a:lnTo>
                    <a:pt x="4827874" y="988472"/>
                  </a:lnTo>
                  <a:lnTo>
                    <a:pt x="4871260" y="971736"/>
                  </a:lnTo>
                  <a:lnTo>
                    <a:pt x="4914117" y="954732"/>
                  </a:lnTo>
                  <a:lnTo>
                    <a:pt x="4956431" y="937462"/>
                  </a:lnTo>
                  <a:lnTo>
                    <a:pt x="4998186" y="919931"/>
                  </a:lnTo>
                  <a:lnTo>
                    <a:pt x="5039368" y="902142"/>
                  </a:lnTo>
                  <a:lnTo>
                    <a:pt x="5079964" y="884097"/>
                  </a:lnTo>
                  <a:lnTo>
                    <a:pt x="5119959" y="865800"/>
                  </a:lnTo>
                  <a:lnTo>
                    <a:pt x="5172731" y="840822"/>
                  </a:lnTo>
                  <a:lnTo>
                    <a:pt x="5224357" y="815403"/>
                  </a:lnTo>
                  <a:lnTo>
                    <a:pt x="5274802" y="789550"/>
                  </a:lnTo>
                  <a:lnTo>
                    <a:pt x="5324032" y="763271"/>
                  </a:lnTo>
                  <a:lnTo>
                    <a:pt x="5372012" y="736574"/>
                  </a:lnTo>
                  <a:lnTo>
                    <a:pt x="5418707" y="709466"/>
                  </a:lnTo>
                  <a:lnTo>
                    <a:pt x="5464083" y="681957"/>
                  </a:lnTo>
                  <a:lnTo>
                    <a:pt x="5508104" y="654052"/>
                  </a:lnTo>
                  <a:lnTo>
                    <a:pt x="5550737" y="625761"/>
                  </a:lnTo>
                  <a:lnTo>
                    <a:pt x="5591946" y="597091"/>
                  </a:lnTo>
                  <a:lnTo>
                    <a:pt x="5631697" y="568050"/>
                  </a:lnTo>
                  <a:lnTo>
                    <a:pt x="5669955" y="538645"/>
                  </a:lnTo>
                  <a:lnTo>
                    <a:pt x="5706685" y="508885"/>
                  </a:lnTo>
                  <a:lnTo>
                    <a:pt x="5741852" y="478778"/>
                  </a:lnTo>
                  <a:lnTo>
                    <a:pt x="5775422" y="448330"/>
                  </a:lnTo>
                  <a:lnTo>
                    <a:pt x="5807361" y="417550"/>
                  </a:lnTo>
                  <a:lnTo>
                    <a:pt x="5847347" y="376008"/>
                  </a:lnTo>
                  <a:lnTo>
                    <a:pt x="5884288" y="333907"/>
                  </a:lnTo>
                  <a:lnTo>
                    <a:pt x="5918101" y="291267"/>
                  </a:lnTo>
                  <a:lnTo>
                    <a:pt x="5948704" y="248107"/>
                  </a:lnTo>
                  <a:lnTo>
                    <a:pt x="5976015" y="204444"/>
                  </a:lnTo>
                  <a:lnTo>
                    <a:pt x="5999952" y="160297"/>
                  </a:lnTo>
                  <a:lnTo>
                    <a:pt x="6029350" y="93211"/>
                  </a:lnTo>
                  <a:lnTo>
                    <a:pt x="6050693" y="25140"/>
                  </a:lnTo>
                  <a:lnTo>
                    <a:pt x="6054737" y="7976"/>
                  </a:lnTo>
                  <a:lnTo>
                    <a:pt x="60564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9399" y="3019623"/>
              <a:ext cx="81651" cy="108261"/>
            </a:xfrm>
            <a:prstGeom prst="rect">
              <a:avLst/>
            </a:prstGeom>
          </p:spPr>
        </p:pic>
      </p:grpSp>
      <p:sp>
        <p:nvSpPr>
          <p:cNvPr id="59" name="object 5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90" dirty="0"/>
              <a:t> </a:t>
            </a:r>
            <a:r>
              <a:rPr sz="2800" spc="-10" dirty="0"/>
              <a:t>Computational</a:t>
            </a:r>
            <a:r>
              <a:rPr sz="2800" spc="-85" dirty="0"/>
              <a:t> </a:t>
            </a:r>
            <a:r>
              <a:rPr sz="2800" dirty="0"/>
              <a:t>Graph:</a:t>
            </a:r>
            <a:r>
              <a:rPr sz="2800" spc="-85" dirty="0"/>
              <a:t> </a:t>
            </a:r>
            <a:r>
              <a:rPr sz="2800" dirty="0"/>
              <a:t>Many</a:t>
            </a:r>
            <a:r>
              <a:rPr sz="2800" spc="-85" dirty="0"/>
              <a:t> </a:t>
            </a:r>
            <a:r>
              <a:rPr sz="2800" dirty="0"/>
              <a:t>to</a:t>
            </a:r>
            <a:r>
              <a:rPr sz="2800" spc="-85" dirty="0"/>
              <a:t> </a:t>
            </a:r>
            <a:r>
              <a:rPr sz="2800" spc="-25" dirty="0"/>
              <a:t>One</a:t>
            </a:r>
            <a:endParaRPr sz="2800"/>
          </a:p>
        </p:txBody>
      </p:sp>
      <p:sp>
        <p:nvSpPr>
          <p:cNvPr id="60" name="object 60"/>
          <p:cNvSpPr txBox="1"/>
          <p:nvPr/>
        </p:nvSpPr>
        <p:spPr>
          <a:xfrm>
            <a:off x="7728849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T</a:t>
            </a:r>
            <a:endParaRPr sz="1800" baseline="-32407">
              <a:latin typeface="Arial MT"/>
              <a:cs typeface="Arial MT"/>
            </a:endParaRPr>
          </a:p>
        </p:txBody>
      </p:sp>
      <p:pic>
        <p:nvPicPr>
          <p:cNvPr id="61" name="object 6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32999" y="2499584"/>
            <a:ext cx="293075" cy="81980"/>
          </a:xfrm>
          <a:prstGeom prst="rect">
            <a:avLst/>
          </a:prstGeom>
        </p:spPr>
      </p:pic>
      <p:sp>
        <p:nvSpPr>
          <p:cNvPr id="65" name="object 65"/>
          <p:cNvSpPr txBox="1"/>
          <p:nvPr/>
        </p:nvSpPr>
        <p:spPr>
          <a:xfrm>
            <a:off x="145225" y="4807709"/>
            <a:ext cx="352552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sz="1800" spc="-10" dirty="0">
                <a:solidFill>
                  <a:srgbClr val="FFFFFF"/>
                </a:solidFill>
                <a:latin typeface="Arial MT"/>
                <a:cs typeface="Arial MT"/>
              </a:rPr>
              <a:t>Master class 2026</a:t>
            </a:r>
            <a:endParaRPr lang="en-US" sz="1800" dirty="0">
              <a:latin typeface="Arial MT"/>
              <a:cs typeface="Arial MT"/>
            </a:endParaRPr>
          </a:p>
          <a:p>
            <a:pPr marL="12700">
              <a:lnSpc>
                <a:spcPts val="2090"/>
              </a:lnSpc>
            </a:pP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2987" y="2146712"/>
            <a:ext cx="405765" cy="788035"/>
            <a:chOff x="942987" y="2146712"/>
            <a:chExt cx="405765" cy="788035"/>
          </a:xfrm>
        </p:grpSpPr>
        <p:sp>
          <p:nvSpPr>
            <p:cNvPr id="3" name="object 3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01703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0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1163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23513" y="2146712"/>
            <a:ext cx="405765" cy="788035"/>
            <a:chOff x="2623513" y="2146712"/>
            <a:chExt cx="405765" cy="788035"/>
          </a:xfrm>
        </p:grpSpPr>
        <p:sp>
          <p:nvSpPr>
            <p:cNvPr id="8" name="object 8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82228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43749" y="2499584"/>
            <a:ext cx="1266190" cy="756285"/>
            <a:chOff x="1343749" y="2499584"/>
            <a:chExt cx="1266190" cy="756285"/>
          </a:xfrm>
        </p:grpSpPr>
        <p:sp>
          <p:nvSpPr>
            <p:cNvPr id="12" name="object 12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38168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04010" y="2146712"/>
            <a:ext cx="435609" cy="788035"/>
            <a:chOff x="4304010" y="2146712"/>
            <a:chExt cx="435609" cy="788035"/>
          </a:xfrm>
        </p:grpSpPr>
        <p:sp>
          <p:nvSpPr>
            <p:cNvPr id="19" name="object 19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377576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024276" y="2499584"/>
            <a:ext cx="1266190" cy="756285"/>
            <a:chOff x="3024276" y="2499584"/>
            <a:chExt cx="1266190" cy="75628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647188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6197" y="2814224"/>
              <a:ext cx="81981" cy="1055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06220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89298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3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29551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3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593201" y="2499654"/>
            <a:ext cx="377825" cy="82550"/>
            <a:chOff x="5593201" y="2499654"/>
            <a:chExt cx="377825" cy="82550"/>
          </a:xfrm>
        </p:grpSpPr>
        <p:sp>
          <p:nvSpPr>
            <p:cNvPr id="32" name="object 32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7728849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10"/>
              </a:spcBef>
            </a:pPr>
            <a:r>
              <a:rPr sz="1800" spc="-50" dirty="0">
                <a:latin typeface="Arial MT"/>
                <a:cs typeface="Arial MT"/>
              </a:rPr>
              <a:t>y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14998" y="2499584"/>
            <a:ext cx="293076" cy="81980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4734473" y="1791199"/>
            <a:ext cx="3248660" cy="1464945"/>
            <a:chOff x="4734473" y="1791199"/>
            <a:chExt cx="3248660" cy="1464945"/>
          </a:xfrm>
        </p:grpSpPr>
        <p:sp>
          <p:nvSpPr>
            <p:cNvPr id="37" name="object 37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34473" y="2499584"/>
              <a:ext cx="309275" cy="8198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941699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00708" y="1791199"/>
              <a:ext cx="81981" cy="10550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6761100" y="2128566"/>
            <a:ext cx="63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Arial MT"/>
                <a:cs typeface="Arial MT"/>
              </a:rPr>
              <a:t>…</a:t>
            </a:r>
            <a:endParaRPr sz="48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449037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768525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783532" y="3573882"/>
            <a:ext cx="541020" cy="520065"/>
            <a:chOff x="783532" y="3573882"/>
            <a:chExt cx="541020" cy="520065"/>
          </a:xfrm>
        </p:grpSpPr>
        <p:sp>
          <p:nvSpPr>
            <p:cNvPr id="46" name="object 46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861320" y="3626022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W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044269" y="2795620"/>
            <a:ext cx="6106795" cy="1745614"/>
            <a:chOff x="1044269" y="2795620"/>
            <a:chExt cx="6106795" cy="1745614"/>
          </a:xfrm>
        </p:grpSpPr>
        <p:sp>
          <p:nvSpPr>
            <p:cNvPr id="50" name="object 50"/>
            <p:cNvSpPr/>
            <p:nvPr/>
          </p:nvSpPr>
          <p:spPr>
            <a:xfrm>
              <a:off x="1053794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1053794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053794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053794" y="3115147"/>
              <a:ext cx="6056630" cy="1416685"/>
            </a:xfrm>
            <a:custGeom>
              <a:avLst/>
              <a:gdLst/>
              <a:ahLst/>
              <a:cxnLst/>
              <a:rect l="l" t="t" r="r" b="b"/>
              <a:pathLst>
                <a:path w="6056630" h="1416685">
                  <a:moveTo>
                    <a:pt x="0" y="973797"/>
                  </a:moveTo>
                  <a:lnTo>
                    <a:pt x="16881" y="1013172"/>
                  </a:lnTo>
                  <a:lnTo>
                    <a:pt x="50886" y="1044214"/>
                  </a:lnTo>
                  <a:lnTo>
                    <a:pt x="83224" y="1065427"/>
                  </a:lnTo>
                  <a:lnTo>
                    <a:pt x="122986" y="1086930"/>
                  </a:lnTo>
                  <a:lnTo>
                    <a:pt x="169906" y="1108615"/>
                  </a:lnTo>
                  <a:lnTo>
                    <a:pt x="223721" y="1130376"/>
                  </a:lnTo>
                  <a:lnTo>
                    <a:pt x="284164" y="1152104"/>
                  </a:lnTo>
                  <a:lnTo>
                    <a:pt x="350972" y="1173693"/>
                  </a:lnTo>
                  <a:lnTo>
                    <a:pt x="423877" y="1195036"/>
                  </a:lnTo>
                  <a:lnTo>
                    <a:pt x="462534" y="1205581"/>
                  </a:lnTo>
                  <a:lnTo>
                    <a:pt x="502616" y="1216025"/>
                  </a:lnTo>
                  <a:lnTo>
                    <a:pt x="544090" y="1226353"/>
                  </a:lnTo>
                  <a:lnTo>
                    <a:pt x="586923" y="1236553"/>
                  </a:lnTo>
                  <a:lnTo>
                    <a:pt x="631082" y="1246610"/>
                  </a:lnTo>
                  <a:lnTo>
                    <a:pt x="676533" y="1256512"/>
                  </a:lnTo>
                  <a:lnTo>
                    <a:pt x="723244" y="1266246"/>
                  </a:lnTo>
                  <a:lnTo>
                    <a:pt x="771181" y="1275797"/>
                  </a:lnTo>
                  <a:lnTo>
                    <a:pt x="820312" y="1285152"/>
                  </a:lnTo>
                  <a:lnTo>
                    <a:pt x="870602" y="1294299"/>
                  </a:lnTo>
                  <a:lnTo>
                    <a:pt x="922019" y="1303222"/>
                  </a:lnTo>
                  <a:lnTo>
                    <a:pt x="974530" y="1311910"/>
                  </a:lnTo>
                  <a:lnTo>
                    <a:pt x="1028102" y="1320349"/>
                  </a:lnTo>
                  <a:lnTo>
                    <a:pt x="1082701" y="1328525"/>
                  </a:lnTo>
                  <a:lnTo>
                    <a:pt x="1138294" y="1336425"/>
                  </a:lnTo>
                  <a:lnTo>
                    <a:pt x="1194849" y="1344035"/>
                  </a:lnTo>
                  <a:lnTo>
                    <a:pt x="1252332" y="1351343"/>
                  </a:lnTo>
                  <a:lnTo>
                    <a:pt x="1310709" y="1358334"/>
                  </a:lnTo>
                  <a:lnTo>
                    <a:pt x="1369948" y="1364996"/>
                  </a:lnTo>
                  <a:lnTo>
                    <a:pt x="1430016" y="1371314"/>
                  </a:lnTo>
                  <a:lnTo>
                    <a:pt x="1490879" y="1377276"/>
                  </a:lnTo>
                  <a:lnTo>
                    <a:pt x="1552505" y="1382868"/>
                  </a:lnTo>
                  <a:lnTo>
                    <a:pt x="1614860" y="1388077"/>
                  </a:lnTo>
                  <a:lnTo>
                    <a:pt x="1677911" y="1392889"/>
                  </a:lnTo>
                  <a:lnTo>
                    <a:pt x="1741624" y="1397291"/>
                  </a:lnTo>
                  <a:lnTo>
                    <a:pt x="1805968" y="1401269"/>
                  </a:lnTo>
                  <a:lnTo>
                    <a:pt x="1870908" y="1404811"/>
                  </a:lnTo>
                  <a:lnTo>
                    <a:pt x="1936411" y="1407902"/>
                  </a:lnTo>
                  <a:lnTo>
                    <a:pt x="2002445" y="1410529"/>
                  </a:lnTo>
                  <a:lnTo>
                    <a:pt x="2068976" y="1412679"/>
                  </a:lnTo>
                  <a:lnTo>
                    <a:pt x="2135971" y="1414339"/>
                  </a:lnTo>
                  <a:lnTo>
                    <a:pt x="2203396" y="1415495"/>
                  </a:lnTo>
                  <a:lnTo>
                    <a:pt x="2271220" y="1416133"/>
                  </a:lnTo>
                  <a:lnTo>
                    <a:pt x="2339408" y="1416241"/>
                  </a:lnTo>
                  <a:lnTo>
                    <a:pt x="2407928" y="1415804"/>
                  </a:lnTo>
                  <a:lnTo>
                    <a:pt x="2476745" y="1414810"/>
                  </a:lnTo>
                  <a:lnTo>
                    <a:pt x="2545828" y="1413245"/>
                  </a:lnTo>
                  <a:lnTo>
                    <a:pt x="2615143" y="1411095"/>
                  </a:lnTo>
                  <a:lnTo>
                    <a:pt x="2684657" y="1408348"/>
                  </a:lnTo>
                  <a:lnTo>
                    <a:pt x="2754337" y="1404990"/>
                  </a:lnTo>
                  <a:lnTo>
                    <a:pt x="2824149" y="1401007"/>
                  </a:lnTo>
                  <a:lnTo>
                    <a:pt x="2894061" y="1396386"/>
                  </a:lnTo>
                  <a:lnTo>
                    <a:pt x="2964038" y="1391113"/>
                  </a:lnTo>
                  <a:lnTo>
                    <a:pt x="3034049" y="1385176"/>
                  </a:lnTo>
                  <a:lnTo>
                    <a:pt x="3086967" y="1380241"/>
                  </a:lnTo>
                  <a:lnTo>
                    <a:pt x="3139869" y="1374922"/>
                  </a:lnTo>
                  <a:lnTo>
                    <a:pt x="3192744" y="1369221"/>
                  </a:lnTo>
                  <a:lnTo>
                    <a:pt x="3245575" y="1363143"/>
                  </a:lnTo>
                  <a:lnTo>
                    <a:pt x="3298349" y="1356691"/>
                  </a:lnTo>
                  <a:lnTo>
                    <a:pt x="3351051" y="1349867"/>
                  </a:lnTo>
                  <a:lnTo>
                    <a:pt x="3403668" y="1342675"/>
                  </a:lnTo>
                  <a:lnTo>
                    <a:pt x="3456184" y="1335118"/>
                  </a:lnTo>
                  <a:lnTo>
                    <a:pt x="3508586" y="1327199"/>
                  </a:lnTo>
                  <a:lnTo>
                    <a:pt x="3560859" y="1318922"/>
                  </a:lnTo>
                  <a:lnTo>
                    <a:pt x="3612989" y="1310290"/>
                  </a:lnTo>
                  <a:lnTo>
                    <a:pt x="3664962" y="1301306"/>
                  </a:lnTo>
                  <a:lnTo>
                    <a:pt x="3716763" y="1291973"/>
                  </a:lnTo>
                  <a:lnTo>
                    <a:pt x="3768378" y="1282294"/>
                  </a:lnTo>
                  <a:lnTo>
                    <a:pt x="3819792" y="1272274"/>
                  </a:lnTo>
                  <a:lnTo>
                    <a:pt x="3870992" y="1261914"/>
                  </a:lnTo>
                  <a:lnTo>
                    <a:pt x="3921963" y="1251218"/>
                  </a:lnTo>
                  <a:lnTo>
                    <a:pt x="3972690" y="1240190"/>
                  </a:lnTo>
                  <a:lnTo>
                    <a:pt x="4023161" y="1228832"/>
                  </a:lnTo>
                  <a:lnTo>
                    <a:pt x="4073359" y="1217148"/>
                  </a:lnTo>
                  <a:lnTo>
                    <a:pt x="4123271" y="1205141"/>
                  </a:lnTo>
                  <a:lnTo>
                    <a:pt x="4172882" y="1192815"/>
                  </a:lnTo>
                  <a:lnTo>
                    <a:pt x="4222179" y="1180171"/>
                  </a:lnTo>
                  <a:lnTo>
                    <a:pt x="4271146" y="1167215"/>
                  </a:lnTo>
                  <a:lnTo>
                    <a:pt x="4319770" y="1153948"/>
                  </a:lnTo>
                  <a:lnTo>
                    <a:pt x="4368036" y="1140375"/>
                  </a:lnTo>
                  <a:lnTo>
                    <a:pt x="4415931" y="1126498"/>
                  </a:lnTo>
                  <a:lnTo>
                    <a:pt x="4463438" y="1112320"/>
                  </a:lnTo>
                  <a:lnTo>
                    <a:pt x="4510545" y="1097846"/>
                  </a:lnTo>
                  <a:lnTo>
                    <a:pt x="4557238" y="1083077"/>
                  </a:lnTo>
                  <a:lnTo>
                    <a:pt x="4603500" y="1068018"/>
                  </a:lnTo>
                  <a:lnTo>
                    <a:pt x="4649320" y="1052671"/>
                  </a:lnTo>
                  <a:lnTo>
                    <a:pt x="4694681" y="1037040"/>
                  </a:lnTo>
                  <a:lnTo>
                    <a:pt x="4739570" y="1021127"/>
                  </a:lnTo>
                  <a:lnTo>
                    <a:pt x="4783972" y="1004937"/>
                  </a:lnTo>
                  <a:lnTo>
                    <a:pt x="4827874" y="988472"/>
                  </a:lnTo>
                  <a:lnTo>
                    <a:pt x="4871260" y="971736"/>
                  </a:lnTo>
                  <a:lnTo>
                    <a:pt x="4914117" y="954732"/>
                  </a:lnTo>
                  <a:lnTo>
                    <a:pt x="4956431" y="937462"/>
                  </a:lnTo>
                  <a:lnTo>
                    <a:pt x="4998186" y="919931"/>
                  </a:lnTo>
                  <a:lnTo>
                    <a:pt x="5039368" y="902142"/>
                  </a:lnTo>
                  <a:lnTo>
                    <a:pt x="5079964" y="884097"/>
                  </a:lnTo>
                  <a:lnTo>
                    <a:pt x="5119959" y="865800"/>
                  </a:lnTo>
                  <a:lnTo>
                    <a:pt x="5172731" y="840822"/>
                  </a:lnTo>
                  <a:lnTo>
                    <a:pt x="5224357" y="815403"/>
                  </a:lnTo>
                  <a:lnTo>
                    <a:pt x="5274802" y="789550"/>
                  </a:lnTo>
                  <a:lnTo>
                    <a:pt x="5324032" y="763271"/>
                  </a:lnTo>
                  <a:lnTo>
                    <a:pt x="5372012" y="736574"/>
                  </a:lnTo>
                  <a:lnTo>
                    <a:pt x="5418707" y="709466"/>
                  </a:lnTo>
                  <a:lnTo>
                    <a:pt x="5464083" y="681957"/>
                  </a:lnTo>
                  <a:lnTo>
                    <a:pt x="5508104" y="654052"/>
                  </a:lnTo>
                  <a:lnTo>
                    <a:pt x="5550737" y="625761"/>
                  </a:lnTo>
                  <a:lnTo>
                    <a:pt x="5591946" y="597091"/>
                  </a:lnTo>
                  <a:lnTo>
                    <a:pt x="5631697" y="568050"/>
                  </a:lnTo>
                  <a:lnTo>
                    <a:pt x="5669955" y="538645"/>
                  </a:lnTo>
                  <a:lnTo>
                    <a:pt x="5706685" y="508885"/>
                  </a:lnTo>
                  <a:lnTo>
                    <a:pt x="5741852" y="478778"/>
                  </a:lnTo>
                  <a:lnTo>
                    <a:pt x="5775422" y="448330"/>
                  </a:lnTo>
                  <a:lnTo>
                    <a:pt x="5807361" y="417550"/>
                  </a:lnTo>
                  <a:lnTo>
                    <a:pt x="5847347" y="376008"/>
                  </a:lnTo>
                  <a:lnTo>
                    <a:pt x="5884288" y="333907"/>
                  </a:lnTo>
                  <a:lnTo>
                    <a:pt x="5918101" y="291267"/>
                  </a:lnTo>
                  <a:lnTo>
                    <a:pt x="5948704" y="248107"/>
                  </a:lnTo>
                  <a:lnTo>
                    <a:pt x="5976015" y="204444"/>
                  </a:lnTo>
                  <a:lnTo>
                    <a:pt x="5999952" y="160297"/>
                  </a:lnTo>
                  <a:lnTo>
                    <a:pt x="6029350" y="93211"/>
                  </a:lnTo>
                  <a:lnTo>
                    <a:pt x="6050693" y="25140"/>
                  </a:lnTo>
                  <a:lnTo>
                    <a:pt x="6054737" y="7976"/>
                  </a:lnTo>
                  <a:lnTo>
                    <a:pt x="60564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9399" y="3019623"/>
              <a:ext cx="81651" cy="108261"/>
            </a:xfrm>
            <a:prstGeom prst="rect">
              <a:avLst/>
            </a:prstGeom>
          </p:spPr>
        </p:pic>
      </p:grpSp>
      <p:sp>
        <p:nvSpPr>
          <p:cNvPr id="58" name="object 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90" dirty="0"/>
              <a:t> </a:t>
            </a:r>
            <a:r>
              <a:rPr sz="2800" spc="-10" dirty="0"/>
              <a:t>Computational</a:t>
            </a:r>
            <a:r>
              <a:rPr sz="2800" spc="-85" dirty="0"/>
              <a:t> </a:t>
            </a:r>
            <a:r>
              <a:rPr sz="2800" dirty="0"/>
              <a:t>Graph:</a:t>
            </a:r>
            <a:r>
              <a:rPr sz="2800" spc="-85" dirty="0"/>
              <a:t> </a:t>
            </a:r>
            <a:r>
              <a:rPr sz="2800" dirty="0"/>
              <a:t>Many</a:t>
            </a:r>
            <a:r>
              <a:rPr sz="2800" spc="-85" dirty="0"/>
              <a:t> </a:t>
            </a:r>
            <a:r>
              <a:rPr sz="2800" dirty="0"/>
              <a:t>to</a:t>
            </a:r>
            <a:r>
              <a:rPr sz="2800" spc="-85" dirty="0"/>
              <a:t> </a:t>
            </a:r>
            <a:r>
              <a:rPr sz="2800" spc="-25" dirty="0"/>
              <a:t>One</a:t>
            </a:r>
            <a:endParaRPr sz="2800"/>
          </a:p>
        </p:txBody>
      </p:sp>
      <p:sp>
        <p:nvSpPr>
          <p:cNvPr id="59" name="object 59"/>
          <p:cNvSpPr txBox="1"/>
          <p:nvPr/>
        </p:nvSpPr>
        <p:spPr>
          <a:xfrm>
            <a:off x="7728849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T</a:t>
            </a:r>
            <a:endParaRPr sz="1800" baseline="-32407">
              <a:latin typeface="Arial MT"/>
              <a:cs typeface="Arial MT"/>
            </a:endParaRPr>
          </a:p>
        </p:txBody>
      </p:sp>
      <p:pic>
        <p:nvPicPr>
          <p:cNvPr id="60" name="object 6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32999" y="2499584"/>
            <a:ext cx="293075" cy="81980"/>
          </a:xfrm>
          <a:prstGeom prst="rect">
            <a:avLst/>
          </a:prstGeom>
        </p:spPr>
      </p:pic>
      <p:grpSp>
        <p:nvGrpSpPr>
          <p:cNvPr id="61" name="object 61"/>
          <p:cNvGrpSpPr/>
          <p:nvPr/>
        </p:nvGrpSpPr>
        <p:grpSpPr>
          <a:xfrm>
            <a:off x="2816750" y="1774199"/>
            <a:ext cx="5113020" cy="387350"/>
            <a:chOff x="2816750" y="1774199"/>
            <a:chExt cx="5113020" cy="387350"/>
          </a:xfrm>
        </p:grpSpPr>
        <p:sp>
          <p:nvSpPr>
            <p:cNvPr id="62" name="object 62"/>
            <p:cNvSpPr/>
            <p:nvPr/>
          </p:nvSpPr>
          <p:spPr>
            <a:xfrm>
              <a:off x="2826275" y="1817405"/>
              <a:ext cx="5010150" cy="334645"/>
            </a:xfrm>
            <a:custGeom>
              <a:avLst/>
              <a:gdLst/>
              <a:ahLst/>
              <a:cxnLst/>
              <a:rect l="l" t="t" r="r" b="b"/>
              <a:pathLst>
                <a:path w="5010150" h="334644">
                  <a:moveTo>
                    <a:pt x="0" y="334069"/>
                  </a:moveTo>
                  <a:lnTo>
                    <a:pt x="34333" y="308037"/>
                  </a:lnTo>
                  <a:lnTo>
                    <a:pt x="86147" y="293573"/>
                  </a:lnTo>
                  <a:lnTo>
                    <a:pt x="132786" y="284377"/>
                  </a:lnTo>
                  <a:lnTo>
                    <a:pt x="188593" y="275522"/>
                  </a:lnTo>
                  <a:lnTo>
                    <a:pt x="253131" y="266989"/>
                  </a:lnTo>
                  <a:lnTo>
                    <a:pt x="325963" y="258763"/>
                  </a:lnTo>
                  <a:lnTo>
                    <a:pt x="365353" y="254760"/>
                  </a:lnTo>
                  <a:lnTo>
                    <a:pt x="406654" y="250828"/>
                  </a:lnTo>
                  <a:lnTo>
                    <a:pt x="449809" y="246964"/>
                  </a:lnTo>
                  <a:lnTo>
                    <a:pt x="494766" y="243167"/>
                  </a:lnTo>
                  <a:lnTo>
                    <a:pt x="541468" y="239435"/>
                  </a:lnTo>
                  <a:lnTo>
                    <a:pt x="589863" y="235765"/>
                  </a:lnTo>
                  <a:lnTo>
                    <a:pt x="639894" y="232156"/>
                  </a:lnTo>
                  <a:lnTo>
                    <a:pt x="691508" y="228606"/>
                  </a:lnTo>
                  <a:lnTo>
                    <a:pt x="744650" y="225112"/>
                  </a:lnTo>
                  <a:lnTo>
                    <a:pt x="799265" y="221672"/>
                  </a:lnTo>
                  <a:lnTo>
                    <a:pt x="855299" y="218285"/>
                  </a:lnTo>
                  <a:lnTo>
                    <a:pt x="912698" y="214949"/>
                  </a:lnTo>
                  <a:lnTo>
                    <a:pt x="971406" y="211661"/>
                  </a:lnTo>
                  <a:lnTo>
                    <a:pt x="1031369" y="208419"/>
                  </a:lnTo>
                  <a:lnTo>
                    <a:pt x="1092532" y="205222"/>
                  </a:lnTo>
                  <a:lnTo>
                    <a:pt x="1154842" y="202068"/>
                  </a:lnTo>
                  <a:lnTo>
                    <a:pt x="1218243" y="198953"/>
                  </a:lnTo>
                  <a:lnTo>
                    <a:pt x="1282681" y="195877"/>
                  </a:lnTo>
                  <a:lnTo>
                    <a:pt x="1348101" y="192838"/>
                  </a:lnTo>
                  <a:lnTo>
                    <a:pt x="1414449" y="189832"/>
                  </a:lnTo>
                  <a:lnTo>
                    <a:pt x="1481670" y="186860"/>
                  </a:lnTo>
                  <a:lnTo>
                    <a:pt x="1549709" y="183917"/>
                  </a:lnTo>
                  <a:lnTo>
                    <a:pt x="1618513" y="181002"/>
                  </a:lnTo>
                  <a:lnTo>
                    <a:pt x="1688025" y="178114"/>
                  </a:lnTo>
                  <a:lnTo>
                    <a:pt x="1758193" y="175250"/>
                  </a:lnTo>
                  <a:lnTo>
                    <a:pt x="1828961" y="172409"/>
                  </a:lnTo>
                  <a:lnTo>
                    <a:pt x="1900275" y="169587"/>
                  </a:lnTo>
                  <a:lnTo>
                    <a:pt x="1972079" y="166784"/>
                  </a:lnTo>
                  <a:lnTo>
                    <a:pt x="2044321" y="163997"/>
                  </a:lnTo>
                  <a:lnTo>
                    <a:pt x="2116944" y="161224"/>
                  </a:lnTo>
                  <a:lnTo>
                    <a:pt x="2189895" y="158463"/>
                  </a:lnTo>
                  <a:lnTo>
                    <a:pt x="2263118" y="155712"/>
                  </a:lnTo>
                  <a:lnTo>
                    <a:pt x="2336560" y="152969"/>
                  </a:lnTo>
                  <a:lnTo>
                    <a:pt x="2410166" y="150233"/>
                  </a:lnTo>
                  <a:lnTo>
                    <a:pt x="2483880" y="147500"/>
                  </a:lnTo>
                  <a:lnTo>
                    <a:pt x="2557650" y="144769"/>
                  </a:lnTo>
                  <a:lnTo>
                    <a:pt x="2612453" y="142741"/>
                  </a:lnTo>
                  <a:lnTo>
                    <a:pt x="2667233" y="140712"/>
                  </a:lnTo>
                  <a:lnTo>
                    <a:pt x="2721969" y="138681"/>
                  </a:lnTo>
                  <a:lnTo>
                    <a:pt x="2776638" y="136648"/>
                  </a:lnTo>
                  <a:lnTo>
                    <a:pt x="2831217" y="134611"/>
                  </a:lnTo>
                  <a:lnTo>
                    <a:pt x="2885685" y="132570"/>
                  </a:lnTo>
                  <a:lnTo>
                    <a:pt x="2940018" y="130524"/>
                  </a:lnTo>
                  <a:lnTo>
                    <a:pt x="2994195" y="128473"/>
                  </a:lnTo>
                  <a:lnTo>
                    <a:pt x="3048193" y="126415"/>
                  </a:lnTo>
                  <a:lnTo>
                    <a:pt x="3101989" y="124349"/>
                  </a:lnTo>
                  <a:lnTo>
                    <a:pt x="3155562" y="122275"/>
                  </a:lnTo>
                  <a:lnTo>
                    <a:pt x="3208888" y="120192"/>
                  </a:lnTo>
                  <a:lnTo>
                    <a:pt x="3261946" y="118099"/>
                  </a:lnTo>
                  <a:lnTo>
                    <a:pt x="3314714" y="115996"/>
                  </a:lnTo>
                  <a:lnTo>
                    <a:pt x="3367168" y="113880"/>
                  </a:lnTo>
                  <a:lnTo>
                    <a:pt x="3419287" y="111753"/>
                  </a:lnTo>
                  <a:lnTo>
                    <a:pt x="3471047" y="109612"/>
                  </a:lnTo>
                  <a:lnTo>
                    <a:pt x="3522428" y="107457"/>
                  </a:lnTo>
                  <a:lnTo>
                    <a:pt x="3573405" y="105287"/>
                  </a:lnTo>
                  <a:lnTo>
                    <a:pt x="3623958" y="103101"/>
                  </a:lnTo>
                  <a:lnTo>
                    <a:pt x="3674063" y="100899"/>
                  </a:lnTo>
                  <a:lnTo>
                    <a:pt x="3723699" y="98679"/>
                  </a:lnTo>
                  <a:lnTo>
                    <a:pt x="3772842" y="96442"/>
                  </a:lnTo>
                  <a:lnTo>
                    <a:pt x="3821471" y="94185"/>
                  </a:lnTo>
                  <a:lnTo>
                    <a:pt x="3869563" y="91908"/>
                  </a:lnTo>
                  <a:lnTo>
                    <a:pt x="3917096" y="89611"/>
                  </a:lnTo>
                  <a:lnTo>
                    <a:pt x="3964047" y="87292"/>
                  </a:lnTo>
                  <a:lnTo>
                    <a:pt x="4010394" y="84950"/>
                  </a:lnTo>
                  <a:lnTo>
                    <a:pt x="4056115" y="82586"/>
                  </a:lnTo>
                  <a:lnTo>
                    <a:pt x="4101187" y="80198"/>
                  </a:lnTo>
                  <a:lnTo>
                    <a:pt x="4145588" y="77784"/>
                  </a:lnTo>
                  <a:lnTo>
                    <a:pt x="4189296" y="75345"/>
                  </a:lnTo>
                  <a:lnTo>
                    <a:pt x="4232287" y="72880"/>
                  </a:lnTo>
                  <a:lnTo>
                    <a:pt x="4274541" y="70387"/>
                  </a:lnTo>
                  <a:lnTo>
                    <a:pt x="4316033" y="67866"/>
                  </a:lnTo>
                  <a:lnTo>
                    <a:pt x="4380422" y="63796"/>
                  </a:lnTo>
                  <a:lnTo>
                    <a:pt x="4442739" y="59648"/>
                  </a:lnTo>
                  <a:lnTo>
                    <a:pt x="4502894" y="55421"/>
                  </a:lnTo>
                  <a:lnTo>
                    <a:pt x="4560798" y="51110"/>
                  </a:lnTo>
                  <a:lnTo>
                    <a:pt x="4616359" y="46713"/>
                  </a:lnTo>
                  <a:lnTo>
                    <a:pt x="4669488" y="42226"/>
                  </a:lnTo>
                  <a:lnTo>
                    <a:pt x="4720095" y="37645"/>
                  </a:lnTo>
                  <a:lnTo>
                    <a:pt x="4768090" y="32968"/>
                  </a:lnTo>
                  <a:lnTo>
                    <a:pt x="4813383" y="28191"/>
                  </a:lnTo>
                  <a:lnTo>
                    <a:pt x="4855883" y="23310"/>
                  </a:lnTo>
                  <a:lnTo>
                    <a:pt x="4895501" y="18323"/>
                  </a:lnTo>
                  <a:lnTo>
                    <a:pt x="4945104" y="11285"/>
                  </a:lnTo>
                  <a:lnTo>
                    <a:pt x="4988853" y="4030"/>
                  </a:lnTo>
                  <a:lnTo>
                    <a:pt x="5008458" y="319"/>
                  </a:lnTo>
                  <a:lnTo>
                    <a:pt x="501003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14523" y="1774199"/>
              <a:ext cx="110928" cy="81709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521622" y="1825740"/>
              <a:ext cx="3319145" cy="325755"/>
            </a:xfrm>
            <a:custGeom>
              <a:avLst/>
              <a:gdLst/>
              <a:ahLst/>
              <a:cxnLst/>
              <a:rect l="l" t="t" r="r" b="b"/>
              <a:pathLst>
                <a:path w="3319145" h="325755">
                  <a:moveTo>
                    <a:pt x="0" y="325734"/>
                  </a:moveTo>
                  <a:lnTo>
                    <a:pt x="30493" y="295872"/>
                  </a:lnTo>
                  <a:lnTo>
                    <a:pt x="67291" y="282134"/>
                  </a:lnTo>
                  <a:lnTo>
                    <a:pt x="117283" y="269126"/>
                  </a:lnTo>
                  <a:lnTo>
                    <a:pt x="179591" y="256799"/>
                  </a:lnTo>
                  <a:lnTo>
                    <a:pt x="253333" y="245106"/>
                  </a:lnTo>
                  <a:lnTo>
                    <a:pt x="294217" y="239482"/>
                  </a:lnTo>
                  <a:lnTo>
                    <a:pt x="337631" y="233997"/>
                  </a:lnTo>
                  <a:lnTo>
                    <a:pt x="383463" y="228646"/>
                  </a:lnTo>
                  <a:lnTo>
                    <a:pt x="431604" y="223424"/>
                  </a:lnTo>
                  <a:lnTo>
                    <a:pt x="481945" y="218322"/>
                  </a:lnTo>
                  <a:lnTo>
                    <a:pt x="534374" y="213337"/>
                  </a:lnTo>
                  <a:lnTo>
                    <a:pt x="588783" y="208461"/>
                  </a:lnTo>
                  <a:lnTo>
                    <a:pt x="645061" y="203689"/>
                  </a:lnTo>
                  <a:lnTo>
                    <a:pt x="703098" y="199014"/>
                  </a:lnTo>
                  <a:lnTo>
                    <a:pt x="762785" y="194430"/>
                  </a:lnTo>
                  <a:lnTo>
                    <a:pt x="824011" y="189931"/>
                  </a:lnTo>
                  <a:lnTo>
                    <a:pt x="886666" y="185512"/>
                  </a:lnTo>
                  <a:lnTo>
                    <a:pt x="950641" y="181165"/>
                  </a:lnTo>
                  <a:lnTo>
                    <a:pt x="1015825" y="176886"/>
                  </a:lnTo>
                  <a:lnTo>
                    <a:pt x="1082109" y="172667"/>
                  </a:lnTo>
                  <a:lnTo>
                    <a:pt x="1149382" y="168503"/>
                  </a:lnTo>
                  <a:lnTo>
                    <a:pt x="1217535" y="164388"/>
                  </a:lnTo>
                  <a:lnTo>
                    <a:pt x="1286458" y="160315"/>
                  </a:lnTo>
                  <a:lnTo>
                    <a:pt x="1356040" y="156279"/>
                  </a:lnTo>
                  <a:lnTo>
                    <a:pt x="1426172" y="152274"/>
                  </a:lnTo>
                  <a:lnTo>
                    <a:pt x="1496744" y="148293"/>
                  </a:lnTo>
                  <a:lnTo>
                    <a:pt x="1567646" y="144329"/>
                  </a:lnTo>
                  <a:lnTo>
                    <a:pt x="1638768" y="140379"/>
                  </a:lnTo>
                  <a:lnTo>
                    <a:pt x="1709999" y="136434"/>
                  </a:lnTo>
                  <a:lnTo>
                    <a:pt x="1765752" y="133347"/>
                  </a:lnTo>
                  <a:lnTo>
                    <a:pt x="1821451" y="130257"/>
                  </a:lnTo>
                  <a:lnTo>
                    <a:pt x="1877045" y="127162"/>
                  </a:lnTo>
                  <a:lnTo>
                    <a:pt x="1932481" y="124057"/>
                  </a:lnTo>
                  <a:lnTo>
                    <a:pt x="1987706" y="120941"/>
                  </a:lnTo>
                  <a:lnTo>
                    <a:pt x="2042667" y="117810"/>
                  </a:lnTo>
                  <a:lnTo>
                    <a:pt x="2097312" y="114662"/>
                  </a:lnTo>
                  <a:lnTo>
                    <a:pt x="2151589" y="111494"/>
                  </a:lnTo>
                  <a:lnTo>
                    <a:pt x="2205443" y="108302"/>
                  </a:lnTo>
                  <a:lnTo>
                    <a:pt x="2258824" y="105084"/>
                  </a:lnTo>
                  <a:lnTo>
                    <a:pt x="2311677" y="101836"/>
                  </a:lnTo>
                  <a:lnTo>
                    <a:pt x="2363951" y="98557"/>
                  </a:lnTo>
                  <a:lnTo>
                    <a:pt x="2415592" y="95242"/>
                  </a:lnTo>
                  <a:lnTo>
                    <a:pt x="2466548" y="91890"/>
                  </a:lnTo>
                  <a:lnTo>
                    <a:pt x="2516766" y="88497"/>
                  </a:lnTo>
                  <a:lnTo>
                    <a:pt x="2566194" y="85060"/>
                  </a:lnTo>
                  <a:lnTo>
                    <a:pt x="2614778" y="81576"/>
                  </a:lnTo>
                  <a:lnTo>
                    <a:pt x="2662466" y="78043"/>
                  </a:lnTo>
                  <a:lnTo>
                    <a:pt x="2709206" y="74457"/>
                  </a:lnTo>
                  <a:lnTo>
                    <a:pt x="2754944" y="70816"/>
                  </a:lnTo>
                  <a:lnTo>
                    <a:pt x="2799629" y="67116"/>
                  </a:lnTo>
                  <a:lnTo>
                    <a:pt x="2843206" y="63356"/>
                  </a:lnTo>
                  <a:lnTo>
                    <a:pt x="2885624" y="59531"/>
                  </a:lnTo>
                  <a:lnTo>
                    <a:pt x="2944463" y="53914"/>
                  </a:lnTo>
                  <a:lnTo>
                    <a:pt x="3000640" y="48150"/>
                  </a:lnTo>
                  <a:lnTo>
                    <a:pt x="3053999" y="42230"/>
                  </a:lnTo>
                  <a:lnTo>
                    <a:pt x="3104384" y="36145"/>
                  </a:lnTo>
                  <a:lnTo>
                    <a:pt x="3151637" y="29888"/>
                  </a:lnTo>
                  <a:lnTo>
                    <a:pt x="3195603" y="23448"/>
                  </a:lnTo>
                  <a:lnTo>
                    <a:pt x="3236125" y="16817"/>
                  </a:lnTo>
                  <a:lnTo>
                    <a:pt x="3281695" y="8248"/>
                  </a:lnTo>
                  <a:lnTo>
                    <a:pt x="3313895" y="1157"/>
                  </a:lnTo>
                  <a:lnTo>
                    <a:pt x="331865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16205" y="1776230"/>
              <a:ext cx="110251" cy="86932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202148" y="1841754"/>
              <a:ext cx="1649095" cy="309880"/>
            </a:xfrm>
            <a:custGeom>
              <a:avLst/>
              <a:gdLst/>
              <a:ahLst/>
              <a:cxnLst/>
              <a:rect l="l" t="t" r="r" b="b"/>
              <a:pathLst>
                <a:path w="1649095" h="309880">
                  <a:moveTo>
                    <a:pt x="0" y="309720"/>
                  </a:moveTo>
                  <a:lnTo>
                    <a:pt x="30816" y="268239"/>
                  </a:lnTo>
                  <a:lnTo>
                    <a:pt x="82432" y="243966"/>
                  </a:lnTo>
                  <a:lnTo>
                    <a:pt x="155353" y="222011"/>
                  </a:lnTo>
                  <a:lnTo>
                    <a:pt x="198852" y="211800"/>
                  </a:lnTo>
                  <a:lnTo>
                    <a:pt x="246535" y="202044"/>
                  </a:lnTo>
                  <a:lnTo>
                    <a:pt x="298024" y="192701"/>
                  </a:lnTo>
                  <a:lnTo>
                    <a:pt x="352936" y="183732"/>
                  </a:lnTo>
                  <a:lnTo>
                    <a:pt x="410893" y="175093"/>
                  </a:lnTo>
                  <a:lnTo>
                    <a:pt x="471512" y="166745"/>
                  </a:lnTo>
                  <a:lnTo>
                    <a:pt x="534414" y="158645"/>
                  </a:lnTo>
                  <a:lnTo>
                    <a:pt x="599219" y="150751"/>
                  </a:lnTo>
                  <a:lnTo>
                    <a:pt x="665545" y="143024"/>
                  </a:lnTo>
                  <a:lnTo>
                    <a:pt x="733013" y="135420"/>
                  </a:lnTo>
                  <a:lnTo>
                    <a:pt x="801241" y="127900"/>
                  </a:lnTo>
                  <a:lnTo>
                    <a:pt x="869850" y="120420"/>
                  </a:lnTo>
                  <a:lnTo>
                    <a:pt x="924184" y="114501"/>
                  </a:lnTo>
                  <a:lnTo>
                    <a:pt x="978330" y="108562"/>
                  </a:lnTo>
                  <a:lnTo>
                    <a:pt x="1032097" y="102581"/>
                  </a:lnTo>
                  <a:lnTo>
                    <a:pt x="1085299" y="96539"/>
                  </a:lnTo>
                  <a:lnTo>
                    <a:pt x="1137745" y="90414"/>
                  </a:lnTo>
                  <a:lnTo>
                    <a:pt x="1189248" y="84187"/>
                  </a:lnTo>
                  <a:lnTo>
                    <a:pt x="1239618" y="77837"/>
                  </a:lnTo>
                  <a:lnTo>
                    <a:pt x="1288667" y="71342"/>
                  </a:lnTo>
                  <a:lnTo>
                    <a:pt x="1336205" y="64684"/>
                  </a:lnTo>
                  <a:lnTo>
                    <a:pt x="1382045" y="57841"/>
                  </a:lnTo>
                  <a:lnTo>
                    <a:pt x="1425996" y="50792"/>
                  </a:lnTo>
                  <a:lnTo>
                    <a:pt x="1467872" y="43517"/>
                  </a:lnTo>
                  <a:lnTo>
                    <a:pt x="1526379" y="32136"/>
                  </a:lnTo>
                  <a:lnTo>
                    <a:pt x="1579151" y="20132"/>
                  </a:lnTo>
                  <a:lnTo>
                    <a:pt x="1625553" y="7434"/>
                  </a:lnTo>
                  <a:lnTo>
                    <a:pt x="1646166" y="804"/>
                  </a:lnTo>
                  <a:lnTo>
                    <a:pt x="1648485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22147" y="1780132"/>
              <a:ext cx="107002" cy="96257"/>
            </a:xfrm>
            <a:prstGeom prst="rect">
              <a:avLst/>
            </a:prstGeom>
          </p:spPr>
        </p:pic>
      </p:grpSp>
      <p:sp>
        <p:nvSpPr>
          <p:cNvPr id="70" name="object 70"/>
          <p:cNvSpPr txBox="1">
            <a:spLocks noGrp="1"/>
          </p:cNvSpPr>
          <p:nvPr>
            <p:ph type="ftr" sz="quarter" idx="4294967295"/>
          </p:nvPr>
        </p:nvSpPr>
        <p:spPr>
          <a:xfrm>
            <a:off x="176580" y="4818975"/>
            <a:ext cx="2566620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lang="en-US" spc="-10" dirty="0">
                <a:solidFill>
                  <a:srgbClr val="FFFFFF"/>
                </a:solidFill>
              </a:rPr>
              <a:t>Master class 2026</a:t>
            </a:r>
            <a:endParaRPr lang="en-US" dirty="0"/>
          </a:p>
          <a:p>
            <a:pPr marL="12700">
              <a:lnSpc>
                <a:spcPts val="2310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2987" y="2146712"/>
            <a:ext cx="405765" cy="788035"/>
            <a:chOff x="942987" y="2146712"/>
            <a:chExt cx="405765" cy="788035"/>
          </a:xfrm>
        </p:grpSpPr>
        <p:sp>
          <p:nvSpPr>
            <p:cNvPr id="3" name="object 3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01703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0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1163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23513" y="2146712"/>
            <a:ext cx="405765" cy="788035"/>
            <a:chOff x="2623513" y="2146712"/>
            <a:chExt cx="405765" cy="788035"/>
          </a:xfrm>
        </p:grpSpPr>
        <p:sp>
          <p:nvSpPr>
            <p:cNvPr id="8" name="object 8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82228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43749" y="2499584"/>
            <a:ext cx="1266190" cy="756285"/>
            <a:chOff x="1343749" y="2499584"/>
            <a:chExt cx="1266190" cy="756285"/>
          </a:xfrm>
        </p:grpSpPr>
        <p:sp>
          <p:nvSpPr>
            <p:cNvPr id="12" name="object 12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38168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04010" y="2146712"/>
            <a:ext cx="435609" cy="788035"/>
            <a:chOff x="4304010" y="2146712"/>
            <a:chExt cx="435609" cy="788035"/>
          </a:xfrm>
        </p:grpSpPr>
        <p:sp>
          <p:nvSpPr>
            <p:cNvPr id="19" name="object 19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377576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024276" y="2499584"/>
            <a:ext cx="1266190" cy="82550"/>
            <a:chOff x="3024276" y="2499584"/>
            <a:chExt cx="1266190" cy="8255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06220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 MT"/>
                <a:cs typeface="Arial MT"/>
              </a:rPr>
              <a:t>f</a:t>
            </a:r>
            <a:r>
              <a:rPr sz="2400" spc="-37" baseline="-31250" dirty="0">
                <a:latin typeface="Arial MT"/>
                <a:cs typeface="Arial MT"/>
              </a:rPr>
              <a:t>W</a:t>
            </a:r>
            <a:endParaRPr sz="2400" baseline="-312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89298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3</a:t>
            </a:r>
            <a:endParaRPr sz="1800" baseline="-32407">
              <a:latin typeface="Arial MT"/>
              <a:cs typeface="Arial MT"/>
            </a:endParaRPr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4473" y="2499584"/>
            <a:ext cx="309275" cy="81980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5593201" y="2499654"/>
            <a:ext cx="377825" cy="82550"/>
            <a:chOff x="5593201" y="2499654"/>
            <a:chExt cx="377825" cy="82550"/>
          </a:xfrm>
        </p:grpSpPr>
        <p:sp>
          <p:nvSpPr>
            <p:cNvPr id="30" name="object 30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7728849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858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37" baseline="-32407" dirty="0">
                <a:latin typeface="Arial MT"/>
                <a:cs typeface="Arial MT"/>
              </a:rPr>
              <a:t>T</a:t>
            </a:r>
            <a:endParaRPr sz="1800" baseline="-32407">
              <a:latin typeface="Arial MT"/>
              <a:cs typeface="Arial MT"/>
            </a:endParaRPr>
          </a:p>
        </p:txBody>
      </p:sp>
      <p:pic>
        <p:nvPicPr>
          <p:cNvPr id="33" name="object 3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14998" y="2499584"/>
            <a:ext cx="293076" cy="81980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7900708" y="1791199"/>
            <a:ext cx="82550" cy="360680"/>
            <a:chOff x="7900708" y="1791199"/>
            <a:chExt cx="82550" cy="360680"/>
          </a:xfrm>
        </p:grpSpPr>
        <p:sp>
          <p:nvSpPr>
            <p:cNvPr id="35" name="object 35"/>
            <p:cNvSpPr/>
            <p:nvPr/>
          </p:nvSpPr>
          <p:spPr>
            <a:xfrm>
              <a:off x="7941699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00708" y="1791199"/>
              <a:ext cx="81981" cy="10550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6761100" y="2128566"/>
            <a:ext cx="63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Arial MT"/>
                <a:cs typeface="Arial MT"/>
              </a:rPr>
              <a:t>…</a:t>
            </a:r>
            <a:endParaRPr sz="48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768525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10"/>
              </a:spcBef>
            </a:pPr>
            <a:r>
              <a:rPr sz="1800" spc="-50" dirty="0">
                <a:latin typeface="Arial MT"/>
                <a:cs typeface="Arial MT"/>
              </a:rPr>
              <a:t>x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83532" y="3573882"/>
            <a:ext cx="541020" cy="520065"/>
            <a:chOff x="783532" y="3573882"/>
            <a:chExt cx="541020" cy="520065"/>
          </a:xfrm>
        </p:grpSpPr>
        <p:sp>
          <p:nvSpPr>
            <p:cNvPr id="40" name="object 40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61320" y="3626022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W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044269" y="2795620"/>
            <a:ext cx="6106795" cy="1745614"/>
            <a:chOff x="1044269" y="2795620"/>
            <a:chExt cx="6106795" cy="1745614"/>
          </a:xfrm>
        </p:grpSpPr>
        <p:sp>
          <p:nvSpPr>
            <p:cNvPr id="44" name="object 44"/>
            <p:cNvSpPr/>
            <p:nvPr/>
          </p:nvSpPr>
          <p:spPr>
            <a:xfrm>
              <a:off x="1053794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053794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053794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053794" y="3115147"/>
              <a:ext cx="6056630" cy="1416685"/>
            </a:xfrm>
            <a:custGeom>
              <a:avLst/>
              <a:gdLst/>
              <a:ahLst/>
              <a:cxnLst/>
              <a:rect l="l" t="t" r="r" b="b"/>
              <a:pathLst>
                <a:path w="6056630" h="1416685">
                  <a:moveTo>
                    <a:pt x="0" y="973797"/>
                  </a:moveTo>
                  <a:lnTo>
                    <a:pt x="16881" y="1013172"/>
                  </a:lnTo>
                  <a:lnTo>
                    <a:pt x="50886" y="1044214"/>
                  </a:lnTo>
                  <a:lnTo>
                    <a:pt x="83224" y="1065427"/>
                  </a:lnTo>
                  <a:lnTo>
                    <a:pt x="122986" y="1086930"/>
                  </a:lnTo>
                  <a:lnTo>
                    <a:pt x="169906" y="1108615"/>
                  </a:lnTo>
                  <a:lnTo>
                    <a:pt x="223721" y="1130376"/>
                  </a:lnTo>
                  <a:lnTo>
                    <a:pt x="284164" y="1152104"/>
                  </a:lnTo>
                  <a:lnTo>
                    <a:pt x="350972" y="1173693"/>
                  </a:lnTo>
                  <a:lnTo>
                    <a:pt x="423877" y="1195036"/>
                  </a:lnTo>
                  <a:lnTo>
                    <a:pt x="462534" y="1205581"/>
                  </a:lnTo>
                  <a:lnTo>
                    <a:pt x="502616" y="1216025"/>
                  </a:lnTo>
                  <a:lnTo>
                    <a:pt x="544090" y="1226353"/>
                  </a:lnTo>
                  <a:lnTo>
                    <a:pt x="586923" y="1236553"/>
                  </a:lnTo>
                  <a:lnTo>
                    <a:pt x="631082" y="1246610"/>
                  </a:lnTo>
                  <a:lnTo>
                    <a:pt x="676533" y="1256512"/>
                  </a:lnTo>
                  <a:lnTo>
                    <a:pt x="723244" y="1266246"/>
                  </a:lnTo>
                  <a:lnTo>
                    <a:pt x="771181" y="1275797"/>
                  </a:lnTo>
                  <a:lnTo>
                    <a:pt x="820312" y="1285152"/>
                  </a:lnTo>
                  <a:lnTo>
                    <a:pt x="870602" y="1294299"/>
                  </a:lnTo>
                  <a:lnTo>
                    <a:pt x="922019" y="1303222"/>
                  </a:lnTo>
                  <a:lnTo>
                    <a:pt x="974530" y="1311910"/>
                  </a:lnTo>
                  <a:lnTo>
                    <a:pt x="1028102" y="1320349"/>
                  </a:lnTo>
                  <a:lnTo>
                    <a:pt x="1082701" y="1328525"/>
                  </a:lnTo>
                  <a:lnTo>
                    <a:pt x="1138294" y="1336425"/>
                  </a:lnTo>
                  <a:lnTo>
                    <a:pt x="1194849" y="1344035"/>
                  </a:lnTo>
                  <a:lnTo>
                    <a:pt x="1252332" y="1351343"/>
                  </a:lnTo>
                  <a:lnTo>
                    <a:pt x="1310709" y="1358334"/>
                  </a:lnTo>
                  <a:lnTo>
                    <a:pt x="1369948" y="1364996"/>
                  </a:lnTo>
                  <a:lnTo>
                    <a:pt x="1430016" y="1371314"/>
                  </a:lnTo>
                  <a:lnTo>
                    <a:pt x="1490879" y="1377276"/>
                  </a:lnTo>
                  <a:lnTo>
                    <a:pt x="1552505" y="1382868"/>
                  </a:lnTo>
                  <a:lnTo>
                    <a:pt x="1614860" y="1388077"/>
                  </a:lnTo>
                  <a:lnTo>
                    <a:pt x="1677911" y="1392889"/>
                  </a:lnTo>
                  <a:lnTo>
                    <a:pt x="1741624" y="1397291"/>
                  </a:lnTo>
                  <a:lnTo>
                    <a:pt x="1805968" y="1401269"/>
                  </a:lnTo>
                  <a:lnTo>
                    <a:pt x="1870908" y="1404811"/>
                  </a:lnTo>
                  <a:lnTo>
                    <a:pt x="1936411" y="1407902"/>
                  </a:lnTo>
                  <a:lnTo>
                    <a:pt x="2002445" y="1410529"/>
                  </a:lnTo>
                  <a:lnTo>
                    <a:pt x="2068976" y="1412679"/>
                  </a:lnTo>
                  <a:lnTo>
                    <a:pt x="2135971" y="1414339"/>
                  </a:lnTo>
                  <a:lnTo>
                    <a:pt x="2203396" y="1415495"/>
                  </a:lnTo>
                  <a:lnTo>
                    <a:pt x="2271220" y="1416133"/>
                  </a:lnTo>
                  <a:lnTo>
                    <a:pt x="2339408" y="1416241"/>
                  </a:lnTo>
                  <a:lnTo>
                    <a:pt x="2407928" y="1415804"/>
                  </a:lnTo>
                  <a:lnTo>
                    <a:pt x="2476745" y="1414810"/>
                  </a:lnTo>
                  <a:lnTo>
                    <a:pt x="2545828" y="1413245"/>
                  </a:lnTo>
                  <a:lnTo>
                    <a:pt x="2615143" y="1411095"/>
                  </a:lnTo>
                  <a:lnTo>
                    <a:pt x="2684657" y="1408348"/>
                  </a:lnTo>
                  <a:lnTo>
                    <a:pt x="2754337" y="1404990"/>
                  </a:lnTo>
                  <a:lnTo>
                    <a:pt x="2824149" y="1401007"/>
                  </a:lnTo>
                  <a:lnTo>
                    <a:pt x="2894061" y="1396386"/>
                  </a:lnTo>
                  <a:lnTo>
                    <a:pt x="2964038" y="1391113"/>
                  </a:lnTo>
                  <a:lnTo>
                    <a:pt x="3034049" y="1385176"/>
                  </a:lnTo>
                  <a:lnTo>
                    <a:pt x="3086967" y="1380241"/>
                  </a:lnTo>
                  <a:lnTo>
                    <a:pt x="3139869" y="1374922"/>
                  </a:lnTo>
                  <a:lnTo>
                    <a:pt x="3192744" y="1369221"/>
                  </a:lnTo>
                  <a:lnTo>
                    <a:pt x="3245575" y="1363143"/>
                  </a:lnTo>
                  <a:lnTo>
                    <a:pt x="3298349" y="1356691"/>
                  </a:lnTo>
                  <a:lnTo>
                    <a:pt x="3351051" y="1349867"/>
                  </a:lnTo>
                  <a:lnTo>
                    <a:pt x="3403668" y="1342675"/>
                  </a:lnTo>
                  <a:lnTo>
                    <a:pt x="3456184" y="1335118"/>
                  </a:lnTo>
                  <a:lnTo>
                    <a:pt x="3508586" y="1327199"/>
                  </a:lnTo>
                  <a:lnTo>
                    <a:pt x="3560859" y="1318922"/>
                  </a:lnTo>
                  <a:lnTo>
                    <a:pt x="3612989" y="1310290"/>
                  </a:lnTo>
                  <a:lnTo>
                    <a:pt x="3664962" y="1301306"/>
                  </a:lnTo>
                  <a:lnTo>
                    <a:pt x="3716763" y="1291973"/>
                  </a:lnTo>
                  <a:lnTo>
                    <a:pt x="3768378" y="1282294"/>
                  </a:lnTo>
                  <a:lnTo>
                    <a:pt x="3819792" y="1272274"/>
                  </a:lnTo>
                  <a:lnTo>
                    <a:pt x="3870992" y="1261914"/>
                  </a:lnTo>
                  <a:lnTo>
                    <a:pt x="3921963" y="1251218"/>
                  </a:lnTo>
                  <a:lnTo>
                    <a:pt x="3972690" y="1240190"/>
                  </a:lnTo>
                  <a:lnTo>
                    <a:pt x="4023161" y="1228832"/>
                  </a:lnTo>
                  <a:lnTo>
                    <a:pt x="4073359" y="1217148"/>
                  </a:lnTo>
                  <a:lnTo>
                    <a:pt x="4123271" y="1205141"/>
                  </a:lnTo>
                  <a:lnTo>
                    <a:pt x="4172882" y="1192815"/>
                  </a:lnTo>
                  <a:lnTo>
                    <a:pt x="4222179" y="1180171"/>
                  </a:lnTo>
                  <a:lnTo>
                    <a:pt x="4271146" y="1167215"/>
                  </a:lnTo>
                  <a:lnTo>
                    <a:pt x="4319770" y="1153948"/>
                  </a:lnTo>
                  <a:lnTo>
                    <a:pt x="4368036" y="1140375"/>
                  </a:lnTo>
                  <a:lnTo>
                    <a:pt x="4415931" y="1126498"/>
                  </a:lnTo>
                  <a:lnTo>
                    <a:pt x="4463438" y="1112320"/>
                  </a:lnTo>
                  <a:lnTo>
                    <a:pt x="4510545" y="1097846"/>
                  </a:lnTo>
                  <a:lnTo>
                    <a:pt x="4557238" y="1083077"/>
                  </a:lnTo>
                  <a:lnTo>
                    <a:pt x="4603500" y="1068018"/>
                  </a:lnTo>
                  <a:lnTo>
                    <a:pt x="4649320" y="1052671"/>
                  </a:lnTo>
                  <a:lnTo>
                    <a:pt x="4694681" y="1037040"/>
                  </a:lnTo>
                  <a:lnTo>
                    <a:pt x="4739570" y="1021127"/>
                  </a:lnTo>
                  <a:lnTo>
                    <a:pt x="4783972" y="1004937"/>
                  </a:lnTo>
                  <a:lnTo>
                    <a:pt x="4827874" y="988472"/>
                  </a:lnTo>
                  <a:lnTo>
                    <a:pt x="4871260" y="971736"/>
                  </a:lnTo>
                  <a:lnTo>
                    <a:pt x="4914117" y="954732"/>
                  </a:lnTo>
                  <a:lnTo>
                    <a:pt x="4956431" y="937462"/>
                  </a:lnTo>
                  <a:lnTo>
                    <a:pt x="4998186" y="919931"/>
                  </a:lnTo>
                  <a:lnTo>
                    <a:pt x="5039368" y="902142"/>
                  </a:lnTo>
                  <a:lnTo>
                    <a:pt x="5079964" y="884097"/>
                  </a:lnTo>
                  <a:lnTo>
                    <a:pt x="5119959" y="865800"/>
                  </a:lnTo>
                  <a:lnTo>
                    <a:pt x="5172731" y="840822"/>
                  </a:lnTo>
                  <a:lnTo>
                    <a:pt x="5224357" y="815403"/>
                  </a:lnTo>
                  <a:lnTo>
                    <a:pt x="5274802" y="789550"/>
                  </a:lnTo>
                  <a:lnTo>
                    <a:pt x="5324032" y="763271"/>
                  </a:lnTo>
                  <a:lnTo>
                    <a:pt x="5372012" y="736574"/>
                  </a:lnTo>
                  <a:lnTo>
                    <a:pt x="5418707" y="709466"/>
                  </a:lnTo>
                  <a:lnTo>
                    <a:pt x="5464083" y="681957"/>
                  </a:lnTo>
                  <a:lnTo>
                    <a:pt x="5508104" y="654052"/>
                  </a:lnTo>
                  <a:lnTo>
                    <a:pt x="5550737" y="625761"/>
                  </a:lnTo>
                  <a:lnTo>
                    <a:pt x="5591946" y="597091"/>
                  </a:lnTo>
                  <a:lnTo>
                    <a:pt x="5631697" y="568050"/>
                  </a:lnTo>
                  <a:lnTo>
                    <a:pt x="5669955" y="538645"/>
                  </a:lnTo>
                  <a:lnTo>
                    <a:pt x="5706685" y="508885"/>
                  </a:lnTo>
                  <a:lnTo>
                    <a:pt x="5741852" y="478778"/>
                  </a:lnTo>
                  <a:lnTo>
                    <a:pt x="5775422" y="448330"/>
                  </a:lnTo>
                  <a:lnTo>
                    <a:pt x="5807361" y="417550"/>
                  </a:lnTo>
                  <a:lnTo>
                    <a:pt x="5847347" y="376008"/>
                  </a:lnTo>
                  <a:lnTo>
                    <a:pt x="5884288" y="333907"/>
                  </a:lnTo>
                  <a:lnTo>
                    <a:pt x="5918101" y="291267"/>
                  </a:lnTo>
                  <a:lnTo>
                    <a:pt x="5948704" y="248107"/>
                  </a:lnTo>
                  <a:lnTo>
                    <a:pt x="5976015" y="204444"/>
                  </a:lnTo>
                  <a:lnTo>
                    <a:pt x="5999952" y="160297"/>
                  </a:lnTo>
                  <a:lnTo>
                    <a:pt x="6029350" y="93211"/>
                  </a:lnTo>
                  <a:lnTo>
                    <a:pt x="6050693" y="25140"/>
                  </a:lnTo>
                  <a:lnTo>
                    <a:pt x="6054737" y="7976"/>
                  </a:lnTo>
                  <a:lnTo>
                    <a:pt x="60564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9399" y="3019623"/>
              <a:ext cx="81651" cy="108261"/>
            </a:xfrm>
            <a:prstGeom prst="rect">
              <a:avLst/>
            </a:prstGeom>
          </p:spPr>
        </p:pic>
      </p:grp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85" dirty="0"/>
              <a:t> </a:t>
            </a:r>
            <a:r>
              <a:rPr sz="2800" spc="-10" dirty="0"/>
              <a:t>Computational</a:t>
            </a:r>
            <a:r>
              <a:rPr sz="2800" spc="-85" dirty="0"/>
              <a:t> </a:t>
            </a:r>
            <a:r>
              <a:rPr sz="2800" dirty="0"/>
              <a:t>Graph:</a:t>
            </a:r>
            <a:r>
              <a:rPr sz="2800" spc="-85" dirty="0"/>
              <a:t> </a:t>
            </a:r>
            <a:r>
              <a:rPr sz="2800" dirty="0"/>
              <a:t>One</a:t>
            </a:r>
            <a:r>
              <a:rPr sz="2800" spc="-85" dirty="0"/>
              <a:t> </a:t>
            </a:r>
            <a:r>
              <a:rPr sz="2800" dirty="0"/>
              <a:t>to</a:t>
            </a:r>
            <a:r>
              <a:rPr sz="2800" spc="-85" dirty="0"/>
              <a:t> </a:t>
            </a:r>
            <a:r>
              <a:rPr sz="2800" spc="-20" dirty="0"/>
              <a:t>Many</a:t>
            </a:r>
            <a:endParaRPr sz="2800"/>
          </a:p>
        </p:txBody>
      </p:sp>
      <p:sp>
        <p:nvSpPr>
          <p:cNvPr id="53" name="object 53"/>
          <p:cNvSpPr txBox="1"/>
          <p:nvPr/>
        </p:nvSpPr>
        <p:spPr>
          <a:xfrm>
            <a:off x="7728849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h</a:t>
            </a:r>
            <a:r>
              <a:rPr sz="1800" spc="-37" baseline="-32407" dirty="0">
                <a:latin typeface="Arial MT"/>
                <a:cs typeface="Arial MT"/>
              </a:rPr>
              <a:t>T</a:t>
            </a:r>
            <a:endParaRPr sz="1800" baseline="-32407">
              <a:latin typeface="Arial MT"/>
              <a:cs typeface="Arial MT"/>
            </a:endParaRPr>
          </a:p>
        </p:txBody>
      </p:sp>
      <p:pic>
        <p:nvPicPr>
          <p:cNvPr id="54" name="object 5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32999" y="2499584"/>
            <a:ext cx="293075" cy="81980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5989298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37" baseline="-32407" dirty="0">
                <a:latin typeface="Arial MT"/>
                <a:cs typeface="Arial MT"/>
              </a:rPr>
              <a:t>3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308773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37" baseline="-32407" dirty="0">
                <a:latin typeface="Arial MT"/>
                <a:cs typeface="Arial MT"/>
              </a:rPr>
              <a:t>2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613424" y="1021800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37" baseline="-32407" dirty="0">
                <a:latin typeface="Arial MT"/>
                <a:cs typeface="Arial MT"/>
              </a:rPr>
              <a:t>1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2785285" y="1791199"/>
            <a:ext cx="3458210" cy="360680"/>
            <a:chOff x="2785285" y="1791199"/>
            <a:chExt cx="3458210" cy="360680"/>
          </a:xfrm>
        </p:grpSpPr>
        <p:sp>
          <p:nvSpPr>
            <p:cNvPr id="59" name="object 59"/>
            <p:cNvSpPr/>
            <p:nvPr/>
          </p:nvSpPr>
          <p:spPr>
            <a:xfrm>
              <a:off x="6202148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61158" y="1791199"/>
              <a:ext cx="81981" cy="105500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4521622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80632" y="1791199"/>
              <a:ext cx="81981" cy="1055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85285" y="1818199"/>
              <a:ext cx="81980" cy="333275"/>
            </a:xfrm>
            <a:prstGeom prst="rect">
              <a:avLst/>
            </a:prstGeom>
          </p:spPr>
        </p:pic>
      </p:grpSp>
      <p:sp>
        <p:nvSpPr>
          <p:cNvPr id="66" name="object 66"/>
          <p:cNvSpPr txBox="1">
            <a:spLocks noGrp="1"/>
          </p:cNvSpPr>
          <p:nvPr>
            <p:ph type="ftr" sz="quarter" idx="4294967295"/>
          </p:nvPr>
        </p:nvSpPr>
        <p:spPr>
          <a:xfrm>
            <a:off x="7456525" y="4802949"/>
            <a:ext cx="159194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endParaRPr spc="-20" dirty="0"/>
          </a:p>
        </p:txBody>
      </p:sp>
      <p:sp>
        <p:nvSpPr>
          <p:cNvPr id="67" name="object 67"/>
          <p:cNvSpPr txBox="1"/>
          <p:nvPr/>
        </p:nvSpPr>
        <p:spPr>
          <a:xfrm>
            <a:off x="145225" y="4807709"/>
            <a:ext cx="352552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sz="1800" spc="-10" dirty="0">
                <a:solidFill>
                  <a:srgbClr val="FFFFFF"/>
                </a:solidFill>
                <a:latin typeface="Arial MT"/>
                <a:cs typeface="Arial MT"/>
              </a:rPr>
              <a:t>Master class 2026</a:t>
            </a:r>
            <a:endParaRPr lang="en-US" sz="1800" dirty="0">
              <a:latin typeface="Arial MT"/>
              <a:cs typeface="Arial MT"/>
            </a:endParaRPr>
          </a:p>
          <a:p>
            <a:pPr marL="12700">
              <a:lnSpc>
                <a:spcPts val="2090"/>
              </a:lnSpc>
            </a:pP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Long</a:t>
            </a:r>
            <a:r>
              <a:rPr sz="3000" spc="-50" dirty="0"/>
              <a:t> </a:t>
            </a:r>
            <a:r>
              <a:rPr sz="3000" dirty="0"/>
              <a:t>Short</a:t>
            </a:r>
            <a:r>
              <a:rPr sz="3000" spc="-100" dirty="0"/>
              <a:t> </a:t>
            </a:r>
            <a:r>
              <a:rPr sz="3000" spc="-65" dirty="0"/>
              <a:t>Term</a:t>
            </a:r>
            <a:r>
              <a:rPr sz="3000" spc="-45" dirty="0"/>
              <a:t> </a:t>
            </a:r>
            <a:r>
              <a:rPr sz="3000" dirty="0"/>
              <a:t>Memory</a:t>
            </a:r>
            <a:r>
              <a:rPr sz="3000" spc="-45" dirty="0"/>
              <a:t> </a:t>
            </a:r>
            <a:r>
              <a:rPr sz="3000" spc="-10" dirty="0"/>
              <a:t>(LSTM)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299125" y="4493245"/>
            <a:ext cx="47358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Hochreiter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Schmidhuber,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“Long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Short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Term </a:t>
            </a:r>
            <a:r>
              <a:rPr sz="1000" spc="-10" dirty="0">
                <a:latin typeface="Arial MT"/>
                <a:cs typeface="Arial MT"/>
              </a:rPr>
              <a:t>Memory”,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Neural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Computation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1997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07599" y="2323313"/>
            <a:ext cx="2727325" cy="821690"/>
            <a:chOff x="807599" y="2323313"/>
            <a:chExt cx="2727325" cy="8216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8793" y="2434507"/>
              <a:ext cx="2478546" cy="5783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21887" y="2337600"/>
              <a:ext cx="2698750" cy="793115"/>
            </a:xfrm>
            <a:custGeom>
              <a:avLst/>
              <a:gdLst/>
              <a:ahLst/>
              <a:cxnLst/>
              <a:rect l="l" t="t" r="r" b="b"/>
              <a:pathLst>
                <a:path w="2698750" h="793114">
                  <a:moveTo>
                    <a:pt x="0" y="0"/>
                  </a:moveTo>
                  <a:lnTo>
                    <a:pt x="2698176" y="0"/>
                  </a:lnTo>
                  <a:lnTo>
                    <a:pt x="2698176" y="792799"/>
                  </a:lnTo>
                  <a:lnTo>
                    <a:pt x="0" y="7927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790749" y="1645486"/>
            <a:ext cx="3113405" cy="2177415"/>
            <a:chOff x="4790749" y="1645486"/>
            <a:chExt cx="3113405" cy="217741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3910" y="1800940"/>
              <a:ext cx="2875905" cy="194546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05037" y="1659774"/>
              <a:ext cx="3084830" cy="2148840"/>
            </a:xfrm>
            <a:custGeom>
              <a:avLst/>
              <a:gdLst/>
              <a:ahLst/>
              <a:cxnLst/>
              <a:rect l="l" t="t" r="r" b="b"/>
              <a:pathLst>
                <a:path w="3084829" h="2148840">
                  <a:moveTo>
                    <a:pt x="0" y="0"/>
                  </a:moveTo>
                  <a:lnTo>
                    <a:pt x="3084224" y="0"/>
                  </a:lnTo>
                  <a:lnTo>
                    <a:pt x="3084224" y="2148499"/>
                  </a:lnTo>
                  <a:lnTo>
                    <a:pt x="0" y="2148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02885" y="1057533"/>
            <a:ext cx="5295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53255" algn="l"/>
              </a:tabLst>
            </a:pPr>
            <a:r>
              <a:rPr sz="2400" b="1" spc="-10" dirty="0">
                <a:latin typeface="Arial"/>
                <a:cs typeface="Arial"/>
              </a:rPr>
              <a:t>Vanilla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RNN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20" dirty="0">
                <a:latin typeface="Arial"/>
                <a:cs typeface="Arial"/>
              </a:rPr>
              <a:t>LSTM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5225" y="4807709"/>
            <a:ext cx="352552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sz="1800" spc="-10" dirty="0">
                <a:solidFill>
                  <a:srgbClr val="FFFFFF"/>
                </a:solidFill>
                <a:latin typeface="Arial MT"/>
                <a:cs typeface="Arial MT"/>
              </a:rPr>
              <a:t>Master class 2026</a:t>
            </a:r>
            <a:endParaRPr lang="en-US" sz="1800" dirty="0">
              <a:latin typeface="Arial MT"/>
              <a:cs typeface="Arial MT"/>
            </a:endParaRPr>
          </a:p>
          <a:p>
            <a:pPr marL="12700">
              <a:lnSpc>
                <a:spcPts val="2090"/>
              </a:lnSpc>
            </a:pP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9912" y="1698525"/>
            <a:ext cx="2112645" cy="1494155"/>
            <a:chOff x="1049912" y="1698525"/>
            <a:chExt cx="2112645" cy="1494155"/>
          </a:xfrm>
        </p:grpSpPr>
        <p:sp>
          <p:nvSpPr>
            <p:cNvPr id="3" name="object 3"/>
            <p:cNvSpPr/>
            <p:nvPr/>
          </p:nvSpPr>
          <p:spPr>
            <a:xfrm>
              <a:off x="1054674" y="1703288"/>
              <a:ext cx="2103120" cy="1484630"/>
            </a:xfrm>
            <a:custGeom>
              <a:avLst/>
              <a:gdLst/>
              <a:ahLst/>
              <a:cxnLst/>
              <a:rect l="l" t="t" r="r" b="b"/>
              <a:pathLst>
                <a:path w="2103120" h="1484630">
                  <a:moveTo>
                    <a:pt x="1952909" y="1484399"/>
                  </a:moveTo>
                  <a:lnTo>
                    <a:pt x="149790" y="1484399"/>
                  </a:lnTo>
                  <a:lnTo>
                    <a:pt x="102445" y="1476763"/>
                  </a:lnTo>
                  <a:lnTo>
                    <a:pt x="61326" y="1455499"/>
                  </a:lnTo>
                  <a:lnTo>
                    <a:pt x="28900" y="1423073"/>
                  </a:lnTo>
                  <a:lnTo>
                    <a:pt x="7636" y="1381954"/>
                  </a:lnTo>
                  <a:lnTo>
                    <a:pt x="0" y="1334609"/>
                  </a:lnTo>
                  <a:lnTo>
                    <a:pt x="0" y="149790"/>
                  </a:lnTo>
                  <a:lnTo>
                    <a:pt x="7636" y="102445"/>
                  </a:lnTo>
                  <a:lnTo>
                    <a:pt x="28900" y="61326"/>
                  </a:lnTo>
                  <a:lnTo>
                    <a:pt x="61326" y="28900"/>
                  </a:lnTo>
                  <a:lnTo>
                    <a:pt x="102445" y="7636"/>
                  </a:lnTo>
                  <a:lnTo>
                    <a:pt x="149790" y="0"/>
                  </a:lnTo>
                  <a:lnTo>
                    <a:pt x="1952909" y="0"/>
                  </a:lnTo>
                  <a:lnTo>
                    <a:pt x="2010231" y="11402"/>
                  </a:lnTo>
                  <a:lnTo>
                    <a:pt x="2058827" y="43872"/>
                  </a:lnTo>
                  <a:lnTo>
                    <a:pt x="2091297" y="92468"/>
                  </a:lnTo>
                  <a:lnTo>
                    <a:pt x="2102699" y="149790"/>
                  </a:lnTo>
                  <a:lnTo>
                    <a:pt x="2102699" y="1334609"/>
                  </a:lnTo>
                  <a:lnTo>
                    <a:pt x="2095063" y="1381954"/>
                  </a:lnTo>
                  <a:lnTo>
                    <a:pt x="2073799" y="1423073"/>
                  </a:lnTo>
                  <a:lnTo>
                    <a:pt x="2041373" y="1455499"/>
                  </a:lnTo>
                  <a:lnTo>
                    <a:pt x="2000254" y="1476763"/>
                  </a:lnTo>
                  <a:lnTo>
                    <a:pt x="1952909" y="1484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54674" y="1703288"/>
              <a:ext cx="2103120" cy="1484630"/>
            </a:xfrm>
            <a:custGeom>
              <a:avLst/>
              <a:gdLst/>
              <a:ahLst/>
              <a:cxnLst/>
              <a:rect l="l" t="t" r="r" b="b"/>
              <a:pathLst>
                <a:path w="2103120" h="1484630">
                  <a:moveTo>
                    <a:pt x="0" y="149790"/>
                  </a:moveTo>
                  <a:lnTo>
                    <a:pt x="7636" y="102445"/>
                  </a:lnTo>
                  <a:lnTo>
                    <a:pt x="28900" y="61326"/>
                  </a:lnTo>
                  <a:lnTo>
                    <a:pt x="61326" y="28900"/>
                  </a:lnTo>
                  <a:lnTo>
                    <a:pt x="102445" y="7636"/>
                  </a:lnTo>
                  <a:lnTo>
                    <a:pt x="149790" y="0"/>
                  </a:lnTo>
                  <a:lnTo>
                    <a:pt x="1952909" y="0"/>
                  </a:lnTo>
                  <a:lnTo>
                    <a:pt x="2010231" y="11402"/>
                  </a:lnTo>
                  <a:lnTo>
                    <a:pt x="2058827" y="43872"/>
                  </a:lnTo>
                  <a:lnTo>
                    <a:pt x="2091297" y="92468"/>
                  </a:lnTo>
                  <a:lnTo>
                    <a:pt x="2102699" y="149790"/>
                  </a:lnTo>
                  <a:lnTo>
                    <a:pt x="2102699" y="1334609"/>
                  </a:lnTo>
                  <a:lnTo>
                    <a:pt x="2095063" y="1381954"/>
                  </a:lnTo>
                  <a:lnTo>
                    <a:pt x="2073799" y="1423073"/>
                  </a:lnTo>
                  <a:lnTo>
                    <a:pt x="2041373" y="1455499"/>
                  </a:lnTo>
                  <a:lnTo>
                    <a:pt x="2000254" y="1476763"/>
                  </a:lnTo>
                  <a:lnTo>
                    <a:pt x="1952909" y="1484399"/>
                  </a:lnTo>
                  <a:lnTo>
                    <a:pt x="149790" y="1484399"/>
                  </a:lnTo>
                  <a:lnTo>
                    <a:pt x="102445" y="1476763"/>
                  </a:lnTo>
                  <a:lnTo>
                    <a:pt x="61326" y="1455499"/>
                  </a:lnTo>
                  <a:lnTo>
                    <a:pt x="28900" y="1423073"/>
                  </a:lnTo>
                  <a:lnTo>
                    <a:pt x="7636" y="1381954"/>
                  </a:lnTo>
                  <a:lnTo>
                    <a:pt x="0" y="1334609"/>
                  </a:lnTo>
                  <a:lnTo>
                    <a:pt x="0" y="14979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27129" y="2634191"/>
            <a:ext cx="4832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30" baseline="20833" dirty="0">
                <a:latin typeface="Arial MT"/>
                <a:cs typeface="Arial MT"/>
              </a:rPr>
              <a:t>h</a:t>
            </a:r>
            <a:r>
              <a:rPr sz="1600" spc="-20" dirty="0">
                <a:latin typeface="Arial MT"/>
                <a:cs typeface="Arial MT"/>
              </a:rPr>
              <a:t>t-</a:t>
            </a:r>
            <a:r>
              <a:rPr sz="1600" spc="-50" dirty="0"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34654" y="3334741"/>
            <a:ext cx="285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x</a:t>
            </a:r>
            <a:r>
              <a:rPr sz="2400" spc="-37" baseline="-31250" dirty="0">
                <a:latin typeface="Arial MT"/>
                <a:cs typeface="Arial MT"/>
              </a:rPr>
              <a:t>t</a:t>
            </a:r>
            <a:endParaRPr sz="2400" baseline="-312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1882" y="1891490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W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18812" y="1940900"/>
            <a:ext cx="316865" cy="316865"/>
            <a:chOff x="1918812" y="1940900"/>
            <a:chExt cx="316865" cy="316865"/>
          </a:xfrm>
        </p:grpSpPr>
        <p:sp>
          <p:nvSpPr>
            <p:cNvPr id="9" name="object 9"/>
            <p:cNvSpPr/>
            <p:nvPr/>
          </p:nvSpPr>
          <p:spPr>
            <a:xfrm>
              <a:off x="1923575" y="1945663"/>
              <a:ext cx="307340" cy="307340"/>
            </a:xfrm>
            <a:custGeom>
              <a:avLst/>
              <a:gdLst/>
              <a:ahLst/>
              <a:cxnLst/>
              <a:rect l="l" t="t" r="r" b="b"/>
              <a:pathLst>
                <a:path w="307339" h="307339">
                  <a:moveTo>
                    <a:pt x="153599" y="307199"/>
                  </a:moveTo>
                  <a:lnTo>
                    <a:pt x="105050" y="299369"/>
                  </a:lnTo>
                  <a:lnTo>
                    <a:pt x="62885" y="277564"/>
                  </a:lnTo>
                  <a:lnTo>
                    <a:pt x="29635" y="244314"/>
                  </a:lnTo>
                  <a:lnTo>
                    <a:pt x="7830" y="202149"/>
                  </a:lnTo>
                  <a:lnTo>
                    <a:pt x="0" y="153599"/>
                  </a:lnTo>
                  <a:lnTo>
                    <a:pt x="7830" y="105050"/>
                  </a:lnTo>
                  <a:lnTo>
                    <a:pt x="29635" y="62885"/>
                  </a:lnTo>
                  <a:lnTo>
                    <a:pt x="62885" y="29635"/>
                  </a:lnTo>
                  <a:lnTo>
                    <a:pt x="105050" y="7830"/>
                  </a:lnTo>
                  <a:lnTo>
                    <a:pt x="153599" y="0"/>
                  </a:lnTo>
                  <a:lnTo>
                    <a:pt x="183705" y="2978"/>
                  </a:lnTo>
                  <a:lnTo>
                    <a:pt x="238817" y="25806"/>
                  </a:lnTo>
                  <a:lnTo>
                    <a:pt x="281393" y="68382"/>
                  </a:lnTo>
                  <a:lnTo>
                    <a:pt x="304221" y="123494"/>
                  </a:lnTo>
                  <a:lnTo>
                    <a:pt x="307199" y="153599"/>
                  </a:lnTo>
                  <a:lnTo>
                    <a:pt x="299369" y="202149"/>
                  </a:lnTo>
                  <a:lnTo>
                    <a:pt x="277564" y="244314"/>
                  </a:lnTo>
                  <a:lnTo>
                    <a:pt x="244314" y="277564"/>
                  </a:lnTo>
                  <a:lnTo>
                    <a:pt x="202149" y="299369"/>
                  </a:lnTo>
                  <a:lnTo>
                    <a:pt x="153599" y="3071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23575" y="1945663"/>
              <a:ext cx="307340" cy="307340"/>
            </a:xfrm>
            <a:custGeom>
              <a:avLst/>
              <a:gdLst/>
              <a:ahLst/>
              <a:cxnLst/>
              <a:rect l="l" t="t" r="r" b="b"/>
              <a:pathLst>
                <a:path w="307339" h="307339">
                  <a:moveTo>
                    <a:pt x="0" y="153599"/>
                  </a:moveTo>
                  <a:lnTo>
                    <a:pt x="7830" y="105050"/>
                  </a:lnTo>
                  <a:lnTo>
                    <a:pt x="29635" y="62885"/>
                  </a:lnTo>
                  <a:lnTo>
                    <a:pt x="62885" y="29635"/>
                  </a:lnTo>
                  <a:lnTo>
                    <a:pt x="105050" y="7830"/>
                  </a:lnTo>
                  <a:lnTo>
                    <a:pt x="153599" y="0"/>
                  </a:lnTo>
                  <a:lnTo>
                    <a:pt x="212380" y="11692"/>
                  </a:lnTo>
                  <a:lnTo>
                    <a:pt x="262211" y="44988"/>
                  </a:lnTo>
                  <a:lnTo>
                    <a:pt x="295507" y="94819"/>
                  </a:lnTo>
                  <a:lnTo>
                    <a:pt x="307199" y="153599"/>
                  </a:lnTo>
                  <a:lnTo>
                    <a:pt x="299369" y="202149"/>
                  </a:lnTo>
                  <a:lnTo>
                    <a:pt x="277564" y="244314"/>
                  </a:lnTo>
                  <a:lnTo>
                    <a:pt x="244314" y="277564"/>
                  </a:lnTo>
                  <a:lnTo>
                    <a:pt x="202149" y="299369"/>
                  </a:lnTo>
                  <a:lnTo>
                    <a:pt x="153599" y="307199"/>
                  </a:lnTo>
                  <a:lnTo>
                    <a:pt x="105050" y="299369"/>
                  </a:lnTo>
                  <a:lnTo>
                    <a:pt x="62885" y="277564"/>
                  </a:lnTo>
                  <a:lnTo>
                    <a:pt x="29635" y="244314"/>
                  </a:lnTo>
                  <a:lnTo>
                    <a:pt x="7830" y="202149"/>
                  </a:lnTo>
                  <a:lnTo>
                    <a:pt x="0" y="1535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56941" y="2588932"/>
            <a:ext cx="4406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stack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4042" y="2058272"/>
            <a:ext cx="1442720" cy="1346835"/>
            <a:chOff x="684042" y="2058272"/>
            <a:chExt cx="1442720" cy="1346835"/>
          </a:xfrm>
        </p:grpSpPr>
        <p:sp>
          <p:nvSpPr>
            <p:cNvPr id="13" name="object 13"/>
            <p:cNvSpPr/>
            <p:nvPr/>
          </p:nvSpPr>
          <p:spPr>
            <a:xfrm>
              <a:off x="2077175" y="2947013"/>
              <a:ext cx="0" cy="448309"/>
            </a:xfrm>
            <a:custGeom>
              <a:avLst/>
              <a:gdLst/>
              <a:ahLst/>
              <a:cxnLst/>
              <a:rect l="l" t="t" r="r" b="b"/>
              <a:pathLst>
                <a:path h="448310">
                  <a:moveTo>
                    <a:pt x="0" y="4481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6184" y="2851037"/>
              <a:ext cx="81980" cy="1055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93567" y="2701069"/>
              <a:ext cx="935990" cy="0"/>
            </a:xfrm>
            <a:custGeom>
              <a:avLst/>
              <a:gdLst/>
              <a:ahLst/>
              <a:cxnLst/>
              <a:rect l="l" t="t" r="r" b="b"/>
              <a:pathLst>
                <a:path w="935989">
                  <a:moveTo>
                    <a:pt x="0" y="0"/>
                  </a:moveTo>
                  <a:lnTo>
                    <a:pt x="9353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9441" y="2660078"/>
              <a:ext cx="105500" cy="819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084225" y="2367161"/>
              <a:ext cx="1905" cy="238125"/>
            </a:xfrm>
            <a:custGeom>
              <a:avLst/>
              <a:gdLst/>
              <a:ahLst/>
              <a:cxnLst/>
              <a:rect l="l" t="t" r="r" b="b"/>
              <a:pathLst>
                <a:path w="1905" h="238125">
                  <a:moveTo>
                    <a:pt x="0" y="237901"/>
                  </a:moveTo>
                  <a:lnTo>
                    <a:pt x="1418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44653" y="2271187"/>
              <a:ext cx="81979" cy="10568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3917" y="2058272"/>
              <a:ext cx="324875" cy="8198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681800" y="1987125"/>
            <a:ext cx="3714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 MT"/>
                <a:cs typeface="Arial MT"/>
              </a:rPr>
              <a:t>tanh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99297" y="2519891"/>
            <a:ext cx="302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h</a:t>
            </a:r>
            <a:r>
              <a:rPr sz="2400" spc="-37" baseline="-31250" dirty="0">
                <a:latin typeface="Arial MT"/>
                <a:cs typeface="Arial MT"/>
              </a:rPr>
              <a:t>t</a:t>
            </a:r>
            <a:endParaRPr sz="2400" baseline="-3125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265567" y="1548462"/>
            <a:ext cx="1192530" cy="1220470"/>
            <a:chOff x="2265567" y="1548462"/>
            <a:chExt cx="1192530" cy="1220470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65567" y="2058272"/>
              <a:ext cx="3248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883124" y="2277313"/>
              <a:ext cx="478790" cy="450850"/>
            </a:xfrm>
            <a:custGeom>
              <a:avLst/>
              <a:gdLst/>
              <a:ahLst/>
              <a:cxnLst/>
              <a:rect l="l" t="t" r="r" b="b"/>
              <a:pathLst>
                <a:path w="478789" h="450850">
                  <a:moveTo>
                    <a:pt x="0" y="0"/>
                  </a:moveTo>
                  <a:lnTo>
                    <a:pt x="0" y="450299"/>
                  </a:lnTo>
                  <a:lnTo>
                    <a:pt x="478499" y="45029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2099" y="2686622"/>
              <a:ext cx="105500" cy="8198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887625" y="1644437"/>
              <a:ext cx="457834" cy="885190"/>
            </a:xfrm>
            <a:custGeom>
              <a:avLst/>
              <a:gdLst/>
              <a:ahLst/>
              <a:cxnLst/>
              <a:rect l="l" t="t" r="r" b="b"/>
              <a:pathLst>
                <a:path w="457835" h="885189">
                  <a:moveTo>
                    <a:pt x="0" y="884700"/>
                  </a:moveTo>
                  <a:lnTo>
                    <a:pt x="457500" y="884790"/>
                  </a:lnTo>
                  <a:lnTo>
                    <a:pt x="45750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4135" y="1548462"/>
              <a:ext cx="81981" cy="105500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22835" y="1823040"/>
            <a:ext cx="3904810" cy="1750455"/>
          </a:xfrm>
          <a:prstGeom prst="rect">
            <a:avLst/>
          </a:prstGeom>
        </p:spPr>
      </p:pic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299125" y="154059"/>
            <a:ext cx="45453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Vanilla</a:t>
            </a:r>
            <a:r>
              <a:rPr sz="3000" spc="-80" dirty="0"/>
              <a:t> </a:t>
            </a:r>
            <a:r>
              <a:rPr sz="3000" dirty="0"/>
              <a:t>RNN</a:t>
            </a:r>
            <a:r>
              <a:rPr sz="3000" spc="-80" dirty="0"/>
              <a:t> </a:t>
            </a:r>
            <a:r>
              <a:rPr sz="3000" dirty="0"/>
              <a:t>Gradient</a:t>
            </a:r>
            <a:r>
              <a:rPr sz="3000" spc="-80" dirty="0"/>
              <a:t> </a:t>
            </a:r>
            <a:r>
              <a:rPr sz="3000" spc="-20" dirty="0"/>
              <a:t>Flow</a:t>
            </a:r>
            <a:endParaRPr sz="3000"/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4294967295"/>
          </p:nvPr>
        </p:nvSpPr>
        <p:spPr>
          <a:xfrm>
            <a:off x="45232" y="4809899"/>
            <a:ext cx="2697968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lang="en-US" spc="-10" dirty="0">
                <a:solidFill>
                  <a:srgbClr val="FFFFFF"/>
                </a:solidFill>
              </a:rPr>
              <a:t>Master class 2026</a:t>
            </a:r>
            <a:endParaRPr lang="en-US" dirty="0"/>
          </a:p>
          <a:p>
            <a:pPr marL="12700">
              <a:lnSpc>
                <a:spcPts val="2310"/>
              </a:lnSpc>
            </a:pPr>
            <a:endParaRPr spc="-20" dirty="0"/>
          </a:p>
        </p:txBody>
      </p:sp>
      <p:sp>
        <p:nvSpPr>
          <p:cNvPr id="30" name="object 30"/>
          <p:cNvSpPr txBox="1"/>
          <p:nvPr/>
        </p:nvSpPr>
        <p:spPr>
          <a:xfrm>
            <a:off x="5769199" y="242811"/>
            <a:ext cx="31521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Bengio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et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al,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“Learning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long-</a:t>
            </a:r>
            <a:r>
              <a:rPr sz="800" dirty="0">
                <a:latin typeface="Arial MT"/>
                <a:cs typeface="Arial MT"/>
              </a:rPr>
              <a:t>term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dependencies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with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gradient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descent </a:t>
            </a:r>
            <a:r>
              <a:rPr sz="800" dirty="0">
                <a:latin typeface="Arial MT"/>
                <a:cs typeface="Arial MT"/>
              </a:rPr>
              <a:t>is</a:t>
            </a:r>
            <a:r>
              <a:rPr sz="800" spc="-10" dirty="0">
                <a:latin typeface="Arial MT"/>
                <a:cs typeface="Arial MT"/>
              </a:rPr>
              <a:t> difficult”, </a:t>
            </a:r>
            <a:r>
              <a:rPr sz="800" dirty="0">
                <a:latin typeface="Arial MT"/>
                <a:cs typeface="Arial MT"/>
              </a:rPr>
              <a:t>IEEE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Transactions </a:t>
            </a:r>
            <a:r>
              <a:rPr sz="800" dirty="0">
                <a:latin typeface="Arial MT"/>
                <a:cs typeface="Arial MT"/>
              </a:rPr>
              <a:t>on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Neural</a:t>
            </a:r>
            <a:r>
              <a:rPr sz="800" spc="-10" dirty="0">
                <a:latin typeface="Arial MT"/>
                <a:cs typeface="Arial MT"/>
              </a:rPr>
              <a:t> Networks, </a:t>
            </a:r>
            <a:r>
              <a:rPr sz="800" spc="-20" dirty="0">
                <a:latin typeface="Arial MT"/>
                <a:cs typeface="Arial MT"/>
              </a:rPr>
              <a:t>1994</a:t>
            </a:r>
            <a:endParaRPr sz="800">
              <a:latin typeface="Arial MT"/>
              <a:cs typeface="Arial MT"/>
            </a:endParaRPr>
          </a:p>
          <a:p>
            <a:pPr marL="12700" marR="13970">
              <a:lnSpc>
                <a:spcPct val="100000"/>
              </a:lnSpc>
            </a:pPr>
            <a:r>
              <a:rPr sz="800" spc="-10" dirty="0">
                <a:latin typeface="Arial MT"/>
                <a:cs typeface="Arial MT"/>
              </a:rPr>
              <a:t>Pascanu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et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al,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“On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difficulty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training recurrent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neural</a:t>
            </a:r>
            <a:r>
              <a:rPr sz="800" spc="-10" dirty="0">
                <a:latin typeface="Arial MT"/>
                <a:cs typeface="Arial MT"/>
              </a:rPr>
              <a:t> networks”, ICML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2013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02605" y="967466"/>
            <a:ext cx="285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y</a:t>
            </a:r>
            <a:r>
              <a:rPr sz="2400" spc="-37" baseline="-31250" dirty="0">
                <a:latin typeface="Arial MT"/>
                <a:cs typeface="Arial MT"/>
              </a:rPr>
              <a:t>t</a:t>
            </a:r>
            <a:endParaRPr sz="2400" baseline="-31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9912" y="1698525"/>
            <a:ext cx="2112645" cy="1494155"/>
            <a:chOff x="1049912" y="1698525"/>
            <a:chExt cx="2112645" cy="1494155"/>
          </a:xfrm>
        </p:grpSpPr>
        <p:sp>
          <p:nvSpPr>
            <p:cNvPr id="3" name="object 3"/>
            <p:cNvSpPr/>
            <p:nvPr/>
          </p:nvSpPr>
          <p:spPr>
            <a:xfrm>
              <a:off x="1054674" y="1703288"/>
              <a:ext cx="2103120" cy="1484630"/>
            </a:xfrm>
            <a:custGeom>
              <a:avLst/>
              <a:gdLst/>
              <a:ahLst/>
              <a:cxnLst/>
              <a:rect l="l" t="t" r="r" b="b"/>
              <a:pathLst>
                <a:path w="2103120" h="1484630">
                  <a:moveTo>
                    <a:pt x="1952909" y="1484399"/>
                  </a:moveTo>
                  <a:lnTo>
                    <a:pt x="149790" y="1484399"/>
                  </a:lnTo>
                  <a:lnTo>
                    <a:pt x="102445" y="1476763"/>
                  </a:lnTo>
                  <a:lnTo>
                    <a:pt x="61326" y="1455499"/>
                  </a:lnTo>
                  <a:lnTo>
                    <a:pt x="28900" y="1423073"/>
                  </a:lnTo>
                  <a:lnTo>
                    <a:pt x="7636" y="1381954"/>
                  </a:lnTo>
                  <a:lnTo>
                    <a:pt x="0" y="1334609"/>
                  </a:lnTo>
                  <a:lnTo>
                    <a:pt x="0" y="149790"/>
                  </a:lnTo>
                  <a:lnTo>
                    <a:pt x="7636" y="102445"/>
                  </a:lnTo>
                  <a:lnTo>
                    <a:pt x="28900" y="61326"/>
                  </a:lnTo>
                  <a:lnTo>
                    <a:pt x="61326" y="28900"/>
                  </a:lnTo>
                  <a:lnTo>
                    <a:pt x="102445" y="7636"/>
                  </a:lnTo>
                  <a:lnTo>
                    <a:pt x="149790" y="0"/>
                  </a:lnTo>
                  <a:lnTo>
                    <a:pt x="1952909" y="0"/>
                  </a:lnTo>
                  <a:lnTo>
                    <a:pt x="2010231" y="11402"/>
                  </a:lnTo>
                  <a:lnTo>
                    <a:pt x="2058827" y="43872"/>
                  </a:lnTo>
                  <a:lnTo>
                    <a:pt x="2091297" y="92468"/>
                  </a:lnTo>
                  <a:lnTo>
                    <a:pt x="2102699" y="149790"/>
                  </a:lnTo>
                  <a:lnTo>
                    <a:pt x="2102699" y="1334609"/>
                  </a:lnTo>
                  <a:lnTo>
                    <a:pt x="2095063" y="1381954"/>
                  </a:lnTo>
                  <a:lnTo>
                    <a:pt x="2073799" y="1423073"/>
                  </a:lnTo>
                  <a:lnTo>
                    <a:pt x="2041373" y="1455499"/>
                  </a:lnTo>
                  <a:lnTo>
                    <a:pt x="2000254" y="1476763"/>
                  </a:lnTo>
                  <a:lnTo>
                    <a:pt x="1952909" y="1484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54674" y="1703288"/>
              <a:ext cx="2103120" cy="1484630"/>
            </a:xfrm>
            <a:custGeom>
              <a:avLst/>
              <a:gdLst/>
              <a:ahLst/>
              <a:cxnLst/>
              <a:rect l="l" t="t" r="r" b="b"/>
              <a:pathLst>
                <a:path w="2103120" h="1484630">
                  <a:moveTo>
                    <a:pt x="0" y="149790"/>
                  </a:moveTo>
                  <a:lnTo>
                    <a:pt x="7636" y="102445"/>
                  </a:lnTo>
                  <a:lnTo>
                    <a:pt x="28900" y="61326"/>
                  </a:lnTo>
                  <a:lnTo>
                    <a:pt x="61326" y="28900"/>
                  </a:lnTo>
                  <a:lnTo>
                    <a:pt x="102445" y="7636"/>
                  </a:lnTo>
                  <a:lnTo>
                    <a:pt x="149790" y="0"/>
                  </a:lnTo>
                  <a:lnTo>
                    <a:pt x="1952909" y="0"/>
                  </a:lnTo>
                  <a:lnTo>
                    <a:pt x="2010231" y="11402"/>
                  </a:lnTo>
                  <a:lnTo>
                    <a:pt x="2058827" y="43872"/>
                  </a:lnTo>
                  <a:lnTo>
                    <a:pt x="2091297" y="92468"/>
                  </a:lnTo>
                  <a:lnTo>
                    <a:pt x="2102699" y="149790"/>
                  </a:lnTo>
                  <a:lnTo>
                    <a:pt x="2102699" y="1334609"/>
                  </a:lnTo>
                  <a:lnTo>
                    <a:pt x="2095063" y="1381954"/>
                  </a:lnTo>
                  <a:lnTo>
                    <a:pt x="2073799" y="1423073"/>
                  </a:lnTo>
                  <a:lnTo>
                    <a:pt x="2041373" y="1455499"/>
                  </a:lnTo>
                  <a:lnTo>
                    <a:pt x="2000254" y="1476763"/>
                  </a:lnTo>
                  <a:lnTo>
                    <a:pt x="1952909" y="1484399"/>
                  </a:lnTo>
                  <a:lnTo>
                    <a:pt x="149790" y="1484399"/>
                  </a:lnTo>
                  <a:lnTo>
                    <a:pt x="102445" y="1476763"/>
                  </a:lnTo>
                  <a:lnTo>
                    <a:pt x="61326" y="1455499"/>
                  </a:lnTo>
                  <a:lnTo>
                    <a:pt x="28900" y="1423073"/>
                  </a:lnTo>
                  <a:lnTo>
                    <a:pt x="7636" y="1381954"/>
                  </a:lnTo>
                  <a:lnTo>
                    <a:pt x="0" y="1334609"/>
                  </a:lnTo>
                  <a:lnTo>
                    <a:pt x="0" y="14979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27129" y="2634191"/>
            <a:ext cx="4832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30" baseline="20833" dirty="0">
                <a:latin typeface="Arial MT"/>
                <a:cs typeface="Arial MT"/>
              </a:rPr>
              <a:t>h</a:t>
            </a:r>
            <a:r>
              <a:rPr sz="1600" spc="-20" dirty="0">
                <a:latin typeface="Arial MT"/>
                <a:cs typeface="Arial MT"/>
              </a:rPr>
              <a:t>t-</a:t>
            </a:r>
            <a:r>
              <a:rPr sz="1600" spc="-50" dirty="0"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34654" y="3334741"/>
            <a:ext cx="285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x</a:t>
            </a:r>
            <a:r>
              <a:rPr sz="2400" spc="-37" baseline="-31250" dirty="0">
                <a:latin typeface="Arial MT"/>
                <a:cs typeface="Arial MT"/>
              </a:rPr>
              <a:t>t</a:t>
            </a:r>
            <a:endParaRPr sz="2400" baseline="-312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1882" y="1891490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W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18812" y="1940900"/>
            <a:ext cx="316865" cy="316865"/>
            <a:chOff x="1918812" y="1940900"/>
            <a:chExt cx="316865" cy="316865"/>
          </a:xfrm>
        </p:grpSpPr>
        <p:sp>
          <p:nvSpPr>
            <p:cNvPr id="9" name="object 9"/>
            <p:cNvSpPr/>
            <p:nvPr/>
          </p:nvSpPr>
          <p:spPr>
            <a:xfrm>
              <a:off x="1923575" y="1945663"/>
              <a:ext cx="307340" cy="307340"/>
            </a:xfrm>
            <a:custGeom>
              <a:avLst/>
              <a:gdLst/>
              <a:ahLst/>
              <a:cxnLst/>
              <a:rect l="l" t="t" r="r" b="b"/>
              <a:pathLst>
                <a:path w="307339" h="307339">
                  <a:moveTo>
                    <a:pt x="153599" y="307199"/>
                  </a:moveTo>
                  <a:lnTo>
                    <a:pt x="105050" y="299369"/>
                  </a:lnTo>
                  <a:lnTo>
                    <a:pt x="62885" y="277564"/>
                  </a:lnTo>
                  <a:lnTo>
                    <a:pt x="29635" y="244314"/>
                  </a:lnTo>
                  <a:lnTo>
                    <a:pt x="7830" y="202149"/>
                  </a:lnTo>
                  <a:lnTo>
                    <a:pt x="0" y="153599"/>
                  </a:lnTo>
                  <a:lnTo>
                    <a:pt x="7830" y="105050"/>
                  </a:lnTo>
                  <a:lnTo>
                    <a:pt x="29635" y="62885"/>
                  </a:lnTo>
                  <a:lnTo>
                    <a:pt x="62885" y="29635"/>
                  </a:lnTo>
                  <a:lnTo>
                    <a:pt x="105050" y="7830"/>
                  </a:lnTo>
                  <a:lnTo>
                    <a:pt x="153599" y="0"/>
                  </a:lnTo>
                  <a:lnTo>
                    <a:pt x="183705" y="2978"/>
                  </a:lnTo>
                  <a:lnTo>
                    <a:pt x="238817" y="25806"/>
                  </a:lnTo>
                  <a:lnTo>
                    <a:pt x="281393" y="68382"/>
                  </a:lnTo>
                  <a:lnTo>
                    <a:pt x="304221" y="123494"/>
                  </a:lnTo>
                  <a:lnTo>
                    <a:pt x="307199" y="153599"/>
                  </a:lnTo>
                  <a:lnTo>
                    <a:pt x="299369" y="202149"/>
                  </a:lnTo>
                  <a:lnTo>
                    <a:pt x="277564" y="244314"/>
                  </a:lnTo>
                  <a:lnTo>
                    <a:pt x="244314" y="277564"/>
                  </a:lnTo>
                  <a:lnTo>
                    <a:pt x="202149" y="299369"/>
                  </a:lnTo>
                  <a:lnTo>
                    <a:pt x="153599" y="3071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23575" y="1945663"/>
              <a:ext cx="307340" cy="307340"/>
            </a:xfrm>
            <a:custGeom>
              <a:avLst/>
              <a:gdLst/>
              <a:ahLst/>
              <a:cxnLst/>
              <a:rect l="l" t="t" r="r" b="b"/>
              <a:pathLst>
                <a:path w="307339" h="307339">
                  <a:moveTo>
                    <a:pt x="0" y="153599"/>
                  </a:moveTo>
                  <a:lnTo>
                    <a:pt x="7830" y="105050"/>
                  </a:lnTo>
                  <a:lnTo>
                    <a:pt x="29635" y="62885"/>
                  </a:lnTo>
                  <a:lnTo>
                    <a:pt x="62885" y="29635"/>
                  </a:lnTo>
                  <a:lnTo>
                    <a:pt x="105050" y="7830"/>
                  </a:lnTo>
                  <a:lnTo>
                    <a:pt x="153599" y="0"/>
                  </a:lnTo>
                  <a:lnTo>
                    <a:pt x="212380" y="11692"/>
                  </a:lnTo>
                  <a:lnTo>
                    <a:pt x="262211" y="44988"/>
                  </a:lnTo>
                  <a:lnTo>
                    <a:pt x="295507" y="94819"/>
                  </a:lnTo>
                  <a:lnTo>
                    <a:pt x="307199" y="153599"/>
                  </a:lnTo>
                  <a:lnTo>
                    <a:pt x="299369" y="202149"/>
                  </a:lnTo>
                  <a:lnTo>
                    <a:pt x="277564" y="244314"/>
                  </a:lnTo>
                  <a:lnTo>
                    <a:pt x="244314" y="277564"/>
                  </a:lnTo>
                  <a:lnTo>
                    <a:pt x="202149" y="299369"/>
                  </a:lnTo>
                  <a:lnTo>
                    <a:pt x="153599" y="307199"/>
                  </a:lnTo>
                  <a:lnTo>
                    <a:pt x="105050" y="299369"/>
                  </a:lnTo>
                  <a:lnTo>
                    <a:pt x="62885" y="277564"/>
                  </a:lnTo>
                  <a:lnTo>
                    <a:pt x="29635" y="244314"/>
                  </a:lnTo>
                  <a:lnTo>
                    <a:pt x="7830" y="202149"/>
                  </a:lnTo>
                  <a:lnTo>
                    <a:pt x="0" y="1535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56941" y="2588932"/>
            <a:ext cx="4406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stack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4042" y="2058272"/>
            <a:ext cx="1442720" cy="1346835"/>
            <a:chOff x="684042" y="2058272"/>
            <a:chExt cx="1442720" cy="1346835"/>
          </a:xfrm>
        </p:grpSpPr>
        <p:sp>
          <p:nvSpPr>
            <p:cNvPr id="13" name="object 13"/>
            <p:cNvSpPr/>
            <p:nvPr/>
          </p:nvSpPr>
          <p:spPr>
            <a:xfrm>
              <a:off x="2077175" y="2947013"/>
              <a:ext cx="0" cy="448309"/>
            </a:xfrm>
            <a:custGeom>
              <a:avLst/>
              <a:gdLst/>
              <a:ahLst/>
              <a:cxnLst/>
              <a:rect l="l" t="t" r="r" b="b"/>
              <a:pathLst>
                <a:path h="448310">
                  <a:moveTo>
                    <a:pt x="0" y="4481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6184" y="2851037"/>
              <a:ext cx="81980" cy="1055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93567" y="2701069"/>
              <a:ext cx="935990" cy="0"/>
            </a:xfrm>
            <a:custGeom>
              <a:avLst/>
              <a:gdLst/>
              <a:ahLst/>
              <a:cxnLst/>
              <a:rect l="l" t="t" r="r" b="b"/>
              <a:pathLst>
                <a:path w="935989">
                  <a:moveTo>
                    <a:pt x="0" y="0"/>
                  </a:moveTo>
                  <a:lnTo>
                    <a:pt x="9353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9441" y="2660078"/>
              <a:ext cx="105500" cy="819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084225" y="2367161"/>
              <a:ext cx="1905" cy="238125"/>
            </a:xfrm>
            <a:custGeom>
              <a:avLst/>
              <a:gdLst/>
              <a:ahLst/>
              <a:cxnLst/>
              <a:rect l="l" t="t" r="r" b="b"/>
              <a:pathLst>
                <a:path w="1905" h="238125">
                  <a:moveTo>
                    <a:pt x="0" y="237901"/>
                  </a:moveTo>
                  <a:lnTo>
                    <a:pt x="1418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44653" y="2271187"/>
              <a:ext cx="81979" cy="10568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3917" y="2058272"/>
              <a:ext cx="324875" cy="8198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681800" y="1987125"/>
            <a:ext cx="3714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 MT"/>
                <a:cs typeface="Arial MT"/>
              </a:rPr>
              <a:t>tanh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99297" y="2519891"/>
            <a:ext cx="302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h</a:t>
            </a:r>
            <a:r>
              <a:rPr sz="2400" spc="-37" baseline="-31250" dirty="0">
                <a:latin typeface="Arial MT"/>
                <a:cs typeface="Arial MT"/>
              </a:rPr>
              <a:t>t</a:t>
            </a:r>
            <a:endParaRPr sz="2400" baseline="-3125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47024" y="1548462"/>
            <a:ext cx="2652395" cy="1325880"/>
            <a:chOff x="847024" y="1548462"/>
            <a:chExt cx="2652395" cy="1325880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65568" y="2058272"/>
              <a:ext cx="3248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883124" y="2277313"/>
              <a:ext cx="478790" cy="450850"/>
            </a:xfrm>
            <a:custGeom>
              <a:avLst/>
              <a:gdLst/>
              <a:ahLst/>
              <a:cxnLst/>
              <a:rect l="l" t="t" r="r" b="b"/>
              <a:pathLst>
                <a:path w="478789" h="450850">
                  <a:moveTo>
                    <a:pt x="0" y="0"/>
                  </a:moveTo>
                  <a:lnTo>
                    <a:pt x="0" y="450299"/>
                  </a:lnTo>
                  <a:lnTo>
                    <a:pt x="478499" y="45029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2100" y="2686622"/>
              <a:ext cx="105500" cy="8198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50099" y="2367174"/>
              <a:ext cx="740410" cy="465455"/>
            </a:xfrm>
            <a:custGeom>
              <a:avLst/>
              <a:gdLst/>
              <a:ahLst/>
              <a:cxnLst/>
              <a:rect l="l" t="t" r="r" b="b"/>
              <a:pathLst>
                <a:path w="740410" h="465455">
                  <a:moveTo>
                    <a:pt x="739799" y="465299"/>
                  </a:moveTo>
                  <a:lnTo>
                    <a:pt x="0" y="465299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9109" y="2271199"/>
              <a:ext cx="81980" cy="1055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60694" y="2165506"/>
              <a:ext cx="344975" cy="8198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82584" y="2275375"/>
              <a:ext cx="81980" cy="28887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943000" y="2832725"/>
              <a:ext cx="806450" cy="0"/>
            </a:xfrm>
            <a:custGeom>
              <a:avLst/>
              <a:gdLst/>
              <a:ahLst/>
              <a:cxnLst/>
              <a:rect l="l" t="t" r="r" b="b"/>
              <a:pathLst>
                <a:path w="806450">
                  <a:moveTo>
                    <a:pt x="8063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7024" y="2791734"/>
              <a:ext cx="105500" cy="8198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887626" y="1644437"/>
              <a:ext cx="457834" cy="885190"/>
            </a:xfrm>
            <a:custGeom>
              <a:avLst/>
              <a:gdLst/>
              <a:ahLst/>
              <a:cxnLst/>
              <a:rect l="l" t="t" r="r" b="b"/>
              <a:pathLst>
                <a:path w="457835" h="885189">
                  <a:moveTo>
                    <a:pt x="0" y="884700"/>
                  </a:moveTo>
                  <a:lnTo>
                    <a:pt x="457500" y="884790"/>
                  </a:lnTo>
                  <a:lnTo>
                    <a:pt x="45750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4135" y="1548462"/>
              <a:ext cx="81981" cy="1055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43897" y="2171391"/>
              <a:ext cx="317602" cy="81977"/>
            </a:xfrm>
            <a:prstGeom prst="rect">
              <a:avLst/>
            </a:prstGeom>
          </p:spPr>
        </p:pic>
      </p:grpSp>
      <p:pic>
        <p:nvPicPr>
          <p:cNvPr id="35" name="object 3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822835" y="1823040"/>
            <a:ext cx="3904810" cy="1750455"/>
          </a:xfrm>
          <a:prstGeom prst="rect">
            <a:avLst/>
          </a:prstGeom>
        </p:spPr>
      </p:pic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299125" y="154059"/>
            <a:ext cx="45453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Vanilla</a:t>
            </a:r>
            <a:r>
              <a:rPr sz="3000" spc="-80" dirty="0"/>
              <a:t> </a:t>
            </a:r>
            <a:r>
              <a:rPr sz="3000" dirty="0"/>
              <a:t>RNN</a:t>
            </a:r>
            <a:r>
              <a:rPr sz="3000" spc="-80" dirty="0"/>
              <a:t> </a:t>
            </a:r>
            <a:r>
              <a:rPr sz="3000" dirty="0"/>
              <a:t>Gradient</a:t>
            </a:r>
            <a:r>
              <a:rPr sz="3000" spc="-80" dirty="0"/>
              <a:t> </a:t>
            </a:r>
            <a:r>
              <a:rPr sz="3000" spc="-20" dirty="0"/>
              <a:t>Flow</a:t>
            </a:r>
            <a:endParaRPr sz="3000"/>
          </a:p>
        </p:txBody>
      </p:sp>
      <p:sp>
        <p:nvSpPr>
          <p:cNvPr id="47" name="object 47"/>
          <p:cNvSpPr txBox="1"/>
          <p:nvPr/>
        </p:nvSpPr>
        <p:spPr>
          <a:xfrm>
            <a:off x="145225" y="4807709"/>
            <a:ext cx="352552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sz="1800" spc="-10" dirty="0">
                <a:solidFill>
                  <a:srgbClr val="FFFFFF"/>
                </a:solidFill>
                <a:latin typeface="Arial MT"/>
                <a:cs typeface="Arial MT"/>
              </a:rPr>
              <a:t>Master class 2026</a:t>
            </a:r>
            <a:endParaRPr lang="en-US" sz="1800" dirty="0">
              <a:latin typeface="Arial MT"/>
              <a:cs typeface="Arial MT"/>
            </a:endParaRPr>
          </a:p>
          <a:p>
            <a:pPr marL="12700">
              <a:lnSpc>
                <a:spcPts val="2090"/>
              </a:lnSpc>
            </a:pPr>
            <a:endParaRPr sz="1800" dirty="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43200" y="846301"/>
            <a:ext cx="199643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Backpropagation</a:t>
            </a:r>
            <a:r>
              <a:rPr sz="14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from</a:t>
            </a:r>
            <a:r>
              <a:rPr sz="14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0000"/>
                </a:solidFill>
                <a:latin typeface="Arial MT"/>
                <a:cs typeface="Arial MT"/>
              </a:rPr>
              <a:t>h</a:t>
            </a:r>
            <a:r>
              <a:rPr sz="1350" spc="-37" baseline="-33950" dirty="0">
                <a:solidFill>
                  <a:srgbClr val="FF0000"/>
                </a:solidFill>
                <a:latin typeface="Arial MT"/>
                <a:cs typeface="Arial MT"/>
              </a:rPr>
              <a:t>t </a:t>
            </a: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14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h</a:t>
            </a:r>
            <a:r>
              <a:rPr sz="1350" baseline="-33950" dirty="0">
                <a:solidFill>
                  <a:srgbClr val="FF0000"/>
                </a:solidFill>
                <a:latin typeface="Arial MT"/>
                <a:cs typeface="Arial MT"/>
              </a:rPr>
              <a:t>t-1</a:t>
            </a:r>
            <a:r>
              <a:rPr sz="1350" spc="209" baseline="-339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multiplies by </a:t>
            </a:r>
            <a:r>
              <a:rPr sz="1400" spc="-50" dirty="0">
                <a:solidFill>
                  <a:srgbClr val="FF0000"/>
                </a:solidFill>
                <a:latin typeface="Arial MT"/>
                <a:cs typeface="Arial MT"/>
              </a:rPr>
              <a:t>W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68600" y="1273021"/>
            <a:ext cx="9048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(actually</a:t>
            </a:r>
            <a:r>
              <a:rPr sz="14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FF0000"/>
                </a:solidFill>
                <a:latin typeface="Arial MT"/>
                <a:cs typeface="Arial MT"/>
              </a:rPr>
              <a:t>W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947385" y="1398962"/>
            <a:ext cx="157480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-25" dirty="0">
                <a:solidFill>
                  <a:srgbClr val="FF0000"/>
                </a:solidFill>
                <a:latin typeface="Arial MT"/>
                <a:cs typeface="Arial MT"/>
              </a:rPr>
              <a:t>hh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053755" y="1206346"/>
            <a:ext cx="20827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0000"/>
                </a:solidFill>
                <a:latin typeface="Arial MT"/>
                <a:cs typeface="Arial MT"/>
              </a:rPr>
              <a:t>T</a:t>
            </a:r>
            <a:r>
              <a:rPr sz="2100" spc="-37" baseline="-21825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endParaRPr sz="2100" baseline="-21825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769199" y="242811"/>
            <a:ext cx="31521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Bengio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et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al,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“Learning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long-</a:t>
            </a:r>
            <a:r>
              <a:rPr sz="800" dirty="0">
                <a:latin typeface="Arial MT"/>
                <a:cs typeface="Arial MT"/>
              </a:rPr>
              <a:t>term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dependencies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with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gradient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descent </a:t>
            </a:r>
            <a:r>
              <a:rPr sz="800" dirty="0">
                <a:latin typeface="Arial MT"/>
                <a:cs typeface="Arial MT"/>
              </a:rPr>
              <a:t>is</a:t>
            </a:r>
            <a:r>
              <a:rPr sz="800" spc="-10" dirty="0">
                <a:latin typeface="Arial MT"/>
                <a:cs typeface="Arial MT"/>
              </a:rPr>
              <a:t> difficult”, </a:t>
            </a:r>
            <a:r>
              <a:rPr sz="800" dirty="0">
                <a:latin typeface="Arial MT"/>
                <a:cs typeface="Arial MT"/>
              </a:rPr>
              <a:t>IEEE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Transactions </a:t>
            </a:r>
            <a:r>
              <a:rPr sz="800" dirty="0">
                <a:latin typeface="Arial MT"/>
                <a:cs typeface="Arial MT"/>
              </a:rPr>
              <a:t>on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Neural</a:t>
            </a:r>
            <a:r>
              <a:rPr sz="800" spc="-10" dirty="0">
                <a:latin typeface="Arial MT"/>
                <a:cs typeface="Arial MT"/>
              </a:rPr>
              <a:t> Networks, </a:t>
            </a:r>
            <a:r>
              <a:rPr sz="800" spc="-20" dirty="0">
                <a:latin typeface="Arial MT"/>
                <a:cs typeface="Arial MT"/>
              </a:rPr>
              <a:t>1994</a:t>
            </a:r>
            <a:endParaRPr sz="800">
              <a:latin typeface="Arial MT"/>
              <a:cs typeface="Arial MT"/>
            </a:endParaRPr>
          </a:p>
          <a:p>
            <a:pPr marL="12700" marR="13970">
              <a:lnSpc>
                <a:spcPct val="100000"/>
              </a:lnSpc>
            </a:pPr>
            <a:r>
              <a:rPr sz="800" spc="-10" dirty="0">
                <a:latin typeface="Arial MT"/>
                <a:cs typeface="Arial MT"/>
              </a:rPr>
              <a:t>Pascanu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et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al,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“On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difficulty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training recurrent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neural</a:t>
            </a:r>
            <a:r>
              <a:rPr sz="800" spc="-10" dirty="0">
                <a:latin typeface="Arial MT"/>
                <a:cs typeface="Arial MT"/>
              </a:rPr>
              <a:t> networks”, ICML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2013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28005" y="96746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380405" y="1183366"/>
            <a:ext cx="819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Arial MT"/>
                <a:cs typeface="Arial MT"/>
              </a:rPr>
              <a:t>t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9912" y="1698525"/>
            <a:ext cx="2112645" cy="1494155"/>
            <a:chOff x="1049912" y="1698525"/>
            <a:chExt cx="2112645" cy="1494155"/>
          </a:xfrm>
        </p:grpSpPr>
        <p:sp>
          <p:nvSpPr>
            <p:cNvPr id="3" name="object 3"/>
            <p:cNvSpPr/>
            <p:nvPr/>
          </p:nvSpPr>
          <p:spPr>
            <a:xfrm>
              <a:off x="1054674" y="1703288"/>
              <a:ext cx="2103120" cy="1484630"/>
            </a:xfrm>
            <a:custGeom>
              <a:avLst/>
              <a:gdLst/>
              <a:ahLst/>
              <a:cxnLst/>
              <a:rect l="l" t="t" r="r" b="b"/>
              <a:pathLst>
                <a:path w="2103120" h="1484630">
                  <a:moveTo>
                    <a:pt x="1952909" y="1484399"/>
                  </a:moveTo>
                  <a:lnTo>
                    <a:pt x="149790" y="1484399"/>
                  </a:lnTo>
                  <a:lnTo>
                    <a:pt x="102445" y="1476763"/>
                  </a:lnTo>
                  <a:lnTo>
                    <a:pt x="61326" y="1455499"/>
                  </a:lnTo>
                  <a:lnTo>
                    <a:pt x="28900" y="1423073"/>
                  </a:lnTo>
                  <a:lnTo>
                    <a:pt x="7636" y="1381954"/>
                  </a:lnTo>
                  <a:lnTo>
                    <a:pt x="0" y="1334609"/>
                  </a:lnTo>
                  <a:lnTo>
                    <a:pt x="0" y="149790"/>
                  </a:lnTo>
                  <a:lnTo>
                    <a:pt x="7636" y="102445"/>
                  </a:lnTo>
                  <a:lnTo>
                    <a:pt x="28900" y="61326"/>
                  </a:lnTo>
                  <a:lnTo>
                    <a:pt x="61326" y="28900"/>
                  </a:lnTo>
                  <a:lnTo>
                    <a:pt x="102445" y="7636"/>
                  </a:lnTo>
                  <a:lnTo>
                    <a:pt x="149790" y="0"/>
                  </a:lnTo>
                  <a:lnTo>
                    <a:pt x="1952909" y="0"/>
                  </a:lnTo>
                  <a:lnTo>
                    <a:pt x="2010231" y="11402"/>
                  </a:lnTo>
                  <a:lnTo>
                    <a:pt x="2058827" y="43872"/>
                  </a:lnTo>
                  <a:lnTo>
                    <a:pt x="2091297" y="92468"/>
                  </a:lnTo>
                  <a:lnTo>
                    <a:pt x="2102699" y="149790"/>
                  </a:lnTo>
                  <a:lnTo>
                    <a:pt x="2102699" y="1334609"/>
                  </a:lnTo>
                  <a:lnTo>
                    <a:pt x="2095063" y="1381954"/>
                  </a:lnTo>
                  <a:lnTo>
                    <a:pt x="2073799" y="1423073"/>
                  </a:lnTo>
                  <a:lnTo>
                    <a:pt x="2041373" y="1455499"/>
                  </a:lnTo>
                  <a:lnTo>
                    <a:pt x="2000254" y="1476763"/>
                  </a:lnTo>
                  <a:lnTo>
                    <a:pt x="1952909" y="1484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54674" y="1703288"/>
              <a:ext cx="2103120" cy="1484630"/>
            </a:xfrm>
            <a:custGeom>
              <a:avLst/>
              <a:gdLst/>
              <a:ahLst/>
              <a:cxnLst/>
              <a:rect l="l" t="t" r="r" b="b"/>
              <a:pathLst>
                <a:path w="2103120" h="1484630">
                  <a:moveTo>
                    <a:pt x="0" y="149790"/>
                  </a:moveTo>
                  <a:lnTo>
                    <a:pt x="7636" y="102445"/>
                  </a:lnTo>
                  <a:lnTo>
                    <a:pt x="28900" y="61326"/>
                  </a:lnTo>
                  <a:lnTo>
                    <a:pt x="61326" y="28900"/>
                  </a:lnTo>
                  <a:lnTo>
                    <a:pt x="102445" y="7636"/>
                  </a:lnTo>
                  <a:lnTo>
                    <a:pt x="149790" y="0"/>
                  </a:lnTo>
                  <a:lnTo>
                    <a:pt x="1952909" y="0"/>
                  </a:lnTo>
                  <a:lnTo>
                    <a:pt x="2010231" y="11402"/>
                  </a:lnTo>
                  <a:lnTo>
                    <a:pt x="2058827" y="43872"/>
                  </a:lnTo>
                  <a:lnTo>
                    <a:pt x="2091297" y="92468"/>
                  </a:lnTo>
                  <a:lnTo>
                    <a:pt x="2102699" y="149790"/>
                  </a:lnTo>
                  <a:lnTo>
                    <a:pt x="2102699" y="1334609"/>
                  </a:lnTo>
                  <a:lnTo>
                    <a:pt x="2095063" y="1381954"/>
                  </a:lnTo>
                  <a:lnTo>
                    <a:pt x="2073799" y="1423073"/>
                  </a:lnTo>
                  <a:lnTo>
                    <a:pt x="2041373" y="1455499"/>
                  </a:lnTo>
                  <a:lnTo>
                    <a:pt x="2000254" y="1476763"/>
                  </a:lnTo>
                  <a:lnTo>
                    <a:pt x="1952909" y="1484399"/>
                  </a:lnTo>
                  <a:lnTo>
                    <a:pt x="149790" y="1484399"/>
                  </a:lnTo>
                  <a:lnTo>
                    <a:pt x="102445" y="1476763"/>
                  </a:lnTo>
                  <a:lnTo>
                    <a:pt x="61326" y="1455499"/>
                  </a:lnTo>
                  <a:lnTo>
                    <a:pt x="28900" y="1423073"/>
                  </a:lnTo>
                  <a:lnTo>
                    <a:pt x="7636" y="1381954"/>
                  </a:lnTo>
                  <a:lnTo>
                    <a:pt x="0" y="1334609"/>
                  </a:lnTo>
                  <a:lnTo>
                    <a:pt x="0" y="14979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27129" y="2634191"/>
            <a:ext cx="4832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30" baseline="20833" dirty="0">
                <a:latin typeface="Arial MT"/>
                <a:cs typeface="Arial MT"/>
              </a:rPr>
              <a:t>h</a:t>
            </a:r>
            <a:r>
              <a:rPr sz="1600" spc="-20" dirty="0">
                <a:latin typeface="Arial MT"/>
                <a:cs typeface="Arial MT"/>
              </a:rPr>
              <a:t>t-</a:t>
            </a:r>
            <a:r>
              <a:rPr sz="1600" spc="-50" dirty="0"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34654" y="3334741"/>
            <a:ext cx="285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x</a:t>
            </a:r>
            <a:r>
              <a:rPr sz="2400" spc="-37" baseline="-31250" dirty="0">
                <a:latin typeface="Arial MT"/>
                <a:cs typeface="Arial MT"/>
              </a:rPr>
              <a:t>t</a:t>
            </a:r>
            <a:endParaRPr sz="2400" baseline="-312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1882" y="1891490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W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18812" y="1940900"/>
            <a:ext cx="316865" cy="316865"/>
            <a:chOff x="1918812" y="1940900"/>
            <a:chExt cx="316865" cy="316865"/>
          </a:xfrm>
        </p:grpSpPr>
        <p:sp>
          <p:nvSpPr>
            <p:cNvPr id="9" name="object 9"/>
            <p:cNvSpPr/>
            <p:nvPr/>
          </p:nvSpPr>
          <p:spPr>
            <a:xfrm>
              <a:off x="1923575" y="1945663"/>
              <a:ext cx="307340" cy="307340"/>
            </a:xfrm>
            <a:custGeom>
              <a:avLst/>
              <a:gdLst/>
              <a:ahLst/>
              <a:cxnLst/>
              <a:rect l="l" t="t" r="r" b="b"/>
              <a:pathLst>
                <a:path w="307339" h="307339">
                  <a:moveTo>
                    <a:pt x="153599" y="307199"/>
                  </a:moveTo>
                  <a:lnTo>
                    <a:pt x="105050" y="299369"/>
                  </a:lnTo>
                  <a:lnTo>
                    <a:pt x="62885" y="277564"/>
                  </a:lnTo>
                  <a:lnTo>
                    <a:pt x="29635" y="244314"/>
                  </a:lnTo>
                  <a:lnTo>
                    <a:pt x="7830" y="202149"/>
                  </a:lnTo>
                  <a:lnTo>
                    <a:pt x="0" y="153599"/>
                  </a:lnTo>
                  <a:lnTo>
                    <a:pt x="7830" y="105050"/>
                  </a:lnTo>
                  <a:lnTo>
                    <a:pt x="29635" y="62885"/>
                  </a:lnTo>
                  <a:lnTo>
                    <a:pt x="62885" y="29635"/>
                  </a:lnTo>
                  <a:lnTo>
                    <a:pt x="105050" y="7830"/>
                  </a:lnTo>
                  <a:lnTo>
                    <a:pt x="153599" y="0"/>
                  </a:lnTo>
                  <a:lnTo>
                    <a:pt x="183705" y="2978"/>
                  </a:lnTo>
                  <a:lnTo>
                    <a:pt x="238817" y="25806"/>
                  </a:lnTo>
                  <a:lnTo>
                    <a:pt x="281393" y="68382"/>
                  </a:lnTo>
                  <a:lnTo>
                    <a:pt x="304221" y="123494"/>
                  </a:lnTo>
                  <a:lnTo>
                    <a:pt x="307199" y="153599"/>
                  </a:lnTo>
                  <a:lnTo>
                    <a:pt x="299369" y="202149"/>
                  </a:lnTo>
                  <a:lnTo>
                    <a:pt x="277564" y="244314"/>
                  </a:lnTo>
                  <a:lnTo>
                    <a:pt x="244314" y="277564"/>
                  </a:lnTo>
                  <a:lnTo>
                    <a:pt x="202149" y="299369"/>
                  </a:lnTo>
                  <a:lnTo>
                    <a:pt x="153599" y="3071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23575" y="1945663"/>
              <a:ext cx="307340" cy="307340"/>
            </a:xfrm>
            <a:custGeom>
              <a:avLst/>
              <a:gdLst/>
              <a:ahLst/>
              <a:cxnLst/>
              <a:rect l="l" t="t" r="r" b="b"/>
              <a:pathLst>
                <a:path w="307339" h="307339">
                  <a:moveTo>
                    <a:pt x="0" y="153599"/>
                  </a:moveTo>
                  <a:lnTo>
                    <a:pt x="7830" y="105050"/>
                  </a:lnTo>
                  <a:lnTo>
                    <a:pt x="29635" y="62885"/>
                  </a:lnTo>
                  <a:lnTo>
                    <a:pt x="62885" y="29635"/>
                  </a:lnTo>
                  <a:lnTo>
                    <a:pt x="105050" y="7830"/>
                  </a:lnTo>
                  <a:lnTo>
                    <a:pt x="153599" y="0"/>
                  </a:lnTo>
                  <a:lnTo>
                    <a:pt x="212380" y="11692"/>
                  </a:lnTo>
                  <a:lnTo>
                    <a:pt x="262211" y="44988"/>
                  </a:lnTo>
                  <a:lnTo>
                    <a:pt x="295507" y="94819"/>
                  </a:lnTo>
                  <a:lnTo>
                    <a:pt x="307199" y="153599"/>
                  </a:lnTo>
                  <a:lnTo>
                    <a:pt x="299369" y="202149"/>
                  </a:lnTo>
                  <a:lnTo>
                    <a:pt x="277564" y="244314"/>
                  </a:lnTo>
                  <a:lnTo>
                    <a:pt x="244314" y="277564"/>
                  </a:lnTo>
                  <a:lnTo>
                    <a:pt x="202149" y="299369"/>
                  </a:lnTo>
                  <a:lnTo>
                    <a:pt x="153599" y="307199"/>
                  </a:lnTo>
                  <a:lnTo>
                    <a:pt x="105050" y="299369"/>
                  </a:lnTo>
                  <a:lnTo>
                    <a:pt x="62885" y="277564"/>
                  </a:lnTo>
                  <a:lnTo>
                    <a:pt x="29635" y="244314"/>
                  </a:lnTo>
                  <a:lnTo>
                    <a:pt x="7830" y="202149"/>
                  </a:lnTo>
                  <a:lnTo>
                    <a:pt x="0" y="1535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56941" y="2588932"/>
            <a:ext cx="4406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stack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4042" y="2058272"/>
            <a:ext cx="1442720" cy="1346835"/>
            <a:chOff x="684042" y="2058272"/>
            <a:chExt cx="1442720" cy="1346835"/>
          </a:xfrm>
        </p:grpSpPr>
        <p:sp>
          <p:nvSpPr>
            <p:cNvPr id="13" name="object 13"/>
            <p:cNvSpPr/>
            <p:nvPr/>
          </p:nvSpPr>
          <p:spPr>
            <a:xfrm>
              <a:off x="2077175" y="2947013"/>
              <a:ext cx="0" cy="448309"/>
            </a:xfrm>
            <a:custGeom>
              <a:avLst/>
              <a:gdLst/>
              <a:ahLst/>
              <a:cxnLst/>
              <a:rect l="l" t="t" r="r" b="b"/>
              <a:pathLst>
                <a:path h="448310">
                  <a:moveTo>
                    <a:pt x="0" y="4481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6184" y="2851037"/>
              <a:ext cx="81980" cy="1055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93567" y="2701069"/>
              <a:ext cx="935990" cy="0"/>
            </a:xfrm>
            <a:custGeom>
              <a:avLst/>
              <a:gdLst/>
              <a:ahLst/>
              <a:cxnLst/>
              <a:rect l="l" t="t" r="r" b="b"/>
              <a:pathLst>
                <a:path w="935989">
                  <a:moveTo>
                    <a:pt x="0" y="0"/>
                  </a:moveTo>
                  <a:lnTo>
                    <a:pt x="9353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9441" y="2660078"/>
              <a:ext cx="105500" cy="819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084225" y="2367161"/>
              <a:ext cx="1905" cy="238125"/>
            </a:xfrm>
            <a:custGeom>
              <a:avLst/>
              <a:gdLst/>
              <a:ahLst/>
              <a:cxnLst/>
              <a:rect l="l" t="t" r="r" b="b"/>
              <a:pathLst>
                <a:path w="1905" h="238125">
                  <a:moveTo>
                    <a:pt x="0" y="237901"/>
                  </a:moveTo>
                  <a:lnTo>
                    <a:pt x="1418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44653" y="2271187"/>
              <a:ext cx="81979" cy="10568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3917" y="2058272"/>
              <a:ext cx="324875" cy="8198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681800" y="1987125"/>
            <a:ext cx="3714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 MT"/>
                <a:cs typeface="Arial MT"/>
              </a:rPr>
              <a:t>tanh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99297" y="2519891"/>
            <a:ext cx="302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h</a:t>
            </a:r>
            <a:r>
              <a:rPr sz="2400" spc="-37" baseline="-31250" dirty="0">
                <a:latin typeface="Arial MT"/>
                <a:cs typeface="Arial MT"/>
              </a:rPr>
              <a:t>t</a:t>
            </a:r>
            <a:endParaRPr sz="2400" baseline="-3125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47024" y="1548462"/>
            <a:ext cx="2652395" cy="1325880"/>
            <a:chOff x="847024" y="1548462"/>
            <a:chExt cx="2652395" cy="1325880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65568" y="2058272"/>
              <a:ext cx="3248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883124" y="2277313"/>
              <a:ext cx="478790" cy="450850"/>
            </a:xfrm>
            <a:custGeom>
              <a:avLst/>
              <a:gdLst/>
              <a:ahLst/>
              <a:cxnLst/>
              <a:rect l="l" t="t" r="r" b="b"/>
              <a:pathLst>
                <a:path w="478789" h="450850">
                  <a:moveTo>
                    <a:pt x="0" y="0"/>
                  </a:moveTo>
                  <a:lnTo>
                    <a:pt x="0" y="450299"/>
                  </a:lnTo>
                  <a:lnTo>
                    <a:pt x="478499" y="45029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2100" y="2686622"/>
              <a:ext cx="105500" cy="8198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50099" y="2367174"/>
              <a:ext cx="740410" cy="465455"/>
            </a:xfrm>
            <a:custGeom>
              <a:avLst/>
              <a:gdLst/>
              <a:ahLst/>
              <a:cxnLst/>
              <a:rect l="l" t="t" r="r" b="b"/>
              <a:pathLst>
                <a:path w="740410" h="465455">
                  <a:moveTo>
                    <a:pt x="739799" y="465299"/>
                  </a:moveTo>
                  <a:lnTo>
                    <a:pt x="0" y="465299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9109" y="2271199"/>
              <a:ext cx="81980" cy="1055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60694" y="2165506"/>
              <a:ext cx="344975" cy="8198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82584" y="2275375"/>
              <a:ext cx="81980" cy="28887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943000" y="2832725"/>
              <a:ext cx="806450" cy="0"/>
            </a:xfrm>
            <a:custGeom>
              <a:avLst/>
              <a:gdLst/>
              <a:ahLst/>
              <a:cxnLst/>
              <a:rect l="l" t="t" r="r" b="b"/>
              <a:pathLst>
                <a:path w="806450">
                  <a:moveTo>
                    <a:pt x="8063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7024" y="2791734"/>
              <a:ext cx="105500" cy="8198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887626" y="1644437"/>
              <a:ext cx="457834" cy="885190"/>
            </a:xfrm>
            <a:custGeom>
              <a:avLst/>
              <a:gdLst/>
              <a:ahLst/>
              <a:cxnLst/>
              <a:rect l="l" t="t" r="r" b="b"/>
              <a:pathLst>
                <a:path w="457835" h="885189">
                  <a:moveTo>
                    <a:pt x="0" y="884700"/>
                  </a:moveTo>
                  <a:lnTo>
                    <a:pt x="457500" y="884790"/>
                  </a:lnTo>
                  <a:lnTo>
                    <a:pt x="45750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4135" y="1548462"/>
              <a:ext cx="81981" cy="1055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43897" y="2171391"/>
              <a:ext cx="317602" cy="81977"/>
            </a:xfrm>
            <a:prstGeom prst="rect">
              <a:avLst/>
            </a:prstGeom>
          </p:spPr>
        </p:pic>
      </p:grpSp>
      <p:pic>
        <p:nvPicPr>
          <p:cNvPr id="35" name="object 3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822835" y="1823040"/>
            <a:ext cx="3904810" cy="1750455"/>
          </a:xfrm>
          <a:prstGeom prst="rect">
            <a:avLst/>
          </a:prstGeom>
        </p:spPr>
      </p:pic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299125" y="154059"/>
            <a:ext cx="45453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Vanilla</a:t>
            </a:r>
            <a:r>
              <a:rPr sz="3000" spc="-80" dirty="0"/>
              <a:t> </a:t>
            </a:r>
            <a:r>
              <a:rPr sz="3000" dirty="0"/>
              <a:t>RNN</a:t>
            </a:r>
            <a:r>
              <a:rPr sz="3000" spc="-80" dirty="0"/>
              <a:t> </a:t>
            </a:r>
            <a:r>
              <a:rPr sz="3000" dirty="0"/>
              <a:t>Gradient</a:t>
            </a:r>
            <a:r>
              <a:rPr sz="3000" spc="-80" dirty="0"/>
              <a:t> </a:t>
            </a:r>
            <a:r>
              <a:rPr sz="3000" spc="-20" dirty="0"/>
              <a:t>Flow</a:t>
            </a:r>
            <a:endParaRPr sz="3000"/>
          </a:p>
        </p:txBody>
      </p:sp>
      <p:sp>
        <p:nvSpPr>
          <p:cNvPr id="37" name="object 37"/>
          <p:cNvSpPr txBox="1"/>
          <p:nvPr/>
        </p:nvSpPr>
        <p:spPr>
          <a:xfrm>
            <a:off x="1043200" y="846301"/>
            <a:ext cx="199643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Backpropagation</a:t>
            </a:r>
            <a:r>
              <a:rPr sz="14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from</a:t>
            </a:r>
            <a:r>
              <a:rPr sz="14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0000"/>
                </a:solidFill>
                <a:latin typeface="Arial MT"/>
                <a:cs typeface="Arial MT"/>
              </a:rPr>
              <a:t>h</a:t>
            </a:r>
            <a:r>
              <a:rPr sz="1350" spc="-37" baseline="-33950" dirty="0">
                <a:solidFill>
                  <a:srgbClr val="FF0000"/>
                </a:solidFill>
                <a:latin typeface="Arial MT"/>
                <a:cs typeface="Arial MT"/>
              </a:rPr>
              <a:t>t </a:t>
            </a: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14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h</a:t>
            </a:r>
            <a:r>
              <a:rPr sz="1350" baseline="-33950" dirty="0">
                <a:solidFill>
                  <a:srgbClr val="FF0000"/>
                </a:solidFill>
                <a:latin typeface="Arial MT"/>
                <a:cs typeface="Arial MT"/>
              </a:rPr>
              <a:t>t-1</a:t>
            </a:r>
            <a:r>
              <a:rPr sz="1350" spc="209" baseline="-339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multiplies by </a:t>
            </a:r>
            <a:r>
              <a:rPr sz="1400" spc="-50" dirty="0">
                <a:solidFill>
                  <a:srgbClr val="FF0000"/>
                </a:solidFill>
                <a:latin typeface="Arial MT"/>
                <a:cs typeface="Arial MT"/>
              </a:rPr>
              <a:t>W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68600" y="1273021"/>
            <a:ext cx="9048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(actually</a:t>
            </a:r>
            <a:r>
              <a:rPr sz="14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FF0000"/>
                </a:solidFill>
                <a:latin typeface="Arial MT"/>
                <a:cs typeface="Arial MT"/>
              </a:rPr>
              <a:t>W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947385" y="1398962"/>
            <a:ext cx="157480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-25" dirty="0">
                <a:solidFill>
                  <a:srgbClr val="FF0000"/>
                </a:solidFill>
                <a:latin typeface="Arial MT"/>
                <a:cs typeface="Arial MT"/>
              </a:rPr>
              <a:t>hh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053755" y="1206346"/>
            <a:ext cx="20827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0000"/>
                </a:solidFill>
                <a:latin typeface="Arial MT"/>
                <a:cs typeface="Arial MT"/>
              </a:rPr>
              <a:t>T</a:t>
            </a:r>
            <a:r>
              <a:rPr sz="2100" spc="-37" baseline="-21825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endParaRPr sz="2100" baseline="-21825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769199" y="242811"/>
            <a:ext cx="31521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Bengio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et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al,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“Learning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long-</a:t>
            </a:r>
            <a:r>
              <a:rPr sz="800" dirty="0">
                <a:latin typeface="Arial MT"/>
                <a:cs typeface="Arial MT"/>
              </a:rPr>
              <a:t>term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dependencies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with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gradient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descent </a:t>
            </a:r>
            <a:r>
              <a:rPr sz="800" dirty="0">
                <a:latin typeface="Arial MT"/>
                <a:cs typeface="Arial MT"/>
              </a:rPr>
              <a:t>is</a:t>
            </a:r>
            <a:r>
              <a:rPr sz="800" spc="-10" dirty="0">
                <a:latin typeface="Arial MT"/>
                <a:cs typeface="Arial MT"/>
              </a:rPr>
              <a:t> difficult”, </a:t>
            </a:r>
            <a:r>
              <a:rPr sz="800" dirty="0">
                <a:latin typeface="Arial MT"/>
                <a:cs typeface="Arial MT"/>
              </a:rPr>
              <a:t>IEEE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Transactions </a:t>
            </a:r>
            <a:r>
              <a:rPr sz="800" dirty="0">
                <a:latin typeface="Arial MT"/>
                <a:cs typeface="Arial MT"/>
              </a:rPr>
              <a:t>on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Neural</a:t>
            </a:r>
            <a:r>
              <a:rPr sz="800" spc="-10" dirty="0">
                <a:latin typeface="Arial MT"/>
                <a:cs typeface="Arial MT"/>
              </a:rPr>
              <a:t> Networks, </a:t>
            </a:r>
            <a:r>
              <a:rPr sz="800" spc="-20" dirty="0">
                <a:latin typeface="Arial MT"/>
                <a:cs typeface="Arial MT"/>
              </a:rPr>
              <a:t>1994</a:t>
            </a:r>
            <a:endParaRPr sz="800">
              <a:latin typeface="Arial MT"/>
              <a:cs typeface="Arial MT"/>
            </a:endParaRPr>
          </a:p>
          <a:p>
            <a:pPr marL="12700" marR="13970">
              <a:lnSpc>
                <a:spcPct val="100000"/>
              </a:lnSpc>
            </a:pPr>
            <a:r>
              <a:rPr sz="800" spc="-10" dirty="0">
                <a:latin typeface="Arial MT"/>
                <a:cs typeface="Arial MT"/>
              </a:rPr>
              <a:t>Pascanu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et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al,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“On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difficulty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training recurrent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neural</a:t>
            </a:r>
            <a:r>
              <a:rPr sz="800" spc="-10" dirty="0">
                <a:latin typeface="Arial MT"/>
                <a:cs typeface="Arial MT"/>
              </a:rPr>
              <a:t> networks”, ICML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2013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28005" y="96746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380405" y="1183366"/>
            <a:ext cx="819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Arial MT"/>
                <a:cs typeface="Arial MT"/>
              </a:rPr>
              <a:t>t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44" name="object 4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60730" y="3981811"/>
            <a:ext cx="6077339" cy="683699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145225" y="4807709"/>
            <a:ext cx="352552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sz="1800" spc="-10" dirty="0">
                <a:solidFill>
                  <a:srgbClr val="FFFFFF"/>
                </a:solidFill>
                <a:latin typeface="Arial MT"/>
                <a:cs typeface="Arial MT"/>
              </a:rPr>
              <a:t>Master class 2026</a:t>
            </a:r>
            <a:endParaRPr lang="en-US" sz="1800" dirty="0">
              <a:latin typeface="Arial MT"/>
              <a:cs typeface="Arial MT"/>
            </a:endParaRPr>
          </a:p>
          <a:p>
            <a:pPr marL="12700">
              <a:lnSpc>
                <a:spcPts val="2090"/>
              </a:lnSpc>
            </a:pP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0225" y="515534"/>
            <a:ext cx="83426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Do</a:t>
            </a:r>
            <a:r>
              <a:rPr sz="3000" spc="-25" dirty="0"/>
              <a:t> </a:t>
            </a:r>
            <a:r>
              <a:rPr sz="3000" dirty="0"/>
              <a:t>LSTMs</a:t>
            </a:r>
            <a:r>
              <a:rPr sz="3000" spc="-25" dirty="0"/>
              <a:t> </a:t>
            </a:r>
            <a:r>
              <a:rPr sz="3000" dirty="0"/>
              <a:t>solve</a:t>
            </a:r>
            <a:r>
              <a:rPr sz="3000" spc="-20" dirty="0"/>
              <a:t> </a:t>
            </a:r>
            <a:r>
              <a:rPr sz="3000" dirty="0"/>
              <a:t>the</a:t>
            </a:r>
            <a:r>
              <a:rPr sz="3000" spc="-25" dirty="0"/>
              <a:t> </a:t>
            </a:r>
            <a:r>
              <a:rPr sz="3000" dirty="0"/>
              <a:t>vanishing</a:t>
            </a:r>
            <a:r>
              <a:rPr sz="3000" spc="-25" dirty="0"/>
              <a:t> </a:t>
            </a:r>
            <a:r>
              <a:rPr sz="3000" dirty="0"/>
              <a:t>gradient</a:t>
            </a:r>
            <a:r>
              <a:rPr sz="3000" spc="-20" dirty="0"/>
              <a:t> </a:t>
            </a:r>
            <a:r>
              <a:rPr sz="3000" spc="-10" dirty="0"/>
              <a:t>problem?</a:t>
            </a:r>
            <a:endParaRPr sz="3000"/>
          </a:p>
        </p:txBody>
      </p:sp>
      <p:sp>
        <p:nvSpPr>
          <p:cNvPr id="7" name="object 7"/>
          <p:cNvSpPr txBox="1"/>
          <p:nvPr/>
        </p:nvSpPr>
        <p:spPr>
          <a:xfrm>
            <a:off x="145225" y="4807709"/>
            <a:ext cx="352552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sz="1800" spc="-10" dirty="0">
                <a:solidFill>
                  <a:srgbClr val="FFFFFF"/>
                </a:solidFill>
                <a:latin typeface="Arial MT"/>
                <a:cs typeface="Arial MT"/>
              </a:rPr>
              <a:t>Master class 2026</a:t>
            </a:r>
            <a:endParaRPr lang="en-US" sz="1800" dirty="0">
              <a:latin typeface="Arial MT"/>
              <a:cs typeface="Arial MT"/>
            </a:endParaRPr>
          </a:p>
          <a:p>
            <a:pPr marL="12700">
              <a:lnSpc>
                <a:spcPts val="2090"/>
              </a:lnSpc>
            </a:pPr>
            <a:endParaRPr sz="18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0225" y="1671865"/>
            <a:ext cx="7949565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52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LSTM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architecture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makes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easier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RNN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preserve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information </a:t>
            </a:r>
            <a:r>
              <a:rPr sz="1800" dirty="0">
                <a:latin typeface="Arial MT"/>
                <a:cs typeface="Arial MT"/>
              </a:rPr>
              <a:t>over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many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timesteps</a:t>
            </a:r>
            <a:endParaRPr sz="1800">
              <a:latin typeface="Arial MT"/>
              <a:cs typeface="Arial MT"/>
            </a:endParaRPr>
          </a:p>
          <a:p>
            <a:pPr marL="469900" marR="5080" indent="-304800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e.g.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if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0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information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cell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preserved indefinitely.</a:t>
            </a:r>
            <a:endParaRPr sz="1800">
              <a:latin typeface="Arial MT"/>
              <a:cs typeface="Arial MT"/>
            </a:endParaRPr>
          </a:p>
          <a:p>
            <a:pPr marL="469900" marR="203835" indent="-304800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By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contrast,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it’s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harder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vanilla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RNN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recurrent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weight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matrix </a:t>
            </a:r>
            <a:r>
              <a:rPr sz="1800" dirty="0">
                <a:latin typeface="Arial MT"/>
                <a:cs typeface="Arial MT"/>
              </a:rPr>
              <a:t>Wh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preserves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info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hidden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state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12700" marR="1524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LSTM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doesn’t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guarantee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there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vanishing/exploding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gradient,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but</a:t>
            </a:r>
            <a:r>
              <a:rPr sz="1800" spc="-25" dirty="0">
                <a:latin typeface="Arial MT"/>
                <a:cs typeface="Arial MT"/>
              </a:rPr>
              <a:t> it </a:t>
            </a:r>
            <a:r>
              <a:rPr sz="1800" dirty="0">
                <a:latin typeface="Arial MT"/>
                <a:cs typeface="Arial MT"/>
              </a:rPr>
              <a:t>does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provide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easier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long-</a:t>
            </a:r>
            <a:r>
              <a:rPr sz="1800" dirty="0">
                <a:latin typeface="Arial MT"/>
                <a:cs typeface="Arial MT"/>
              </a:rPr>
              <a:t>distance</a:t>
            </a:r>
            <a:r>
              <a:rPr sz="1800" spc="-10" dirty="0">
                <a:latin typeface="Arial MT"/>
                <a:cs typeface="Arial MT"/>
              </a:rPr>
              <a:t> dependencies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200" y="108384"/>
            <a:ext cx="33839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Other</a:t>
            </a:r>
            <a:r>
              <a:rPr sz="3000" spc="-20" dirty="0"/>
              <a:t> </a:t>
            </a:r>
            <a:r>
              <a:rPr sz="3000" dirty="0"/>
              <a:t>RNN</a:t>
            </a:r>
            <a:r>
              <a:rPr sz="3000" spc="-10" dirty="0"/>
              <a:t> </a:t>
            </a:r>
            <a:r>
              <a:rPr sz="3000" spc="-25" dirty="0"/>
              <a:t>Variants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756900" y="3681563"/>
            <a:ext cx="27089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[</a:t>
            </a:r>
            <a:r>
              <a:rPr sz="1400" i="1" dirty="0">
                <a:latin typeface="Arial"/>
                <a:cs typeface="Arial"/>
              </a:rPr>
              <a:t>LSTM:</a:t>
            </a:r>
            <a:r>
              <a:rPr sz="1400" i="1" spc="-7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-7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Search</a:t>
            </a:r>
            <a:r>
              <a:rPr sz="1400" i="1" spc="-2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Space</a:t>
            </a:r>
            <a:r>
              <a:rPr sz="1400" i="1" spc="-2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Odyssey</a:t>
            </a:r>
            <a:r>
              <a:rPr sz="1400" spc="-10" dirty="0">
                <a:latin typeface="Arial MT"/>
                <a:cs typeface="Arial MT"/>
              </a:rPr>
              <a:t>, </a:t>
            </a:r>
            <a:r>
              <a:rPr sz="1400" dirty="0">
                <a:latin typeface="Arial MT"/>
                <a:cs typeface="Arial MT"/>
              </a:rPr>
              <a:t>Greff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al.,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2015]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5199" y="160263"/>
            <a:ext cx="26339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[</a:t>
            </a:r>
            <a:r>
              <a:rPr sz="1400" i="1" dirty="0">
                <a:latin typeface="Arial"/>
                <a:cs typeface="Arial"/>
              </a:rPr>
              <a:t>An</a:t>
            </a:r>
            <a:r>
              <a:rPr sz="1400" i="1" spc="-5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Empirical</a:t>
            </a:r>
            <a:r>
              <a:rPr sz="1400" i="1" spc="-4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Exploration</a:t>
            </a:r>
            <a:r>
              <a:rPr sz="1400" i="1" spc="-45" dirty="0">
                <a:latin typeface="Arial"/>
                <a:cs typeface="Arial"/>
              </a:rPr>
              <a:t> </a:t>
            </a:r>
            <a:r>
              <a:rPr sz="1400" i="1" spc="-25" dirty="0">
                <a:latin typeface="Arial"/>
                <a:cs typeface="Arial"/>
              </a:rPr>
              <a:t>of </a:t>
            </a:r>
            <a:r>
              <a:rPr sz="1400" i="1" dirty="0">
                <a:latin typeface="Arial"/>
                <a:cs typeface="Arial"/>
              </a:rPr>
              <a:t>Recurrent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Network</a:t>
            </a:r>
            <a:r>
              <a:rPr sz="1400" i="1" spc="-7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Architectures, </a:t>
            </a:r>
            <a:r>
              <a:rPr sz="1400" dirty="0">
                <a:latin typeface="Arial MT"/>
                <a:cs typeface="Arial MT"/>
              </a:rPr>
              <a:t>Jozefowicz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et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al.,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2015]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2738" y="989775"/>
            <a:ext cx="2819400" cy="33527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24475" y="816212"/>
            <a:ext cx="404241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GRU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[</a:t>
            </a:r>
            <a:r>
              <a:rPr sz="1400" i="1" dirty="0">
                <a:latin typeface="Arial"/>
                <a:cs typeface="Arial"/>
              </a:rPr>
              <a:t>Learning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phrase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representations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using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spc="-25" dirty="0">
                <a:latin typeface="Arial"/>
                <a:cs typeface="Arial"/>
              </a:rPr>
              <a:t>rnn </a:t>
            </a:r>
            <a:r>
              <a:rPr sz="1400" i="1" spc="-10" dirty="0">
                <a:latin typeface="Arial"/>
                <a:cs typeface="Arial"/>
              </a:rPr>
              <a:t>encoder-</a:t>
            </a:r>
            <a:r>
              <a:rPr sz="1400" i="1" dirty="0">
                <a:latin typeface="Arial"/>
                <a:cs typeface="Arial"/>
              </a:rPr>
              <a:t>decoder</a:t>
            </a:r>
            <a:r>
              <a:rPr sz="1400" i="1" spc="-2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for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statistical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machine</a:t>
            </a:r>
            <a:r>
              <a:rPr sz="1400" i="1" spc="-10" dirty="0">
                <a:latin typeface="Arial"/>
                <a:cs typeface="Arial"/>
              </a:rPr>
              <a:t> translation</a:t>
            </a:r>
            <a:r>
              <a:rPr sz="1400" spc="-10" dirty="0">
                <a:latin typeface="Arial MT"/>
                <a:cs typeface="Arial MT"/>
              </a:rPr>
              <a:t>, </a:t>
            </a:r>
            <a:r>
              <a:rPr sz="1400" dirty="0">
                <a:latin typeface="Arial MT"/>
                <a:cs typeface="Arial MT"/>
              </a:rPr>
              <a:t>Cho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et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al.</a:t>
            </a:r>
            <a:r>
              <a:rPr sz="1400" spc="-10" dirty="0">
                <a:latin typeface="Arial MT"/>
                <a:cs typeface="Arial MT"/>
              </a:rPr>
              <a:t> 2014]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9836" y="1600518"/>
            <a:ext cx="3704743" cy="125888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45225" y="4807709"/>
            <a:ext cx="352552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sz="1800" spc="-10" dirty="0">
                <a:solidFill>
                  <a:srgbClr val="FFFFFF"/>
                </a:solidFill>
                <a:latin typeface="Arial MT"/>
                <a:cs typeface="Arial MT"/>
              </a:rPr>
              <a:t>Master class 2026</a:t>
            </a:r>
            <a:endParaRPr lang="en-US" sz="1800" dirty="0">
              <a:latin typeface="Arial MT"/>
              <a:cs typeface="Arial MT"/>
            </a:endParaRPr>
          </a:p>
          <a:p>
            <a:pPr marL="12700">
              <a:lnSpc>
                <a:spcPts val="2090"/>
              </a:lnSpc>
            </a:pP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78" rIns="0" bIns="0" rtlCol="0">
            <a:spAutoFit/>
          </a:bodyPr>
          <a:lstStyle/>
          <a:p>
            <a:pPr marL="27813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9949" y="1028818"/>
            <a:ext cx="8216900" cy="337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645" indent="-321945" algn="just">
              <a:lnSpc>
                <a:spcPct val="100000"/>
              </a:lnSpc>
              <a:spcBef>
                <a:spcPts val="100"/>
              </a:spcBef>
              <a:buChar char="-"/>
              <a:tabLst>
                <a:tab pos="334645" algn="l"/>
              </a:tabLst>
            </a:pPr>
            <a:r>
              <a:rPr sz="2200" dirty="0">
                <a:latin typeface="Arial MT"/>
                <a:cs typeface="Arial MT"/>
              </a:rPr>
              <a:t>RNNs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allow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lot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flexibility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architecture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design</a:t>
            </a:r>
            <a:endParaRPr sz="2200">
              <a:latin typeface="Arial MT"/>
              <a:cs typeface="Arial MT"/>
            </a:endParaRPr>
          </a:p>
          <a:p>
            <a:pPr marL="334645" indent="-321945" algn="just">
              <a:lnSpc>
                <a:spcPct val="100000"/>
              </a:lnSpc>
              <a:buChar char="-"/>
              <a:tabLst>
                <a:tab pos="334645" algn="l"/>
              </a:tabLst>
            </a:pPr>
            <a:r>
              <a:rPr sz="2200" spc="-10" dirty="0">
                <a:latin typeface="Arial MT"/>
                <a:cs typeface="Arial MT"/>
              </a:rPr>
              <a:t>Vanilla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RNNs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simple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but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don’t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work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very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well</a:t>
            </a:r>
            <a:endParaRPr sz="2200">
              <a:latin typeface="Arial MT"/>
              <a:cs typeface="Arial MT"/>
            </a:endParaRPr>
          </a:p>
          <a:p>
            <a:pPr marL="334010" marR="812800" indent="-321945" algn="just">
              <a:lnSpc>
                <a:spcPct val="100000"/>
              </a:lnSpc>
              <a:buChar char="-"/>
              <a:tabLst>
                <a:tab pos="334010" algn="l"/>
              </a:tabLst>
            </a:pPr>
            <a:r>
              <a:rPr sz="2200" dirty="0">
                <a:latin typeface="Arial MT"/>
                <a:cs typeface="Arial MT"/>
              </a:rPr>
              <a:t>Common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LSTM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GRU: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their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additive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interactions </a:t>
            </a:r>
            <a:r>
              <a:rPr sz="2200" dirty="0">
                <a:latin typeface="Arial MT"/>
                <a:cs typeface="Arial MT"/>
              </a:rPr>
              <a:t>improve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gradient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flow</a:t>
            </a:r>
            <a:endParaRPr sz="2200">
              <a:latin typeface="Arial MT"/>
              <a:cs typeface="Arial MT"/>
            </a:endParaRPr>
          </a:p>
          <a:p>
            <a:pPr marL="334010" marR="689610" indent="-321945" algn="just">
              <a:lnSpc>
                <a:spcPct val="100000"/>
              </a:lnSpc>
              <a:buChar char="-"/>
              <a:tabLst>
                <a:tab pos="334010" algn="l"/>
              </a:tabLst>
            </a:pPr>
            <a:r>
              <a:rPr sz="2200" dirty="0">
                <a:latin typeface="Arial MT"/>
                <a:cs typeface="Arial MT"/>
              </a:rPr>
              <a:t>Backward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flow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gradients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RNN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explode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vanish. </a:t>
            </a:r>
            <a:r>
              <a:rPr sz="2200" dirty="0">
                <a:latin typeface="Arial MT"/>
                <a:cs typeface="Arial MT"/>
              </a:rPr>
              <a:t>Exploding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controlled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gradient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clipping.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Vanishing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is </a:t>
            </a:r>
            <a:r>
              <a:rPr sz="2200" dirty="0">
                <a:latin typeface="Arial MT"/>
                <a:cs typeface="Arial MT"/>
              </a:rPr>
              <a:t>controlled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additive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interactions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(LSTM)</a:t>
            </a:r>
            <a:endParaRPr sz="2200">
              <a:latin typeface="Arial MT"/>
              <a:cs typeface="Arial MT"/>
            </a:endParaRPr>
          </a:p>
          <a:p>
            <a:pPr marL="334010" marR="132715" indent="-321945" algn="just">
              <a:lnSpc>
                <a:spcPct val="100000"/>
              </a:lnSpc>
              <a:buChar char="-"/>
              <a:tabLst>
                <a:tab pos="334010" algn="l"/>
              </a:tabLst>
            </a:pPr>
            <a:r>
              <a:rPr sz="2200" dirty="0">
                <a:latin typeface="Arial MT"/>
                <a:cs typeface="Arial MT"/>
              </a:rPr>
              <a:t>Better/simpler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architectures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hot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topic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current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research,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well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new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paradigms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reasoning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over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sequences</a:t>
            </a:r>
            <a:endParaRPr sz="2200">
              <a:latin typeface="Arial MT"/>
              <a:cs typeface="Arial MT"/>
            </a:endParaRPr>
          </a:p>
          <a:p>
            <a:pPr marL="334645" indent="-321945" algn="just">
              <a:lnSpc>
                <a:spcPct val="100000"/>
              </a:lnSpc>
              <a:buChar char="-"/>
              <a:tabLst>
                <a:tab pos="334645" algn="l"/>
              </a:tabLst>
            </a:pPr>
            <a:r>
              <a:rPr sz="2200" dirty="0">
                <a:latin typeface="Arial MT"/>
                <a:cs typeface="Arial MT"/>
              </a:rPr>
              <a:t>Better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understanding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(both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theoretical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empirical)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needed.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150" y="2174969"/>
            <a:ext cx="59899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Attention</a:t>
            </a:r>
            <a:r>
              <a:rPr sz="2800" spc="-75" dirty="0"/>
              <a:t> </a:t>
            </a:r>
            <a:r>
              <a:rPr sz="2800" dirty="0"/>
              <a:t>and</a:t>
            </a:r>
            <a:r>
              <a:rPr sz="2800" spc="-120" dirty="0"/>
              <a:t> </a:t>
            </a:r>
            <a:r>
              <a:rPr sz="2800" spc="-10" dirty="0"/>
              <a:t>Transformers</a:t>
            </a:r>
            <a:endParaRPr sz="2800" dirty="0"/>
          </a:p>
        </p:txBody>
      </p:sp>
      <p:sp>
        <p:nvSpPr>
          <p:cNvPr id="6" name="object 6"/>
          <p:cNvSpPr txBox="1"/>
          <p:nvPr/>
        </p:nvSpPr>
        <p:spPr>
          <a:xfrm>
            <a:off x="145225" y="4807709"/>
            <a:ext cx="352552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sz="1800" spc="-10" dirty="0">
                <a:solidFill>
                  <a:srgbClr val="FFFFFF"/>
                </a:solidFill>
                <a:latin typeface="Arial MT"/>
                <a:cs typeface="Arial MT"/>
              </a:rPr>
              <a:t>Master class 2026</a:t>
            </a:r>
            <a:endParaRPr lang="en-US" sz="1800" dirty="0">
              <a:latin typeface="Arial MT"/>
              <a:cs typeface="Arial MT"/>
            </a:endParaRPr>
          </a:p>
          <a:p>
            <a:pPr marL="12700">
              <a:lnSpc>
                <a:spcPts val="2090"/>
              </a:lnSpc>
            </a:pP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9212" y="3180969"/>
            <a:ext cx="2642711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66224" indent="-256699">
              <a:spcBef>
                <a:spcPts val="75"/>
              </a:spcBef>
              <a:buFont typeface="Arial MT"/>
              <a:buChar char="•"/>
              <a:tabLst>
                <a:tab pos="266224" algn="l"/>
              </a:tabLst>
            </a:pPr>
            <a:r>
              <a:rPr sz="1500" dirty="0">
                <a:latin typeface="Tahoma"/>
                <a:cs typeface="Tahoma"/>
              </a:rPr>
              <a:t>Allow</a:t>
            </a:r>
            <a:r>
              <a:rPr sz="1500" spc="-23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23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194" spc="-17" baseline="142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500" dirty="0">
                <a:latin typeface="Wingdings"/>
                <a:cs typeface="Wingdings"/>
              </a:rPr>
              <a:t></a:t>
            </a:r>
            <a:r>
              <a:rPr sz="1500" spc="71" dirty="0">
                <a:latin typeface="Times New Roman"/>
                <a:cs typeface="Times New Roman"/>
              </a:rPr>
              <a:t> </a:t>
            </a:r>
            <a:r>
              <a:rPr sz="2194" spc="73" baseline="1424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194" spc="-28" baseline="142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500" spc="-8" dirty="0">
                <a:latin typeface="Tahoma"/>
                <a:cs typeface="Tahoma"/>
              </a:rPr>
              <a:t>predictions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9211" y="3686175"/>
            <a:ext cx="2937034" cy="103855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66224" indent="-256699">
              <a:spcBef>
                <a:spcPts val="75"/>
              </a:spcBef>
              <a:buFont typeface="Arial MT"/>
              <a:buChar char="•"/>
              <a:tabLst>
                <a:tab pos="266224" algn="l"/>
              </a:tabLst>
            </a:pPr>
            <a:r>
              <a:rPr sz="1500" dirty="0">
                <a:latin typeface="Tahoma"/>
                <a:cs typeface="Tahoma"/>
              </a:rPr>
              <a:t>Natural</a:t>
            </a:r>
            <a:r>
              <a:rPr sz="1500" spc="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approach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8" dirty="0">
                <a:latin typeface="Tahoma"/>
                <a:cs typeface="Tahoma"/>
              </a:rPr>
              <a:t> </a:t>
            </a:r>
            <a:r>
              <a:rPr sz="2194" spc="62" baseline="1424" dirty="0">
                <a:latin typeface="Tahoma"/>
                <a:cs typeface="Tahoma"/>
              </a:rPr>
              <a:t>Neural </a:t>
            </a:r>
            <a:r>
              <a:rPr sz="2194" spc="140" baseline="1424" dirty="0">
                <a:latin typeface="Tahoma"/>
                <a:cs typeface="Tahoma"/>
              </a:rPr>
              <a:t>MT</a:t>
            </a:r>
            <a:endParaRPr sz="2194" baseline="1424">
              <a:latin typeface="Tahoma"/>
              <a:cs typeface="Tahoma"/>
            </a:endParaRPr>
          </a:p>
          <a:p>
            <a:pPr marL="266700" marR="10001" indent="-257175">
              <a:lnSpc>
                <a:spcPct val="137000"/>
              </a:lnSpc>
              <a:spcBef>
                <a:spcPts val="1583"/>
              </a:spcBef>
              <a:buFont typeface="Arial MT"/>
              <a:buChar char="•"/>
              <a:tabLst>
                <a:tab pos="266700" algn="l"/>
              </a:tabLst>
            </a:pPr>
            <a:r>
              <a:rPr sz="1500" spc="-113" dirty="0">
                <a:latin typeface="Tahoma"/>
                <a:cs typeface="Tahoma"/>
              </a:rPr>
              <a:t>If</a:t>
            </a:r>
            <a:r>
              <a:rPr sz="1500" spc="7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implemented</a:t>
            </a:r>
            <a:r>
              <a:rPr sz="1500" spc="8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end-</a:t>
            </a:r>
            <a:r>
              <a:rPr sz="1500" spc="-8" dirty="0">
                <a:latin typeface="Tahoma"/>
                <a:cs typeface="Tahoma"/>
              </a:rPr>
              <a:t>to-</a:t>
            </a:r>
            <a:r>
              <a:rPr sz="1500" spc="38" dirty="0">
                <a:latin typeface="Tahoma"/>
                <a:cs typeface="Tahoma"/>
              </a:rPr>
              <a:t>end</a:t>
            </a:r>
            <a:r>
              <a:rPr sz="1500" spc="83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can </a:t>
            </a:r>
            <a:r>
              <a:rPr sz="1500" spc="64" dirty="0">
                <a:latin typeface="Tahoma"/>
                <a:cs typeface="Tahoma"/>
              </a:rPr>
              <a:t>be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spc="79" dirty="0">
                <a:solidFill>
                  <a:srgbClr val="70AD47"/>
                </a:solidFill>
                <a:latin typeface="Tahoma"/>
                <a:cs typeface="Tahoma"/>
              </a:rPr>
              <a:t>good</a:t>
            </a:r>
            <a:r>
              <a:rPr sz="1500" spc="-26" dirty="0">
                <a:solidFill>
                  <a:srgbClr val="70AD47"/>
                </a:solidFill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but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spc="-15" dirty="0">
                <a:solidFill>
                  <a:srgbClr val="C00000"/>
                </a:solidFill>
                <a:latin typeface="Tahoma"/>
                <a:cs typeface="Tahoma"/>
              </a:rPr>
              <a:t>slow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02782" y="2895966"/>
            <a:ext cx="643414" cy="1674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1013" dirty="0">
                <a:solidFill>
                  <a:srgbClr val="262626"/>
                </a:solidFill>
                <a:latin typeface="Tahoma"/>
                <a:cs typeface="Tahoma"/>
              </a:rPr>
              <a:t>Input</a:t>
            </a:r>
            <a:r>
              <a:rPr sz="1013" spc="-38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013" spc="-8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013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9212" y="2038464"/>
            <a:ext cx="4096226" cy="851003"/>
          </a:xfrm>
          <a:prstGeom prst="rect">
            <a:avLst/>
          </a:prstGeom>
        </p:spPr>
        <p:txBody>
          <a:bodyPr vert="horz" wrap="square" lIns="0" tIns="71438" rIns="0" bIns="0" rtlCol="0">
            <a:spAutoFit/>
          </a:bodyPr>
          <a:lstStyle/>
          <a:p>
            <a:pPr marR="3810" algn="r">
              <a:spcBef>
                <a:spcPts val="563"/>
              </a:spcBef>
            </a:pPr>
            <a:r>
              <a:rPr sz="1013" spc="49" dirty="0">
                <a:solidFill>
                  <a:srgbClr val="262626"/>
                </a:solidFill>
                <a:latin typeface="Tahoma"/>
                <a:cs typeface="Tahoma"/>
              </a:rPr>
              <a:t>Hidden</a:t>
            </a:r>
            <a:r>
              <a:rPr sz="1013" spc="-34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013" spc="-15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013">
              <a:latin typeface="Tahoma"/>
              <a:cs typeface="Tahoma"/>
            </a:endParaRPr>
          </a:p>
          <a:p>
            <a:pPr marL="266700" marR="1118235" indent="-257175">
              <a:lnSpc>
                <a:spcPts val="2558"/>
              </a:lnSpc>
              <a:spcBef>
                <a:spcPts val="4"/>
              </a:spcBef>
              <a:buFont typeface="Arial MT"/>
              <a:buChar char="•"/>
              <a:tabLst>
                <a:tab pos="266700" algn="l"/>
              </a:tabLst>
            </a:pPr>
            <a:r>
              <a:rPr sz="1500" dirty="0">
                <a:latin typeface="Tahoma"/>
                <a:cs typeface="Tahoma"/>
              </a:rPr>
              <a:t>can</a:t>
            </a:r>
            <a:r>
              <a:rPr sz="1500" spc="8" dirty="0">
                <a:latin typeface="Tahoma"/>
                <a:cs typeface="Tahoma"/>
              </a:rPr>
              <a:t> </a:t>
            </a:r>
            <a:r>
              <a:rPr sz="1500" spc="64" dirty="0">
                <a:latin typeface="Tahoma"/>
                <a:cs typeface="Tahoma"/>
              </a:rPr>
              <a:t>be</a:t>
            </a:r>
            <a:r>
              <a:rPr sz="1500" spc="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implemented</a:t>
            </a:r>
            <a:r>
              <a:rPr sz="1500" spc="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11" dirty="0">
                <a:latin typeface="Tahoma"/>
                <a:cs typeface="Tahoma"/>
              </a:rPr>
              <a:t> </a:t>
            </a:r>
            <a:r>
              <a:rPr sz="1500" spc="41" dirty="0">
                <a:latin typeface="Tahoma"/>
                <a:cs typeface="Tahoma"/>
              </a:rPr>
              <a:t>RNNs </a:t>
            </a:r>
            <a:r>
              <a:rPr sz="1500" spc="-56" dirty="0">
                <a:latin typeface="Tahoma"/>
                <a:cs typeface="Tahoma"/>
              </a:rPr>
              <a:t>(or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spc="-26" dirty="0">
                <a:latin typeface="Tahoma"/>
                <a:cs typeface="Tahoma"/>
              </a:rPr>
              <a:t>Transformers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spc="-15" dirty="0">
                <a:latin typeface="Tahoma"/>
                <a:cs typeface="Tahoma"/>
              </a:rPr>
              <a:t>even)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9211" y="768229"/>
            <a:ext cx="2959418" cy="1282019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9525">
              <a:spcBef>
                <a:spcPts val="98"/>
              </a:spcBef>
            </a:pPr>
            <a:r>
              <a:rPr sz="2625" spc="79" dirty="0">
                <a:solidFill>
                  <a:srgbClr val="C00000"/>
                </a:solidFill>
                <a:latin typeface="Tahoma"/>
                <a:cs typeface="Tahoma"/>
              </a:rPr>
              <a:t>seq2seq</a:t>
            </a:r>
            <a:r>
              <a:rPr sz="2625" spc="-49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625" spc="86" dirty="0">
                <a:solidFill>
                  <a:srgbClr val="C00000"/>
                </a:solidFill>
                <a:latin typeface="Tahoma"/>
                <a:cs typeface="Tahoma"/>
              </a:rPr>
              <a:t>models</a:t>
            </a:r>
            <a:endParaRPr sz="2625">
              <a:latin typeface="Tahoma"/>
              <a:cs typeface="Tahoma"/>
            </a:endParaRPr>
          </a:p>
          <a:p>
            <a:pPr marL="266700" marR="3810" indent="-257175">
              <a:lnSpc>
                <a:spcPct val="141000"/>
              </a:lnSpc>
              <a:spcBef>
                <a:spcPts val="1965"/>
              </a:spcBef>
              <a:buFont typeface="Arial MT"/>
              <a:buChar char="•"/>
              <a:tabLst>
                <a:tab pos="266700" algn="l"/>
              </a:tabLst>
            </a:pPr>
            <a:r>
              <a:rPr sz="1500" dirty="0">
                <a:latin typeface="Tahoma"/>
                <a:cs typeface="Tahoma"/>
              </a:rPr>
              <a:t>are a</a:t>
            </a:r>
            <a:r>
              <a:rPr sz="1500" spc="-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general-purpose </a:t>
            </a:r>
            <a:r>
              <a:rPr sz="1500" u="sng" spc="-8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encoder-</a:t>
            </a:r>
            <a:r>
              <a:rPr sz="1500" u="sng" spc="41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decoder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spc="-8" dirty="0">
                <a:latin typeface="Tahoma"/>
                <a:cs typeface="Tahoma"/>
              </a:rPr>
              <a:t>architecture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7237" y="1733256"/>
            <a:ext cx="1533137" cy="111142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885722" y="1810892"/>
            <a:ext cx="74295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38" dirty="0">
                <a:latin typeface="Cambria Math"/>
                <a:cs typeface="Cambria Math"/>
              </a:rPr>
              <a:t>1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95949" y="1690498"/>
            <a:ext cx="194309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75" spc="-28" baseline="-21825" dirty="0">
                <a:latin typeface="Cambria Math"/>
                <a:cs typeface="Cambria Math"/>
              </a:rPr>
              <a:t>ℎ</a:t>
            </a:r>
            <a:r>
              <a:rPr sz="750" spc="-19" dirty="0">
                <a:latin typeface="Cambria Math"/>
                <a:cs typeface="Cambria Math"/>
              </a:rPr>
              <a:t>𝐸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13464" y="1820036"/>
            <a:ext cx="74295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38" dirty="0">
                <a:latin typeface="Cambria Math"/>
                <a:cs typeface="Cambria Math"/>
              </a:rPr>
              <a:t>2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20595" y="1701927"/>
            <a:ext cx="194309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75" spc="-28" baseline="-21825" dirty="0">
                <a:latin typeface="Cambria Math"/>
                <a:cs typeface="Cambria Math"/>
              </a:rPr>
              <a:t>ℎ</a:t>
            </a:r>
            <a:r>
              <a:rPr sz="750" spc="-19" dirty="0">
                <a:latin typeface="Cambria Math"/>
                <a:cs typeface="Cambria Math"/>
              </a:rPr>
              <a:t>𝐸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70223" y="1820036"/>
            <a:ext cx="74295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38" dirty="0">
                <a:latin typeface="Cambria Math"/>
                <a:cs typeface="Cambria Math"/>
              </a:rPr>
              <a:t>3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77355" y="1701927"/>
            <a:ext cx="194309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75" spc="-28" baseline="-21825" dirty="0">
                <a:latin typeface="Cambria Math"/>
                <a:cs typeface="Cambria Math"/>
              </a:rPr>
              <a:t>ℎ</a:t>
            </a:r>
            <a:r>
              <a:rPr sz="750" spc="-19" dirty="0">
                <a:latin typeface="Cambria Math"/>
                <a:cs typeface="Cambria Math"/>
              </a:rPr>
              <a:t>𝐸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12851" y="1815465"/>
            <a:ext cx="74295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38" dirty="0">
                <a:latin typeface="Cambria Math"/>
                <a:cs typeface="Cambria Math"/>
              </a:rPr>
              <a:t>4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19983" y="1697356"/>
            <a:ext cx="194309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75" spc="-28" baseline="-21825" dirty="0">
                <a:latin typeface="Cambria Math"/>
                <a:cs typeface="Cambria Math"/>
              </a:rPr>
              <a:t>ℎ</a:t>
            </a:r>
            <a:r>
              <a:rPr sz="750" spc="-19" dirty="0">
                <a:latin typeface="Cambria Math"/>
                <a:cs typeface="Cambria Math"/>
              </a:rPr>
              <a:t>𝐸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69105" y="2866263"/>
            <a:ext cx="211455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19" dirty="0">
                <a:latin typeface="Tahoma"/>
                <a:cs typeface="Tahoma"/>
              </a:rPr>
              <a:t>The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53732" y="2873122"/>
            <a:ext cx="338138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8" dirty="0">
                <a:latin typeface="Tahoma"/>
                <a:cs typeface="Tahoma"/>
              </a:rPr>
              <a:t>brown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34305" y="2861692"/>
            <a:ext cx="227171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26" dirty="0">
                <a:latin typeface="Tahoma"/>
                <a:cs typeface="Tahoma"/>
              </a:rPr>
              <a:t>dog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19126" y="2859406"/>
            <a:ext cx="180499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19" dirty="0">
                <a:latin typeface="Tahoma"/>
                <a:cs typeface="Tahoma"/>
              </a:rPr>
              <a:t>ran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91779" y="3225150"/>
            <a:ext cx="988695" cy="1674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1013" spc="86" dirty="0">
                <a:solidFill>
                  <a:srgbClr val="7030A0"/>
                </a:solidFill>
                <a:latin typeface="Tahoma"/>
                <a:cs typeface="Tahoma"/>
              </a:rPr>
              <a:t>ENCODER</a:t>
            </a:r>
            <a:r>
              <a:rPr sz="1013" spc="-38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013" spc="71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013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18013" y="1813178"/>
            <a:ext cx="74295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38" dirty="0">
                <a:latin typeface="Cambria Math"/>
                <a:cs typeface="Cambria Math"/>
              </a:rPr>
              <a:t>1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80057" y="1815465"/>
            <a:ext cx="74295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38" dirty="0">
                <a:latin typeface="Cambria Math"/>
                <a:cs typeface="Cambria Math"/>
              </a:rPr>
              <a:t>2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611157" y="2861692"/>
            <a:ext cx="220504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38" dirty="0">
                <a:solidFill>
                  <a:srgbClr val="C00000"/>
                </a:solidFill>
                <a:latin typeface="Tahoma"/>
                <a:cs typeface="Tahoma"/>
              </a:rPr>
              <a:t>&lt;s&gt;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24634" y="2866263"/>
            <a:ext cx="290989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8" dirty="0">
                <a:solidFill>
                  <a:srgbClr val="C00000"/>
                </a:solidFill>
                <a:latin typeface="Tahoma"/>
                <a:cs typeface="Tahoma"/>
              </a:rPr>
              <a:t>chien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50984" y="2868550"/>
            <a:ext cx="254318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15" dirty="0">
                <a:solidFill>
                  <a:srgbClr val="C00000"/>
                </a:solidFill>
                <a:latin typeface="Tahoma"/>
                <a:cs typeface="Tahoma"/>
              </a:rPr>
              <a:t>brun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03131" y="2870835"/>
            <a:ext cx="556260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258604" algn="l"/>
              </a:tabLst>
            </a:pPr>
            <a:r>
              <a:rPr sz="900" spc="-38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900" spc="-8" dirty="0">
                <a:solidFill>
                  <a:srgbClr val="C00000"/>
                </a:solidFill>
                <a:latin typeface="Tahoma"/>
                <a:cs typeface="Tahoma"/>
              </a:rPr>
              <a:t>couru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62779" y="3264012"/>
            <a:ext cx="983933" cy="1674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1013" spc="79" dirty="0">
                <a:solidFill>
                  <a:srgbClr val="7030A0"/>
                </a:solidFill>
                <a:latin typeface="Tahoma"/>
                <a:cs typeface="Tahoma"/>
              </a:rPr>
              <a:t>DECODER</a:t>
            </a:r>
            <a:r>
              <a:rPr sz="1013" spc="-30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013" spc="71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013">
              <a:latin typeface="Tahoma"/>
              <a:cs typeface="Tahom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9003" y="1943909"/>
            <a:ext cx="2291009" cy="917417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7457222" y="1810892"/>
            <a:ext cx="74295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38" dirty="0">
                <a:latin typeface="Cambria Math"/>
                <a:cs typeface="Cambria Math"/>
              </a:rPr>
              <a:t>3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18715" y="1695069"/>
            <a:ext cx="966311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  <a:tabLst>
                <a:tab pos="396716" algn="l"/>
                <a:tab pos="773906" algn="l"/>
              </a:tabLst>
            </a:pPr>
            <a:r>
              <a:rPr sz="1575" spc="-28" baseline="-21825" dirty="0">
                <a:latin typeface="Cambria Math"/>
                <a:cs typeface="Cambria Math"/>
              </a:rPr>
              <a:t>ℎ</a:t>
            </a:r>
            <a:r>
              <a:rPr sz="750" spc="-19" dirty="0">
                <a:latin typeface="Cambria Math"/>
                <a:cs typeface="Cambria Math"/>
              </a:rPr>
              <a:t>𝐷</a:t>
            </a:r>
            <a:r>
              <a:rPr sz="750" dirty="0">
                <a:latin typeface="Cambria Math"/>
                <a:cs typeface="Cambria Math"/>
              </a:rPr>
              <a:t>	</a:t>
            </a:r>
            <a:r>
              <a:rPr sz="1575" spc="-28" baseline="-21825" dirty="0">
                <a:latin typeface="Cambria Math"/>
                <a:cs typeface="Cambria Math"/>
              </a:rPr>
              <a:t>ℎ</a:t>
            </a:r>
            <a:r>
              <a:rPr sz="750" spc="-19" dirty="0">
                <a:latin typeface="Cambria Math"/>
                <a:cs typeface="Cambria Math"/>
              </a:rPr>
              <a:t>𝐷</a:t>
            </a:r>
            <a:r>
              <a:rPr sz="750" dirty="0">
                <a:latin typeface="Cambria Math"/>
                <a:cs typeface="Cambria Math"/>
              </a:rPr>
              <a:t>	</a:t>
            </a:r>
            <a:r>
              <a:rPr sz="1575" spc="-28" baseline="-19841" dirty="0">
                <a:latin typeface="Cambria Math"/>
                <a:cs typeface="Cambria Math"/>
              </a:rPr>
              <a:t>ℎ</a:t>
            </a:r>
            <a:r>
              <a:rPr sz="750" spc="-19" dirty="0">
                <a:latin typeface="Cambria Math"/>
                <a:cs typeface="Cambria Math"/>
              </a:rPr>
              <a:t>𝐷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845287" y="1820036"/>
            <a:ext cx="74295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38" dirty="0">
                <a:latin typeface="Cambria Math"/>
                <a:cs typeface="Cambria Math"/>
              </a:rPr>
              <a:t>4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752419" y="1701927"/>
            <a:ext cx="201454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75" spc="-28" baseline="-21825" dirty="0">
                <a:latin typeface="Cambria Math"/>
                <a:cs typeface="Cambria Math"/>
              </a:rPr>
              <a:t>ℎ</a:t>
            </a:r>
            <a:r>
              <a:rPr sz="750" spc="-19" dirty="0">
                <a:latin typeface="Cambria Math"/>
                <a:cs typeface="Cambria Math"/>
              </a:rPr>
              <a:t>𝐷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226518" y="1833752"/>
            <a:ext cx="74295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38" dirty="0">
                <a:latin typeface="Cambria Math"/>
                <a:cs typeface="Cambria Math"/>
              </a:rPr>
              <a:t>5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31289" y="2870835"/>
            <a:ext cx="140018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19" dirty="0">
                <a:solidFill>
                  <a:srgbClr val="C00000"/>
                </a:solidFill>
                <a:latin typeface="Tahoma"/>
                <a:cs typeface="Tahoma"/>
              </a:rPr>
              <a:t>Le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91156" y="1831466"/>
            <a:ext cx="74295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38" dirty="0">
                <a:latin typeface="Cambria Math"/>
                <a:cs typeface="Cambria Math"/>
              </a:rPr>
              <a:t>6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24125" y="1763650"/>
            <a:ext cx="585311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  <a:tabLst>
                <a:tab pos="402431" algn="l"/>
              </a:tabLst>
            </a:pPr>
            <a:r>
              <a:rPr sz="1050" spc="-19" dirty="0">
                <a:latin typeface="Cambria Math"/>
                <a:cs typeface="Cambria Math"/>
              </a:rPr>
              <a:t>ℎ</a:t>
            </a:r>
            <a:r>
              <a:rPr sz="1125" spc="-28" baseline="30555" dirty="0">
                <a:latin typeface="Cambria Math"/>
                <a:cs typeface="Cambria Math"/>
              </a:rPr>
              <a:t>𝐷</a:t>
            </a:r>
            <a:r>
              <a:rPr sz="1125" baseline="30555" dirty="0">
                <a:latin typeface="Cambria Math"/>
                <a:cs typeface="Cambria Math"/>
              </a:rPr>
              <a:t>	</a:t>
            </a:r>
            <a:r>
              <a:rPr sz="1050" spc="-19" dirty="0">
                <a:latin typeface="Cambria Math"/>
                <a:cs typeface="Cambria Math"/>
              </a:rPr>
              <a:t>ℎ</a:t>
            </a:r>
            <a:r>
              <a:rPr sz="1125" spc="-28" baseline="30555" dirty="0">
                <a:latin typeface="Cambria Math"/>
                <a:cs typeface="Cambria Math"/>
              </a:rPr>
              <a:t>𝐷</a:t>
            </a:r>
            <a:endParaRPr sz="1125" baseline="30555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658235" y="1542116"/>
            <a:ext cx="135731" cy="203835"/>
          </a:xfrm>
          <a:custGeom>
            <a:avLst/>
            <a:gdLst/>
            <a:ahLst/>
            <a:cxnLst/>
            <a:rect l="l" t="t" r="r" b="b"/>
            <a:pathLst>
              <a:path w="180975" h="271780">
                <a:moveTo>
                  <a:pt x="90175" y="0"/>
                </a:moveTo>
                <a:lnTo>
                  <a:pt x="0" y="125564"/>
                </a:lnTo>
                <a:lnTo>
                  <a:pt x="65309" y="125564"/>
                </a:lnTo>
                <a:lnTo>
                  <a:pt x="65309" y="271232"/>
                </a:lnTo>
                <a:lnTo>
                  <a:pt x="115040" y="271232"/>
                </a:lnTo>
                <a:lnTo>
                  <a:pt x="115040" y="125564"/>
                </a:lnTo>
                <a:lnTo>
                  <a:pt x="180351" y="125564"/>
                </a:lnTo>
                <a:lnTo>
                  <a:pt x="90175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022791" y="1543288"/>
            <a:ext cx="135731" cy="203835"/>
          </a:xfrm>
          <a:custGeom>
            <a:avLst/>
            <a:gdLst/>
            <a:ahLst/>
            <a:cxnLst/>
            <a:rect l="l" t="t" r="r" b="b"/>
            <a:pathLst>
              <a:path w="180975" h="271780">
                <a:moveTo>
                  <a:pt x="90175" y="0"/>
                </a:moveTo>
                <a:lnTo>
                  <a:pt x="0" y="125564"/>
                </a:lnTo>
                <a:lnTo>
                  <a:pt x="65311" y="125564"/>
                </a:lnTo>
                <a:lnTo>
                  <a:pt x="65311" y="271232"/>
                </a:lnTo>
                <a:lnTo>
                  <a:pt x="115040" y="271232"/>
                </a:lnTo>
                <a:lnTo>
                  <a:pt x="115040" y="125564"/>
                </a:lnTo>
                <a:lnTo>
                  <a:pt x="180351" y="125564"/>
                </a:lnTo>
                <a:lnTo>
                  <a:pt x="90175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395166" y="1543038"/>
            <a:ext cx="135731" cy="203835"/>
          </a:xfrm>
          <a:custGeom>
            <a:avLst/>
            <a:gdLst/>
            <a:ahLst/>
            <a:cxnLst/>
            <a:rect l="l" t="t" r="r" b="b"/>
            <a:pathLst>
              <a:path w="180975" h="271780">
                <a:moveTo>
                  <a:pt x="90175" y="0"/>
                </a:moveTo>
                <a:lnTo>
                  <a:pt x="0" y="125566"/>
                </a:lnTo>
                <a:lnTo>
                  <a:pt x="65309" y="125566"/>
                </a:lnTo>
                <a:lnTo>
                  <a:pt x="65309" y="271232"/>
                </a:lnTo>
                <a:lnTo>
                  <a:pt x="115040" y="271232"/>
                </a:lnTo>
                <a:lnTo>
                  <a:pt x="115040" y="125566"/>
                </a:lnTo>
                <a:lnTo>
                  <a:pt x="180350" y="125566"/>
                </a:lnTo>
                <a:lnTo>
                  <a:pt x="90175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789885" y="1544222"/>
            <a:ext cx="135731" cy="203835"/>
          </a:xfrm>
          <a:custGeom>
            <a:avLst/>
            <a:gdLst/>
            <a:ahLst/>
            <a:cxnLst/>
            <a:rect l="l" t="t" r="r" b="b"/>
            <a:pathLst>
              <a:path w="180975" h="271780">
                <a:moveTo>
                  <a:pt x="90175" y="0"/>
                </a:moveTo>
                <a:lnTo>
                  <a:pt x="0" y="125566"/>
                </a:lnTo>
                <a:lnTo>
                  <a:pt x="65309" y="125566"/>
                </a:lnTo>
                <a:lnTo>
                  <a:pt x="65309" y="271233"/>
                </a:lnTo>
                <a:lnTo>
                  <a:pt x="115040" y="271233"/>
                </a:lnTo>
                <a:lnTo>
                  <a:pt x="115040" y="125566"/>
                </a:lnTo>
                <a:lnTo>
                  <a:pt x="180350" y="125566"/>
                </a:lnTo>
                <a:lnTo>
                  <a:pt x="90175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166310" y="1548494"/>
            <a:ext cx="135731" cy="203835"/>
          </a:xfrm>
          <a:custGeom>
            <a:avLst/>
            <a:gdLst/>
            <a:ahLst/>
            <a:cxnLst/>
            <a:rect l="l" t="t" r="r" b="b"/>
            <a:pathLst>
              <a:path w="180975" h="271780">
                <a:moveTo>
                  <a:pt x="90175" y="0"/>
                </a:moveTo>
                <a:lnTo>
                  <a:pt x="0" y="125564"/>
                </a:lnTo>
                <a:lnTo>
                  <a:pt x="65309" y="125564"/>
                </a:lnTo>
                <a:lnTo>
                  <a:pt x="65309" y="271232"/>
                </a:lnTo>
                <a:lnTo>
                  <a:pt x="115040" y="271232"/>
                </a:lnTo>
                <a:lnTo>
                  <a:pt x="115040" y="125564"/>
                </a:lnTo>
                <a:lnTo>
                  <a:pt x="180351" y="125564"/>
                </a:lnTo>
                <a:lnTo>
                  <a:pt x="90175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525526" y="1559798"/>
            <a:ext cx="135731" cy="203835"/>
          </a:xfrm>
          <a:custGeom>
            <a:avLst/>
            <a:gdLst/>
            <a:ahLst/>
            <a:cxnLst/>
            <a:rect l="l" t="t" r="r" b="b"/>
            <a:pathLst>
              <a:path w="180975" h="271780">
                <a:moveTo>
                  <a:pt x="90175" y="0"/>
                </a:moveTo>
                <a:lnTo>
                  <a:pt x="0" y="125564"/>
                </a:lnTo>
                <a:lnTo>
                  <a:pt x="65309" y="125564"/>
                </a:lnTo>
                <a:lnTo>
                  <a:pt x="65309" y="271232"/>
                </a:lnTo>
                <a:lnTo>
                  <a:pt x="115040" y="271232"/>
                </a:lnTo>
                <a:lnTo>
                  <a:pt x="115040" y="125564"/>
                </a:lnTo>
                <a:lnTo>
                  <a:pt x="180350" y="125564"/>
                </a:lnTo>
                <a:lnTo>
                  <a:pt x="90175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6644827" y="1306450"/>
            <a:ext cx="180499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050" spc="-386" dirty="0">
                <a:latin typeface="Cambria Math"/>
                <a:cs typeface="Cambria Math"/>
              </a:rPr>
              <a:t>𝑦</a:t>
            </a:r>
            <a:r>
              <a:rPr sz="1050" spc="41" dirty="0">
                <a:latin typeface="Cambria Math"/>
                <a:cs typeface="Cambria Math"/>
              </a:rPr>
              <a:t>"</a:t>
            </a:r>
            <a:r>
              <a:rPr sz="1125" spc="107" baseline="-16666" dirty="0">
                <a:latin typeface="Cambria Math"/>
                <a:cs typeface="Cambria Math"/>
              </a:rPr>
              <a:t>1</a:t>
            </a:r>
            <a:endParaRPr sz="1125" baseline="-16666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658058" y="4812546"/>
            <a:ext cx="164306" cy="142347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9525">
              <a:spcBef>
                <a:spcPts val="30"/>
              </a:spcBef>
            </a:pPr>
            <a:fld id="{81D60167-4931-47E6-BA6A-407CBD079E47}" type="slidenum">
              <a:rPr sz="900" spc="-19" dirty="0">
                <a:solidFill>
                  <a:srgbClr val="898989"/>
                </a:solidFill>
                <a:latin typeface="Calibri"/>
                <a:cs typeface="Calibri"/>
              </a:rPr>
              <a:pPr marL="9525">
                <a:spcBef>
                  <a:spcPts val="30"/>
                </a:spcBef>
              </a:pPr>
              <a:t>33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015546" y="1306450"/>
            <a:ext cx="183356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050" spc="-386" dirty="0">
                <a:latin typeface="Cambria Math"/>
                <a:cs typeface="Cambria Math"/>
              </a:rPr>
              <a:t>𝑦</a:t>
            </a:r>
            <a:r>
              <a:rPr sz="1050" spc="64" dirty="0">
                <a:latin typeface="Cambria Math"/>
                <a:cs typeface="Cambria Math"/>
              </a:rPr>
              <a:t>"</a:t>
            </a:r>
            <a:r>
              <a:rPr sz="1125" spc="107" baseline="-16666" dirty="0">
                <a:latin typeface="Cambria Math"/>
                <a:cs typeface="Cambria Math"/>
              </a:rPr>
              <a:t>2</a:t>
            </a:r>
            <a:endParaRPr sz="1125" baseline="-16666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386444" y="1311022"/>
            <a:ext cx="183356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050" spc="-386" dirty="0">
                <a:latin typeface="Cambria Math"/>
                <a:cs typeface="Cambria Math"/>
              </a:rPr>
              <a:t>𝑦</a:t>
            </a:r>
            <a:r>
              <a:rPr sz="1050" spc="64" dirty="0">
                <a:latin typeface="Cambria Math"/>
                <a:cs typeface="Cambria Math"/>
              </a:rPr>
              <a:t>"</a:t>
            </a:r>
            <a:r>
              <a:rPr sz="1125" spc="107" baseline="-16666" dirty="0">
                <a:latin typeface="Cambria Math"/>
                <a:cs typeface="Cambria Math"/>
              </a:rPr>
              <a:t>3</a:t>
            </a:r>
            <a:endParaRPr sz="1125" baseline="-16666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777798" y="1308735"/>
            <a:ext cx="177641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050" spc="-386" dirty="0">
                <a:latin typeface="Cambria Math"/>
                <a:cs typeface="Cambria Math"/>
              </a:rPr>
              <a:t>𝑦</a:t>
            </a:r>
            <a:r>
              <a:rPr sz="1050" spc="19" dirty="0">
                <a:latin typeface="Cambria Math"/>
                <a:cs typeface="Cambria Math"/>
              </a:rPr>
              <a:t>"</a:t>
            </a:r>
            <a:r>
              <a:rPr sz="1125" spc="107" baseline="-16666" dirty="0">
                <a:latin typeface="Cambria Math"/>
                <a:cs typeface="Cambria Math"/>
              </a:rPr>
              <a:t>4</a:t>
            </a:r>
            <a:endParaRPr sz="1125" baseline="-16666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165287" y="1315593"/>
            <a:ext cx="183356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050" spc="-386" dirty="0">
                <a:latin typeface="Cambria Math"/>
                <a:cs typeface="Cambria Math"/>
              </a:rPr>
              <a:t>𝑦</a:t>
            </a:r>
            <a:r>
              <a:rPr sz="1050" spc="64" dirty="0">
                <a:latin typeface="Cambria Math"/>
                <a:cs typeface="Cambria Math"/>
              </a:rPr>
              <a:t>"</a:t>
            </a:r>
            <a:r>
              <a:rPr sz="1125" spc="107" baseline="-16666" dirty="0">
                <a:latin typeface="Cambria Math"/>
                <a:cs typeface="Cambria Math"/>
              </a:rPr>
              <a:t>5</a:t>
            </a:r>
            <a:endParaRPr sz="1125" baseline="-16666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530126" y="1320166"/>
            <a:ext cx="183356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050" spc="-386" dirty="0">
                <a:latin typeface="Cambria Math"/>
                <a:cs typeface="Cambria Math"/>
              </a:rPr>
              <a:t>𝑦</a:t>
            </a:r>
            <a:r>
              <a:rPr sz="1050" spc="64" dirty="0">
                <a:latin typeface="Cambria Math"/>
                <a:cs typeface="Cambria Math"/>
              </a:rPr>
              <a:t>"</a:t>
            </a:r>
            <a:r>
              <a:rPr sz="1125" spc="107" baseline="-16666" dirty="0">
                <a:latin typeface="Cambria Math"/>
                <a:cs typeface="Cambria Math"/>
              </a:rPr>
              <a:t>6</a:t>
            </a:r>
            <a:endParaRPr sz="1125" baseline="-16666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9211" y="768229"/>
            <a:ext cx="2828449" cy="1998047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9525">
              <a:spcBef>
                <a:spcPts val="98"/>
              </a:spcBef>
            </a:pPr>
            <a:r>
              <a:rPr sz="2625" spc="79" dirty="0">
                <a:solidFill>
                  <a:srgbClr val="C00000"/>
                </a:solidFill>
                <a:latin typeface="Tahoma"/>
                <a:cs typeface="Tahoma"/>
              </a:rPr>
              <a:t>seq2seq</a:t>
            </a:r>
            <a:r>
              <a:rPr sz="2625" spc="-49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625" spc="86" dirty="0">
                <a:solidFill>
                  <a:srgbClr val="C00000"/>
                </a:solidFill>
                <a:latin typeface="Tahoma"/>
                <a:cs typeface="Tahoma"/>
              </a:rPr>
              <a:t>models</a:t>
            </a:r>
            <a:endParaRPr sz="2625">
              <a:latin typeface="Tahoma"/>
              <a:cs typeface="Tahoma"/>
            </a:endParaRPr>
          </a:p>
          <a:p>
            <a:pPr marL="266700" marR="3810" indent="-257175">
              <a:lnSpc>
                <a:spcPct val="150000"/>
              </a:lnSpc>
              <a:spcBef>
                <a:spcPts val="1946"/>
              </a:spcBef>
              <a:buSzPct val="102564"/>
              <a:buFont typeface="Arial MT"/>
              <a:buChar char="•"/>
              <a:tabLst>
                <a:tab pos="266700" algn="l"/>
              </a:tabLst>
            </a:pPr>
            <a:r>
              <a:rPr sz="2194" b="1" spc="-23" baseline="1424" dirty="0">
                <a:latin typeface="Trebuchet MS"/>
                <a:cs typeface="Trebuchet MS"/>
              </a:rPr>
              <a:t>Attention</a:t>
            </a:r>
            <a:r>
              <a:rPr sz="2194" b="1" spc="-11" baseline="1424" dirty="0">
                <a:latin typeface="Trebuchet MS"/>
                <a:cs typeface="Trebuchet MS"/>
              </a:rPr>
              <a:t> </a:t>
            </a:r>
            <a:r>
              <a:rPr sz="1500" dirty="0">
                <a:latin typeface="Tahoma"/>
                <a:cs typeface="Tahoma"/>
              </a:rPr>
              <a:t>allows</a:t>
            </a:r>
            <a:r>
              <a:rPr sz="1500" spc="-3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decoder,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26" dirty="0">
                <a:latin typeface="Tahoma"/>
                <a:cs typeface="Tahoma"/>
              </a:rPr>
              <a:t>at </a:t>
            </a:r>
            <a:r>
              <a:rPr sz="1500" dirty="0">
                <a:latin typeface="Tahoma"/>
                <a:cs typeface="Tahoma"/>
              </a:rPr>
              <a:t>each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time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step,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-8" dirty="0">
                <a:latin typeface="Tahoma"/>
                <a:cs typeface="Tahoma"/>
              </a:rPr>
              <a:t> focus/use </a:t>
            </a:r>
            <a:r>
              <a:rPr sz="1500" dirty="0">
                <a:latin typeface="Tahoma"/>
                <a:cs typeface="Tahoma"/>
              </a:rPr>
              <a:t>different</a:t>
            </a:r>
            <a:r>
              <a:rPr sz="1500" spc="-6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amounts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64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the </a:t>
            </a:r>
            <a:r>
              <a:rPr sz="1500" dirty="0">
                <a:latin typeface="Tahoma"/>
                <a:cs typeface="Tahoma"/>
              </a:rPr>
              <a:t>encoder’s</a:t>
            </a:r>
            <a:r>
              <a:rPr sz="1500" spc="9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hidden</a:t>
            </a:r>
            <a:r>
              <a:rPr sz="1500" spc="109" dirty="0">
                <a:latin typeface="Tahoma"/>
                <a:cs typeface="Tahoma"/>
              </a:rPr>
              <a:t> </a:t>
            </a:r>
            <a:r>
              <a:rPr sz="1500" spc="-8" dirty="0">
                <a:latin typeface="Tahoma"/>
                <a:cs typeface="Tahoma"/>
              </a:rPr>
              <a:t>states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0161" y="2979801"/>
            <a:ext cx="3049905" cy="100482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3369" marR="22860" indent="-254794" algn="just">
              <a:lnSpc>
                <a:spcPct val="150000"/>
              </a:lnSpc>
              <a:spcBef>
                <a:spcPts val="75"/>
              </a:spcBef>
              <a:buFont typeface="Arial MT"/>
              <a:buChar char="•"/>
              <a:tabLst>
                <a:tab pos="285750" algn="l"/>
              </a:tabLst>
            </a:pPr>
            <a:r>
              <a:rPr sz="1500" dirty="0">
                <a:latin typeface="Tahoma"/>
                <a:cs typeface="Tahoma"/>
              </a:rPr>
              <a:t>The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resulting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070C0"/>
                </a:solidFill>
                <a:latin typeface="Tahoma"/>
                <a:cs typeface="Tahoma"/>
              </a:rPr>
              <a:t>context</a:t>
            </a:r>
            <a:r>
              <a:rPr sz="1500" spc="-38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070C0"/>
                </a:solidFill>
                <a:latin typeface="Tahoma"/>
                <a:cs typeface="Tahoma"/>
              </a:rPr>
              <a:t>vector</a:t>
            </a:r>
            <a:r>
              <a:rPr sz="1500" spc="-38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070C0"/>
                </a:solidFill>
                <a:latin typeface="Cambria Math"/>
                <a:cs typeface="Cambria Math"/>
              </a:rPr>
              <a:t>𝑐</a:t>
            </a:r>
            <a:r>
              <a:rPr sz="1688" baseline="-14814" dirty="0">
                <a:solidFill>
                  <a:srgbClr val="0070C0"/>
                </a:solidFill>
                <a:latin typeface="Cambria Math"/>
                <a:cs typeface="Cambria Math"/>
              </a:rPr>
              <a:t>𝑖</a:t>
            </a:r>
            <a:r>
              <a:rPr sz="1688" spc="275" baseline="-14814" dirty="0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sz="1500" spc="-19" dirty="0">
                <a:latin typeface="Tahoma"/>
                <a:cs typeface="Tahoma"/>
              </a:rPr>
              <a:t>is 	</a:t>
            </a:r>
            <a:r>
              <a:rPr sz="1500" dirty="0">
                <a:latin typeface="Tahoma"/>
                <a:cs typeface="Tahoma"/>
              </a:rPr>
              <a:t>used,</a:t>
            </a:r>
            <a:r>
              <a:rPr sz="1500" spc="-1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 the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00000"/>
                </a:solidFill>
                <a:latin typeface="Tahoma"/>
                <a:cs typeface="Tahoma"/>
              </a:rPr>
              <a:t>decoder’s</a:t>
            </a:r>
            <a:r>
              <a:rPr sz="1500" spc="-8" dirty="0">
                <a:solidFill>
                  <a:srgbClr val="C00000"/>
                </a:solidFill>
                <a:latin typeface="Tahoma"/>
                <a:cs typeface="Tahoma"/>
              </a:rPr>
              <a:t> current 	</a:t>
            </a:r>
            <a:r>
              <a:rPr sz="1500" dirty="0">
                <a:solidFill>
                  <a:srgbClr val="C00000"/>
                </a:solidFill>
                <a:latin typeface="Tahoma"/>
                <a:cs typeface="Tahoma"/>
              </a:rPr>
              <a:t>hidden</a:t>
            </a:r>
            <a:r>
              <a:rPr sz="1500" spc="38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00000"/>
                </a:solidFill>
                <a:latin typeface="Tahoma"/>
                <a:cs typeface="Tahoma"/>
              </a:rPr>
              <a:t>state</a:t>
            </a:r>
            <a:r>
              <a:rPr sz="1500" spc="41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1688" baseline="-14814" dirty="0">
                <a:solidFill>
                  <a:srgbClr val="C00000"/>
                </a:solidFill>
                <a:latin typeface="Cambria Math"/>
                <a:cs typeface="Cambria Math"/>
              </a:rPr>
              <a:t>𝑖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4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predict</a:t>
            </a:r>
            <a:r>
              <a:rPr sz="1500" spc="34" dirty="0">
                <a:latin typeface="Tahoma"/>
                <a:cs typeface="Tahoma"/>
              </a:rPr>
              <a:t> </a:t>
            </a:r>
            <a:r>
              <a:rPr sz="1500" spc="-764" dirty="0">
                <a:solidFill>
                  <a:srgbClr val="7030A0"/>
                </a:solidFill>
                <a:latin typeface="Cambria Math"/>
                <a:cs typeface="Cambria Math"/>
              </a:rPr>
              <a:t>𝑦</a:t>
            </a:r>
            <a:r>
              <a:rPr sz="1500" spc="-127" dirty="0">
                <a:solidFill>
                  <a:srgbClr val="7030A0"/>
                </a:solidFill>
                <a:latin typeface="Cambria Math"/>
                <a:cs typeface="Cambria Math"/>
              </a:rPr>
              <a:t>#</a:t>
            </a:r>
            <a:r>
              <a:rPr sz="1688" spc="-169" baseline="-14814" dirty="0">
                <a:solidFill>
                  <a:srgbClr val="7030A0"/>
                </a:solidFill>
                <a:latin typeface="Cambria Math"/>
                <a:cs typeface="Cambria Math"/>
              </a:rPr>
              <a:t>𝑖</a:t>
            </a:r>
            <a:endParaRPr sz="1688" baseline="-14814">
              <a:latin typeface="Cambria Math"/>
              <a:cs typeface="Cambria Math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7629" y="1713186"/>
            <a:ext cx="1582745" cy="113149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902782" y="2895966"/>
            <a:ext cx="643414" cy="1674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1013" dirty="0">
                <a:solidFill>
                  <a:srgbClr val="262626"/>
                </a:solidFill>
                <a:latin typeface="Tahoma"/>
                <a:cs typeface="Tahoma"/>
              </a:rPr>
              <a:t>Input</a:t>
            </a:r>
            <a:r>
              <a:rPr sz="1013" spc="-38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013" spc="-8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013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59884" y="2098152"/>
            <a:ext cx="775811" cy="1674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1013" spc="49" dirty="0">
                <a:solidFill>
                  <a:srgbClr val="262626"/>
                </a:solidFill>
                <a:latin typeface="Tahoma"/>
                <a:cs typeface="Tahoma"/>
              </a:rPr>
              <a:t>Hidden</a:t>
            </a:r>
            <a:r>
              <a:rPr sz="1013" spc="-34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013" spc="-15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013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5722" y="1810892"/>
            <a:ext cx="74295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38" dirty="0">
                <a:latin typeface="Cambria Math"/>
                <a:cs typeface="Cambria Math"/>
              </a:rPr>
              <a:t>1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95949" y="1690498"/>
            <a:ext cx="194309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75" spc="-28" baseline="-21825" dirty="0">
                <a:latin typeface="Cambria Math"/>
                <a:cs typeface="Cambria Math"/>
              </a:rPr>
              <a:t>ℎ</a:t>
            </a:r>
            <a:r>
              <a:rPr sz="750" spc="-19" dirty="0">
                <a:latin typeface="Cambria Math"/>
                <a:cs typeface="Cambria Math"/>
              </a:rPr>
              <a:t>𝐸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13464" y="1820036"/>
            <a:ext cx="74295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38" dirty="0">
                <a:latin typeface="Cambria Math"/>
                <a:cs typeface="Cambria Math"/>
              </a:rPr>
              <a:t>2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20595" y="1701927"/>
            <a:ext cx="194309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75" spc="-28" baseline="-21825" dirty="0">
                <a:latin typeface="Cambria Math"/>
                <a:cs typeface="Cambria Math"/>
              </a:rPr>
              <a:t>ℎ</a:t>
            </a:r>
            <a:r>
              <a:rPr sz="750" spc="-19" dirty="0">
                <a:latin typeface="Cambria Math"/>
                <a:cs typeface="Cambria Math"/>
              </a:rPr>
              <a:t>𝐸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70223" y="1820036"/>
            <a:ext cx="74295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38" dirty="0">
                <a:latin typeface="Cambria Math"/>
                <a:cs typeface="Cambria Math"/>
              </a:rPr>
              <a:t>3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77355" y="1701927"/>
            <a:ext cx="194309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75" spc="-28" baseline="-21825" dirty="0">
                <a:latin typeface="Cambria Math"/>
                <a:cs typeface="Cambria Math"/>
              </a:rPr>
              <a:t>ℎ</a:t>
            </a:r>
            <a:r>
              <a:rPr sz="750" spc="-19" dirty="0">
                <a:latin typeface="Cambria Math"/>
                <a:cs typeface="Cambria Math"/>
              </a:rPr>
              <a:t>𝐸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12851" y="1815465"/>
            <a:ext cx="74295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38" dirty="0">
                <a:latin typeface="Cambria Math"/>
                <a:cs typeface="Cambria Math"/>
              </a:rPr>
              <a:t>4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19983" y="1697356"/>
            <a:ext cx="194309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75" spc="-28" baseline="-21825" dirty="0">
                <a:latin typeface="Cambria Math"/>
                <a:cs typeface="Cambria Math"/>
              </a:rPr>
              <a:t>ℎ</a:t>
            </a:r>
            <a:r>
              <a:rPr sz="750" spc="-19" dirty="0">
                <a:latin typeface="Cambria Math"/>
                <a:cs typeface="Cambria Math"/>
              </a:rPr>
              <a:t>𝐸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69105" y="2866263"/>
            <a:ext cx="211455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19" dirty="0">
                <a:latin typeface="Tahoma"/>
                <a:cs typeface="Tahoma"/>
              </a:rPr>
              <a:t>The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53732" y="2873122"/>
            <a:ext cx="338138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8" dirty="0">
                <a:latin typeface="Tahoma"/>
                <a:cs typeface="Tahoma"/>
              </a:rPr>
              <a:t>brown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34305" y="2861692"/>
            <a:ext cx="227171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26" dirty="0">
                <a:latin typeface="Tahoma"/>
                <a:cs typeface="Tahoma"/>
              </a:rPr>
              <a:t>dog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19126" y="2859406"/>
            <a:ext cx="180499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19" dirty="0">
                <a:latin typeface="Tahoma"/>
                <a:cs typeface="Tahoma"/>
              </a:rPr>
              <a:t>ran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91779" y="3225150"/>
            <a:ext cx="988695" cy="1674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1013" spc="86" dirty="0">
                <a:solidFill>
                  <a:srgbClr val="7030A0"/>
                </a:solidFill>
                <a:latin typeface="Tahoma"/>
                <a:cs typeface="Tahoma"/>
              </a:rPr>
              <a:t>ENCODER</a:t>
            </a:r>
            <a:r>
              <a:rPr sz="1013" spc="-38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013" spc="71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013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18013" y="1813178"/>
            <a:ext cx="74295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38" dirty="0">
                <a:latin typeface="Cambria Math"/>
                <a:cs typeface="Cambria Math"/>
              </a:rPr>
              <a:t>1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28239" y="1692784"/>
            <a:ext cx="201454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75" spc="-28" baseline="-21825" dirty="0">
                <a:latin typeface="Cambria Math"/>
                <a:cs typeface="Cambria Math"/>
              </a:rPr>
              <a:t>ℎ</a:t>
            </a:r>
            <a:r>
              <a:rPr sz="750" spc="-19" dirty="0">
                <a:latin typeface="Cambria Math"/>
                <a:cs typeface="Cambria Math"/>
              </a:rPr>
              <a:t>𝐷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11157" y="2861692"/>
            <a:ext cx="220504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38" dirty="0">
                <a:solidFill>
                  <a:srgbClr val="C00000"/>
                </a:solidFill>
                <a:latin typeface="Tahoma"/>
                <a:cs typeface="Tahoma"/>
              </a:rPr>
              <a:t>&lt;s&gt;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62779" y="3264012"/>
            <a:ext cx="983933" cy="1674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1013" spc="79" dirty="0">
                <a:solidFill>
                  <a:srgbClr val="7030A0"/>
                </a:solidFill>
                <a:latin typeface="Tahoma"/>
                <a:cs typeface="Tahoma"/>
              </a:rPr>
              <a:t>DECODER</a:t>
            </a:r>
            <a:r>
              <a:rPr sz="1013" spc="-30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013" spc="71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013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399003" y="1542116"/>
            <a:ext cx="2291239" cy="1319213"/>
            <a:chOff x="8532003" y="2056155"/>
            <a:chExt cx="3054985" cy="1758950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32003" y="2591878"/>
              <a:ext cx="3054679" cy="122322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877643" y="2056155"/>
              <a:ext cx="2670175" cy="295275"/>
            </a:xfrm>
            <a:custGeom>
              <a:avLst/>
              <a:gdLst/>
              <a:ahLst/>
              <a:cxnLst/>
              <a:rect l="l" t="t" r="r" b="b"/>
              <a:pathLst>
                <a:path w="2670175" h="295275">
                  <a:moveTo>
                    <a:pt x="180352" y="125564"/>
                  </a:moveTo>
                  <a:lnTo>
                    <a:pt x="90170" y="0"/>
                  </a:lnTo>
                  <a:lnTo>
                    <a:pt x="0" y="125564"/>
                  </a:lnTo>
                  <a:lnTo>
                    <a:pt x="65303" y="125564"/>
                  </a:lnTo>
                  <a:lnTo>
                    <a:pt x="65303" y="271233"/>
                  </a:lnTo>
                  <a:lnTo>
                    <a:pt x="115036" y="271233"/>
                  </a:lnTo>
                  <a:lnTo>
                    <a:pt x="115036" y="125564"/>
                  </a:lnTo>
                  <a:lnTo>
                    <a:pt x="180352" y="125564"/>
                  </a:lnTo>
                  <a:close/>
                </a:path>
                <a:path w="2670175" h="295275">
                  <a:moveTo>
                    <a:pt x="666419" y="127127"/>
                  </a:moveTo>
                  <a:lnTo>
                    <a:pt x="576249" y="1562"/>
                  </a:lnTo>
                  <a:lnTo>
                    <a:pt x="486067" y="127127"/>
                  </a:lnTo>
                  <a:lnTo>
                    <a:pt x="551383" y="127127"/>
                  </a:lnTo>
                  <a:lnTo>
                    <a:pt x="551383" y="272796"/>
                  </a:lnTo>
                  <a:lnTo>
                    <a:pt x="601116" y="272796"/>
                  </a:lnTo>
                  <a:lnTo>
                    <a:pt x="601116" y="127127"/>
                  </a:lnTo>
                  <a:lnTo>
                    <a:pt x="666419" y="127127"/>
                  </a:lnTo>
                  <a:close/>
                </a:path>
                <a:path w="2670175" h="295275">
                  <a:moveTo>
                    <a:pt x="1162926" y="126796"/>
                  </a:moveTo>
                  <a:lnTo>
                    <a:pt x="1072743" y="1231"/>
                  </a:lnTo>
                  <a:lnTo>
                    <a:pt x="982573" y="126796"/>
                  </a:lnTo>
                  <a:lnTo>
                    <a:pt x="1047877" y="126796"/>
                  </a:lnTo>
                  <a:lnTo>
                    <a:pt x="1047877" y="272465"/>
                  </a:lnTo>
                  <a:lnTo>
                    <a:pt x="1097610" y="272465"/>
                  </a:lnTo>
                  <a:lnTo>
                    <a:pt x="1097610" y="126796"/>
                  </a:lnTo>
                  <a:lnTo>
                    <a:pt x="1162926" y="126796"/>
                  </a:lnTo>
                  <a:close/>
                </a:path>
                <a:path w="2670175" h="295275">
                  <a:moveTo>
                    <a:pt x="1689214" y="128384"/>
                  </a:moveTo>
                  <a:lnTo>
                    <a:pt x="1599044" y="2819"/>
                  </a:lnTo>
                  <a:lnTo>
                    <a:pt x="1508861" y="128384"/>
                  </a:lnTo>
                  <a:lnTo>
                    <a:pt x="1574177" y="128384"/>
                  </a:lnTo>
                  <a:lnTo>
                    <a:pt x="1574177" y="274053"/>
                  </a:lnTo>
                  <a:lnTo>
                    <a:pt x="1623910" y="274053"/>
                  </a:lnTo>
                  <a:lnTo>
                    <a:pt x="1623910" y="128384"/>
                  </a:lnTo>
                  <a:lnTo>
                    <a:pt x="1689214" y="128384"/>
                  </a:lnTo>
                  <a:close/>
                </a:path>
                <a:path w="2670175" h="295275">
                  <a:moveTo>
                    <a:pt x="2191118" y="134073"/>
                  </a:moveTo>
                  <a:lnTo>
                    <a:pt x="2100935" y="8509"/>
                  </a:lnTo>
                  <a:lnTo>
                    <a:pt x="2010765" y="134073"/>
                  </a:lnTo>
                  <a:lnTo>
                    <a:pt x="2076069" y="134073"/>
                  </a:lnTo>
                  <a:lnTo>
                    <a:pt x="2076069" y="279742"/>
                  </a:lnTo>
                  <a:lnTo>
                    <a:pt x="2125802" y="279742"/>
                  </a:lnTo>
                  <a:lnTo>
                    <a:pt x="2125802" y="134073"/>
                  </a:lnTo>
                  <a:lnTo>
                    <a:pt x="2191118" y="134073"/>
                  </a:lnTo>
                  <a:close/>
                </a:path>
                <a:path w="2670175" h="295275">
                  <a:moveTo>
                    <a:pt x="2670073" y="149148"/>
                  </a:moveTo>
                  <a:lnTo>
                    <a:pt x="2579890" y="23583"/>
                  </a:lnTo>
                  <a:lnTo>
                    <a:pt x="2489720" y="149148"/>
                  </a:lnTo>
                  <a:lnTo>
                    <a:pt x="2555024" y="149148"/>
                  </a:lnTo>
                  <a:lnTo>
                    <a:pt x="2555024" y="294817"/>
                  </a:lnTo>
                  <a:lnTo>
                    <a:pt x="2604757" y="294817"/>
                  </a:lnTo>
                  <a:lnTo>
                    <a:pt x="2604757" y="149148"/>
                  </a:lnTo>
                  <a:lnTo>
                    <a:pt x="2670073" y="149148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644827" y="1306450"/>
            <a:ext cx="180499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050" spc="-386" dirty="0">
                <a:latin typeface="Cambria Math"/>
                <a:cs typeface="Cambria Math"/>
              </a:rPr>
              <a:t>𝑦</a:t>
            </a:r>
            <a:r>
              <a:rPr sz="1050" spc="41" dirty="0">
                <a:latin typeface="Cambria Math"/>
                <a:cs typeface="Cambria Math"/>
              </a:rPr>
              <a:t>"</a:t>
            </a:r>
            <a:r>
              <a:rPr sz="1125" spc="107" baseline="-16666" dirty="0">
                <a:latin typeface="Cambria Math"/>
                <a:cs typeface="Cambria Math"/>
              </a:rPr>
              <a:t>1</a:t>
            </a:r>
            <a:endParaRPr sz="1125" baseline="-16666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15764" y="1322616"/>
            <a:ext cx="1734026" cy="1738457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28099">
              <a:spcBef>
                <a:spcPts val="56"/>
              </a:spcBef>
              <a:tabLst>
                <a:tab pos="399098" algn="l"/>
                <a:tab pos="790099" algn="l"/>
                <a:tab pos="1177766" algn="l"/>
                <a:tab pos="1542573" algn="l"/>
              </a:tabLst>
            </a:pPr>
            <a:r>
              <a:rPr sz="1575" spc="-483" baseline="5952" dirty="0">
                <a:latin typeface="Cambria Math"/>
                <a:cs typeface="Cambria Math"/>
              </a:rPr>
              <a:t>𝑦</a:t>
            </a:r>
            <a:r>
              <a:rPr sz="1575" spc="191" baseline="5952" dirty="0">
                <a:latin typeface="Cambria Math"/>
                <a:cs typeface="Cambria Math"/>
              </a:rPr>
              <a:t>"</a:t>
            </a:r>
            <a:r>
              <a:rPr sz="1125" spc="203" baseline="-8333" dirty="0">
                <a:latin typeface="Cambria Math"/>
                <a:cs typeface="Cambria Math"/>
              </a:rPr>
              <a:t>2</a:t>
            </a:r>
            <a:r>
              <a:rPr sz="1125" baseline="-8333" dirty="0">
                <a:latin typeface="Cambria Math"/>
                <a:cs typeface="Cambria Math"/>
              </a:rPr>
              <a:t>	</a:t>
            </a:r>
            <a:r>
              <a:rPr sz="1575" spc="-483" baseline="3968" dirty="0">
                <a:latin typeface="Cambria Math"/>
                <a:cs typeface="Cambria Math"/>
              </a:rPr>
              <a:t>𝑦</a:t>
            </a:r>
            <a:r>
              <a:rPr sz="1575" spc="191" baseline="3968" dirty="0">
                <a:latin typeface="Cambria Math"/>
                <a:cs typeface="Cambria Math"/>
              </a:rPr>
              <a:t>"</a:t>
            </a:r>
            <a:r>
              <a:rPr sz="1125" spc="203" baseline="-11111" dirty="0">
                <a:latin typeface="Cambria Math"/>
                <a:cs typeface="Cambria Math"/>
              </a:rPr>
              <a:t>3</a:t>
            </a:r>
            <a:r>
              <a:rPr sz="1125" baseline="-11111" dirty="0">
                <a:latin typeface="Cambria Math"/>
                <a:cs typeface="Cambria Math"/>
              </a:rPr>
              <a:t>	</a:t>
            </a:r>
            <a:r>
              <a:rPr sz="1575" spc="-461" baseline="3968" dirty="0">
                <a:latin typeface="Cambria Math"/>
                <a:cs typeface="Cambria Math"/>
              </a:rPr>
              <a:t>𝑦</a:t>
            </a:r>
            <a:r>
              <a:rPr sz="1575" spc="146" baseline="3968" dirty="0">
                <a:latin typeface="Cambria Math"/>
                <a:cs typeface="Cambria Math"/>
              </a:rPr>
              <a:t>"</a:t>
            </a:r>
            <a:r>
              <a:rPr sz="1125" spc="225" baseline="-8333" dirty="0">
                <a:latin typeface="Cambria Math"/>
                <a:cs typeface="Cambria Math"/>
              </a:rPr>
              <a:t>4</a:t>
            </a:r>
            <a:r>
              <a:rPr sz="1125" baseline="-8333" dirty="0">
                <a:latin typeface="Cambria Math"/>
                <a:cs typeface="Cambria Math"/>
              </a:rPr>
              <a:t>	</a:t>
            </a:r>
            <a:r>
              <a:rPr sz="1575" spc="-483" baseline="1984" dirty="0">
                <a:latin typeface="Cambria Math"/>
                <a:cs typeface="Cambria Math"/>
              </a:rPr>
              <a:t>𝑦</a:t>
            </a:r>
            <a:r>
              <a:rPr sz="1575" spc="191" baseline="1984" dirty="0">
                <a:latin typeface="Cambria Math"/>
                <a:cs typeface="Cambria Math"/>
              </a:rPr>
              <a:t>"</a:t>
            </a:r>
            <a:r>
              <a:rPr sz="1125" spc="203" baseline="-13888" dirty="0">
                <a:latin typeface="Cambria Math"/>
                <a:cs typeface="Cambria Math"/>
              </a:rPr>
              <a:t>5</a:t>
            </a:r>
            <a:r>
              <a:rPr sz="1125" baseline="-13888" dirty="0">
                <a:latin typeface="Cambria Math"/>
                <a:cs typeface="Cambria Math"/>
              </a:rPr>
              <a:t>	</a:t>
            </a:r>
            <a:r>
              <a:rPr sz="1050" spc="-323" dirty="0">
                <a:latin typeface="Cambria Math"/>
                <a:cs typeface="Cambria Math"/>
              </a:rPr>
              <a:t>𝑦</a:t>
            </a:r>
            <a:r>
              <a:rPr sz="1050" spc="127" dirty="0">
                <a:latin typeface="Cambria Math"/>
                <a:cs typeface="Cambria Math"/>
              </a:rPr>
              <a:t>"</a:t>
            </a:r>
            <a:r>
              <a:rPr sz="1125" spc="203" baseline="-16666" dirty="0">
                <a:latin typeface="Cambria Math"/>
                <a:cs typeface="Cambria Math"/>
              </a:rPr>
              <a:t>6</a:t>
            </a:r>
            <a:endParaRPr sz="1125" baseline="-16666">
              <a:latin typeface="Cambria Math"/>
              <a:cs typeface="Cambria Math"/>
            </a:endParaRPr>
          </a:p>
          <a:p>
            <a:pPr>
              <a:spcBef>
                <a:spcPts val="814"/>
              </a:spcBef>
            </a:pPr>
            <a:endParaRPr sz="1050">
              <a:latin typeface="Cambria Math"/>
              <a:cs typeface="Cambria Math"/>
            </a:endParaRPr>
          </a:p>
          <a:p>
            <a:pPr marL="75724">
              <a:lnSpc>
                <a:spcPts val="499"/>
              </a:lnSpc>
              <a:tabLst>
                <a:tab pos="452914" algn="l"/>
                <a:tab pos="841058" algn="l"/>
                <a:tab pos="1222058" algn="l"/>
                <a:tab pos="1586865" algn="l"/>
              </a:tabLst>
            </a:pPr>
            <a:r>
              <a:rPr sz="1125" spc="-56" baseline="2777" dirty="0">
                <a:latin typeface="Cambria Math"/>
                <a:cs typeface="Cambria Math"/>
              </a:rPr>
              <a:t>𝐷</a:t>
            </a:r>
            <a:r>
              <a:rPr sz="1125" baseline="2777" dirty="0">
                <a:latin typeface="Cambria Math"/>
                <a:cs typeface="Cambria Math"/>
              </a:rPr>
              <a:t>	</a:t>
            </a:r>
            <a:r>
              <a:rPr sz="1125" spc="-56" baseline="5555" dirty="0">
                <a:latin typeface="Cambria Math"/>
                <a:cs typeface="Cambria Math"/>
              </a:rPr>
              <a:t>𝐷</a:t>
            </a:r>
            <a:r>
              <a:rPr sz="1125" baseline="5555" dirty="0">
                <a:latin typeface="Cambria Math"/>
                <a:cs typeface="Cambria Math"/>
              </a:rPr>
              <a:t>	</a:t>
            </a:r>
            <a:r>
              <a:rPr sz="750" spc="-38" dirty="0">
                <a:latin typeface="Cambria Math"/>
                <a:cs typeface="Cambria Math"/>
              </a:rPr>
              <a:t>𝐷</a:t>
            </a:r>
            <a:r>
              <a:rPr sz="750" dirty="0">
                <a:latin typeface="Cambria Math"/>
                <a:cs typeface="Cambria Math"/>
              </a:rPr>
              <a:t>	</a:t>
            </a:r>
            <a:r>
              <a:rPr sz="1125" spc="-56" baseline="-5555" dirty="0">
                <a:latin typeface="Cambria Math"/>
                <a:cs typeface="Cambria Math"/>
              </a:rPr>
              <a:t>𝐷</a:t>
            </a:r>
            <a:r>
              <a:rPr sz="1125" baseline="-5555" dirty="0">
                <a:latin typeface="Cambria Math"/>
                <a:cs typeface="Cambria Math"/>
              </a:rPr>
              <a:t>	</a:t>
            </a:r>
            <a:r>
              <a:rPr sz="1125" spc="-56" baseline="-5555" dirty="0">
                <a:latin typeface="Cambria Math"/>
                <a:cs typeface="Cambria Math"/>
              </a:rPr>
              <a:t>𝐷</a:t>
            </a:r>
            <a:endParaRPr sz="1125" baseline="-5555">
              <a:latin typeface="Cambria Math"/>
              <a:cs typeface="Cambria Math"/>
            </a:endParaRPr>
          </a:p>
          <a:p>
            <a:pPr>
              <a:lnSpc>
                <a:spcPts val="859"/>
              </a:lnSpc>
              <a:tabLst>
                <a:tab pos="376713" algn="l"/>
                <a:tab pos="764858" algn="l"/>
                <a:tab pos="1146334" algn="l"/>
                <a:tab pos="1510665" algn="l"/>
              </a:tabLst>
            </a:pPr>
            <a:r>
              <a:rPr sz="1575" spc="-28" baseline="1984" dirty="0">
                <a:latin typeface="Cambria Math"/>
                <a:cs typeface="Cambria Math"/>
              </a:rPr>
              <a:t>ℎ</a:t>
            </a:r>
            <a:r>
              <a:rPr sz="1125" spc="-28" baseline="-13888" dirty="0">
                <a:latin typeface="Cambria Math"/>
                <a:cs typeface="Cambria Math"/>
              </a:rPr>
              <a:t>2</a:t>
            </a:r>
            <a:r>
              <a:rPr sz="1125" baseline="-13888" dirty="0">
                <a:latin typeface="Cambria Math"/>
                <a:cs typeface="Cambria Math"/>
              </a:rPr>
              <a:t>	</a:t>
            </a:r>
            <a:r>
              <a:rPr sz="1575" spc="-28" baseline="3968" dirty="0">
                <a:latin typeface="Cambria Math"/>
                <a:cs typeface="Cambria Math"/>
              </a:rPr>
              <a:t>ℎ</a:t>
            </a:r>
            <a:r>
              <a:rPr sz="1125" spc="-28" baseline="-11111" dirty="0">
                <a:latin typeface="Cambria Math"/>
                <a:cs typeface="Cambria Math"/>
              </a:rPr>
              <a:t>3</a:t>
            </a:r>
            <a:r>
              <a:rPr sz="1125" baseline="-11111" dirty="0">
                <a:latin typeface="Cambria Math"/>
                <a:cs typeface="Cambria Math"/>
              </a:rPr>
              <a:t>	</a:t>
            </a:r>
            <a:r>
              <a:rPr sz="1050" spc="-19" dirty="0">
                <a:latin typeface="Cambria Math"/>
                <a:cs typeface="Cambria Math"/>
              </a:rPr>
              <a:t>ℎ</a:t>
            </a:r>
            <a:r>
              <a:rPr sz="1125" spc="-28" baseline="-16666" dirty="0">
                <a:latin typeface="Cambria Math"/>
                <a:cs typeface="Cambria Math"/>
              </a:rPr>
              <a:t>4</a:t>
            </a:r>
            <a:r>
              <a:rPr sz="1125" baseline="-16666" dirty="0">
                <a:latin typeface="Cambria Math"/>
                <a:cs typeface="Cambria Math"/>
              </a:rPr>
              <a:t>	</a:t>
            </a:r>
            <a:r>
              <a:rPr sz="1575" spc="-28" baseline="-3968" dirty="0">
                <a:latin typeface="Cambria Math"/>
                <a:cs typeface="Cambria Math"/>
              </a:rPr>
              <a:t>ℎ</a:t>
            </a:r>
            <a:r>
              <a:rPr sz="1125" spc="-28" baseline="-25000" dirty="0">
                <a:latin typeface="Cambria Math"/>
                <a:cs typeface="Cambria Math"/>
              </a:rPr>
              <a:t>5</a:t>
            </a:r>
            <a:r>
              <a:rPr sz="1125" baseline="-25000" dirty="0">
                <a:latin typeface="Cambria Math"/>
                <a:cs typeface="Cambria Math"/>
              </a:rPr>
              <a:t>	</a:t>
            </a:r>
            <a:r>
              <a:rPr sz="1575" spc="-28" baseline="-3968" dirty="0">
                <a:latin typeface="Cambria Math"/>
                <a:cs typeface="Cambria Math"/>
              </a:rPr>
              <a:t>ℎ</a:t>
            </a:r>
            <a:r>
              <a:rPr sz="1125" spc="-28" baseline="-25000" dirty="0">
                <a:latin typeface="Cambria Math"/>
                <a:cs typeface="Cambria Math"/>
              </a:rPr>
              <a:t>6</a:t>
            </a:r>
            <a:endParaRPr sz="1125" baseline="-25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7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7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7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7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7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7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750">
              <a:latin typeface="Cambria Math"/>
              <a:cs typeface="Cambria Math"/>
            </a:endParaRPr>
          </a:p>
          <a:p>
            <a:pPr>
              <a:spcBef>
                <a:spcPts val="514"/>
              </a:spcBef>
            </a:pPr>
            <a:endParaRPr sz="750">
              <a:latin typeface="Cambria Math"/>
              <a:cs typeface="Cambria Math"/>
            </a:endParaRPr>
          </a:p>
          <a:p>
            <a:pPr marL="24765">
              <a:tabLst>
                <a:tab pos="318135" algn="l"/>
                <a:tab pos="744379" algn="l"/>
                <a:tab pos="1196816" algn="l"/>
                <a:tab pos="1445895" algn="l"/>
              </a:tabLst>
            </a:pPr>
            <a:r>
              <a:rPr sz="900" spc="-19" dirty="0">
                <a:solidFill>
                  <a:srgbClr val="C00000"/>
                </a:solidFill>
                <a:latin typeface="Tahoma"/>
                <a:cs typeface="Tahoma"/>
              </a:rPr>
              <a:t>Le</a:t>
            </a:r>
            <a:r>
              <a:rPr sz="9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1350" spc="-11" baseline="2314" dirty="0">
                <a:solidFill>
                  <a:srgbClr val="C00000"/>
                </a:solidFill>
                <a:latin typeface="Tahoma"/>
                <a:cs typeface="Tahoma"/>
              </a:rPr>
              <a:t>chien</a:t>
            </a:r>
            <a:r>
              <a:rPr sz="1350" baseline="2314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900" spc="-15" dirty="0">
                <a:solidFill>
                  <a:srgbClr val="C00000"/>
                </a:solidFill>
                <a:latin typeface="Tahoma"/>
                <a:cs typeface="Tahoma"/>
              </a:rPr>
              <a:t>brun</a:t>
            </a:r>
            <a:r>
              <a:rPr sz="9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900" spc="-38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900" spc="-15" dirty="0">
                <a:solidFill>
                  <a:srgbClr val="C00000"/>
                </a:solidFill>
                <a:latin typeface="Tahoma"/>
                <a:cs typeface="Tahoma"/>
              </a:rPr>
              <a:t>couru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824905" y="1255061"/>
            <a:ext cx="2012633" cy="1749743"/>
          </a:xfrm>
          <a:custGeom>
            <a:avLst/>
            <a:gdLst/>
            <a:ahLst/>
            <a:cxnLst/>
            <a:rect l="l" t="t" r="r" b="b"/>
            <a:pathLst>
              <a:path w="2683509" h="2332990">
                <a:moveTo>
                  <a:pt x="2683508" y="0"/>
                </a:moveTo>
                <a:lnTo>
                  <a:pt x="0" y="0"/>
                </a:lnTo>
                <a:lnTo>
                  <a:pt x="0" y="2332935"/>
                </a:lnTo>
                <a:lnTo>
                  <a:pt x="2683508" y="2332935"/>
                </a:lnTo>
                <a:lnTo>
                  <a:pt x="2683508" y="0"/>
                </a:lnTo>
                <a:close/>
              </a:path>
            </a:pathLst>
          </a:custGeom>
          <a:solidFill>
            <a:srgbClr val="FFFFFF">
              <a:alpha val="7293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829099" y="1275731"/>
            <a:ext cx="1400175" cy="432435"/>
          </a:xfrm>
          <a:custGeom>
            <a:avLst/>
            <a:gdLst/>
            <a:ahLst/>
            <a:cxnLst/>
            <a:rect l="l" t="t" r="r" b="b"/>
            <a:pathLst>
              <a:path w="1866900" h="576580">
                <a:moveTo>
                  <a:pt x="297853" y="123469"/>
                </a:moveTo>
                <a:lnTo>
                  <a:pt x="287985" y="43307"/>
                </a:lnTo>
                <a:lnTo>
                  <a:pt x="215163" y="78270"/>
                </a:lnTo>
                <a:lnTo>
                  <a:pt x="245110" y="94640"/>
                </a:lnTo>
                <a:lnTo>
                  <a:pt x="0" y="543039"/>
                </a:lnTo>
                <a:lnTo>
                  <a:pt x="22796" y="555498"/>
                </a:lnTo>
                <a:lnTo>
                  <a:pt x="267906" y="107099"/>
                </a:lnTo>
                <a:lnTo>
                  <a:pt x="297853" y="123469"/>
                </a:lnTo>
                <a:close/>
              </a:path>
              <a:path w="1866900" h="576580">
                <a:moveTo>
                  <a:pt x="649173" y="525691"/>
                </a:moveTo>
                <a:lnTo>
                  <a:pt x="464248" y="117259"/>
                </a:lnTo>
                <a:lnTo>
                  <a:pt x="497459" y="102222"/>
                </a:lnTo>
                <a:lnTo>
                  <a:pt x="422694" y="59131"/>
                </a:lnTo>
                <a:lnTo>
                  <a:pt x="405752" y="143738"/>
                </a:lnTo>
                <a:lnTo>
                  <a:pt x="438950" y="128701"/>
                </a:lnTo>
                <a:lnTo>
                  <a:pt x="623887" y="537146"/>
                </a:lnTo>
                <a:lnTo>
                  <a:pt x="649173" y="525691"/>
                </a:lnTo>
                <a:close/>
              </a:path>
              <a:path w="1866900" h="576580">
                <a:moveTo>
                  <a:pt x="1866531" y="548106"/>
                </a:moveTo>
                <a:lnTo>
                  <a:pt x="597484" y="37084"/>
                </a:lnTo>
                <a:lnTo>
                  <a:pt x="612419" y="0"/>
                </a:lnTo>
                <a:lnTo>
                  <a:pt x="520496" y="22491"/>
                </a:lnTo>
                <a:lnTo>
                  <a:pt x="535774" y="46609"/>
                </a:lnTo>
                <a:lnTo>
                  <a:pt x="499021" y="50165"/>
                </a:lnTo>
                <a:lnTo>
                  <a:pt x="536778" y="134289"/>
                </a:lnTo>
                <a:lnTo>
                  <a:pt x="556336" y="100609"/>
                </a:lnTo>
                <a:lnTo>
                  <a:pt x="1278699" y="520128"/>
                </a:lnTo>
                <a:lnTo>
                  <a:pt x="1293596" y="494474"/>
                </a:lnTo>
                <a:lnTo>
                  <a:pt x="580148" y="80137"/>
                </a:lnTo>
                <a:lnTo>
                  <a:pt x="586117" y="65328"/>
                </a:lnTo>
                <a:lnTo>
                  <a:pt x="1855152" y="576351"/>
                </a:lnTo>
                <a:lnTo>
                  <a:pt x="1866531" y="548106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153477" y="983360"/>
            <a:ext cx="76200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38" dirty="0">
                <a:solidFill>
                  <a:srgbClr val="7F6000"/>
                </a:solidFill>
                <a:latin typeface="Cambria Math"/>
                <a:cs typeface="Cambria Math"/>
              </a:rPr>
              <a:t>𝟓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066561" y="858393"/>
            <a:ext cx="196691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75" spc="-28" baseline="-23809" dirty="0">
                <a:solidFill>
                  <a:srgbClr val="7F6000"/>
                </a:solidFill>
                <a:latin typeface="Cambria Math"/>
                <a:cs typeface="Cambria Math"/>
              </a:rPr>
              <a:t>𝒄</a:t>
            </a:r>
            <a:r>
              <a:rPr sz="750" spc="-19" dirty="0">
                <a:solidFill>
                  <a:srgbClr val="7F6000"/>
                </a:solidFill>
                <a:latin typeface="Cambria Math"/>
                <a:cs typeface="Cambria Math"/>
              </a:rPr>
              <a:t>𝑫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88633" y="1513713"/>
            <a:ext cx="76200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38" dirty="0">
                <a:latin typeface="Cambria Math"/>
                <a:cs typeface="Cambria Math"/>
              </a:rPr>
              <a:t>𝟏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86239" y="1391032"/>
            <a:ext cx="197644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75" spc="-28" baseline="-21825" dirty="0">
                <a:latin typeface="Cambria Math"/>
                <a:cs typeface="Cambria Math"/>
              </a:rPr>
              <a:t>𝒂</a:t>
            </a:r>
            <a:r>
              <a:rPr sz="750" spc="-19" dirty="0">
                <a:latin typeface="Cambria Math"/>
                <a:cs typeface="Cambria Math"/>
              </a:rPr>
              <a:t>𝟓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161343" y="1577721"/>
            <a:ext cx="76200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38" dirty="0">
                <a:latin typeface="Cambria Math"/>
                <a:cs typeface="Cambria Math"/>
              </a:rPr>
              <a:t>𝟐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58949" y="1455040"/>
            <a:ext cx="197644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75" spc="-28" baseline="-21825" dirty="0">
                <a:latin typeface="Cambria Math"/>
                <a:cs typeface="Cambria Math"/>
              </a:rPr>
              <a:t>𝒂</a:t>
            </a:r>
            <a:r>
              <a:rPr sz="750" spc="-19" dirty="0">
                <a:latin typeface="Cambria Math"/>
                <a:cs typeface="Cambria Math"/>
              </a:rPr>
              <a:t>𝟓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342460" y="1475614"/>
            <a:ext cx="197644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050" spc="-19" dirty="0">
                <a:latin typeface="Cambria Math"/>
                <a:cs typeface="Cambria Math"/>
              </a:rPr>
              <a:t>𝒂</a:t>
            </a:r>
            <a:r>
              <a:rPr sz="1125" spc="-28" baseline="-19444" dirty="0">
                <a:latin typeface="Cambria Math"/>
                <a:cs typeface="Cambria Math"/>
              </a:rPr>
              <a:t>𝟑</a:t>
            </a:r>
            <a:endParaRPr sz="1125" baseline="-19444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444853" y="1458849"/>
            <a:ext cx="76200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38" dirty="0">
                <a:latin typeface="Cambria Math"/>
                <a:cs typeface="Cambria Math"/>
              </a:rPr>
              <a:t>𝟓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08299" y="1499997"/>
            <a:ext cx="76200" cy="1250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50" spc="-38" dirty="0">
                <a:latin typeface="Cambria Math"/>
                <a:cs typeface="Cambria Math"/>
              </a:rPr>
              <a:t>𝟒</a:t>
            </a:r>
            <a:endParaRPr sz="75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705906" y="1375029"/>
            <a:ext cx="197644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75" spc="-28" baseline="-23809" dirty="0">
                <a:latin typeface="Cambria Math"/>
                <a:cs typeface="Cambria Math"/>
              </a:rPr>
              <a:t>𝒂</a:t>
            </a:r>
            <a:r>
              <a:rPr sz="750" spc="-19" dirty="0">
                <a:latin typeface="Cambria Math"/>
                <a:cs typeface="Cambria Math"/>
              </a:rPr>
              <a:t>𝟓</a:t>
            </a:r>
            <a:endParaRPr sz="750">
              <a:latin typeface="Cambria Math"/>
              <a:cs typeface="Cambria Math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868015" y="1131282"/>
            <a:ext cx="612933" cy="160972"/>
            <a:chOff x="6490686" y="1508376"/>
            <a:chExt cx="817244" cy="214629"/>
          </a:xfrm>
        </p:grpSpPr>
        <p:sp>
          <p:nvSpPr>
            <p:cNvPr id="43" name="object 43"/>
            <p:cNvSpPr/>
            <p:nvPr/>
          </p:nvSpPr>
          <p:spPr>
            <a:xfrm>
              <a:off x="6509736" y="1527426"/>
              <a:ext cx="779145" cy="176530"/>
            </a:xfrm>
            <a:custGeom>
              <a:avLst/>
              <a:gdLst/>
              <a:ahLst/>
              <a:cxnLst/>
              <a:rect l="l" t="t" r="r" b="b"/>
              <a:pathLst>
                <a:path w="779145" h="176530">
                  <a:moveTo>
                    <a:pt x="0" y="29324"/>
                  </a:moveTo>
                  <a:lnTo>
                    <a:pt x="2304" y="17910"/>
                  </a:lnTo>
                  <a:lnTo>
                    <a:pt x="8588" y="8588"/>
                  </a:lnTo>
                  <a:lnTo>
                    <a:pt x="17909" y="2304"/>
                  </a:lnTo>
                  <a:lnTo>
                    <a:pt x="29324" y="0"/>
                  </a:lnTo>
                  <a:lnTo>
                    <a:pt x="749387" y="0"/>
                  </a:lnTo>
                  <a:lnTo>
                    <a:pt x="760802" y="2304"/>
                  </a:lnTo>
                  <a:lnTo>
                    <a:pt x="770123" y="8588"/>
                  </a:lnTo>
                  <a:lnTo>
                    <a:pt x="776407" y="17910"/>
                  </a:lnTo>
                  <a:lnTo>
                    <a:pt x="778712" y="29324"/>
                  </a:lnTo>
                  <a:lnTo>
                    <a:pt x="778712" y="146620"/>
                  </a:lnTo>
                  <a:lnTo>
                    <a:pt x="776407" y="158034"/>
                  </a:lnTo>
                  <a:lnTo>
                    <a:pt x="770123" y="167356"/>
                  </a:lnTo>
                  <a:lnTo>
                    <a:pt x="760802" y="173640"/>
                  </a:lnTo>
                  <a:lnTo>
                    <a:pt x="749387" y="175945"/>
                  </a:lnTo>
                  <a:lnTo>
                    <a:pt x="29324" y="175945"/>
                  </a:lnTo>
                  <a:lnTo>
                    <a:pt x="17909" y="173640"/>
                  </a:lnTo>
                  <a:lnTo>
                    <a:pt x="8588" y="167356"/>
                  </a:lnTo>
                  <a:lnTo>
                    <a:pt x="2304" y="158034"/>
                  </a:lnTo>
                  <a:lnTo>
                    <a:pt x="0" y="146620"/>
                  </a:lnTo>
                  <a:lnTo>
                    <a:pt x="0" y="29324"/>
                  </a:lnTo>
                  <a:close/>
                </a:path>
              </a:pathLst>
            </a:custGeom>
            <a:ln w="38100">
              <a:solidFill>
                <a:srgbClr val="BF9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557999" y="1557525"/>
              <a:ext cx="116205" cy="114935"/>
            </a:xfrm>
            <a:custGeom>
              <a:avLst/>
              <a:gdLst/>
              <a:ahLst/>
              <a:cxnLst/>
              <a:rect l="l" t="t" r="r" b="b"/>
              <a:pathLst>
                <a:path w="116204" h="114935">
                  <a:moveTo>
                    <a:pt x="57993" y="0"/>
                  </a:moveTo>
                  <a:lnTo>
                    <a:pt x="35419" y="4511"/>
                  </a:lnTo>
                  <a:lnTo>
                    <a:pt x="16985" y="16815"/>
                  </a:lnTo>
                  <a:lnTo>
                    <a:pt x="4557" y="35064"/>
                  </a:lnTo>
                  <a:lnTo>
                    <a:pt x="0" y="57411"/>
                  </a:lnTo>
                  <a:lnTo>
                    <a:pt x="4557" y="79758"/>
                  </a:lnTo>
                  <a:lnTo>
                    <a:pt x="16985" y="98006"/>
                  </a:lnTo>
                  <a:lnTo>
                    <a:pt x="35419" y="110310"/>
                  </a:lnTo>
                  <a:lnTo>
                    <a:pt x="57993" y="114821"/>
                  </a:lnTo>
                  <a:lnTo>
                    <a:pt x="80567" y="110310"/>
                  </a:lnTo>
                  <a:lnTo>
                    <a:pt x="99001" y="98006"/>
                  </a:lnTo>
                  <a:lnTo>
                    <a:pt x="111430" y="79758"/>
                  </a:lnTo>
                  <a:lnTo>
                    <a:pt x="115987" y="57411"/>
                  </a:lnTo>
                  <a:lnTo>
                    <a:pt x="111430" y="35064"/>
                  </a:lnTo>
                  <a:lnTo>
                    <a:pt x="99001" y="16815"/>
                  </a:lnTo>
                  <a:lnTo>
                    <a:pt x="80567" y="4511"/>
                  </a:lnTo>
                  <a:lnTo>
                    <a:pt x="57993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557999" y="1557525"/>
              <a:ext cx="116205" cy="114935"/>
            </a:xfrm>
            <a:custGeom>
              <a:avLst/>
              <a:gdLst/>
              <a:ahLst/>
              <a:cxnLst/>
              <a:rect l="l" t="t" r="r" b="b"/>
              <a:pathLst>
                <a:path w="116204" h="114935">
                  <a:moveTo>
                    <a:pt x="0" y="57411"/>
                  </a:moveTo>
                  <a:lnTo>
                    <a:pt x="4557" y="35064"/>
                  </a:lnTo>
                  <a:lnTo>
                    <a:pt x="16986" y="16815"/>
                  </a:lnTo>
                  <a:lnTo>
                    <a:pt x="35420" y="4511"/>
                  </a:lnTo>
                  <a:lnTo>
                    <a:pt x="57994" y="0"/>
                  </a:lnTo>
                  <a:lnTo>
                    <a:pt x="80567" y="4511"/>
                  </a:lnTo>
                  <a:lnTo>
                    <a:pt x="99001" y="16815"/>
                  </a:lnTo>
                  <a:lnTo>
                    <a:pt x="111430" y="35064"/>
                  </a:lnTo>
                  <a:lnTo>
                    <a:pt x="115988" y="57411"/>
                  </a:lnTo>
                  <a:lnTo>
                    <a:pt x="111430" y="79757"/>
                  </a:lnTo>
                  <a:lnTo>
                    <a:pt x="99001" y="98006"/>
                  </a:lnTo>
                  <a:lnTo>
                    <a:pt x="80567" y="110310"/>
                  </a:lnTo>
                  <a:lnTo>
                    <a:pt x="57994" y="114822"/>
                  </a:lnTo>
                  <a:lnTo>
                    <a:pt x="35420" y="110310"/>
                  </a:lnTo>
                  <a:lnTo>
                    <a:pt x="16986" y="98006"/>
                  </a:lnTo>
                  <a:lnTo>
                    <a:pt x="4557" y="79757"/>
                  </a:lnTo>
                  <a:lnTo>
                    <a:pt x="0" y="57411"/>
                  </a:lnTo>
                  <a:close/>
                </a:path>
              </a:pathLst>
            </a:custGeom>
            <a:ln w="19050">
              <a:solidFill>
                <a:srgbClr val="BF9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698565" y="1557525"/>
              <a:ext cx="116205" cy="114935"/>
            </a:xfrm>
            <a:custGeom>
              <a:avLst/>
              <a:gdLst/>
              <a:ahLst/>
              <a:cxnLst/>
              <a:rect l="l" t="t" r="r" b="b"/>
              <a:pathLst>
                <a:path w="116204" h="114935">
                  <a:moveTo>
                    <a:pt x="57994" y="0"/>
                  </a:moveTo>
                  <a:lnTo>
                    <a:pt x="35420" y="4511"/>
                  </a:lnTo>
                  <a:lnTo>
                    <a:pt x="16986" y="16815"/>
                  </a:lnTo>
                  <a:lnTo>
                    <a:pt x="4557" y="35064"/>
                  </a:lnTo>
                  <a:lnTo>
                    <a:pt x="0" y="57411"/>
                  </a:lnTo>
                  <a:lnTo>
                    <a:pt x="4557" y="79758"/>
                  </a:lnTo>
                  <a:lnTo>
                    <a:pt x="16986" y="98006"/>
                  </a:lnTo>
                  <a:lnTo>
                    <a:pt x="35420" y="110310"/>
                  </a:lnTo>
                  <a:lnTo>
                    <a:pt x="57994" y="114821"/>
                  </a:lnTo>
                  <a:lnTo>
                    <a:pt x="80567" y="110310"/>
                  </a:lnTo>
                  <a:lnTo>
                    <a:pt x="99001" y="98006"/>
                  </a:lnTo>
                  <a:lnTo>
                    <a:pt x="111430" y="79758"/>
                  </a:lnTo>
                  <a:lnTo>
                    <a:pt x="115987" y="57411"/>
                  </a:lnTo>
                  <a:lnTo>
                    <a:pt x="111430" y="35064"/>
                  </a:lnTo>
                  <a:lnTo>
                    <a:pt x="99001" y="16815"/>
                  </a:lnTo>
                  <a:lnTo>
                    <a:pt x="80567" y="4511"/>
                  </a:lnTo>
                  <a:lnTo>
                    <a:pt x="57994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698565" y="1557525"/>
              <a:ext cx="116205" cy="114935"/>
            </a:xfrm>
            <a:custGeom>
              <a:avLst/>
              <a:gdLst/>
              <a:ahLst/>
              <a:cxnLst/>
              <a:rect l="l" t="t" r="r" b="b"/>
              <a:pathLst>
                <a:path w="116204" h="114935">
                  <a:moveTo>
                    <a:pt x="0" y="57411"/>
                  </a:moveTo>
                  <a:lnTo>
                    <a:pt x="4557" y="35064"/>
                  </a:lnTo>
                  <a:lnTo>
                    <a:pt x="16986" y="16815"/>
                  </a:lnTo>
                  <a:lnTo>
                    <a:pt x="35420" y="4511"/>
                  </a:lnTo>
                  <a:lnTo>
                    <a:pt x="57994" y="0"/>
                  </a:lnTo>
                  <a:lnTo>
                    <a:pt x="80567" y="4511"/>
                  </a:lnTo>
                  <a:lnTo>
                    <a:pt x="99001" y="16815"/>
                  </a:lnTo>
                  <a:lnTo>
                    <a:pt x="111430" y="35064"/>
                  </a:lnTo>
                  <a:lnTo>
                    <a:pt x="115988" y="57411"/>
                  </a:lnTo>
                  <a:lnTo>
                    <a:pt x="111430" y="79757"/>
                  </a:lnTo>
                  <a:lnTo>
                    <a:pt x="99001" y="98006"/>
                  </a:lnTo>
                  <a:lnTo>
                    <a:pt x="80567" y="110310"/>
                  </a:lnTo>
                  <a:lnTo>
                    <a:pt x="57994" y="114822"/>
                  </a:lnTo>
                  <a:lnTo>
                    <a:pt x="35420" y="110310"/>
                  </a:lnTo>
                  <a:lnTo>
                    <a:pt x="16986" y="98006"/>
                  </a:lnTo>
                  <a:lnTo>
                    <a:pt x="4557" y="79757"/>
                  </a:lnTo>
                  <a:lnTo>
                    <a:pt x="0" y="57411"/>
                  </a:lnTo>
                  <a:close/>
                </a:path>
              </a:pathLst>
            </a:custGeom>
            <a:ln w="19050">
              <a:solidFill>
                <a:srgbClr val="BF9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39132" y="1557525"/>
              <a:ext cx="116205" cy="114935"/>
            </a:xfrm>
            <a:custGeom>
              <a:avLst/>
              <a:gdLst/>
              <a:ahLst/>
              <a:cxnLst/>
              <a:rect l="l" t="t" r="r" b="b"/>
              <a:pathLst>
                <a:path w="116204" h="114935">
                  <a:moveTo>
                    <a:pt x="57994" y="0"/>
                  </a:moveTo>
                  <a:lnTo>
                    <a:pt x="35420" y="4511"/>
                  </a:lnTo>
                  <a:lnTo>
                    <a:pt x="16986" y="16815"/>
                  </a:lnTo>
                  <a:lnTo>
                    <a:pt x="4557" y="35064"/>
                  </a:lnTo>
                  <a:lnTo>
                    <a:pt x="0" y="57411"/>
                  </a:lnTo>
                  <a:lnTo>
                    <a:pt x="4557" y="79758"/>
                  </a:lnTo>
                  <a:lnTo>
                    <a:pt x="16986" y="98006"/>
                  </a:lnTo>
                  <a:lnTo>
                    <a:pt x="35420" y="110310"/>
                  </a:lnTo>
                  <a:lnTo>
                    <a:pt x="57994" y="114821"/>
                  </a:lnTo>
                  <a:lnTo>
                    <a:pt x="80567" y="110310"/>
                  </a:lnTo>
                  <a:lnTo>
                    <a:pt x="99001" y="98006"/>
                  </a:lnTo>
                  <a:lnTo>
                    <a:pt x="111430" y="79758"/>
                  </a:lnTo>
                  <a:lnTo>
                    <a:pt x="115987" y="57411"/>
                  </a:lnTo>
                  <a:lnTo>
                    <a:pt x="111430" y="35064"/>
                  </a:lnTo>
                  <a:lnTo>
                    <a:pt x="99001" y="16815"/>
                  </a:lnTo>
                  <a:lnTo>
                    <a:pt x="80567" y="4511"/>
                  </a:lnTo>
                  <a:lnTo>
                    <a:pt x="57994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839132" y="1557525"/>
              <a:ext cx="116205" cy="114935"/>
            </a:xfrm>
            <a:custGeom>
              <a:avLst/>
              <a:gdLst/>
              <a:ahLst/>
              <a:cxnLst/>
              <a:rect l="l" t="t" r="r" b="b"/>
              <a:pathLst>
                <a:path w="116204" h="114935">
                  <a:moveTo>
                    <a:pt x="0" y="57411"/>
                  </a:moveTo>
                  <a:lnTo>
                    <a:pt x="4557" y="35064"/>
                  </a:lnTo>
                  <a:lnTo>
                    <a:pt x="16986" y="16815"/>
                  </a:lnTo>
                  <a:lnTo>
                    <a:pt x="35420" y="4511"/>
                  </a:lnTo>
                  <a:lnTo>
                    <a:pt x="57994" y="0"/>
                  </a:lnTo>
                  <a:lnTo>
                    <a:pt x="80567" y="4511"/>
                  </a:lnTo>
                  <a:lnTo>
                    <a:pt x="99001" y="16815"/>
                  </a:lnTo>
                  <a:lnTo>
                    <a:pt x="111430" y="35064"/>
                  </a:lnTo>
                  <a:lnTo>
                    <a:pt x="115988" y="57411"/>
                  </a:lnTo>
                  <a:lnTo>
                    <a:pt x="111430" y="79757"/>
                  </a:lnTo>
                  <a:lnTo>
                    <a:pt x="99001" y="98006"/>
                  </a:lnTo>
                  <a:lnTo>
                    <a:pt x="80567" y="110310"/>
                  </a:lnTo>
                  <a:lnTo>
                    <a:pt x="57994" y="114822"/>
                  </a:lnTo>
                  <a:lnTo>
                    <a:pt x="35420" y="110310"/>
                  </a:lnTo>
                  <a:lnTo>
                    <a:pt x="16986" y="98006"/>
                  </a:lnTo>
                  <a:lnTo>
                    <a:pt x="4557" y="79757"/>
                  </a:lnTo>
                  <a:lnTo>
                    <a:pt x="0" y="57411"/>
                  </a:lnTo>
                  <a:close/>
                </a:path>
              </a:pathLst>
            </a:custGeom>
            <a:ln w="19050">
              <a:solidFill>
                <a:srgbClr val="BF9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982901" y="1557525"/>
              <a:ext cx="116205" cy="114935"/>
            </a:xfrm>
            <a:custGeom>
              <a:avLst/>
              <a:gdLst/>
              <a:ahLst/>
              <a:cxnLst/>
              <a:rect l="l" t="t" r="r" b="b"/>
              <a:pathLst>
                <a:path w="116204" h="114935">
                  <a:moveTo>
                    <a:pt x="57993" y="0"/>
                  </a:moveTo>
                  <a:lnTo>
                    <a:pt x="35419" y="4511"/>
                  </a:lnTo>
                  <a:lnTo>
                    <a:pt x="16985" y="16815"/>
                  </a:lnTo>
                  <a:lnTo>
                    <a:pt x="4557" y="35064"/>
                  </a:lnTo>
                  <a:lnTo>
                    <a:pt x="0" y="57411"/>
                  </a:lnTo>
                  <a:lnTo>
                    <a:pt x="4557" y="79758"/>
                  </a:lnTo>
                  <a:lnTo>
                    <a:pt x="16985" y="98006"/>
                  </a:lnTo>
                  <a:lnTo>
                    <a:pt x="35419" y="110310"/>
                  </a:lnTo>
                  <a:lnTo>
                    <a:pt x="57993" y="114821"/>
                  </a:lnTo>
                  <a:lnTo>
                    <a:pt x="80567" y="110310"/>
                  </a:lnTo>
                  <a:lnTo>
                    <a:pt x="99001" y="98006"/>
                  </a:lnTo>
                  <a:lnTo>
                    <a:pt x="111430" y="79758"/>
                  </a:lnTo>
                  <a:lnTo>
                    <a:pt x="115987" y="57411"/>
                  </a:lnTo>
                  <a:lnTo>
                    <a:pt x="111430" y="35064"/>
                  </a:lnTo>
                  <a:lnTo>
                    <a:pt x="99001" y="16815"/>
                  </a:lnTo>
                  <a:lnTo>
                    <a:pt x="80567" y="4511"/>
                  </a:lnTo>
                  <a:lnTo>
                    <a:pt x="57993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982901" y="1557525"/>
              <a:ext cx="116205" cy="114935"/>
            </a:xfrm>
            <a:custGeom>
              <a:avLst/>
              <a:gdLst/>
              <a:ahLst/>
              <a:cxnLst/>
              <a:rect l="l" t="t" r="r" b="b"/>
              <a:pathLst>
                <a:path w="116204" h="114935">
                  <a:moveTo>
                    <a:pt x="0" y="57411"/>
                  </a:moveTo>
                  <a:lnTo>
                    <a:pt x="4557" y="35064"/>
                  </a:lnTo>
                  <a:lnTo>
                    <a:pt x="16986" y="16815"/>
                  </a:lnTo>
                  <a:lnTo>
                    <a:pt x="35420" y="4511"/>
                  </a:lnTo>
                  <a:lnTo>
                    <a:pt x="57994" y="0"/>
                  </a:lnTo>
                  <a:lnTo>
                    <a:pt x="80567" y="4511"/>
                  </a:lnTo>
                  <a:lnTo>
                    <a:pt x="99001" y="16815"/>
                  </a:lnTo>
                  <a:lnTo>
                    <a:pt x="111430" y="35064"/>
                  </a:lnTo>
                  <a:lnTo>
                    <a:pt x="115988" y="57411"/>
                  </a:lnTo>
                  <a:lnTo>
                    <a:pt x="111430" y="79757"/>
                  </a:lnTo>
                  <a:lnTo>
                    <a:pt x="99001" y="98006"/>
                  </a:lnTo>
                  <a:lnTo>
                    <a:pt x="80567" y="110310"/>
                  </a:lnTo>
                  <a:lnTo>
                    <a:pt x="57994" y="114822"/>
                  </a:lnTo>
                  <a:lnTo>
                    <a:pt x="35420" y="110310"/>
                  </a:lnTo>
                  <a:lnTo>
                    <a:pt x="16986" y="98006"/>
                  </a:lnTo>
                  <a:lnTo>
                    <a:pt x="4557" y="79757"/>
                  </a:lnTo>
                  <a:lnTo>
                    <a:pt x="0" y="57411"/>
                  </a:lnTo>
                  <a:close/>
                </a:path>
              </a:pathLst>
            </a:custGeom>
            <a:ln w="19050">
              <a:solidFill>
                <a:srgbClr val="BF9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130168" y="1558815"/>
              <a:ext cx="116205" cy="114935"/>
            </a:xfrm>
            <a:custGeom>
              <a:avLst/>
              <a:gdLst/>
              <a:ahLst/>
              <a:cxnLst/>
              <a:rect l="l" t="t" r="r" b="b"/>
              <a:pathLst>
                <a:path w="116204" h="114935">
                  <a:moveTo>
                    <a:pt x="57993" y="0"/>
                  </a:moveTo>
                  <a:lnTo>
                    <a:pt x="35419" y="4511"/>
                  </a:lnTo>
                  <a:lnTo>
                    <a:pt x="16986" y="16815"/>
                  </a:lnTo>
                  <a:lnTo>
                    <a:pt x="4557" y="35064"/>
                  </a:lnTo>
                  <a:lnTo>
                    <a:pt x="0" y="57411"/>
                  </a:lnTo>
                  <a:lnTo>
                    <a:pt x="4557" y="79758"/>
                  </a:lnTo>
                  <a:lnTo>
                    <a:pt x="16986" y="98006"/>
                  </a:lnTo>
                  <a:lnTo>
                    <a:pt x="35419" y="110310"/>
                  </a:lnTo>
                  <a:lnTo>
                    <a:pt x="57993" y="114821"/>
                  </a:lnTo>
                  <a:lnTo>
                    <a:pt x="80567" y="110310"/>
                  </a:lnTo>
                  <a:lnTo>
                    <a:pt x="99001" y="98006"/>
                  </a:lnTo>
                  <a:lnTo>
                    <a:pt x="111430" y="79758"/>
                  </a:lnTo>
                  <a:lnTo>
                    <a:pt x="115987" y="57411"/>
                  </a:lnTo>
                  <a:lnTo>
                    <a:pt x="111430" y="35064"/>
                  </a:lnTo>
                  <a:lnTo>
                    <a:pt x="99001" y="16815"/>
                  </a:lnTo>
                  <a:lnTo>
                    <a:pt x="80567" y="4511"/>
                  </a:lnTo>
                  <a:lnTo>
                    <a:pt x="57993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130168" y="1558815"/>
              <a:ext cx="116205" cy="114935"/>
            </a:xfrm>
            <a:custGeom>
              <a:avLst/>
              <a:gdLst/>
              <a:ahLst/>
              <a:cxnLst/>
              <a:rect l="l" t="t" r="r" b="b"/>
              <a:pathLst>
                <a:path w="116204" h="114935">
                  <a:moveTo>
                    <a:pt x="0" y="57411"/>
                  </a:moveTo>
                  <a:lnTo>
                    <a:pt x="4557" y="35064"/>
                  </a:lnTo>
                  <a:lnTo>
                    <a:pt x="16986" y="16815"/>
                  </a:lnTo>
                  <a:lnTo>
                    <a:pt x="35420" y="4511"/>
                  </a:lnTo>
                  <a:lnTo>
                    <a:pt x="57994" y="0"/>
                  </a:lnTo>
                  <a:lnTo>
                    <a:pt x="80567" y="4511"/>
                  </a:lnTo>
                  <a:lnTo>
                    <a:pt x="99001" y="16815"/>
                  </a:lnTo>
                  <a:lnTo>
                    <a:pt x="111430" y="35064"/>
                  </a:lnTo>
                  <a:lnTo>
                    <a:pt x="115988" y="57411"/>
                  </a:lnTo>
                  <a:lnTo>
                    <a:pt x="111430" y="79757"/>
                  </a:lnTo>
                  <a:lnTo>
                    <a:pt x="99001" y="98006"/>
                  </a:lnTo>
                  <a:lnTo>
                    <a:pt x="80567" y="110310"/>
                  </a:lnTo>
                  <a:lnTo>
                    <a:pt x="57994" y="114822"/>
                  </a:lnTo>
                  <a:lnTo>
                    <a:pt x="35420" y="110310"/>
                  </a:lnTo>
                  <a:lnTo>
                    <a:pt x="16986" y="98006"/>
                  </a:lnTo>
                  <a:lnTo>
                    <a:pt x="4557" y="79757"/>
                  </a:lnTo>
                  <a:lnTo>
                    <a:pt x="0" y="57411"/>
                  </a:lnTo>
                  <a:close/>
                </a:path>
              </a:pathLst>
            </a:custGeom>
            <a:ln w="19050">
              <a:solidFill>
                <a:srgbClr val="BF9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8658058" y="4812546"/>
            <a:ext cx="164306" cy="142347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9525">
              <a:spcBef>
                <a:spcPts val="30"/>
              </a:spcBef>
            </a:pPr>
            <a:fld id="{81D60167-4931-47E6-BA6A-407CBD079E47}" type="slidenum">
              <a:rPr sz="900" spc="-19" dirty="0">
                <a:solidFill>
                  <a:srgbClr val="898989"/>
                </a:solidFill>
                <a:latin typeface="Calibri"/>
                <a:cs typeface="Calibri"/>
              </a:rPr>
              <a:pPr marL="9525">
                <a:spcBef>
                  <a:spcPts val="30"/>
                </a:spcBef>
              </a:pPr>
              <a:t>34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4812" y="1024508"/>
            <a:ext cx="2506503" cy="97911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5" dirty="0">
                <a:solidFill>
                  <a:srgbClr val="3B3838"/>
                </a:solidFill>
                <a:latin typeface="Tahoma"/>
                <a:cs typeface="Tahoma"/>
              </a:rPr>
              <a:t>seq2seq</a:t>
            </a:r>
            <a:r>
              <a:rPr sz="2100" spc="-64" dirty="0">
                <a:solidFill>
                  <a:srgbClr val="3B3838"/>
                </a:solidFill>
                <a:latin typeface="Tahoma"/>
                <a:cs typeface="Tahoma"/>
              </a:rPr>
              <a:t> </a:t>
            </a:r>
            <a:r>
              <a:rPr sz="2100" spc="-143" dirty="0">
                <a:solidFill>
                  <a:srgbClr val="3B3838"/>
                </a:solidFill>
                <a:latin typeface="Tahoma"/>
                <a:cs typeface="Tahoma"/>
              </a:rPr>
              <a:t>+</a:t>
            </a:r>
            <a:r>
              <a:rPr sz="2100" spc="-68" dirty="0">
                <a:solidFill>
                  <a:srgbClr val="3B3838"/>
                </a:solidFill>
                <a:latin typeface="Tahoma"/>
                <a:cs typeface="Tahoma"/>
              </a:rPr>
              <a:t> </a:t>
            </a:r>
            <a:r>
              <a:rPr sz="2100" spc="56" dirty="0">
                <a:solidFill>
                  <a:srgbClr val="3B3838"/>
                </a:solidFill>
                <a:latin typeface="Tahoma"/>
                <a:cs typeface="Tahoma"/>
              </a:rPr>
              <a:t>Attention</a:t>
            </a:r>
            <a:endParaRPr sz="2100">
              <a:latin typeface="Tahoma"/>
              <a:cs typeface="Tahoma"/>
            </a:endParaRPr>
          </a:p>
          <a:p>
            <a:pPr>
              <a:spcBef>
                <a:spcPts val="38"/>
              </a:spcBef>
            </a:pPr>
            <a:endParaRPr sz="2100">
              <a:latin typeface="Tahoma"/>
              <a:cs typeface="Tahoma"/>
            </a:endParaRPr>
          </a:p>
          <a:p>
            <a:pPr marL="9525"/>
            <a:r>
              <a:rPr sz="2100" dirty="0">
                <a:solidFill>
                  <a:srgbClr val="3B3838"/>
                </a:solidFill>
                <a:latin typeface="Tahoma"/>
                <a:cs typeface="Tahoma"/>
              </a:rPr>
              <a:t>Self-</a:t>
            </a:r>
            <a:r>
              <a:rPr sz="2100" spc="56" dirty="0">
                <a:solidFill>
                  <a:srgbClr val="3B3838"/>
                </a:solidFill>
                <a:latin typeface="Tahoma"/>
                <a:cs typeface="Tahoma"/>
              </a:rPr>
              <a:t>Attention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3101" y="350901"/>
            <a:ext cx="1038701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400" spc="53" dirty="0">
                <a:solidFill>
                  <a:srgbClr val="404040"/>
                </a:solidFill>
              </a:rPr>
              <a:t>Outline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794601" y="1794872"/>
            <a:ext cx="578644" cy="143351"/>
            <a:chOff x="1059468" y="2393162"/>
            <a:chExt cx="771525" cy="191135"/>
          </a:xfrm>
        </p:grpSpPr>
        <p:sp>
          <p:nvSpPr>
            <p:cNvPr id="5" name="object 5"/>
            <p:cNvSpPr/>
            <p:nvPr/>
          </p:nvSpPr>
          <p:spPr>
            <a:xfrm>
              <a:off x="1059468" y="2393162"/>
              <a:ext cx="771525" cy="90805"/>
            </a:xfrm>
            <a:custGeom>
              <a:avLst/>
              <a:gdLst/>
              <a:ahLst/>
              <a:cxnLst/>
              <a:rect l="l" t="t" r="r" b="b"/>
              <a:pathLst>
                <a:path w="771525" h="90805">
                  <a:moveTo>
                    <a:pt x="771242" y="0"/>
                  </a:moveTo>
                  <a:lnTo>
                    <a:pt x="0" y="0"/>
                  </a:lnTo>
                  <a:lnTo>
                    <a:pt x="0" y="90716"/>
                  </a:lnTo>
                  <a:lnTo>
                    <a:pt x="771242" y="90716"/>
                  </a:lnTo>
                  <a:lnTo>
                    <a:pt x="771242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59468" y="2483877"/>
              <a:ext cx="771525" cy="100965"/>
            </a:xfrm>
            <a:custGeom>
              <a:avLst/>
              <a:gdLst/>
              <a:ahLst/>
              <a:cxnLst/>
              <a:rect l="l" t="t" r="r" b="b"/>
              <a:pathLst>
                <a:path w="771525" h="100964">
                  <a:moveTo>
                    <a:pt x="771242" y="0"/>
                  </a:moveTo>
                  <a:lnTo>
                    <a:pt x="0" y="0"/>
                  </a:lnTo>
                  <a:lnTo>
                    <a:pt x="0" y="100361"/>
                  </a:lnTo>
                  <a:lnTo>
                    <a:pt x="771242" y="100361"/>
                  </a:lnTo>
                  <a:lnTo>
                    <a:pt x="771242" y="0"/>
                  </a:lnTo>
                  <a:close/>
                </a:path>
              </a:pathLst>
            </a:custGeom>
            <a:solidFill>
              <a:srgbClr val="3857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94601" y="1177563"/>
            <a:ext cx="578644" cy="143351"/>
            <a:chOff x="1059468" y="1570083"/>
            <a:chExt cx="771525" cy="191135"/>
          </a:xfrm>
        </p:grpSpPr>
        <p:sp>
          <p:nvSpPr>
            <p:cNvPr id="8" name="object 8"/>
            <p:cNvSpPr/>
            <p:nvPr/>
          </p:nvSpPr>
          <p:spPr>
            <a:xfrm>
              <a:off x="1059468" y="1570083"/>
              <a:ext cx="771525" cy="90805"/>
            </a:xfrm>
            <a:custGeom>
              <a:avLst/>
              <a:gdLst/>
              <a:ahLst/>
              <a:cxnLst/>
              <a:rect l="l" t="t" r="r" b="b"/>
              <a:pathLst>
                <a:path w="771525" h="90805">
                  <a:moveTo>
                    <a:pt x="771242" y="0"/>
                  </a:moveTo>
                  <a:lnTo>
                    <a:pt x="0" y="0"/>
                  </a:lnTo>
                  <a:lnTo>
                    <a:pt x="0" y="90716"/>
                  </a:lnTo>
                  <a:lnTo>
                    <a:pt x="771242" y="90716"/>
                  </a:lnTo>
                  <a:lnTo>
                    <a:pt x="771242" y="0"/>
                  </a:lnTo>
                  <a:close/>
                </a:path>
              </a:pathLst>
            </a:custGeom>
            <a:solidFill>
              <a:srgbClr val="FEE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59468" y="1660798"/>
              <a:ext cx="771525" cy="100965"/>
            </a:xfrm>
            <a:custGeom>
              <a:avLst/>
              <a:gdLst/>
              <a:ahLst/>
              <a:cxnLst/>
              <a:rect l="l" t="t" r="r" b="b"/>
              <a:pathLst>
                <a:path w="771525" h="100964">
                  <a:moveTo>
                    <a:pt x="771242" y="0"/>
                  </a:moveTo>
                  <a:lnTo>
                    <a:pt x="0" y="0"/>
                  </a:lnTo>
                  <a:lnTo>
                    <a:pt x="0" y="100360"/>
                  </a:lnTo>
                  <a:lnTo>
                    <a:pt x="771242" y="100360"/>
                  </a:lnTo>
                  <a:lnTo>
                    <a:pt x="771242" y="0"/>
                  </a:lnTo>
                  <a:close/>
                </a:path>
              </a:pathLst>
            </a:custGeom>
            <a:solidFill>
              <a:srgbClr val="BF9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658058" y="4812546"/>
            <a:ext cx="164306" cy="142347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9525">
              <a:spcBef>
                <a:spcPts val="30"/>
              </a:spcBef>
            </a:pPr>
            <a:fld id="{81D60167-4931-47E6-BA6A-407CBD079E47}" type="slidenum">
              <a:rPr sz="900" spc="-19" dirty="0">
                <a:solidFill>
                  <a:srgbClr val="898989"/>
                </a:solidFill>
                <a:latin typeface="Calibri"/>
                <a:cs typeface="Calibri"/>
              </a:rPr>
              <a:pPr marL="9525">
                <a:spcBef>
                  <a:spcPts val="30"/>
                </a:spcBef>
              </a:pPr>
              <a:t>35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5757" y="1064051"/>
            <a:ext cx="2627471" cy="363379"/>
          </a:xfrm>
          <a:custGeom>
            <a:avLst/>
            <a:gdLst/>
            <a:ahLst/>
            <a:cxnLst/>
            <a:rect l="l" t="t" r="r" b="b"/>
            <a:pathLst>
              <a:path w="3503295" h="484505">
                <a:moveTo>
                  <a:pt x="3502745" y="0"/>
                </a:moveTo>
                <a:lnTo>
                  <a:pt x="0" y="0"/>
                </a:lnTo>
                <a:lnTo>
                  <a:pt x="0" y="484126"/>
                </a:lnTo>
                <a:lnTo>
                  <a:pt x="3502745" y="484126"/>
                </a:lnTo>
                <a:lnTo>
                  <a:pt x="3502745" y="0"/>
                </a:lnTo>
                <a:close/>
              </a:path>
            </a:pathLst>
          </a:custGeom>
          <a:solidFill>
            <a:srgbClr val="FFF2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74812" y="1024508"/>
            <a:ext cx="2506503" cy="97911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5" dirty="0">
                <a:solidFill>
                  <a:srgbClr val="3B3838"/>
                </a:solidFill>
                <a:latin typeface="Tahoma"/>
                <a:cs typeface="Tahoma"/>
              </a:rPr>
              <a:t>seq2seq</a:t>
            </a:r>
            <a:r>
              <a:rPr sz="2100" spc="-64" dirty="0">
                <a:solidFill>
                  <a:srgbClr val="3B3838"/>
                </a:solidFill>
                <a:latin typeface="Tahoma"/>
                <a:cs typeface="Tahoma"/>
              </a:rPr>
              <a:t> </a:t>
            </a:r>
            <a:r>
              <a:rPr sz="2100" spc="-143" dirty="0">
                <a:solidFill>
                  <a:srgbClr val="3B3838"/>
                </a:solidFill>
                <a:latin typeface="Tahoma"/>
                <a:cs typeface="Tahoma"/>
              </a:rPr>
              <a:t>+</a:t>
            </a:r>
            <a:r>
              <a:rPr sz="2100" spc="-68" dirty="0">
                <a:solidFill>
                  <a:srgbClr val="3B3838"/>
                </a:solidFill>
                <a:latin typeface="Tahoma"/>
                <a:cs typeface="Tahoma"/>
              </a:rPr>
              <a:t> </a:t>
            </a:r>
            <a:r>
              <a:rPr sz="2100" spc="56" dirty="0">
                <a:solidFill>
                  <a:srgbClr val="3B3838"/>
                </a:solidFill>
                <a:latin typeface="Tahoma"/>
                <a:cs typeface="Tahoma"/>
              </a:rPr>
              <a:t>Attention</a:t>
            </a:r>
            <a:endParaRPr sz="2100">
              <a:latin typeface="Tahoma"/>
              <a:cs typeface="Tahoma"/>
            </a:endParaRPr>
          </a:p>
          <a:p>
            <a:pPr>
              <a:spcBef>
                <a:spcPts val="38"/>
              </a:spcBef>
            </a:pPr>
            <a:endParaRPr sz="2100">
              <a:latin typeface="Tahoma"/>
              <a:cs typeface="Tahoma"/>
            </a:endParaRPr>
          </a:p>
          <a:p>
            <a:pPr marL="9525"/>
            <a:r>
              <a:rPr sz="2100" dirty="0">
                <a:solidFill>
                  <a:srgbClr val="3B3838"/>
                </a:solidFill>
                <a:latin typeface="Tahoma"/>
                <a:cs typeface="Tahoma"/>
              </a:rPr>
              <a:t>Self-</a:t>
            </a:r>
            <a:r>
              <a:rPr sz="2100" spc="56" dirty="0">
                <a:solidFill>
                  <a:srgbClr val="3B3838"/>
                </a:solidFill>
                <a:latin typeface="Tahoma"/>
                <a:cs typeface="Tahoma"/>
              </a:rPr>
              <a:t>Attention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53101" y="350901"/>
            <a:ext cx="1038701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400" spc="53" dirty="0">
                <a:solidFill>
                  <a:srgbClr val="404040"/>
                </a:solidFill>
              </a:rPr>
              <a:t>Outline</a:t>
            </a:r>
            <a:endParaRPr sz="2400"/>
          </a:p>
        </p:txBody>
      </p:sp>
      <p:grpSp>
        <p:nvGrpSpPr>
          <p:cNvPr id="5" name="object 5"/>
          <p:cNvGrpSpPr/>
          <p:nvPr/>
        </p:nvGrpSpPr>
        <p:grpSpPr>
          <a:xfrm>
            <a:off x="794601" y="1794872"/>
            <a:ext cx="578644" cy="143351"/>
            <a:chOff x="1059468" y="2393162"/>
            <a:chExt cx="771525" cy="191135"/>
          </a:xfrm>
        </p:grpSpPr>
        <p:sp>
          <p:nvSpPr>
            <p:cNvPr id="6" name="object 6"/>
            <p:cNvSpPr/>
            <p:nvPr/>
          </p:nvSpPr>
          <p:spPr>
            <a:xfrm>
              <a:off x="1059468" y="2393162"/>
              <a:ext cx="771525" cy="90805"/>
            </a:xfrm>
            <a:custGeom>
              <a:avLst/>
              <a:gdLst/>
              <a:ahLst/>
              <a:cxnLst/>
              <a:rect l="l" t="t" r="r" b="b"/>
              <a:pathLst>
                <a:path w="771525" h="90805">
                  <a:moveTo>
                    <a:pt x="771242" y="0"/>
                  </a:moveTo>
                  <a:lnTo>
                    <a:pt x="0" y="0"/>
                  </a:lnTo>
                  <a:lnTo>
                    <a:pt x="0" y="90716"/>
                  </a:lnTo>
                  <a:lnTo>
                    <a:pt x="771242" y="90716"/>
                  </a:lnTo>
                  <a:lnTo>
                    <a:pt x="771242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59468" y="2483877"/>
              <a:ext cx="771525" cy="100965"/>
            </a:xfrm>
            <a:custGeom>
              <a:avLst/>
              <a:gdLst/>
              <a:ahLst/>
              <a:cxnLst/>
              <a:rect l="l" t="t" r="r" b="b"/>
              <a:pathLst>
                <a:path w="771525" h="100964">
                  <a:moveTo>
                    <a:pt x="771242" y="0"/>
                  </a:moveTo>
                  <a:lnTo>
                    <a:pt x="0" y="0"/>
                  </a:lnTo>
                  <a:lnTo>
                    <a:pt x="0" y="100361"/>
                  </a:lnTo>
                  <a:lnTo>
                    <a:pt x="771242" y="100361"/>
                  </a:lnTo>
                  <a:lnTo>
                    <a:pt x="771242" y="0"/>
                  </a:lnTo>
                  <a:close/>
                </a:path>
              </a:pathLst>
            </a:custGeom>
            <a:solidFill>
              <a:srgbClr val="3857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94601" y="1177563"/>
            <a:ext cx="578644" cy="143351"/>
            <a:chOff x="1059468" y="1570083"/>
            <a:chExt cx="771525" cy="191135"/>
          </a:xfrm>
        </p:grpSpPr>
        <p:sp>
          <p:nvSpPr>
            <p:cNvPr id="9" name="object 9"/>
            <p:cNvSpPr/>
            <p:nvPr/>
          </p:nvSpPr>
          <p:spPr>
            <a:xfrm>
              <a:off x="1059468" y="1570083"/>
              <a:ext cx="771525" cy="90805"/>
            </a:xfrm>
            <a:custGeom>
              <a:avLst/>
              <a:gdLst/>
              <a:ahLst/>
              <a:cxnLst/>
              <a:rect l="l" t="t" r="r" b="b"/>
              <a:pathLst>
                <a:path w="771525" h="90805">
                  <a:moveTo>
                    <a:pt x="771242" y="0"/>
                  </a:moveTo>
                  <a:lnTo>
                    <a:pt x="0" y="0"/>
                  </a:lnTo>
                  <a:lnTo>
                    <a:pt x="0" y="90716"/>
                  </a:lnTo>
                  <a:lnTo>
                    <a:pt x="771242" y="90716"/>
                  </a:lnTo>
                  <a:lnTo>
                    <a:pt x="771242" y="0"/>
                  </a:lnTo>
                  <a:close/>
                </a:path>
              </a:pathLst>
            </a:custGeom>
            <a:solidFill>
              <a:srgbClr val="FEE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59468" y="1660798"/>
              <a:ext cx="771525" cy="100965"/>
            </a:xfrm>
            <a:custGeom>
              <a:avLst/>
              <a:gdLst/>
              <a:ahLst/>
              <a:cxnLst/>
              <a:rect l="l" t="t" r="r" b="b"/>
              <a:pathLst>
                <a:path w="771525" h="100964">
                  <a:moveTo>
                    <a:pt x="771242" y="0"/>
                  </a:moveTo>
                  <a:lnTo>
                    <a:pt x="0" y="0"/>
                  </a:lnTo>
                  <a:lnTo>
                    <a:pt x="0" y="100360"/>
                  </a:lnTo>
                  <a:lnTo>
                    <a:pt x="771242" y="100360"/>
                  </a:lnTo>
                  <a:lnTo>
                    <a:pt x="771242" y="0"/>
                  </a:lnTo>
                  <a:close/>
                </a:path>
              </a:pathLst>
            </a:custGeom>
            <a:solidFill>
              <a:srgbClr val="BF9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658058" y="4812546"/>
            <a:ext cx="164306" cy="142347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9525">
              <a:spcBef>
                <a:spcPts val="30"/>
              </a:spcBef>
            </a:pPr>
            <a:fld id="{81D60167-4931-47E6-BA6A-407CBD079E47}" type="slidenum">
              <a:rPr sz="900" spc="-19" dirty="0">
                <a:solidFill>
                  <a:srgbClr val="898989"/>
                </a:solidFill>
                <a:latin typeface="Calibri"/>
                <a:cs typeface="Calibri"/>
              </a:rPr>
              <a:pPr marL="9525">
                <a:spcBef>
                  <a:spcPts val="30"/>
                </a:spcBef>
              </a:pPr>
              <a:t>36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7854" y="578611"/>
            <a:ext cx="4856321" cy="98108"/>
          </a:xfrm>
          <a:custGeom>
            <a:avLst/>
            <a:gdLst/>
            <a:ahLst/>
            <a:cxnLst/>
            <a:rect l="l" t="t" r="r" b="b"/>
            <a:pathLst>
              <a:path w="6475095" h="130809">
                <a:moveTo>
                  <a:pt x="6474895" y="0"/>
                </a:moveTo>
                <a:lnTo>
                  <a:pt x="0" y="0"/>
                </a:lnTo>
                <a:lnTo>
                  <a:pt x="0" y="130218"/>
                </a:lnTo>
                <a:lnTo>
                  <a:pt x="6474895" y="130218"/>
                </a:lnTo>
                <a:lnTo>
                  <a:pt x="647489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34" dirty="0"/>
              <a:t>seq2seq</a:t>
            </a:r>
            <a:r>
              <a:rPr spc="-68" dirty="0"/>
              <a:t> </a:t>
            </a:r>
            <a:r>
              <a:rPr spc="-143" dirty="0"/>
              <a:t>+</a:t>
            </a:r>
            <a:r>
              <a:rPr spc="-68" dirty="0"/>
              <a:t> </a:t>
            </a:r>
            <a:r>
              <a:rPr spc="-8" dirty="0"/>
              <a:t>Attention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6450" y="2988543"/>
            <a:ext cx="99298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spc="60" dirty="0">
                <a:solidFill>
                  <a:srgbClr val="262626"/>
                </a:solidFill>
                <a:latin typeface="Tahoma"/>
                <a:cs typeface="Tahoma"/>
              </a:rPr>
              <a:t>Hidden</a:t>
            </a:r>
            <a:r>
              <a:rPr sz="1313" spc="-41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15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50551" y="2662962"/>
            <a:ext cx="262414" cy="1052036"/>
            <a:chOff x="2334067" y="3550615"/>
            <a:chExt cx="349885" cy="1402715"/>
          </a:xfrm>
        </p:grpSpPr>
        <p:sp>
          <p:nvSpPr>
            <p:cNvPr id="6" name="object 6"/>
            <p:cNvSpPr/>
            <p:nvPr/>
          </p:nvSpPr>
          <p:spPr>
            <a:xfrm>
              <a:off x="235311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6859" y="4636615"/>
              <a:ext cx="222250" cy="222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390355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144096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3892228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914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75721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7115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2" y="0"/>
                </a:moveTo>
                <a:lnTo>
                  <a:pt x="338042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2" y="210167"/>
                </a:lnTo>
                <a:lnTo>
                  <a:pt x="338042" y="329483"/>
                </a:lnTo>
                <a:lnTo>
                  <a:pt x="567437" y="164741"/>
                </a:lnTo>
                <a:lnTo>
                  <a:pt x="33804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2562171" y="2662962"/>
            <a:ext cx="262414" cy="1052036"/>
            <a:chOff x="3416227" y="3550615"/>
            <a:chExt cx="349885" cy="1402715"/>
          </a:xfrm>
        </p:grpSpPr>
        <p:sp>
          <p:nvSpPr>
            <p:cNvPr id="15" name="object 15"/>
            <p:cNvSpPr/>
            <p:nvPr/>
          </p:nvSpPr>
          <p:spPr>
            <a:xfrm>
              <a:off x="343527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9021" y="4636615"/>
              <a:ext cx="222250" cy="2222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390355"/>
              <a:ext cx="222250" cy="2222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144096"/>
              <a:ext cx="222250" cy="2222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3892228"/>
              <a:ext cx="222250" cy="2222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130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2568838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0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82777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3353240" y="2662962"/>
            <a:ext cx="262414" cy="1052036"/>
            <a:chOff x="4470986" y="3550615"/>
            <a:chExt cx="349885" cy="1402715"/>
          </a:xfrm>
        </p:grpSpPr>
        <p:sp>
          <p:nvSpPr>
            <p:cNvPr id="24" name="object 24"/>
            <p:cNvSpPr/>
            <p:nvPr/>
          </p:nvSpPr>
          <p:spPr>
            <a:xfrm>
              <a:off x="4490036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3779" y="4636615"/>
              <a:ext cx="222250" cy="2222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390355"/>
              <a:ext cx="222250" cy="2222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144096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3892228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606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335990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67384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4169424" y="2662962"/>
            <a:ext cx="262414" cy="1052036"/>
            <a:chOff x="5559231" y="3550615"/>
            <a:chExt cx="349885" cy="1402715"/>
          </a:xfrm>
        </p:grpSpPr>
        <p:sp>
          <p:nvSpPr>
            <p:cNvPr id="33" name="object 33"/>
            <p:cNvSpPr/>
            <p:nvPr/>
          </p:nvSpPr>
          <p:spPr>
            <a:xfrm>
              <a:off x="5578281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2024" y="4636613"/>
              <a:ext cx="222250" cy="22225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390354"/>
              <a:ext cx="222250" cy="2222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144096"/>
              <a:ext cx="222250" cy="22225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3892227"/>
              <a:ext cx="222250" cy="22225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430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39" name="object 39"/>
          <p:cNvSpPr/>
          <p:nvPr/>
        </p:nvSpPr>
        <p:spPr>
          <a:xfrm>
            <a:off x="4176090" y="378961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881073" y="241134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39911" y="2214753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662144" y="2429637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15697" y="2233042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496597" y="2429637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3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350149" y="2233042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305232" y="242049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158784" y="2226184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127729" y="2662962"/>
            <a:ext cx="262414" cy="1052036"/>
            <a:chOff x="6836972" y="3550615"/>
            <a:chExt cx="349885" cy="1402715"/>
          </a:xfrm>
        </p:grpSpPr>
        <p:sp>
          <p:nvSpPr>
            <p:cNvPr id="49" name="object 49"/>
            <p:cNvSpPr/>
            <p:nvPr/>
          </p:nvSpPr>
          <p:spPr>
            <a:xfrm>
              <a:off x="6856022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9765" y="4636613"/>
              <a:ext cx="222250" cy="22225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390354"/>
              <a:ext cx="222250" cy="22225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144096"/>
              <a:ext cx="222250" cy="22225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3892227"/>
              <a:ext cx="222250" cy="22225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0204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5238748" y="240906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097587" y="2214753"/>
            <a:ext cx="31146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1350" spc="-19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7432312" y="3122998"/>
            <a:ext cx="770573" cy="587216"/>
            <a:chOff x="9909750" y="4163996"/>
            <a:chExt cx="1027430" cy="782955"/>
          </a:xfrm>
        </p:grpSpPr>
        <p:sp>
          <p:nvSpPr>
            <p:cNvPr id="58" name="object 58"/>
            <p:cNvSpPr/>
            <p:nvPr/>
          </p:nvSpPr>
          <p:spPr>
            <a:xfrm>
              <a:off x="9960521" y="4435513"/>
              <a:ext cx="909955" cy="511175"/>
            </a:xfrm>
            <a:custGeom>
              <a:avLst/>
              <a:gdLst/>
              <a:ahLst/>
              <a:cxnLst/>
              <a:rect l="l" t="t" r="r" b="b"/>
              <a:pathLst>
                <a:path w="909954" h="511175">
                  <a:moveTo>
                    <a:pt x="360159" y="286321"/>
                  </a:moveTo>
                  <a:lnTo>
                    <a:pt x="346595" y="4229"/>
                  </a:lnTo>
                  <a:lnTo>
                    <a:pt x="83616" y="107213"/>
                  </a:lnTo>
                  <a:lnTo>
                    <a:pt x="183756" y="172072"/>
                  </a:lnTo>
                  <a:lnTo>
                    <a:pt x="0" y="455803"/>
                  </a:lnTo>
                  <a:lnTo>
                    <a:pt x="76250" y="505193"/>
                  </a:lnTo>
                  <a:lnTo>
                    <a:pt x="260019" y="221462"/>
                  </a:lnTo>
                  <a:lnTo>
                    <a:pt x="360159" y="286321"/>
                  </a:lnTo>
                  <a:close/>
                </a:path>
                <a:path w="909954" h="511175">
                  <a:moveTo>
                    <a:pt x="909472" y="464591"/>
                  </a:moveTo>
                  <a:lnTo>
                    <a:pt x="736777" y="173990"/>
                  </a:lnTo>
                  <a:lnTo>
                    <a:pt x="839343" y="113030"/>
                  </a:lnTo>
                  <a:lnTo>
                    <a:pt x="580542" y="0"/>
                  </a:lnTo>
                  <a:lnTo>
                    <a:pt x="556107" y="281355"/>
                  </a:lnTo>
                  <a:lnTo>
                    <a:pt x="658672" y="220408"/>
                  </a:lnTo>
                  <a:lnTo>
                    <a:pt x="831367" y="511009"/>
                  </a:lnTo>
                  <a:lnTo>
                    <a:pt x="909472" y="464591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928800" y="4183046"/>
              <a:ext cx="989330" cy="217170"/>
            </a:xfrm>
            <a:custGeom>
              <a:avLst/>
              <a:gdLst/>
              <a:ahLst/>
              <a:cxnLst/>
              <a:rect l="l" t="t" r="r" b="b"/>
              <a:pathLst>
                <a:path w="989329" h="217170">
                  <a:moveTo>
                    <a:pt x="988787" y="180693"/>
                  </a:moveTo>
                  <a:lnTo>
                    <a:pt x="985946" y="194760"/>
                  </a:lnTo>
                  <a:lnTo>
                    <a:pt x="978201" y="206247"/>
                  </a:lnTo>
                  <a:lnTo>
                    <a:pt x="966714" y="213992"/>
                  </a:lnTo>
                  <a:lnTo>
                    <a:pt x="952647" y="216833"/>
                  </a:lnTo>
                  <a:lnTo>
                    <a:pt x="36139" y="216833"/>
                  </a:lnTo>
                  <a:lnTo>
                    <a:pt x="22072" y="213992"/>
                  </a:lnTo>
                  <a:lnTo>
                    <a:pt x="10585" y="206247"/>
                  </a:lnTo>
                  <a:lnTo>
                    <a:pt x="2840" y="194760"/>
                  </a:lnTo>
                  <a:lnTo>
                    <a:pt x="0" y="180693"/>
                  </a:lnTo>
                  <a:lnTo>
                    <a:pt x="0" y="36139"/>
                  </a:lnTo>
                  <a:lnTo>
                    <a:pt x="2840" y="22072"/>
                  </a:lnTo>
                  <a:lnTo>
                    <a:pt x="10585" y="10585"/>
                  </a:lnTo>
                  <a:lnTo>
                    <a:pt x="22072" y="2840"/>
                  </a:lnTo>
                  <a:lnTo>
                    <a:pt x="36139" y="0"/>
                  </a:lnTo>
                  <a:lnTo>
                    <a:pt x="952647" y="0"/>
                  </a:lnTo>
                  <a:lnTo>
                    <a:pt x="966714" y="2840"/>
                  </a:lnTo>
                  <a:lnTo>
                    <a:pt x="978201" y="10585"/>
                  </a:lnTo>
                  <a:lnTo>
                    <a:pt x="985946" y="22072"/>
                  </a:lnTo>
                  <a:lnTo>
                    <a:pt x="988787" y="36139"/>
                  </a:lnTo>
                  <a:lnTo>
                    <a:pt x="988787" y="180693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0709027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73639" y="0"/>
                  </a:moveTo>
                  <a:lnTo>
                    <a:pt x="44975" y="5560"/>
                  </a:lnTo>
                  <a:lnTo>
                    <a:pt x="21568" y="20722"/>
                  </a:lnTo>
                  <a:lnTo>
                    <a:pt x="5786" y="43212"/>
                  </a:lnTo>
                  <a:lnTo>
                    <a:pt x="0" y="70752"/>
                  </a:lnTo>
                  <a:lnTo>
                    <a:pt x="5786" y="98293"/>
                  </a:lnTo>
                  <a:lnTo>
                    <a:pt x="21568" y="120782"/>
                  </a:lnTo>
                  <a:lnTo>
                    <a:pt x="44975" y="135945"/>
                  </a:lnTo>
                  <a:lnTo>
                    <a:pt x="73639" y="141505"/>
                  </a:lnTo>
                  <a:lnTo>
                    <a:pt x="102303" y="135945"/>
                  </a:lnTo>
                  <a:lnTo>
                    <a:pt x="125709" y="120782"/>
                  </a:lnTo>
                  <a:lnTo>
                    <a:pt x="141491" y="98293"/>
                  </a:lnTo>
                  <a:lnTo>
                    <a:pt x="147278" y="70752"/>
                  </a:lnTo>
                  <a:lnTo>
                    <a:pt x="141491" y="43212"/>
                  </a:lnTo>
                  <a:lnTo>
                    <a:pt x="125709" y="20722"/>
                  </a:lnTo>
                  <a:lnTo>
                    <a:pt x="102303" y="5560"/>
                  </a:lnTo>
                  <a:lnTo>
                    <a:pt x="73639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0709026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147279" y="70753"/>
                  </a:moveTo>
                  <a:lnTo>
                    <a:pt x="141492" y="98293"/>
                  </a:lnTo>
                  <a:lnTo>
                    <a:pt x="125710" y="120782"/>
                  </a:lnTo>
                  <a:lnTo>
                    <a:pt x="102303" y="135945"/>
                  </a:lnTo>
                  <a:lnTo>
                    <a:pt x="73639" y="141506"/>
                  </a:lnTo>
                  <a:lnTo>
                    <a:pt x="44975" y="135945"/>
                  </a:lnTo>
                  <a:lnTo>
                    <a:pt x="21568" y="120782"/>
                  </a:lnTo>
                  <a:lnTo>
                    <a:pt x="5786" y="98293"/>
                  </a:lnTo>
                  <a:lnTo>
                    <a:pt x="0" y="70753"/>
                  </a:lnTo>
                  <a:lnTo>
                    <a:pt x="5786" y="43212"/>
                  </a:lnTo>
                  <a:lnTo>
                    <a:pt x="21568" y="20723"/>
                  </a:lnTo>
                  <a:lnTo>
                    <a:pt x="44975" y="5560"/>
                  </a:lnTo>
                  <a:lnTo>
                    <a:pt x="73639" y="0"/>
                  </a:lnTo>
                  <a:lnTo>
                    <a:pt x="102303" y="5560"/>
                  </a:lnTo>
                  <a:lnTo>
                    <a:pt x="125710" y="20723"/>
                  </a:lnTo>
                  <a:lnTo>
                    <a:pt x="141492" y="43212"/>
                  </a:lnTo>
                  <a:lnTo>
                    <a:pt x="147279" y="70753"/>
                  </a:lnTo>
                  <a:close/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0530540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73638" y="0"/>
                  </a:moveTo>
                  <a:lnTo>
                    <a:pt x="44975" y="5560"/>
                  </a:lnTo>
                  <a:lnTo>
                    <a:pt x="21568" y="20722"/>
                  </a:lnTo>
                  <a:lnTo>
                    <a:pt x="5786" y="43212"/>
                  </a:lnTo>
                  <a:lnTo>
                    <a:pt x="0" y="70752"/>
                  </a:lnTo>
                  <a:lnTo>
                    <a:pt x="5786" y="98293"/>
                  </a:lnTo>
                  <a:lnTo>
                    <a:pt x="21568" y="120782"/>
                  </a:lnTo>
                  <a:lnTo>
                    <a:pt x="44975" y="135945"/>
                  </a:lnTo>
                  <a:lnTo>
                    <a:pt x="73638" y="141505"/>
                  </a:lnTo>
                  <a:lnTo>
                    <a:pt x="102302" y="135945"/>
                  </a:lnTo>
                  <a:lnTo>
                    <a:pt x="125709" y="120782"/>
                  </a:lnTo>
                  <a:lnTo>
                    <a:pt x="141491" y="98293"/>
                  </a:lnTo>
                  <a:lnTo>
                    <a:pt x="147278" y="70752"/>
                  </a:lnTo>
                  <a:lnTo>
                    <a:pt x="141491" y="43212"/>
                  </a:lnTo>
                  <a:lnTo>
                    <a:pt x="125709" y="20722"/>
                  </a:lnTo>
                  <a:lnTo>
                    <a:pt x="102302" y="5560"/>
                  </a:lnTo>
                  <a:lnTo>
                    <a:pt x="73638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530539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147279" y="70753"/>
                  </a:moveTo>
                  <a:lnTo>
                    <a:pt x="141492" y="98293"/>
                  </a:lnTo>
                  <a:lnTo>
                    <a:pt x="125710" y="120782"/>
                  </a:lnTo>
                  <a:lnTo>
                    <a:pt x="102303" y="135945"/>
                  </a:lnTo>
                  <a:lnTo>
                    <a:pt x="73639" y="141506"/>
                  </a:lnTo>
                  <a:lnTo>
                    <a:pt x="44975" y="135945"/>
                  </a:lnTo>
                  <a:lnTo>
                    <a:pt x="21568" y="120782"/>
                  </a:lnTo>
                  <a:lnTo>
                    <a:pt x="5786" y="98293"/>
                  </a:lnTo>
                  <a:lnTo>
                    <a:pt x="0" y="70753"/>
                  </a:lnTo>
                  <a:lnTo>
                    <a:pt x="5786" y="43212"/>
                  </a:lnTo>
                  <a:lnTo>
                    <a:pt x="21568" y="20723"/>
                  </a:lnTo>
                  <a:lnTo>
                    <a:pt x="44975" y="5560"/>
                  </a:lnTo>
                  <a:lnTo>
                    <a:pt x="73639" y="0"/>
                  </a:lnTo>
                  <a:lnTo>
                    <a:pt x="102303" y="5560"/>
                  </a:lnTo>
                  <a:lnTo>
                    <a:pt x="125710" y="20723"/>
                  </a:lnTo>
                  <a:lnTo>
                    <a:pt x="141492" y="43212"/>
                  </a:lnTo>
                  <a:lnTo>
                    <a:pt x="147279" y="70753"/>
                  </a:lnTo>
                  <a:close/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0352050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73639" y="0"/>
                  </a:moveTo>
                  <a:lnTo>
                    <a:pt x="44975" y="5560"/>
                  </a:lnTo>
                  <a:lnTo>
                    <a:pt x="21568" y="20722"/>
                  </a:lnTo>
                  <a:lnTo>
                    <a:pt x="5786" y="43212"/>
                  </a:lnTo>
                  <a:lnTo>
                    <a:pt x="0" y="70752"/>
                  </a:lnTo>
                  <a:lnTo>
                    <a:pt x="5786" y="98293"/>
                  </a:lnTo>
                  <a:lnTo>
                    <a:pt x="21568" y="120782"/>
                  </a:lnTo>
                  <a:lnTo>
                    <a:pt x="44975" y="135945"/>
                  </a:lnTo>
                  <a:lnTo>
                    <a:pt x="73639" y="141505"/>
                  </a:lnTo>
                  <a:lnTo>
                    <a:pt x="102303" y="135945"/>
                  </a:lnTo>
                  <a:lnTo>
                    <a:pt x="125710" y="120782"/>
                  </a:lnTo>
                  <a:lnTo>
                    <a:pt x="141492" y="98293"/>
                  </a:lnTo>
                  <a:lnTo>
                    <a:pt x="147279" y="70752"/>
                  </a:lnTo>
                  <a:lnTo>
                    <a:pt x="141492" y="43212"/>
                  </a:lnTo>
                  <a:lnTo>
                    <a:pt x="125710" y="20722"/>
                  </a:lnTo>
                  <a:lnTo>
                    <a:pt x="102303" y="5560"/>
                  </a:lnTo>
                  <a:lnTo>
                    <a:pt x="73639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0352050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147279" y="70753"/>
                  </a:moveTo>
                  <a:lnTo>
                    <a:pt x="141492" y="98293"/>
                  </a:lnTo>
                  <a:lnTo>
                    <a:pt x="125710" y="120782"/>
                  </a:lnTo>
                  <a:lnTo>
                    <a:pt x="102303" y="135945"/>
                  </a:lnTo>
                  <a:lnTo>
                    <a:pt x="73639" y="141506"/>
                  </a:lnTo>
                  <a:lnTo>
                    <a:pt x="44975" y="135945"/>
                  </a:lnTo>
                  <a:lnTo>
                    <a:pt x="21568" y="120782"/>
                  </a:lnTo>
                  <a:lnTo>
                    <a:pt x="5786" y="98293"/>
                  </a:lnTo>
                  <a:lnTo>
                    <a:pt x="0" y="70753"/>
                  </a:lnTo>
                  <a:lnTo>
                    <a:pt x="5786" y="43212"/>
                  </a:lnTo>
                  <a:lnTo>
                    <a:pt x="21568" y="20723"/>
                  </a:lnTo>
                  <a:lnTo>
                    <a:pt x="44975" y="5560"/>
                  </a:lnTo>
                  <a:lnTo>
                    <a:pt x="73639" y="0"/>
                  </a:lnTo>
                  <a:lnTo>
                    <a:pt x="102303" y="5560"/>
                  </a:lnTo>
                  <a:lnTo>
                    <a:pt x="125710" y="20723"/>
                  </a:lnTo>
                  <a:lnTo>
                    <a:pt x="141492" y="43212"/>
                  </a:lnTo>
                  <a:lnTo>
                    <a:pt x="147279" y="70753"/>
                  </a:lnTo>
                  <a:close/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0169496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73639" y="0"/>
                  </a:moveTo>
                  <a:lnTo>
                    <a:pt x="44975" y="5560"/>
                  </a:lnTo>
                  <a:lnTo>
                    <a:pt x="21568" y="20722"/>
                  </a:lnTo>
                  <a:lnTo>
                    <a:pt x="5786" y="43212"/>
                  </a:lnTo>
                  <a:lnTo>
                    <a:pt x="0" y="70752"/>
                  </a:lnTo>
                  <a:lnTo>
                    <a:pt x="5786" y="98293"/>
                  </a:lnTo>
                  <a:lnTo>
                    <a:pt x="21568" y="120782"/>
                  </a:lnTo>
                  <a:lnTo>
                    <a:pt x="44975" y="135945"/>
                  </a:lnTo>
                  <a:lnTo>
                    <a:pt x="73639" y="141505"/>
                  </a:lnTo>
                  <a:lnTo>
                    <a:pt x="102303" y="135945"/>
                  </a:lnTo>
                  <a:lnTo>
                    <a:pt x="125710" y="120782"/>
                  </a:lnTo>
                  <a:lnTo>
                    <a:pt x="141492" y="98293"/>
                  </a:lnTo>
                  <a:lnTo>
                    <a:pt x="147279" y="70752"/>
                  </a:lnTo>
                  <a:lnTo>
                    <a:pt x="141492" y="43212"/>
                  </a:lnTo>
                  <a:lnTo>
                    <a:pt x="125710" y="20722"/>
                  </a:lnTo>
                  <a:lnTo>
                    <a:pt x="102303" y="5560"/>
                  </a:lnTo>
                  <a:lnTo>
                    <a:pt x="73639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0169497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147279" y="70753"/>
                  </a:moveTo>
                  <a:lnTo>
                    <a:pt x="141492" y="98293"/>
                  </a:lnTo>
                  <a:lnTo>
                    <a:pt x="125710" y="120782"/>
                  </a:lnTo>
                  <a:lnTo>
                    <a:pt x="102303" y="135945"/>
                  </a:lnTo>
                  <a:lnTo>
                    <a:pt x="73639" y="141506"/>
                  </a:lnTo>
                  <a:lnTo>
                    <a:pt x="44975" y="135945"/>
                  </a:lnTo>
                  <a:lnTo>
                    <a:pt x="21568" y="120782"/>
                  </a:lnTo>
                  <a:lnTo>
                    <a:pt x="5786" y="98293"/>
                  </a:lnTo>
                  <a:lnTo>
                    <a:pt x="0" y="70753"/>
                  </a:lnTo>
                  <a:lnTo>
                    <a:pt x="5786" y="43212"/>
                  </a:lnTo>
                  <a:lnTo>
                    <a:pt x="21568" y="20723"/>
                  </a:lnTo>
                  <a:lnTo>
                    <a:pt x="44975" y="5560"/>
                  </a:lnTo>
                  <a:lnTo>
                    <a:pt x="73639" y="0"/>
                  </a:lnTo>
                  <a:lnTo>
                    <a:pt x="102303" y="5560"/>
                  </a:lnTo>
                  <a:lnTo>
                    <a:pt x="125710" y="20723"/>
                  </a:lnTo>
                  <a:lnTo>
                    <a:pt x="141492" y="43212"/>
                  </a:lnTo>
                  <a:lnTo>
                    <a:pt x="147279" y="70753"/>
                  </a:lnTo>
                  <a:close/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72976" y="4210163"/>
              <a:ext cx="166329" cy="160556"/>
            </a:xfrm>
            <a:prstGeom prst="rect">
              <a:avLst/>
            </a:prstGeom>
          </p:spPr>
        </p:pic>
      </p:grpSp>
      <p:sp>
        <p:nvSpPr>
          <p:cNvPr id="69" name="object 69"/>
          <p:cNvSpPr/>
          <p:nvPr/>
        </p:nvSpPr>
        <p:spPr>
          <a:xfrm>
            <a:off x="7682352" y="2753680"/>
            <a:ext cx="247174" cy="322421"/>
          </a:xfrm>
          <a:custGeom>
            <a:avLst/>
            <a:gdLst/>
            <a:ahLst/>
            <a:cxnLst/>
            <a:rect l="l" t="t" r="r" b="b"/>
            <a:pathLst>
              <a:path w="329565" h="429895">
                <a:moveTo>
                  <a:pt x="164741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429376"/>
                </a:lnTo>
                <a:lnTo>
                  <a:pt x="210167" y="429376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7713636" y="2322195"/>
            <a:ext cx="132874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38" dirty="0">
                <a:latin typeface="Cambria Math"/>
                <a:cs typeface="Cambria Math"/>
              </a:rPr>
              <a:t>𝑒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814745" y="2425065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065698" y="2349627"/>
            <a:ext cx="31861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solidFill>
                  <a:srgbClr val="548235"/>
                </a:solidFill>
                <a:latin typeface="Cambria Math"/>
                <a:cs typeface="Cambria Math"/>
              </a:rPr>
              <a:t>1.5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87704" y="834555"/>
            <a:ext cx="7836694" cy="884153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45" dirty="0">
                <a:solidFill>
                  <a:srgbClr val="C00000"/>
                </a:solidFill>
                <a:latin typeface="Tahoma"/>
                <a:cs typeface="Tahoma"/>
              </a:rPr>
              <a:t>Q:</a:t>
            </a:r>
            <a:r>
              <a:rPr sz="1463" spc="8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463" spc="49" dirty="0">
                <a:latin typeface="Tahoma"/>
                <a:cs typeface="Tahoma"/>
              </a:rPr>
              <a:t>How</a:t>
            </a:r>
            <a:r>
              <a:rPr sz="1463" spc="4" dirty="0">
                <a:latin typeface="Tahoma"/>
                <a:cs typeface="Tahoma"/>
              </a:rPr>
              <a:t> </a:t>
            </a:r>
            <a:r>
              <a:rPr sz="1463" spc="94" dirty="0">
                <a:latin typeface="Tahoma"/>
                <a:cs typeface="Tahoma"/>
              </a:rPr>
              <a:t>do</a:t>
            </a:r>
            <a:r>
              <a:rPr sz="1463" dirty="0">
                <a:latin typeface="Tahoma"/>
                <a:cs typeface="Tahoma"/>
              </a:rPr>
              <a:t> we</a:t>
            </a:r>
            <a:r>
              <a:rPr sz="1463" spc="-4" dirty="0">
                <a:latin typeface="Tahoma"/>
                <a:cs typeface="Tahoma"/>
              </a:rPr>
              <a:t> </a:t>
            </a:r>
            <a:r>
              <a:rPr sz="1463" spc="38" dirty="0">
                <a:latin typeface="Tahoma"/>
                <a:cs typeface="Tahoma"/>
              </a:rPr>
              <a:t>determine</a:t>
            </a:r>
            <a:r>
              <a:rPr sz="1463" dirty="0">
                <a:latin typeface="Tahoma"/>
                <a:cs typeface="Tahoma"/>
              </a:rPr>
              <a:t> how</a:t>
            </a:r>
            <a:r>
              <a:rPr sz="1463" spc="4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much </a:t>
            </a:r>
            <a:r>
              <a:rPr sz="1463" spc="45" dirty="0">
                <a:latin typeface="Tahoma"/>
                <a:cs typeface="Tahoma"/>
              </a:rPr>
              <a:t>to</a:t>
            </a:r>
            <a:r>
              <a:rPr sz="1463" dirty="0">
                <a:latin typeface="Tahoma"/>
                <a:cs typeface="Tahoma"/>
              </a:rPr>
              <a:t> pay attention </a:t>
            </a:r>
            <a:r>
              <a:rPr sz="1463" spc="45" dirty="0">
                <a:latin typeface="Tahoma"/>
                <a:cs typeface="Tahoma"/>
              </a:rPr>
              <a:t>to</a:t>
            </a:r>
            <a:r>
              <a:rPr sz="1463" spc="-4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each of</a:t>
            </a:r>
            <a:r>
              <a:rPr sz="1463" spc="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the encoder’s </a:t>
            </a:r>
            <a:r>
              <a:rPr sz="1463" spc="53" dirty="0">
                <a:latin typeface="Tahoma"/>
                <a:cs typeface="Tahoma"/>
              </a:rPr>
              <a:t>hidden</a:t>
            </a:r>
            <a:r>
              <a:rPr sz="1463" dirty="0">
                <a:latin typeface="Tahoma"/>
                <a:cs typeface="Tahoma"/>
              </a:rPr>
              <a:t> </a:t>
            </a:r>
            <a:r>
              <a:rPr sz="1463" spc="-8" dirty="0">
                <a:latin typeface="Tahoma"/>
                <a:cs typeface="Tahoma"/>
              </a:rPr>
              <a:t>layers?</a:t>
            </a:r>
            <a:endParaRPr sz="1463">
              <a:latin typeface="Tahoma"/>
              <a:cs typeface="Tahoma"/>
            </a:endParaRPr>
          </a:p>
          <a:p>
            <a:pPr marL="9525" marR="3810">
              <a:lnSpc>
                <a:spcPct val="119000"/>
              </a:lnSpc>
              <a:spcBef>
                <a:spcPts val="1080"/>
              </a:spcBef>
            </a:pPr>
            <a:r>
              <a:rPr sz="1463" dirty="0">
                <a:solidFill>
                  <a:srgbClr val="C00000"/>
                </a:solidFill>
                <a:latin typeface="Tahoma"/>
                <a:cs typeface="Tahoma"/>
              </a:rPr>
              <a:t>A:</a:t>
            </a:r>
            <a:r>
              <a:rPr sz="1463" spc="-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Let’s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base</a:t>
            </a:r>
            <a:r>
              <a:rPr sz="1463" spc="-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it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spc="49" dirty="0">
                <a:latin typeface="Tahoma"/>
                <a:cs typeface="Tahoma"/>
              </a:rPr>
              <a:t>on</a:t>
            </a:r>
            <a:r>
              <a:rPr sz="1463" spc="-4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our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spc="34" dirty="0">
                <a:latin typeface="Tahoma"/>
                <a:cs typeface="Tahoma"/>
              </a:rPr>
              <a:t>decoder’s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current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spc="53" dirty="0">
                <a:latin typeface="Tahoma"/>
                <a:cs typeface="Tahoma"/>
              </a:rPr>
              <a:t>hidden</a:t>
            </a:r>
            <a:r>
              <a:rPr sz="1463" spc="-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state</a:t>
            </a:r>
            <a:r>
              <a:rPr sz="1463" spc="-8" dirty="0">
                <a:latin typeface="Tahoma"/>
                <a:cs typeface="Tahoma"/>
              </a:rPr>
              <a:t> </a:t>
            </a:r>
            <a:r>
              <a:rPr sz="1463" spc="-19" dirty="0">
                <a:latin typeface="Tahoma"/>
                <a:cs typeface="Tahoma"/>
              </a:rPr>
              <a:t>(our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current</a:t>
            </a:r>
            <a:r>
              <a:rPr sz="1463" spc="-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representation</a:t>
            </a:r>
            <a:r>
              <a:rPr sz="1463" spc="-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of</a:t>
            </a:r>
            <a:r>
              <a:rPr sz="1463" spc="-4" dirty="0">
                <a:latin typeface="Tahoma"/>
                <a:cs typeface="Tahoma"/>
              </a:rPr>
              <a:t> </a:t>
            </a:r>
            <a:r>
              <a:rPr sz="1463" spc="-8" dirty="0">
                <a:latin typeface="Tahoma"/>
                <a:cs typeface="Tahoma"/>
              </a:rPr>
              <a:t>meaning) </a:t>
            </a:r>
            <a:r>
              <a:rPr sz="1463" spc="38" dirty="0">
                <a:latin typeface="Tahoma"/>
                <a:cs typeface="Tahoma"/>
              </a:rPr>
              <a:t>and</a:t>
            </a:r>
            <a:r>
              <a:rPr sz="1463" spc="4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all</a:t>
            </a:r>
            <a:r>
              <a:rPr sz="1463" spc="11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of</a:t>
            </a:r>
            <a:r>
              <a:rPr sz="1463" spc="11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the</a:t>
            </a:r>
            <a:r>
              <a:rPr sz="1463" spc="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encoder’s</a:t>
            </a:r>
            <a:r>
              <a:rPr sz="1463" spc="4" dirty="0">
                <a:latin typeface="Tahoma"/>
                <a:cs typeface="Tahoma"/>
              </a:rPr>
              <a:t> </a:t>
            </a:r>
            <a:r>
              <a:rPr sz="1463" spc="53" dirty="0">
                <a:latin typeface="Tahoma"/>
                <a:cs typeface="Tahoma"/>
              </a:rPr>
              <a:t>hidden</a:t>
            </a:r>
            <a:r>
              <a:rPr sz="1463" spc="8" dirty="0">
                <a:latin typeface="Tahoma"/>
                <a:cs typeface="Tahoma"/>
              </a:rPr>
              <a:t> </a:t>
            </a:r>
            <a:r>
              <a:rPr sz="1463" spc="-8" dirty="0">
                <a:latin typeface="Tahoma"/>
                <a:cs typeface="Tahoma"/>
              </a:rPr>
              <a:t>layers!</a:t>
            </a:r>
            <a:endParaRPr sz="1463">
              <a:latin typeface="Tahoma"/>
              <a:cs typeface="Tahoma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134611" y="378946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7381825" y="3690904"/>
            <a:ext cx="260033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718"/>
              </a:lnSpc>
            </a:pPr>
            <a:r>
              <a:rPr sz="2700" spc="-28" baseline="-20833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992750" y="3690904"/>
            <a:ext cx="273368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718"/>
              </a:lnSpc>
            </a:pPr>
            <a:r>
              <a:rPr sz="2700" spc="-28" baseline="-20833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1350" spc="-19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484887" y="3830350"/>
            <a:ext cx="166211" cy="208711"/>
          </a:xfrm>
          <a:prstGeom prst="rect">
            <a:avLst/>
          </a:prstGeom>
        </p:spPr>
        <p:txBody>
          <a:bodyPr vert="horz" wrap="square" lIns="0" tIns="953" rIns="0" bIns="0" rtlCol="0">
            <a:spAutoFit/>
          </a:bodyPr>
          <a:lstStyle/>
          <a:p>
            <a:pPr marL="28575">
              <a:spcBef>
                <a:spcPts val="8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114860" y="3830350"/>
            <a:ext cx="118586" cy="208711"/>
          </a:xfrm>
          <a:prstGeom prst="rect">
            <a:avLst/>
          </a:prstGeom>
        </p:spPr>
        <p:txBody>
          <a:bodyPr vert="horz" wrap="square" lIns="0" tIns="953" rIns="0" bIns="0" rtlCol="0">
            <a:spAutoFit/>
          </a:bodyPr>
          <a:lstStyle/>
          <a:p>
            <a:pPr marL="9525">
              <a:spcBef>
                <a:spcPts val="8"/>
              </a:spcBef>
            </a:pP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165509" y="4144683"/>
            <a:ext cx="1336358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dirty="0">
                <a:solidFill>
                  <a:srgbClr val="C00000"/>
                </a:solidFill>
                <a:latin typeface="Tahoma"/>
                <a:cs typeface="Tahoma"/>
              </a:rPr>
              <a:t>Separate</a:t>
            </a:r>
            <a:r>
              <a:rPr sz="1463" spc="172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463" spc="113" dirty="0">
                <a:solidFill>
                  <a:srgbClr val="C00000"/>
                </a:solidFill>
                <a:latin typeface="Tahoma"/>
                <a:cs typeface="Tahoma"/>
              </a:rPr>
              <a:t>FFNN</a:t>
            </a:r>
            <a:endParaRPr sz="1463">
              <a:latin typeface="Tahoma"/>
              <a:cs typeface="Tahom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7224" y="4238985"/>
            <a:ext cx="82534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dirty="0">
                <a:solidFill>
                  <a:srgbClr val="262626"/>
                </a:solidFill>
                <a:latin typeface="Tahoma"/>
                <a:cs typeface="Tahoma"/>
              </a:rPr>
              <a:t>Input</a:t>
            </a:r>
            <a:r>
              <a:rPr sz="1313" spc="-64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8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632730" y="4247008"/>
            <a:ext cx="40481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352676" y="4247008"/>
            <a:ext cx="65436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240736" y="4258437"/>
            <a:ext cx="433864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128790" y="4267582"/>
            <a:ext cx="34194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037383" y="4146948"/>
            <a:ext cx="1586865" cy="6399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&lt;s&gt;</a:t>
            </a:r>
            <a:endParaRPr dirty="0">
              <a:latin typeface="Tahoma"/>
              <a:cs typeface="Tahoma"/>
            </a:endParaRPr>
          </a:p>
          <a:p>
            <a:pPr marL="199073">
              <a:spcBef>
                <a:spcPts val="1020"/>
              </a:spcBef>
            </a:pPr>
            <a:r>
              <a:rPr sz="1463" spc="101" dirty="0">
                <a:solidFill>
                  <a:srgbClr val="7030A0"/>
                </a:solidFill>
                <a:latin typeface="Tahoma"/>
                <a:cs typeface="Tahoma"/>
              </a:rPr>
              <a:t>DECODER</a:t>
            </a:r>
            <a:r>
              <a:rPr sz="1463" spc="-41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 dirty="0">
              <a:latin typeface="Tahoma"/>
              <a:cs typeface="Tahom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131188" y="4542769"/>
            <a:ext cx="1403509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113" dirty="0">
                <a:solidFill>
                  <a:srgbClr val="7030A0"/>
                </a:solidFill>
                <a:latin typeface="Tahoma"/>
                <a:cs typeface="Tahoma"/>
              </a:rPr>
              <a:t>ENCODER</a:t>
            </a:r>
            <a:r>
              <a:rPr sz="1463" spc="-60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7854" y="578611"/>
            <a:ext cx="4856321" cy="98108"/>
          </a:xfrm>
          <a:custGeom>
            <a:avLst/>
            <a:gdLst/>
            <a:ahLst/>
            <a:cxnLst/>
            <a:rect l="l" t="t" r="r" b="b"/>
            <a:pathLst>
              <a:path w="6475095" h="130809">
                <a:moveTo>
                  <a:pt x="6474895" y="0"/>
                </a:moveTo>
                <a:lnTo>
                  <a:pt x="0" y="0"/>
                </a:lnTo>
                <a:lnTo>
                  <a:pt x="0" y="130218"/>
                </a:lnTo>
                <a:lnTo>
                  <a:pt x="6474895" y="130218"/>
                </a:lnTo>
                <a:lnTo>
                  <a:pt x="647489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34" dirty="0"/>
              <a:t>seq2seq</a:t>
            </a:r>
            <a:r>
              <a:rPr spc="-68" dirty="0"/>
              <a:t> </a:t>
            </a:r>
            <a:r>
              <a:rPr spc="-143" dirty="0"/>
              <a:t>+</a:t>
            </a:r>
            <a:r>
              <a:rPr spc="-68" dirty="0"/>
              <a:t> </a:t>
            </a:r>
            <a:r>
              <a:rPr spc="-8" dirty="0"/>
              <a:t>Attention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6450" y="2988543"/>
            <a:ext cx="99298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spc="60" dirty="0">
                <a:solidFill>
                  <a:srgbClr val="262626"/>
                </a:solidFill>
                <a:latin typeface="Tahoma"/>
                <a:cs typeface="Tahoma"/>
              </a:rPr>
              <a:t>Hidden</a:t>
            </a:r>
            <a:r>
              <a:rPr sz="1313" spc="-41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15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50551" y="2662962"/>
            <a:ext cx="262414" cy="1052036"/>
            <a:chOff x="2334067" y="3550615"/>
            <a:chExt cx="349885" cy="1402715"/>
          </a:xfrm>
        </p:grpSpPr>
        <p:sp>
          <p:nvSpPr>
            <p:cNvPr id="6" name="object 6"/>
            <p:cNvSpPr/>
            <p:nvPr/>
          </p:nvSpPr>
          <p:spPr>
            <a:xfrm>
              <a:off x="235311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6859" y="4636615"/>
              <a:ext cx="222250" cy="222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390355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144096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3892228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914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75721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7115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2" y="0"/>
                </a:moveTo>
                <a:lnTo>
                  <a:pt x="338042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2" y="210167"/>
                </a:lnTo>
                <a:lnTo>
                  <a:pt x="338042" y="329483"/>
                </a:lnTo>
                <a:lnTo>
                  <a:pt x="567437" y="164741"/>
                </a:lnTo>
                <a:lnTo>
                  <a:pt x="33804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2562171" y="2662962"/>
            <a:ext cx="262414" cy="1052036"/>
            <a:chOff x="3416227" y="3550615"/>
            <a:chExt cx="349885" cy="1402715"/>
          </a:xfrm>
        </p:grpSpPr>
        <p:sp>
          <p:nvSpPr>
            <p:cNvPr id="15" name="object 15"/>
            <p:cNvSpPr/>
            <p:nvPr/>
          </p:nvSpPr>
          <p:spPr>
            <a:xfrm>
              <a:off x="343527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9021" y="4636615"/>
              <a:ext cx="222250" cy="2222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390355"/>
              <a:ext cx="222250" cy="2222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144096"/>
              <a:ext cx="222250" cy="2222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3892228"/>
              <a:ext cx="222250" cy="2222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130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2568838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0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82777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3353240" y="2662962"/>
            <a:ext cx="262414" cy="1052036"/>
            <a:chOff x="4470986" y="3550615"/>
            <a:chExt cx="349885" cy="1402715"/>
          </a:xfrm>
        </p:grpSpPr>
        <p:sp>
          <p:nvSpPr>
            <p:cNvPr id="24" name="object 24"/>
            <p:cNvSpPr/>
            <p:nvPr/>
          </p:nvSpPr>
          <p:spPr>
            <a:xfrm>
              <a:off x="4490036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3779" y="4636615"/>
              <a:ext cx="222250" cy="2222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390355"/>
              <a:ext cx="222250" cy="2222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144096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3892228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606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335990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67384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4169424" y="2662962"/>
            <a:ext cx="262414" cy="1052036"/>
            <a:chOff x="5559231" y="3550615"/>
            <a:chExt cx="349885" cy="1402715"/>
          </a:xfrm>
        </p:grpSpPr>
        <p:sp>
          <p:nvSpPr>
            <p:cNvPr id="33" name="object 33"/>
            <p:cNvSpPr/>
            <p:nvPr/>
          </p:nvSpPr>
          <p:spPr>
            <a:xfrm>
              <a:off x="5578281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2024" y="4636613"/>
              <a:ext cx="222250" cy="22225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390354"/>
              <a:ext cx="222250" cy="2222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144096"/>
              <a:ext cx="222250" cy="22225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3892227"/>
              <a:ext cx="222250" cy="22225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430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39" name="object 39"/>
          <p:cNvSpPr/>
          <p:nvPr/>
        </p:nvSpPr>
        <p:spPr>
          <a:xfrm>
            <a:off x="4176090" y="378961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881073" y="241134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39911" y="2214753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662144" y="2429637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15697" y="2233042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496597" y="2429637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3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350149" y="2233042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305232" y="242049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158784" y="2226184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127729" y="2662962"/>
            <a:ext cx="262414" cy="1052036"/>
            <a:chOff x="6836972" y="3550615"/>
            <a:chExt cx="349885" cy="1402715"/>
          </a:xfrm>
        </p:grpSpPr>
        <p:sp>
          <p:nvSpPr>
            <p:cNvPr id="49" name="object 49"/>
            <p:cNvSpPr/>
            <p:nvPr/>
          </p:nvSpPr>
          <p:spPr>
            <a:xfrm>
              <a:off x="6856022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9765" y="4636613"/>
              <a:ext cx="222250" cy="22225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390354"/>
              <a:ext cx="222250" cy="22225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144096"/>
              <a:ext cx="222250" cy="22225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3892227"/>
              <a:ext cx="222250" cy="22225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0204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5238748" y="240906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097587" y="2214753"/>
            <a:ext cx="31146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1350" spc="-19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7432312" y="3122998"/>
            <a:ext cx="770573" cy="587216"/>
            <a:chOff x="9909750" y="4163996"/>
            <a:chExt cx="1027430" cy="782955"/>
          </a:xfrm>
        </p:grpSpPr>
        <p:sp>
          <p:nvSpPr>
            <p:cNvPr id="58" name="object 58"/>
            <p:cNvSpPr/>
            <p:nvPr/>
          </p:nvSpPr>
          <p:spPr>
            <a:xfrm>
              <a:off x="9960521" y="4435513"/>
              <a:ext cx="909955" cy="511175"/>
            </a:xfrm>
            <a:custGeom>
              <a:avLst/>
              <a:gdLst/>
              <a:ahLst/>
              <a:cxnLst/>
              <a:rect l="l" t="t" r="r" b="b"/>
              <a:pathLst>
                <a:path w="909954" h="511175">
                  <a:moveTo>
                    <a:pt x="360159" y="286321"/>
                  </a:moveTo>
                  <a:lnTo>
                    <a:pt x="346595" y="4229"/>
                  </a:lnTo>
                  <a:lnTo>
                    <a:pt x="83616" y="107213"/>
                  </a:lnTo>
                  <a:lnTo>
                    <a:pt x="183756" y="172072"/>
                  </a:lnTo>
                  <a:lnTo>
                    <a:pt x="0" y="455803"/>
                  </a:lnTo>
                  <a:lnTo>
                    <a:pt x="76250" y="505193"/>
                  </a:lnTo>
                  <a:lnTo>
                    <a:pt x="260019" y="221462"/>
                  </a:lnTo>
                  <a:lnTo>
                    <a:pt x="360159" y="286321"/>
                  </a:lnTo>
                  <a:close/>
                </a:path>
                <a:path w="909954" h="511175">
                  <a:moveTo>
                    <a:pt x="909472" y="464591"/>
                  </a:moveTo>
                  <a:lnTo>
                    <a:pt x="736777" y="173990"/>
                  </a:lnTo>
                  <a:lnTo>
                    <a:pt x="839343" y="113030"/>
                  </a:lnTo>
                  <a:lnTo>
                    <a:pt x="580542" y="0"/>
                  </a:lnTo>
                  <a:lnTo>
                    <a:pt x="556107" y="281355"/>
                  </a:lnTo>
                  <a:lnTo>
                    <a:pt x="658672" y="220408"/>
                  </a:lnTo>
                  <a:lnTo>
                    <a:pt x="831367" y="511009"/>
                  </a:lnTo>
                  <a:lnTo>
                    <a:pt x="909472" y="464591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928800" y="4183046"/>
              <a:ext cx="989330" cy="217170"/>
            </a:xfrm>
            <a:custGeom>
              <a:avLst/>
              <a:gdLst/>
              <a:ahLst/>
              <a:cxnLst/>
              <a:rect l="l" t="t" r="r" b="b"/>
              <a:pathLst>
                <a:path w="989329" h="217170">
                  <a:moveTo>
                    <a:pt x="988787" y="180693"/>
                  </a:moveTo>
                  <a:lnTo>
                    <a:pt x="985946" y="194760"/>
                  </a:lnTo>
                  <a:lnTo>
                    <a:pt x="978201" y="206247"/>
                  </a:lnTo>
                  <a:lnTo>
                    <a:pt x="966714" y="213992"/>
                  </a:lnTo>
                  <a:lnTo>
                    <a:pt x="952647" y="216833"/>
                  </a:lnTo>
                  <a:lnTo>
                    <a:pt x="36139" y="216833"/>
                  </a:lnTo>
                  <a:lnTo>
                    <a:pt x="22072" y="213992"/>
                  </a:lnTo>
                  <a:lnTo>
                    <a:pt x="10585" y="206247"/>
                  </a:lnTo>
                  <a:lnTo>
                    <a:pt x="2840" y="194760"/>
                  </a:lnTo>
                  <a:lnTo>
                    <a:pt x="0" y="180693"/>
                  </a:lnTo>
                  <a:lnTo>
                    <a:pt x="0" y="36139"/>
                  </a:lnTo>
                  <a:lnTo>
                    <a:pt x="2840" y="22072"/>
                  </a:lnTo>
                  <a:lnTo>
                    <a:pt x="10585" y="10585"/>
                  </a:lnTo>
                  <a:lnTo>
                    <a:pt x="22072" y="2840"/>
                  </a:lnTo>
                  <a:lnTo>
                    <a:pt x="36139" y="0"/>
                  </a:lnTo>
                  <a:lnTo>
                    <a:pt x="952647" y="0"/>
                  </a:lnTo>
                  <a:lnTo>
                    <a:pt x="966714" y="2840"/>
                  </a:lnTo>
                  <a:lnTo>
                    <a:pt x="978201" y="10585"/>
                  </a:lnTo>
                  <a:lnTo>
                    <a:pt x="985946" y="22072"/>
                  </a:lnTo>
                  <a:lnTo>
                    <a:pt x="988787" y="36139"/>
                  </a:lnTo>
                  <a:lnTo>
                    <a:pt x="988787" y="180693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0709027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73639" y="0"/>
                  </a:moveTo>
                  <a:lnTo>
                    <a:pt x="44975" y="5560"/>
                  </a:lnTo>
                  <a:lnTo>
                    <a:pt x="21568" y="20722"/>
                  </a:lnTo>
                  <a:lnTo>
                    <a:pt x="5786" y="43212"/>
                  </a:lnTo>
                  <a:lnTo>
                    <a:pt x="0" y="70752"/>
                  </a:lnTo>
                  <a:lnTo>
                    <a:pt x="5786" y="98293"/>
                  </a:lnTo>
                  <a:lnTo>
                    <a:pt x="21568" y="120782"/>
                  </a:lnTo>
                  <a:lnTo>
                    <a:pt x="44975" y="135945"/>
                  </a:lnTo>
                  <a:lnTo>
                    <a:pt x="73639" y="141505"/>
                  </a:lnTo>
                  <a:lnTo>
                    <a:pt x="102303" y="135945"/>
                  </a:lnTo>
                  <a:lnTo>
                    <a:pt x="125709" y="120782"/>
                  </a:lnTo>
                  <a:lnTo>
                    <a:pt x="141491" y="98293"/>
                  </a:lnTo>
                  <a:lnTo>
                    <a:pt x="147278" y="70752"/>
                  </a:lnTo>
                  <a:lnTo>
                    <a:pt x="141491" y="43212"/>
                  </a:lnTo>
                  <a:lnTo>
                    <a:pt x="125709" y="20722"/>
                  </a:lnTo>
                  <a:lnTo>
                    <a:pt x="102303" y="5560"/>
                  </a:lnTo>
                  <a:lnTo>
                    <a:pt x="73639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0709026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147279" y="70753"/>
                  </a:moveTo>
                  <a:lnTo>
                    <a:pt x="141492" y="98293"/>
                  </a:lnTo>
                  <a:lnTo>
                    <a:pt x="125710" y="120782"/>
                  </a:lnTo>
                  <a:lnTo>
                    <a:pt x="102303" y="135945"/>
                  </a:lnTo>
                  <a:lnTo>
                    <a:pt x="73639" y="141506"/>
                  </a:lnTo>
                  <a:lnTo>
                    <a:pt x="44975" y="135945"/>
                  </a:lnTo>
                  <a:lnTo>
                    <a:pt x="21568" y="120782"/>
                  </a:lnTo>
                  <a:lnTo>
                    <a:pt x="5786" y="98293"/>
                  </a:lnTo>
                  <a:lnTo>
                    <a:pt x="0" y="70753"/>
                  </a:lnTo>
                  <a:lnTo>
                    <a:pt x="5786" y="43212"/>
                  </a:lnTo>
                  <a:lnTo>
                    <a:pt x="21568" y="20723"/>
                  </a:lnTo>
                  <a:lnTo>
                    <a:pt x="44975" y="5560"/>
                  </a:lnTo>
                  <a:lnTo>
                    <a:pt x="73639" y="0"/>
                  </a:lnTo>
                  <a:lnTo>
                    <a:pt x="102303" y="5560"/>
                  </a:lnTo>
                  <a:lnTo>
                    <a:pt x="125710" y="20723"/>
                  </a:lnTo>
                  <a:lnTo>
                    <a:pt x="141492" y="43212"/>
                  </a:lnTo>
                  <a:lnTo>
                    <a:pt x="147279" y="70753"/>
                  </a:lnTo>
                  <a:close/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0530540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73638" y="0"/>
                  </a:moveTo>
                  <a:lnTo>
                    <a:pt x="44975" y="5560"/>
                  </a:lnTo>
                  <a:lnTo>
                    <a:pt x="21568" y="20722"/>
                  </a:lnTo>
                  <a:lnTo>
                    <a:pt x="5786" y="43212"/>
                  </a:lnTo>
                  <a:lnTo>
                    <a:pt x="0" y="70752"/>
                  </a:lnTo>
                  <a:lnTo>
                    <a:pt x="5786" y="98293"/>
                  </a:lnTo>
                  <a:lnTo>
                    <a:pt x="21568" y="120782"/>
                  </a:lnTo>
                  <a:lnTo>
                    <a:pt x="44975" y="135945"/>
                  </a:lnTo>
                  <a:lnTo>
                    <a:pt x="73638" y="141505"/>
                  </a:lnTo>
                  <a:lnTo>
                    <a:pt x="102302" y="135945"/>
                  </a:lnTo>
                  <a:lnTo>
                    <a:pt x="125709" y="120782"/>
                  </a:lnTo>
                  <a:lnTo>
                    <a:pt x="141491" y="98293"/>
                  </a:lnTo>
                  <a:lnTo>
                    <a:pt x="147278" y="70752"/>
                  </a:lnTo>
                  <a:lnTo>
                    <a:pt x="141491" y="43212"/>
                  </a:lnTo>
                  <a:lnTo>
                    <a:pt x="125709" y="20722"/>
                  </a:lnTo>
                  <a:lnTo>
                    <a:pt x="102302" y="5560"/>
                  </a:lnTo>
                  <a:lnTo>
                    <a:pt x="73638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530539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147279" y="70753"/>
                  </a:moveTo>
                  <a:lnTo>
                    <a:pt x="141492" y="98293"/>
                  </a:lnTo>
                  <a:lnTo>
                    <a:pt x="125710" y="120782"/>
                  </a:lnTo>
                  <a:lnTo>
                    <a:pt x="102303" y="135945"/>
                  </a:lnTo>
                  <a:lnTo>
                    <a:pt x="73639" y="141506"/>
                  </a:lnTo>
                  <a:lnTo>
                    <a:pt x="44975" y="135945"/>
                  </a:lnTo>
                  <a:lnTo>
                    <a:pt x="21568" y="120782"/>
                  </a:lnTo>
                  <a:lnTo>
                    <a:pt x="5786" y="98293"/>
                  </a:lnTo>
                  <a:lnTo>
                    <a:pt x="0" y="70753"/>
                  </a:lnTo>
                  <a:lnTo>
                    <a:pt x="5786" y="43212"/>
                  </a:lnTo>
                  <a:lnTo>
                    <a:pt x="21568" y="20723"/>
                  </a:lnTo>
                  <a:lnTo>
                    <a:pt x="44975" y="5560"/>
                  </a:lnTo>
                  <a:lnTo>
                    <a:pt x="73639" y="0"/>
                  </a:lnTo>
                  <a:lnTo>
                    <a:pt x="102303" y="5560"/>
                  </a:lnTo>
                  <a:lnTo>
                    <a:pt x="125710" y="20723"/>
                  </a:lnTo>
                  <a:lnTo>
                    <a:pt x="141492" y="43212"/>
                  </a:lnTo>
                  <a:lnTo>
                    <a:pt x="147279" y="70753"/>
                  </a:lnTo>
                  <a:close/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0352050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73639" y="0"/>
                  </a:moveTo>
                  <a:lnTo>
                    <a:pt x="44975" y="5560"/>
                  </a:lnTo>
                  <a:lnTo>
                    <a:pt x="21568" y="20722"/>
                  </a:lnTo>
                  <a:lnTo>
                    <a:pt x="5786" y="43212"/>
                  </a:lnTo>
                  <a:lnTo>
                    <a:pt x="0" y="70752"/>
                  </a:lnTo>
                  <a:lnTo>
                    <a:pt x="5786" y="98293"/>
                  </a:lnTo>
                  <a:lnTo>
                    <a:pt x="21568" y="120782"/>
                  </a:lnTo>
                  <a:lnTo>
                    <a:pt x="44975" y="135945"/>
                  </a:lnTo>
                  <a:lnTo>
                    <a:pt x="73639" y="141505"/>
                  </a:lnTo>
                  <a:lnTo>
                    <a:pt x="102303" y="135945"/>
                  </a:lnTo>
                  <a:lnTo>
                    <a:pt x="125710" y="120782"/>
                  </a:lnTo>
                  <a:lnTo>
                    <a:pt x="141492" y="98293"/>
                  </a:lnTo>
                  <a:lnTo>
                    <a:pt x="147279" y="70752"/>
                  </a:lnTo>
                  <a:lnTo>
                    <a:pt x="141492" y="43212"/>
                  </a:lnTo>
                  <a:lnTo>
                    <a:pt x="125710" y="20722"/>
                  </a:lnTo>
                  <a:lnTo>
                    <a:pt x="102303" y="5560"/>
                  </a:lnTo>
                  <a:lnTo>
                    <a:pt x="73639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0352050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147279" y="70753"/>
                  </a:moveTo>
                  <a:lnTo>
                    <a:pt x="141492" y="98293"/>
                  </a:lnTo>
                  <a:lnTo>
                    <a:pt x="125710" y="120782"/>
                  </a:lnTo>
                  <a:lnTo>
                    <a:pt x="102303" y="135945"/>
                  </a:lnTo>
                  <a:lnTo>
                    <a:pt x="73639" y="141506"/>
                  </a:lnTo>
                  <a:lnTo>
                    <a:pt x="44975" y="135945"/>
                  </a:lnTo>
                  <a:lnTo>
                    <a:pt x="21568" y="120782"/>
                  </a:lnTo>
                  <a:lnTo>
                    <a:pt x="5786" y="98293"/>
                  </a:lnTo>
                  <a:lnTo>
                    <a:pt x="0" y="70753"/>
                  </a:lnTo>
                  <a:lnTo>
                    <a:pt x="5786" y="43212"/>
                  </a:lnTo>
                  <a:lnTo>
                    <a:pt x="21568" y="20723"/>
                  </a:lnTo>
                  <a:lnTo>
                    <a:pt x="44975" y="5560"/>
                  </a:lnTo>
                  <a:lnTo>
                    <a:pt x="73639" y="0"/>
                  </a:lnTo>
                  <a:lnTo>
                    <a:pt x="102303" y="5560"/>
                  </a:lnTo>
                  <a:lnTo>
                    <a:pt x="125710" y="20723"/>
                  </a:lnTo>
                  <a:lnTo>
                    <a:pt x="141492" y="43212"/>
                  </a:lnTo>
                  <a:lnTo>
                    <a:pt x="147279" y="70753"/>
                  </a:lnTo>
                  <a:close/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0169496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73639" y="0"/>
                  </a:moveTo>
                  <a:lnTo>
                    <a:pt x="44975" y="5560"/>
                  </a:lnTo>
                  <a:lnTo>
                    <a:pt x="21568" y="20722"/>
                  </a:lnTo>
                  <a:lnTo>
                    <a:pt x="5786" y="43212"/>
                  </a:lnTo>
                  <a:lnTo>
                    <a:pt x="0" y="70752"/>
                  </a:lnTo>
                  <a:lnTo>
                    <a:pt x="5786" y="98293"/>
                  </a:lnTo>
                  <a:lnTo>
                    <a:pt x="21568" y="120782"/>
                  </a:lnTo>
                  <a:lnTo>
                    <a:pt x="44975" y="135945"/>
                  </a:lnTo>
                  <a:lnTo>
                    <a:pt x="73639" y="141505"/>
                  </a:lnTo>
                  <a:lnTo>
                    <a:pt x="102303" y="135945"/>
                  </a:lnTo>
                  <a:lnTo>
                    <a:pt x="125710" y="120782"/>
                  </a:lnTo>
                  <a:lnTo>
                    <a:pt x="141492" y="98293"/>
                  </a:lnTo>
                  <a:lnTo>
                    <a:pt x="147279" y="70752"/>
                  </a:lnTo>
                  <a:lnTo>
                    <a:pt x="141492" y="43212"/>
                  </a:lnTo>
                  <a:lnTo>
                    <a:pt x="125710" y="20722"/>
                  </a:lnTo>
                  <a:lnTo>
                    <a:pt x="102303" y="5560"/>
                  </a:lnTo>
                  <a:lnTo>
                    <a:pt x="73639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0169497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147279" y="70753"/>
                  </a:moveTo>
                  <a:lnTo>
                    <a:pt x="141492" y="98293"/>
                  </a:lnTo>
                  <a:lnTo>
                    <a:pt x="125710" y="120782"/>
                  </a:lnTo>
                  <a:lnTo>
                    <a:pt x="102303" y="135945"/>
                  </a:lnTo>
                  <a:lnTo>
                    <a:pt x="73639" y="141506"/>
                  </a:lnTo>
                  <a:lnTo>
                    <a:pt x="44975" y="135945"/>
                  </a:lnTo>
                  <a:lnTo>
                    <a:pt x="21568" y="120782"/>
                  </a:lnTo>
                  <a:lnTo>
                    <a:pt x="5786" y="98293"/>
                  </a:lnTo>
                  <a:lnTo>
                    <a:pt x="0" y="70753"/>
                  </a:lnTo>
                  <a:lnTo>
                    <a:pt x="5786" y="43212"/>
                  </a:lnTo>
                  <a:lnTo>
                    <a:pt x="21568" y="20723"/>
                  </a:lnTo>
                  <a:lnTo>
                    <a:pt x="44975" y="5560"/>
                  </a:lnTo>
                  <a:lnTo>
                    <a:pt x="73639" y="0"/>
                  </a:lnTo>
                  <a:lnTo>
                    <a:pt x="102303" y="5560"/>
                  </a:lnTo>
                  <a:lnTo>
                    <a:pt x="125710" y="20723"/>
                  </a:lnTo>
                  <a:lnTo>
                    <a:pt x="141492" y="43212"/>
                  </a:lnTo>
                  <a:lnTo>
                    <a:pt x="147279" y="70753"/>
                  </a:lnTo>
                  <a:close/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72976" y="4210163"/>
              <a:ext cx="166329" cy="160556"/>
            </a:xfrm>
            <a:prstGeom prst="rect">
              <a:avLst/>
            </a:prstGeom>
          </p:spPr>
        </p:pic>
      </p:grpSp>
      <p:sp>
        <p:nvSpPr>
          <p:cNvPr id="69" name="object 69"/>
          <p:cNvSpPr/>
          <p:nvPr/>
        </p:nvSpPr>
        <p:spPr>
          <a:xfrm>
            <a:off x="7682352" y="2753680"/>
            <a:ext cx="247174" cy="322421"/>
          </a:xfrm>
          <a:custGeom>
            <a:avLst/>
            <a:gdLst/>
            <a:ahLst/>
            <a:cxnLst/>
            <a:rect l="l" t="t" r="r" b="b"/>
            <a:pathLst>
              <a:path w="329565" h="429895">
                <a:moveTo>
                  <a:pt x="164741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429376"/>
                </a:lnTo>
                <a:lnTo>
                  <a:pt x="210167" y="429376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7711206" y="2322195"/>
            <a:ext cx="132874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38" dirty="0">
                <a:latin typeface="Cambria Math"/>
                <a:cs typeface="Cambria Math"/>
              </a:rPr>
              <a:t>𝑒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817602" y="2425065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065698" y="2349627"/>
            <a:ext cx="31861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solidFill>
                  <a:srgbClr val="548235"/>
                </a:solidFill>
                <a:latin typeface="Cambria Math"/>
                <a:cs typeface="Cambria Math"/>
              </a:rPr>
              <a:t>0.9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87704" y="834555"/>
            <a:ext cx="7836694" cy="884153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45" dirty="0">
                <a:solidFill>
                  <a:srgbClr val="C00000"/>
                </a:solidFill>
                <a:latin typeface="Tahoma"/>
                <a:cs typeface="Tahoma"/>
              </a:rPr>
              <a:t>Q:</a:t>
            </a:r>
            <a:r>
              <a:rPr sz="1463" spc="8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463" spc="49" dirty="0">
                <a:latin typeface="Tahoma"/>
                <a:cs typeface="Tahoma"/>
              </a:rPr>
              <a:t>How</a:t>
            </a:r>
            <a:r>
              <a:rPr sz="1463" spc="4" dirty="0">
                <a:latin typeface="Tahoma"/>
                <a:cs typeface="Tahoma"/>
              </a:rPr>
              <a:t> </a:t>
            </a:r>
            <a:r>
              <a:rPr sz="1463" spc="94" dirty="0">
                <a:latin typeface="Tahoma"/>
                <a:cs typeface="Tahoma"/>
              </a:rPr>
              <a:t>do</a:t>
            </a:r>
            <a:r>
              <a:rPr sz="1463" dirty="0">
                <a:latin typeface="Tahoma"/>
                <a:cs typeface="Tahoma"/>
              </a:rPr>
              <a:t> we</a:t>
            </a:r>
            <a:r>
              <a:rPr sz="1463" spc="-4" dirty="0">
                <a:latin typeface="Tahoma"/>
                <a:cs typeface="Tahoma"/>
              </a:rPr>
              <a:t> </a:t>
            </a:r>
            <a:r>
              <a:rPr sz="1463" spc="38" dirty="0">
                <a:latin typeface="Tahoma"/>
                <a:cs typeface="Tahoma"/>
              </a:rPr>
              <a:t>determine</a:t>
            </a:r>
            <a:r>
              <a:rPr sz="1463" dirty="0">
                <a:latin typeface="Tahoma"/>
                <a:cs typeface="Tahoma"/>
              </a:rPr>
              <a:t> how</a:t>
            </a:r>
            <a:r>
              <a:rPr sz="1463" spc="4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much </a:t>
            </a:r>
            <a:r>
              <a:rPr sz="1463" spc="45" dirty="0">
                <a:latin typeface="Tahoma"/>
                <a:cs typeface="Tahoma"/>
              </a:rPr>
              <a:t>to</a:t>
            </a:r>
            <a:r>
              <a:rPr sz="1463" dirty="0">
                <a:latin typeface="Tahoma"/>
                <a:cs typeface="Tahoma"/>
              </a:rPr>
              <a:t> pay attention </a:t>
            </a:r>
            <a:r>
              <a:rPr sz="1463" spc="45" dirty="0">
                <a:latin typeface="Tahoma"/>
                <a:cs typeface="Tahoma"/>
              </a:rPr>
              <a:t>to</a:t>
            </a:r>
            <a:r>
              <a:rPr sz="1463" spc="-4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each of</a:t>
            </a:r>
            <a:r>
              <a:rPr sz="1463" spc="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the encoder’s </a:t>
            </a:r>
            <a:r>
              <a:rPr sz="1463" spc="53" dirty="0">
                <a:latin typeface="Tahoma"/>
                <a:cs typeface="Tahoma"/>
              </a:rPr>
              <a:t>hidden</a:t>
            </a:r>
            <a:r>
              <a:rPr sz="1463" dirty="0">
                <a:latin typeface="Tahoma"/>
                <a:cs typeface="Tahoma"/>
              </a:rPr>
              <a:t> </a:t>
            </a:r>
            <a:r>
              <a:rPr sz="1463" spc="-8" dirty="0">
                <a:latin typeface="Tahoma"/>
                <a:cs typeface="Tahoma"/>
              </a:rPr>
              <a:t>layers?</a:t>
            </a:r>
            <a:endParaRPr sz="1463">
              <a:latin typeface="Tahoma"/>
              <a:cs typeface="Tahoma"/>
            </a:endParaRPr>
          </a:p>
          <a:p>
            <a:pPr marL="9525" marR="3810">
              <a:lnSpc>
                <a:spcPct val="119000"/>
              </a:lnSpc>
              <a:spcBef>
                <a:spcPts val="1080"/>
              </a:spcBef>
            </a:pPr>
            <a:r>
              <a:rPr sz="1463" dirty="0">
                <a:solidFill>
                  <a:srgbClr val="C00000"/>
                </a:solidFill>
                <a:latin typeface="Tahoma"/>
                <a:cs typeface="Tahoma"/>
              </a:rPr>
              <a:t>A:</a:t>
            </a:r>
            <a:r>
              <a:rPr sz="1463" spc="-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Let’s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base</a:t>
            </a:r>
            <a:r>
              <a:rPr sz="1463" spc="-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it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spc="49" dirty="0">
                <a:latin typeface="Tahoma"/>
                <a:cs typeface="Tahoma"/>
              </a:rPr>
              <a:t>on</a:t>
            </a:r>
            <a:r>
              <a:rPr sz="1463" spc="-4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our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spc="34" dirty="0">
                <a:latin typeface="Tahoma"/>
                <a:cs typeface="Tahoma"/>
              </a:rPr>
              <a:t>decoder’s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current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spc="53" dirty="0">
                <a:latin typeface="Tahoma"/>
                <a:cs typeface="Tahoma"/>
              </a:rPr>
              <a:t>hidden</a:t>
            </a:r>
            <a:r>
              <a:rPr sz="1463" spc="-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state</a:t>
            </a:r>
            <a:r>
              <a:rPr sz="1463" spc="-8" dirty="0">
                <a:latin typeface="Tahoma"/>
                <a:cs typeface="Tahoma"/>
              </a:rPr>
              <a:t> </a:t>
            </a:r>
            <a:r>
              <a:rPr sz="1463" spc="-19" dirty="0">
                <a:latin typeface="Tahoma"/>
                <a:cs typeface="Tahoma"/>
              </a:rPr>
              <a:t>(our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current</a:t>
            </a:r>
            <a:r>
              <a:rPr sz="1463" spc="-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representation</a:t>
            </a:r>
            <a:r>
              <a:rPr sz="1463" spc="-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of</a:t>
            </a:r>
            <a:r>
              <a:rPr sz="1463" spc="-4" dirty="0">
                <a:latin typeface="Tahoma"/>
                <a:cs typeface="Tahoma"/>
              </a:rPr>
              <a:t> </a:t>
            </a:r>
            <a:r>
              <a:rPr sz="1463" spc="-8" dirty="0">
                <a:latin typeface="Tahoma"/>
                <a:cs typeface="Tahoma"/>
              </a:rPr>
              <a:t>meaning) </a:t>
            </a:r>
            <a:r>
              <a:rPr sz="1463" spc="38" dirty="0">
                <a:latin typeface="Tahoma"/>
                <a:cs typeface="Tahoma"/>
              </a:rPr>
              <a:t>and</a:t>
            </a:r>
            <a:r>
              <a:rPr sz="1463" spc="4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all</a:t>
            </a:r>
            <a:r>
              <a:rPr sz="1463" spc="11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of</a:t>
            </a:r>
            <a:r>
              <a:rPr sz="1463" spc="11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the</a:t>
            </a:r>
            <a:r>
              <a:rPr sz="1463" spc="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encoder’s</a:t>
            </a:r>
            <a:r>
              <a:rPr sz="1463" spc="4" dirty="0">
                <a:latin typeface="Tahoma"/>
                <a:cs typeface="Tahoma"/>
              </a:rPr>
              <a:t> </a:t>
            </a:r>
            <a:r>
              <a:rPr sz="1463" spc="53" dirty="0">
                <a:latin typeface="Tahoma"/>
                <a:cs typeface="Tahoma"/>
              </a:rPr>
              <a:t>hidden</a:t>
            </a:r>
            <a:r>
              <a:rPr sz="1463" spc="8" dirty="0">
                <a:latin typeface="Tahoma"/>
                <a:cs typeface="Tahoma"/>
              </a:rPr>
              <a:t> </a:t>
            </a:r>
            <a:r>
              <a:rPr sz="1463" spc="-8" dirty="0">
                <a:latin typeface="Tahoma"/>
                <a:cs typeface="Tahoma"/>
              </a:rPr>
              <a:t>layers!</a:t>
            </a:r>
            <a:endParaRPr sz="1463">
              <a:latin typeface="Tahoma"/>
              <a:cs typeface="Tahoma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134611" y="378946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7381825" y="3690904"/>
            <a:ext cx="260033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718"/>
              </a:lnSpc>
            </a:pPr>
            <a:r>
              <a:rPr sz="2700" spc="-28" baseline="-20833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992750" y="3690904"/>
            <a:ext cx="273368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718"/>
              </a:lnSpc>
            </a:pPr>
            <a:r>
              <a:rPr sz="2700" spc="-28" baseline="-20833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1350" spc="-19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484887" y="3830350"/>
            <a:ext cx="166211" cy="208711"/>
          </a:xfrm>
          <a:prstGeom prst="rect">
            <a:avLst/>
          </a:prstGeom>
        </p:spPr>
        <p:txBody>
          <a:bodyPr vert="horz" wrap="square" lIns="0" tIns="953" rIns="0" bIns="0" rtlCol="0">
            <a:spAutoFit/>
          </a:bodyPr>
          <a:lstStyle/>
          <a:p>
            <a:pPr marL="28575">
              <a:spcBef>
                <a:spcPts val="8"/>
              </a:spcBef>
            </a:pP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114860" y="3830350"/>
            <a:ext cx="118586" cy="208711"/>
          </a:xfrm>
          <a:prstGeom prst="rect">
            <a:avLst/>
          </a:prstGeom>
        </p:spPr>
        <p:txBody>
          <a:bodyPr vert="horz" wrap="square" lIns="0" tIns="953" rIns="0" bIns="0" rtlCol="0">
            <a:spAutoFit/>
          </a:bodyPr>
          <a:lstStyle/>
          <a:p>
            <a:pPr marL="9525">
              <a:spcBef>
                <a:spcPts val="8"/>
              </a:spcBef>
            </a:pP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165509" y="4144683"/>
            <a:ext cx="1336358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dirty="0">
                <a:solidFill>
                  <a:srgbClr val="C00000"/>
                </a:solidFill>
                <a:latin typeface="Tahoma"/>
                <a:cs typeface="Tahoma"/>
              </a:rPr>
              <a:t>Separate</a:t>
            </a:r>
            <a:r>
              <a:rPr sz="1463" spc="172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463" spc="113" dirty="0">
                <a:solidFill>
                  <a:srgbClr val="C00000"/>
                </a:solidFill>
                <a:latin typeface="Tahoma"/>
                <a:cs typeface="Tahoma"/>
              </a:rPr>
              <a:t>FFNN</a:t>
            </a:r>
            <a:endParaRPr sz="1463">
              <a:latin typeface="Tahoma"/>
              <a:cs typeface="Tahom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7224" y="4238985"/>
            <a:ext cx="82534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dirty="0">
                <a:solidFill>
                  <a:srgbClr val="262626"/>
                </a:solidFill>
                <a:latin typeface="Tahoma"/>
                <a:cs typeface="Tahoma"/>
              </a:rPr>
              <a:t>Input</a:t>
            </a:r>
            <a:r>
              <a:rPr sz="1313" spc="-64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8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632730" y="4247008"/>
            <a:ext cx="40481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352676" y="4247008"/>
            <a:ext cx="65436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240736" y="4258437"/>
            <a:ext cx="433864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128790" y="4267582"/>
            <a:ext cx="34194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097587" y="4140778"/>
            <a:ext cx="1586865" cy="6399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&lt;s&gt;</a:t>
            </a:r>
            <a:endParaRPr dirty="0">
              <a:latin typeface="Tahoma"/>
              <a:cs typeface="Tahoma"/>
            </a:endParaRPr>
          </a:p>
          <a:p>
            <a:pPr marL="199073">
              <a:spcBef>
                <a:spcPts val="1020"/>
              </a:spcBef>
            </a:pPr>
            <a:r>
              <a:rPr sz="1463" spc="101" dirty="0">
                <a:solidFill>
                  <a:srgbClr val="7030A0"/>
                </a:solidFill>
                <a:latin typeface="Tahoma"/>
                <a:cs typeface="Tahoma"/>
              </a:rPr>
              <a:t>DECODER</a:t>
            </a:r>
            <a:r>
              <a:rPr sz="1463" spc="-41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 dirty="0">
              <a:latin typeface="Tahoma"/>
              <a:cs typeface="Tahom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152381" y="4545054"/>
            <a:ext cx="1403509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113" dirty="0">
                <a:solidFill>
                  <a:srgbClr val="7030A0"/>
                </a:solidFill>
                <a:latin typeface="Tahoma"/>
                <a:cs typeface="Tahoma"/>
              </a:rPr>
              <a:t>ENCODER</a:t>
            </a:r>
            <a:r>
              <a:rPr sz="1463" spc="-60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7854" y="578611"/>
            <a:ext cx="4856321" cy="98108"/>
          </a:xfrm>
          <a:custGeom>
            <a:avLst/>
            <a:gdLst/>
            <a:ahLst/>
            <a:cxnLst/>
            <a:rect l="l" t="t" r="r" b="b"/>
            <a:pathLst>
              <a:path w="6475095" h="130809">
                <a:moveTo>
                  <a:pt x="6474895" y="0"/>
                </a:moveTo>
                <a:lnTo>
                  <a:pt x="0" y="0"/>
                </a:lnTo>
                <a:lnTo>
                  <a:pt x="0" y="130218"/>
                </a:lnTo>
                <a:lnTo>
                  <a:pt x="6474895" y="130218"/>
                </a:lnTo>
                <a:lnTo>
                  <a:pt x="647489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34" dirty="0"/>
              <a:t>seq2seq</a:t>
            </a:r>
            <a:r>
              <a:rPr spc="-68" dirty="0"/>
              <a:t> </a:t>
            </a:r>
            <a:r>
              <a:rPr spc="-143" dirty="0"/>
              <a:t>+</a:t>
            </a:r>
            <a:r>
              <a:rPr spc="-68" dirty="0"/>
              <a:t> </a:t>
            </a:r>
            <a:r>
              <a:rPr spc="-8" dirty="0"/>
              <a:t>Attention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6450" y="2988543"/>
            <a:ext cx="99298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spc="60" dirty="0">
                <a:solidFill>
                  <a:srgbClr val="262626"/>
                </a:solidFill>
                <a:latin typeface="Tahoma"/>
                <a:cs typeface="Tahoma"/>
              </a:rPr>
              <a:t>Hidden</a:t>
            </a:r>
            <a:r>
              <a:rPr sz="1313" spc="-41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15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50551" y="2662962"/>
            <a:ext cx="262414" cy="1052036"/>
            <a:chOff x="2334067" y="3550615"/>
            <a:chExt cx="349885" cy="1402715"/>
          </a:xfrm>
        </p:grpSpPr>
        <p:sp>
          <p:nvSpPr>
            <p:cNvPr id="6" name="object 6"/>
            <p:cNvSpPr/>
            <p:nvPr/>
          </p:nvSpPr>
          <p:spPr>
            <a:xfrm>
              <a:off x="235311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6859" y="4636615"/>
              <a:ext cx="222250" cy="222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390355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144096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3892228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914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75721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7115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2" y="0"/>
                </a:moveTo>
                <a:lnTo>
                  <a:pt x="338042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2" y="210167"/>
                </a:lnTo>
                <a:lnTo>
                  <a:pt x="338042" y="329483"/>
                </a:lnTo>
                <a:lnTo>
                  <a:pt x="567437" y="164741"/>
                </a:lnTo>
                <a:lnTo>
                  <a:pt x="33804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2562171" y="2662962"/>
            <a:ext cx="262414" cy="1052036"/>
            <a:chOff x="3416227" y="3550615"/>
            <a:chExt cx="349885" cy="1402715"/>
          </a:xfrm>
        </p:grpSpPr>
        <p:sp>
          <p:nvSpPr>
            <p:cNvPr id="15" name="object 15"/>
            <p:cNvSpPr/>
            <p:nvPr/>
          </p:nvSpPr>
          <p:spPr>
            <a:xfrm>
              <a:off x="343527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9021" y="4636615"/>
              <a:ext cx="222250" cy="2222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390355"/>
              <a:ext cx="222250" cy="2222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144096"/>
              <a:ext cx="222250" cy="2222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3892228"/>
              <a:ext cx="222250" cy="2222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130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2568838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0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82777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3353240" y="2662962"/>
            <a:ext cx="262414" cy="1052036"/>
            <a:chOff x="4470986" y="3550615"/>
            <a:chExt cx="349885" cy="1402715"/>
          </a:xfrm>
        </p:grpSpPr>
        <p:sp>
          <p:nvSpPr>
            <p:cNvPr id="24" name="object 24"/>
            <p:cNvSpPr/>
            <p:nvPr/>
          </p:nvSpPr>
          <p:spPr>
            <a:xfrm>
              <a:off x="4490036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3779" y="4636615"/>
              <a:ext cx="222250" cy="2222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390355"/>
              <a:ext cx="222250" cy="2222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144096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3892228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606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335990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67384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4169424" y="2662962"/>
            <a:ext cx="262414" cy="1052036"/>
            <a:chOff x="5559231" y="3550615"/>
            <a:chExt cx="349885" cy="1402715"/>
          </a:xfrm>
        </p:grpSpPr>
        <p:sp>
          <p:nvSpPr>
            <p:cNvPr id="33" name="object 33"/>
            <p:cNvSpPr/>
            <p:nvPr/>
          </p:nvSpPr>
          <p:spPr>
            <a:xfrm>
              <a:off x="5578281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2024" y="4636613"/>
              <a:ext cx="222250" cy="22225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390354"/>
              <a:ext cx="222250" cy="2222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144096"/>
              <a:ext cx="222250" cy="22225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3892227"/>
              <a:ext cx="222250" cy="22225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430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39" name="object 39"/>
          <p:cNvSpPr/>
          <p:nvPr/>
        </p:nvSpPr>
        <p:spPr>
          <a:xfrm>
            <a:off x="4176090" y="378961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881073" y="241134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39911" y="2214753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662144" y="2429637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15697" y="2233042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496597" y="2429637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3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350149" y="2233042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305232" y="242049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158784" y="2226184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127729" y="2662962"/>
            <a:ext cx="262414" cy="1052036"/>
            <a:chOff x="6836972" y="3550615"/>
            <a:chExt cx="349885" cy="1402715"/>
          </a:xfrm>
        </p:grpSpPr>
        <p:sp>
          <p:nvSpPr>
            <p:cNvPr id="49" name="object 49"/>
            <p:cNvSpPr/>
            <p:nvPr/>
          </p:nvSpPr>
          <p:spPr>
            <a:xfrm>
              <a:off x="6856022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9765" y="4636613"/>
              <a:ext cx="222250" cy="22225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390354"/>
              <a:ext cx="222250" cy="22225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144096"/>
              <a:ext cx="222250" cy="22225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3892227"/>
              <a:ext cx="222250" cy="22225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0204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5238748" y="240906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097587" y="2214753"/>
            <a:ext cx="31146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1350" spc="-19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87704" y="834555"/>
            <a:ext cx="7836694" cy="884153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45" dirty="0">
                <a:solidFill>
                  <a:srgbClr val="C00000"/>
                </a:solidFill>
                <a:latin typeface="Tahoma"/>
                <a:cs typeface="Tahoma"/>
              </a:rPr>
              <a:t>Q:</a:t>
            </a:r>
            <a:r>
              <a:rPr sz="1463" spc="8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463" spc="49" dirty="0">
                <a:latin typeface="Tahoma"/>
                <a:cs typeface="Tahoma"/>
              </a:rPr>
              <a:t>How</a:t>
            </a:r>
            <a:r>
              <a:rPr sz="1463" spc="4" dirty="0">
                <a:latin typeface="Tahoma"/>
                <a:cs typeface="Tahoma"/>
              </a:rPr>
              <a:t> </a:t>
            </a:r>
            <a:r>
              <a:rPr sz="1463" spc="94" dirty="0">
                <a:latin typeface="Tahoma"/>
                <a:cs typeface="Tahoma"/>
              </a:rPr>
              <a:t>do</a:t>
            </a:r>
            <a:r>
              <a:rPr sz="1463" dirty="0">
                <a:latin typeface="Tahoma"/>
                <a:cs typeface="Tahoma"/>
              </a:rPr>
              <a:t> we</a:t>
            </a:r>
            <a:r>
              <a:rPr sz="1463" spc="-4" dirty="0">
                <a:latin typeface="Tahoma"/>
                <a:cs typeface="Tahoma"/>
              </a:rPr>
              <a:t> </a:t>
            </a:r>
            <a:r>
              <a:rPr sz="1463" spc="38" dirty="0">
                <a:latin typeface="Tahoma"/>
                <a:cs typeface="Tahoma"/>
              </a:rPr>
              <a:t>determine</a:t>
            </a:r>
            <a:r>
              <a:rPr sz="1463" dirty="0">
                <a:latin typeface="Tahoma"/>
                <a:cs typeface="Tahoma"/>
              </a:rPr>
              <a:t> how</a:t>
            </a:r>
            <a:r>
              <a:rPr sz="1463" spc="4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much </a:t>
            </a:r>
            <a:r>
              <a:rPr sz="1463" spc="45" dirty="0">
                <a:latin typeface="Tahoma"/>
                <a:cs typeface="Tahoma"/>
              </a:rPr>
              <a:t>to</a:t>
            </a:r>
            <a:r>
              <a:rPr sz="1463" dirty="0">
                <a:latin typeface="Tahoma"/>
                <a:cs typeface="Tahoma"/>
              </a:rPr>
              <a:t> pay attention </a:t>
            </a:r>
            <a:r>
              <a:rPr sz="1463" spc="45" dirty="0">
                <a:latin typeface="Tahoma"/>
                <a:cs typeface="Tahoma"/>
              </a:rPr>
              <a:t>to</a:t>
            </a:r>
            <a:r>
              <a:rPr sz="1463" spc="-4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each of</a:t>
            </a:r>
            <a:r>
              <a:rPr sz="1463" spc="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the encoder’s </a:t>
            </a:r>
            <a:r>
              <a:rPr sz="1463" spc="53" dirty="0">
                <a:latin typeface="Tahoma"/>
                <a:cs typeface="Tahoma"/>
              </a:rPr>
              <a:t>hidden</a:t>
            </a:r>
            <a:r>
              <a:rPr sz="1463" dirty="0">
                <a:latin typeface="Tahoma"/>
                <a:cs typeface="Tahoma"/>
              </a:rPr>
              <a:t> </a:t>
            </a:r>
            <a:r>
              <a:rPr sz="1463" spc="-8" dirty="0">
                <a:latin typeface="Tahoma"/>
                <a:cs typeface="Tahoma"/>
              </a:rPr>
              <a:t>layers?</a:t>
            </a:r>
            <a:endParaRPr sz="1463">
              <a:latin typeface="Tahoma"/>
              <a:cs typeface="Tahoma"/>
            </a:endParaRPr>
          </a:p>
          <a:p>
            <a:pPr marL="9525" marR="3810">
              <a:lnSpc>
                <a:spcPct val="119000"/>
              </a:lnSpc>
              <a:spcBef>
                <a:spcPts val="1080"/>
              </a:spcBef>
            </a:pPr>
            <a:r>
              <a:rPr sz="1463" dirty="0">
                <a:solidFill>
                  <a:srgbClr val="C00000"/>
                </a:solidFill>
                <a:latin typeface="Tahoma"/>
                <a:cs typeface="Tahoma"/>
              </a:rPr>
              <a:t>A:</a:t>
            </a:r>
            <a:r>
              <a:rPr sz="1463" spc="-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Let’s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base</a:t>
            </a:r>
            <a:r>
              <a:rPr sz="1463" spc="-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it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spc="49" dirty="0">
                <a:latin typeface="Tahoma"/>
                <a:cs typeface="Tahoma"/>
              </a:rPr>
              <a:t>on</a:t>
            </a:r>
            <a:r>
              <a:rPr sz="1463" spc="-4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our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spc="34" dirty="0">
                <a:latin typeface="Tahoma"/>
                <a:cs typeface="Tahoma"/>
              </a:rPr>
              <a:t>decoder’s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current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spc="53" dirty="0">
                <a:latin typeface="Tahoma"/>
                <a:cs typeface="Tahoma"/>
              </a:rPr>
              <a:t>hidden</a:t>
            </a:r>
            <a:r>
              <a:rPr sz="1463" spc="-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state</a:t>
            </a:r>
            <a:r>
              <a:rPr sz="1463" spc="-8" dirty="0">
                <a:latin typeface="Tahoma"/>
                <a:cs typeface="Tahoma"/>
              </a:rPr>
              <a:t> </a:t>
            </a:r>
            <a:r>
              <a:rPr sz="1463" spc="-19" dirty="0">
                <a:latin typeface="Tahoma"/>
                <a:cs typeface="Tahoma"/>
              </a:rPr>
              <a:t>(our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current</a:t>
            </a:r>
            <a:r>
              <a:rPr sz="1463" spc="-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representation</a:t>
            </a:r>
            <a:r>
              <a:rPr sz="1463" spc="-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of</a:t>
            </a:r>
            <a:r>
              <a:rPr sz="1463" spc="-4" dirty="0">
                <a:latin typeface="Tahoma"/>
                <a:cs typeface="Tahoma"/>
              </a:rPr>
              <a:t> </a:t>
            </a:r>
            <a:r>
              <a:rPr sz="1463" spc="-8" dirty="0">
                <a:latin typeface="Tahoma"/>
                <a:cs typeface="Tahoma"/>
              </a:rPr>
              <a:t>meaning) </a:t>
            </a:r>
            <a:r>
              <a:rPr sz="1463" spc="38" dirty="0">
                <a:latin typeface="Tahoma"/>
                <a:cs typeface="Tahoma"/>
              </a:rPr>
              <a:t>and</a:t>
            </a:r>
            <a:r>
              <a:rPr sz="1463" spc="4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all</a:t>
            </a:r>
            <a:r>
              <a:rPr sz="1463" spc="11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of</a:t>
            </a:r>
            <a:r>
              <a:rPr sz="1463" spc="11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the</a:t>
            </a:r>
            <a:r>
              <a:rPr sz="1463" spc="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encoder’s</a:t>
            </a:r>
            <a:r>
              <a:rPr sz="1463" spc="4" dirty="0">
                <a:latin typeface="Tahoma"/>
                <a:cs typeface="Tahoma"/>
              </a:rPr>
              <a:t> </a:t>
            </a:r>
            <a:r>
              <a:rPr sz="1463" spc="53" dirty="0">
                <a:latin typeface="Tahoma"/>
                <a:cs typeface="Tahoma"/>
              </a:rPr>
              <a:t>hidden</a:t>
            </a:r>
            <a:r>
              <a:rPr sz="1463" spc="8" dirty="0">
                <a:latin typeface="Tahoma"/>
                <a:cs typeface="Tahoma"/>
              </a:rPr>
              <a:t> </a:t>
            </a:r>
            <a:r>
              <a:rPr sz="1463" spc="-8" dirty="0">
                <a:latin typeface="Tahoma"/>
                <a:cs typeface="Tahoma"/>
              </a:rPr>
              <a:t>layers!</a:t>
            </a:r>
            <a:endParaRPr sz="1463">
              <a:latin typeface="Tahoma"/>
              <a:cs typeface="Tahom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7432312" y="3122998"/>
            <a:ext cx="770573" cy="587216"/>
            <a:chOff x="9909750" y="4163996"/>
            <a:chExt cx="1027430" cy="782955"/>
          </a:xfrm>
        </p:grpSpPr>
        <p:sp>
          <p:nvSpPr>
            <p:cNvPr id="59" name="object 59"/>
            <p:cNvSpPr/>
            <p:nvPr/>
          </p:nvSpPr>
          <p:spPr>
            <a:xfrm>
              <a:off x="9960521" y="4435513"/>
              <a:ext cx="909955" cy="511175"/>
            </a:xfrm>
            <a:custGeom>
              <a:avLst/>
              <a:gdLst/>
              <a:ahLst/>
              <a:cxnLst/>
              <a:rect l="l" t="t" r="r" b="b"/>
              <a:pathLst>
                <a:path w="909954" h="511175">
                  <a:moveTo>
                    <a:pt x="360159" y="286321"/>
                  </a:moveTo>
                  <a:lnTo>
                    <a:pt x="346595" y="4229"/>
                  </a:lnTo>
                  <a:lnTo>
                    <a:pt x="83616" y="107213"/>
                  </a:lnTo>
                  <a:lnTo>
                    <a:pt x="183756" y="172072"/>
                  </a:lnTo>
                  <a:lnTo>
                    <a:pt x="0" y="455803"/>
                  </a:lnTo>
                  <a:lnTo>
                    <a:pt x="76250" y="505193"/>
                  </a:lnTo>
                  <a:lnTo>
                    <a:pt x="260019" y="221462"/>
                  </a:lnTo>
                  <a:lnTo>
                    <a:pt x="360159" y="286321"/>
                  </a:lnTo>
                  <a:close/>
                </a:path>
                <a:path w="909954" h="511175">
                  <a:moveTo>
                    <a:pt x="909472" y="464591"/>
                  </a:moveTo>
                  <a:lnTo>
                    <a:pt x="736777" y="173990"/>
                  </a:lnTo>
                  <a:lnTo>
                    <a:pt x="839343" y="113030"/>
                  </a:lnTo>
                  <a:lnTo>
                    <a:pt x="580542" y="0"/>
                  </a:lnTo>
                  <a:lnTo>
                    <a:pt x="556107" y="281355"/>
                  </a:lnTo>
                  <a:lnTo>
                    <a:pt x="658672" y="220408"/>
                  </a:lnTo>
                  <a:lnTo>
                    <a:pt x="831367" y="511009"/>
                  </a:lnTo>
                  <a:lnTo>
                    <a:pt x="909472" y="464591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928800" y="4183046"/>
              <a:ext cx="989330" cy="217170"/>
            </a:xfrm>
            <a:custGeom>
              <a:avLst/>
              <a:gdLst/>
              <a:ahLst/>
              <a:cxnLst/>
              <a:rect l="l" t="t" r="r" b="b"/>
              <a:pathLst>
                <a:path w="989329" h="217170">
                  <a:moveTo>
                    <a:pt x="988787" y="180693"/>
                  </a:moveTo>
                  <a:lnTo>
                    <a:pt x="985946" y="194760"/>
                  </a:lnTo>
                  <a:lnTo>
                    <a:pt x="978201" y="206247"/>
                  </a:lnTo>
                  <a:lnTo>
                    <a:pt x="966714" y="213992"/>
                  </a:lnTo>
                  <a:lnTo>
                    <a:pt x="952647" y="216833"/>
                  </a:lnTo>
                  <a:lnTo>
                    <a:pt x="36139" y="216833"/>
                  </a:lnTo>
                  <a:lnTo>
                    <a:pt x="22072" y="213992"/>
                  </a:lnTo>
                  <a:lnTo>
                    <a:pt x="10585" y="206247"/>
                  </a:lnTo>
                  <a:lnTo>
                    <a:pt x="2840" y="194760"/>
                  </a:lnTo>
                  <a:lnTo>
                    <a:pt x="0" y="180693"/>
                  </a:lnTo>
                  <a:lnTo>
                    <a:pt x="0" y="36139"/>
                  </a:lnTo>
                  <a:lnTo>
                    <a:pt x="2840" y="22072"/>
                  </a:lnTo>
                  <a:lnTo>
                    <a:pt x="10585" y="10585"/>
                  </a:lnTo>
                  <a:lnTo>
                    <a:pt x="22072" y="2840"/>
                  </a:lnTo>
                  <a:lnTo>
                    <a:pt x="36139" y="0"/>
                  </a:lnTo>
                  <a:lnTo>
                    <a:pt x="952647" y="0"/>
                  </a:lnTo>
                  <a:lnTo>
                    <a:pt x="966714" y="2840"/>
                  </a:lnTo>
                  <a:lnTo>
                    <a:pt x="978201" y="10585"/>
                  </a:lnTo>
                  <a:lnTo>
                    <a:pt x="985946" y="22072"/>
                  </a:lnTo>
                  <a:lnTo>
                    <a:pt x="988787" y="36139"/>
                  </a:lnTo>
                  <a:lnTo>
                    <a:pt x="988787" y="180693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0709027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73639" y="0"/>
                  </a:moveTo>
                  <a:lnTo>
                    <a:pt x="44975" y="5560"/>
                  </a:lnTo>
                  <a:lnTo>
                    <a:pt x="21568" y="20722"/>
                  </a:lnTo>
                  <a:lnTo>
                    <a:pt x="5786" y="43212"/>
                  </a:lnTo>
                  <a:lnTo>
                    <a:pt x="0" y="70752"/>
                  </a:lnTo>
                  <a:lnTo>
                    <a:pt x="5786" y="98293"/>
                  </a:lnTo>
                  <a:lnTo>
                    <a:pt x="21568" y="120782"/>
                  </a:lnTo>
                  <a:lnTo>
                    <a:pt x="44975" y="135945"/>
                  </a:lnTo>
                  <a:lnTo>
                    <a:pt x="73639" y="141505"/>
                  </a:lnTo>
                  <a:lnTo>
                    <a:pt x="102303" y="135945"/>
                  </a:lnTo>
                  <a:lnTo>
                    <a:pt x="125709" y="120782"/>
                  </a:lnTo>
                  <a:lnTo>
                    <a:pt x="141491" y="98293"/>
                  </a:lnTo>
                  <a:lnTo>
                    <a:pt x="147278" y="70752"/>
                  </a:lnTo>
                  <a:lnTo>
                    <a:pt x="141491" y="43212"/>
                  </a:lnTo>
                  <a:lnTo>
                    <a:pt x="125709" y="20722"/>
                  </a:lnTo>
                  <a:lnTo>
                    <a:pt x="102303" y="5560"/>
                  </a:lnTo>
                  <a:lnTo>
                    <a:pt x="73639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0709026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147279" y="70753"/>
                  </a:moveTo>
                  <a:lnTo>
                    <a:pt x="141492" y="98293"/>
                  </a:lnTo>
                  <a:lnTo>
                    <a:pt x="125710" y="120782"/>
                  </a:lnTo>
                  <a:lnTo>
                    <a:pt x="102303" y="135945"/>
                  </a:lnTo>
                  <a:lnTo>
                    <a:pt x="73639" y="141506"/>
                  </a:lnTo>
                  <a:lnTo>
                    <a:pt x="44975" y="135945"/>
                  </a:lnTo>
                  <a:lnTo>
                    <a:pt x="21568" y="120782"/>
                  </a:lnTo>
                  <a:lnTo>
                    <a:pt x="5786" y="98293"/>
                  </a:lnTo>
                  <a:lnTo>
                    <a:pt x="0" y="70753"/>
                  </a:lnTo>
                  <a:lnTo>
                    <a:pt x="5786" y="43212"/>
                  </a:lnTo>
                  <a:lnTo>
                    <a:pt x="21568" y="20723"/>
                  </a:lnTo>
                  <a:lnTo>
                    <a:pt x="44975" y="5560"/>
                  </a:lnTo>
                  <a:lnTo>
                    <a:pt x="73639" y="0"/>
                  </a:lnTo>
                  <a:lnTo>
                    <a:pt x="102303" y="5560"/>
                  </a:lnTo>
                  <a:lnTo>
                    <a:pt x="125710" y="20723"/>
                  </a:lnTo>
                  <a:lnTo>
                    <a:pt x="141492" y="43212"/>
                  </a:lnTo>
                  <a:lnTo>
                    <a:pt x="147279" y="70753"/>
                  </a:lnTo>
                  <a:close/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530540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73638" y="0"/>
                  </a:moveTo>
                  <a:lnTo>
                    <a:pt x="44975" y="5560"/>
                  </a:lnTo>
                  <a:lnTo>
                    <a:pt x="21568" y="20722"/>
                  </a:lnTo>
                  <a:lnTo>
                    <a:pt x="5786" y="43212"/>
                  </a:lnTo>
                  <a:lnTo>
                    <a:pt x="0" y="70752"/>
                  </a:lnTo>
                  <a:lnTo>
                    <a:pt x="5786" y="98293"/>
                  </a:lnTo>
                  <a:lnTo>
                    <a:pt x="21568" y="120782"/>
                  </a:lnTo>
                  <a:lnTo>
                    <a:pt x="44975" y="135945"/>
                  </a:lnTo>
                  <a:lnTo>
                    <a:pt x="73638" y="141505"/>
                  </a:lnTo>
                  <a:lnTo>
                    <a:pt x="102302" y="135945"/>
                  </a:lnTo>
                  <a:lnTo>
                    <a:pt x="125709" y="120782"/>
                  </a:lnTo>
                  <a:lnTo>
                    <a:pt x="141491" y="98293"/>
                  </a:lnTo>
                  <a:lnTo>
                    <a:pt x="147278" y="70752"/>
                  </a:lnTo>
                  <a:lnTo>
                    <a:pt x="141491" y="43212"/>
                  </a:lnTo>
                  <a:lnTo>
                    <a:pt x="125709" y="20722"/>
                  </a:lnTo>
                  <a:lnTo>
                    <a:pt x="102302" y="5560"/>
                  </a:lnTo>
                  <a:lnTo>
                    <a:pt x="73638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0530539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147279" y="70753"/>
                  </a:moveTo>
                  <a:lnTo>
                    <a:pt x="141492" y="98293"/>
                  </a:lnTo>
                  <a:lnTo>
                    <a:pt x="125710" y="120782"/>
                  </a:lnTo>
                  <a:lnTo>
                    <a:pt x="102303" y="135945"/>
                  </a:lnTo>
                  <a:lnTo>
                    <a:pt x="73639" y="141506"/>
                  </a:lnTo>
                  <a:lnTo>
                    <a:pt x="44975" y="135945"/>
                  </a:lnTo>
                  <a:lnTo>
                    <a:pt x="21568" y="120782"/>
                  </a:lnTo>
                  <a:lnTo>
                    <a:pt x="5786" y="98293"/>
                  </a:lnTo>
                  <a:lnTo>
                    <a:pt x="0" y="70753"/>
                  </a:lnTo>
                  <a:lnTo>
                    <a:pt x="5786" y="43212"/>
                  </a:lnTo>
                  <a:lnTo>
                    <a:pt x="21568" y="20723"/>
                  </a:lnTo>
                  <a:lnTo>
                    <a:pt x="44975" y="5560"/>
                  </a:lnTo>
                  <a:lnTo>
                    <a:pt x="73639" y="0"/>
                  </a:lnTo>
                  <a:lnTo>
                    <a:pt x="102303" y="5560"/>
                  </a:lnTo>
                  <a:lnTo>
                    <a:pt x="125710" y="20723"/>
                  </a:lnTo>
                  <a:lnTo>
                    <a:pt x="141492" y="43212"/>
                  </a:lnTo>
                  <a:lnTo>
                    <a:pt x="147279" y="70753"/>
                  </a:lnTo>
                  <a:close/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0352050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73639" y="0"/>
                  </a:moveTo>
                  <a:lnTo>
                    <a:pt x="44975" y="5560"/>
                  </a:lnTo>
                  <a:lnTo>
                    <a:pt x="21568" y="20722"/>
                  </a:lnTo>
                  <a:lnTo>
                    <a:pt x="5786" y="43212"/>
                  </a:lnTo>
                  <a:lnTo>
                    <a:pt x="0" y="70752"/>
                  </a:lnTo>
                  <a:lnTo>
                    <a:pt x="5786" y="98293"/>
                  </a:lnTo>
                  <a:lnTo>
                    <a:pt x="21568" y="120782"/>
                  </a:lnTo>
                  <a:lnTo>
                    <a:pt x="44975" y="135945"/>
                  </a:lnTo>
                  <a:lnTo>
                    <a:pt x="73639" y="141505"/>
                  </a:lnTo>
                  <a:lnTo>
                    <a:pt x="102303" y="135945"/>
                  </a:lnTo>
                  <a:lnTo>
                    <a:pt x="125710" y="120782"/>
                  </a:lnTo>
                  <a:lnTo>
                    <a:pt x="141492" y="98293"/>
                  </a:lnTo>
                  <a:lnTo>
                    <a:pt x="147279" y="70752"/>
                  </a:lnTo>
                  <a:lnTo>
                    <a:pt x="141492" y="43212"/>
                  </a:lnTo>
                  <a:lnTo>
                    <a:pt x="125710" y="20722"/>
                  </a:lnTo>
                  <a:lnTo>
                    <a:pt x="102303" y="5560"/>
                  </a:lnTo>
                  <a:lnTo>
                    <a:pt x="73639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0352050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147279" y="70753"/>
                  </a:moveTo>
                  <a:lnTo>
                    <a:pt x="141492" y="98293"/>
                  </a:lnTo>
                  <a:lnTo>
                    <a:pt x="125710" y="120782"/>
                  </a:lnTo>
                  <a:lnTo>
                    <a:pt x="102303" y="135945"/>
                  </a:lnTo>
                  <a:lnTo>
                    <a:pt x="73639" y="141506"/>
                  </a:lnTo>
                  <a:lnTo>
                    <a:pt x="44975" y="135945"/>
                  </a:lnTo>
                  <a:lnTo>
                    <a:pt x="21568" y="120782"/>
                  </a:lnTo>
                  <a:lnTo>
                    <a:pt x="5786" y="98293"/>
                  </a:lnTo>
                  <a:lnTo>
                    <a:pt x="0" y="70753"/>
                  </a:lnTo>
                  <a:lnTo>
                    <a:pt x="5786" y="43212"/>
                  </a:lnTo>
                  <a:lnTo>
                    <a:pt x="21568" y="20723"/>
                  </a:lnTo>
                  <a:lnTo>
                    <a:pt x="44975" y="5560"/>
                  </a:lnTo>
                  <a:lnTo>
                    <a:pt x="73639" y="0"/>
                  </a:lnTo>
                  <a:lnTo>
                    <a:pt x="102303" y="5560"/>
                  </a:lnTo>
                  <a:lnTo>
                    <a:pt x="125710" y="20723"/>
                  </a:lnTo>
                  <a:lnTo>
                    <a:pt x="141492" y="43212"/>
                  </a:lnTo>
                  <a:lnTo>
                    <a:pt x="147279" y="70753"/>
                  </a:lnTo>
                  <a:close/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0169496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73639" y="0"/>
                  </a:moveTo>
                  <a:lnTo>
                    <a:pt x="44975" y="5560"/>
                  </a:lnTo>
                  <a:lnTo>
                    <a:pt x="21568" y="20722"/>
                  </a:lnTo>
                  <a:lnTo>
                    <a:pt x="5786" y="43212"/>
                  </a:lnTo>
                  <a:lnTo>
                    <a:pt x="0" y="70752"/>
                  </a:lnTo>
                  <a:lnTo>
                    <a:pt x="5786" y="98293"/>
                  </a:lnTo>
                  <a:lnTo>
                    <a:pt x="21568" y="120782"/>
                  </a:lnTo>
                  <a:lnTo>
                    <a:pt x="44975" y="135945"/>
                  </a:lnTo>
                  <a:lnTo>
                    <a:pt x="73639" y="141505"/>
                  </a:lnTo>
                  <a:lnTo>
                    <a:pt x="102303" y="135945"/>
                  </a:lnTo>
                  <a:lnTo>
                    <a:pt x="125710" y="120782"/>
                  </a:lnTo>
                  <a:lnTo>
                    <a:pt x="141492" y="98293"/>
                  </a:lnTo>
                  <a:lnTo>
                    <a:pt x="147279" y="70752"/>
                  </a:lnTo>
                  <a:lnTo>
                    <a:pt x="141492" y="43212"/>
                  </a:lnTo>
                  <a:lnTo>
                    <a:pt x="125710" y="20722"/>
                  </a:lnTo>
                  <a:lnTo>
                    <a:pt x="102303" y="5560"/>
                  </a:lnTo>
                  <a:lnTo>
                    <a:pt x="73639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0169497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147279" y="70753"/>
                  </a:moveTo>
                  <a:lnTo>
                    <a:pt x="141492" y="98293"/>
                  </a:lnTo>
                  <a:lnTo>
                    <a:pt x="125710" y="120782"/>
                  </a:lnTo>
                  <a:lnTo>
                    <a:pt x="102303" y="135945"/>
                  </a:lnTo>
                  <a:lnTo>
                    <a:pt x="73639" y="141506"/>
                  </a:lnTo>
                  <a:lnTo>
                    <a:pt x="44975" y="135945"/>
                  </a:lnTo>
                  <a:lnTo>
                    <a:pt x="21568" y="120782"/>
                  </a:lnTo>
                  <a:lnTo>
                    <a:pt x="5786" y="98293"/>
                  </a:lnTo>
                  <a:lnTo>
                    <a:pt x="0" y="70753"/>
                  </a:lnTo>
                  <a:lnTo>
                    <a:pt x="5786" y="43212"/>
                  </a:lnTo>
                  <a:lnTo>
                    <a:pt x="21568" y="20723"/>
                  </a:lnTo>
                  <a:lnTo>
                    <a:pt x="44975" y="5560"/>
                  </a:lnTo>
                  <a:lnTo>
                    <a:pt x="73639" y="0"/>
                  </a:lnTo>
                  <a:lnTo>
                    <a:pt x="102303" y="5560"/>
                  </a:lnTo>
                  <a:lnTo>
                    <a:pt x="125710" y="20723"/>
                  </a:lnTo>
                  <a:lnTo>
                    <a:pt x="141492" y="43212"/>
                  </a:lnTo>
                  <a:lnTo>
                    <a:pt x="147279" y="70753"/>
                  </a:lnTo>
                  <a:close/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72976" y="4210163"/>
              <a:ext cx="166329" cy="160556"/>
            </a:xfrm>
            <a:prstGeom prst="rect">
              <a:avLst/>
            </a:prstGeom>
          </p:spPr>
        </p:pic>
      </p:grpSp>
      <p:sp>
        <p:nvSpPr>
          <p:cNvPr id="70" name="object 70"/>
          <p:cNvSpPr/>
          <p:nvPr/>
        </p:nvSpPr>
        <p:spPr>
          <a:xfrm>
            <a:off x="7682352" y="2753680"/>
            <a:ext cx="247174" cy="322421"/>
          </a:xfrm>
          <a:custGeom>
            <a:avLst/>
            <a:gdLst/>
            <a:ahLst/>
            <a:cxnLst/>
            <a:rect l="l" t="t" r="r" b="b"/>
            <a:pathLst>
              <a:path w="329565" h="429895">
                <a:moveTo>
                  <a:pt x="164741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429376"/>
                </a:lnTo>
                <a:lnTo>
                  <a:pt x="210167" y="429376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7711206" y="2322195"/>
            <a:ext cx="132874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38" dirty="0">
                <a:latin typeface="Cambria Math"/>
                <a:cs typeface="Cambria Math"/>
              </a:rPr>
              <a:t>𝑒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817602" y="2425065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3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065698" y="2349627"/>
            <a:ext cx="31861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solidFill>
                  <a:srgbClr val="548235"/>
                </a:solidFill>
                <a:latin typeface="Cambria Math"/>
                <a:cs typeface="Cambria Math"/>
              </a:rPr>
              <a:t>0.2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134611" y="378946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7381825" y="3690904"/>
            <a:ext cx="260033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718"/>
              </a:lnSpc>
            </a:pPr>
            <a:r>
              <a:rPr sz="2700" spc="-28" baseline="-20833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992750" y="3690904"/>
            <a:ext cx="273368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718"/>
              </a:lnSpc>
            </a:pPr>
            <a:r>
              <a:rPr sz="2700" spc="-28" baseline="-20833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1350" spc="-19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484887" y="3830350"/>
            <a:ext cx="166211" cy="208711"/>
          </a:xfrm>
          <a:prstGeom prst="rect">
            <a:avLst/>
          </a:prstGeom>
        </p:spPr>
        <p:txBody>
          <a:bodyPr vert="horz" wrap="square" lIns="0" tIns="953" rIns="0" bIns="0" rtlCol="0">
            <a:spAutoFit/>
          </a:bodyPr>
          <a:lstStyle/>
          <a:p>
            <a:pPr marL="28575">
              <a:spcBef>
                <a:spcPts val="8"/>
              </a:spcBef>
            </a:pPr>
            <a:r>
              <a:rPr sz="1350" spc="-38" dirty="0">
                <a:latin typeface="Cambria Math"/>
                <a:cs typeface="Cambria Math"/>
              </a:rPr>
              <a:t>3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114860" y="3830350"/>
            <a:ext cx="118586" cy="208711"/>
          </a:xfrm>
          <a:prstGeom prst="rect">
            <a:avLst/>
          </a:prstGeom>
        </p:spPr>
        <p:txBody>
          <a:bodyPr vert="horz" wrap="square" lIns="0" tIns="953" rIns="0" bIns="0" rtlCol="0">
            <a:spAutoFit/>
          </a:bodyPr>
          <a:lstStyle/>
          <a:p>
            <a:pPr marL="9525">
              <a:spcBef>
                <a:spcPts val="8"/>
              </a:spcBef>
            </a:pP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165509" y="4144683"/>
            <a:ext cx="1336358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dirty="0">
                <a:solidFill>
                  <a:srgbClr val="C00000"/>
                </a:solidFill>
                <a:latin typeface="Tahoma"/>
                <a:cs typeface="Tahoma"/>
              </a:rPr>
              <a:t>Separate</a:t>
            </a:r>
            <a:r>
              <a:rPr sz="1463" spc="172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463" spc="113" dirty="0">
                <a:solidFill>
                  <a:srgbClr val="C00000"/>
                </a:solidFill>
                <a:latin typeface="Tahoma"/>
                <a:cs typeface="Tahoma"/>
              </a:rPr>
              <a:t>FFNN</a:t>
            </a:r>
            <a:endParaRPr sz="1463">
              <a:latin typeface="Tahoma"/>
              <a:cs typeface="Tahom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7224" y="4238985"/>
            <a:ext cx="82534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dirty="0">
                <a:solidFill>
                  <a:srgbClr val="262626"/>
                </a:solidFill>
                <a:latin typeface="Tahoma"/>
                <a:cs typeface="Tahoma"/>
              </a:rPr>
              <a:t>Input</a:t>
            </a:r>
            <a:r>
              <a:rPr sz="1313" spc="-64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8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632730" y="4247008"/>
            <a:ext cx="40481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352676" y="4247008"/>
            <a:ext cx="65436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240736" y="4258437"/>
            <a:ext cx="433864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128790" y="4267582"/>
            <a:ext cx="34194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026919" y="4269867"/>
            <a:ext cx="1586865" cy="6399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&lt;s&gt;</a:t>
            </a:r>
            <a:endParaRPr>
              <a:latin typeface="Tahoma"/>
              <a:cs typeface="Tahoma"/>
            </a:endParaRPr>
          </a:p>
          <a:p>
            <a:pPr marL="199073">
              <a:spcBef>
                <a:spcPts val="1020"/>
              </a:spcBef>
            </a:pPr>
            <a:r>
              <a:rPr sz="1463" spc="101" dirty="0">
                <a:solidFill>
                  <a:srgbClr val="7030A0"/>
                </a:solidFill>
                <a:latin typeface="Tahoma"/>
                <a:cs typeface="Tahoma"/>
              </a:rPr>
              <a:t>DECODER</a:t>
            </a:r>
            <a:r>
              <a:rPr sz="1463" spc="-41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>
              <a:latin typeface="Tahoma"/>
              <a:cs typeface="Tahom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065089" y="4695609"/>
            <a:ext cx="1403509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113" dirty="0">
                <a:solidFill>
                  <a:srgbClr val="7030A0"/>
                </a:solidFill>
                <a:latin typeface="Tahoma"/>
                <a:cs typeface="Tahoma"/>
              </a:rPr>
              <a:t>ENCODER</a:t>
            </a:r>
            <a:r>
              <a:rPr sz="1463" spc="-60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7854" y="578611"/>
            <a:ext cx="4856321" cy="98108"/>
          </a:xfrm>
          <a:custGeom>
            <a:avLst/>
            <a:gdLst/>
            <a:ahLst/>
            <a:cxnLst/>
            <a:rect l="l" t="t" r="r" b="b"/>
            <a:pathLst>
              <a:path w="6475095" h="130809">
                <a:moveTo>
                  <a:pt x="6474895" y="0"/>
                </a:moveTo>
                <a:lnTo>
                  <a:pt x="0" y="0"/>
                </a:lnTo>
                <a:lnTo>
                  <a:pt x="0" y="130218"/>
                </a:lnTo>
                <a:lnTo>
                  <a:pt x="6474895" y="130218"/>
                </a:lnTo>
                <a:lnTo>
                  <a:pt x="647489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34" dirty="0"/>
              <a:t>seq2seq</a:t>
            </a:r>
            <a:r>
              <a:rPr spc="-68" dirty="0"/>
              <a:t> </a:t>
            </a:r>
            <a:r>
              <a:rPr spc="-143" dirty="0"/>
              <a:t>+</a:t>
            </a:r>
            <a:r>
              <a:rPr spc="-68" dirty="0"/>
              <a:t> </a:t>
            </a:r>
            <a:r>
              <a:rPr spc="-8" dirty="0"/>
              <a:t>Attention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6450" y="2988543"/>
            <a:ext cx="99298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spc="60" dirty="0">
                <a:solidFill>
                  <a:srgbClr val="262626"/>
                </a:solidFill>
                <a:latin typeface="Tahoma"/>
                <a:cs typeface="Tahoma"/>
              </a:rPr>
              <a:t>Hidden</a:t>
            </a:r>
            <a:r>
              <a:rPr sz="1313" spc="-41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15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50551" y="2662962"/>
            <a:ext cx="262414" cy="1052036"/>
            <a:chOff x="2334067" y="3550615"/>
            <a:chExt cx="349885" cy="1402715"/>
          </a:xfrm>
        </p:grpSpPr>
        <p:sp>
          <p:nvSpPr>
            <p:cNvPr id="6" name="object 6"/>
            <p:cNvSpPr/>
            <p:nvPr/>
          </p:nvSpPr>
          <p:spPr>
            <a:xfrm>
              <a:off x="235311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6859" y="4636615"/>
              <a:ext cx="222250" cy="222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390355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144096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3892228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914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75721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7115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2" y="0"/>
                </a:moveTo>
                <a:lnTo>
                  <a:pt x="338042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2" y="210167"/>
                </a:lnTo>
                <a:lnTo>
                  <a:pt x="338042" y="329483"/>
                </a:lnTo>
                <a:lnTo>
                  <a:pt x="567437" y="164741"/>
                </a:lnTo>
                <a:lnTo>
                  <a:pt x="33804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2562171" y="2662962"/>
            <a:ext cx="262414" cy="1052036"/>
            <a:chOff x="3416227" y="3550615"/>
            <a:chExt cx="349885" cy="1402715"/>
          </a:xfrm>
        </p:grpSpPr>
        <p:sp>
          <p:nvSpPr>
            <p:cNvPr id="15" name="object 15"/>
            <p:cNvSpPr/>
            <p:nvPr/>
          </p:nvSpPr>
          <p:spPr>
            <a:xfrm>
              <a:off x="343527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9021" y="4636615"/>
              <a:ext cx="222250" cy="2222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390355"/>
              <a:ext cx="222250" cy="2222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144096"/>
              <a:ext cx="222250" cy="2222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3892228"/>
              <a:ext cx="222250" cy="2222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130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2568838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0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82777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3353240" y="2662962"/>
            <a:ext cx="262414" cy="1052036"/>
            <a:chOff x="4470986" y="3550615"/>
            <a:chExt cx="349885" cy="1402715"/>
          </a:xfrm>
        </p:grpSpPr>
        <p:sp>
          <p:nvSpPr>
            <p:cNvPr id="24" name="object 24"/>
            <p:cNvSpPr/>
            <p:nvPr/>
          </p:nvSpPr>
          <p:spPr>
            <a:xfrm>
              <a:off x="4490036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3779" y="4636615"/>
              <a:ext cx="222250" cy="2222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390355"/>
              <a:ext cx="222250" cy="2222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144096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3892228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606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335990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67384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4169424" y="2662962"/>
            <a:ext cx="262414" cy="1052036"/>
            <a:chOff x="5559231" y="3550615"/>
            <a:chExt cx="349885" cy="1402715"/>
          </a:xfrm>
        </p:grpSpPr>
        <p:sp>
          <p:nvSpPr>
            <p:cNvPr id="33" name="object 33"/>
            <p:cNvSpPr/>
            <p:nvPr/>
          </p:nvSpPr>
          <p:spPr>
            <a:xfrm>
              <a:off x="5578281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2024" y="4636613"/>
              <a:ext cx="222250" cy="22225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390354"/>
              <a:ext cx="222250" cy="2222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144096"/>
              <a:ext cx="222250" cy="22225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3892227"/>
              <a:ext cx="222250" cy="22225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430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39" name="object 39"/>
          <p:cNvSpPr/>
          <p:nvPr/>
        </p:nvSpPr>
        <p:spPr>
          <a:xfrm>
            <a:off x="4176090" y="378961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881073" y="241134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39911" y="2214753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662144" y="2429637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15697" y="2233042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496597" y="2429637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3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350149" y="2233042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305232" y="242049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158784" y="2226184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127729" y="2662962"/>
            <a:ext cx="262414" cy="1052036"/>
            <a:chOff x="6836972" y="3550615"/>
            <a:chExt cx="349885" cy="1402715"/>
          </a:xfrm>
        </p:grpSpPr>
        <p:sp>
          <p:nvSpPr>
            <p:cNvPr id="49" name="object 49"/>
            <p:cNvSpPr/>
            <p:nvPr/>
          </p:nvSpPr>
          <p:spPr>
            <a:xfrm>
              <a:off x="6856022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9765" y="4636613"/>
              <a:ext cx="222250" cy="22225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390354"/>
              <a:ext cx="222250" cy="22225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144096"/>
              <a:ext cx="222250" cy="22225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3892227"/>
              <a:ext cx="222250" cy="22225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0204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5238748" y="240906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097587" y="2214753"/>
            <a:ext cx="31146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1350" spc="-19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87704" y="834555"/>
            <a:ext cx="7836694" cy="884153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45" dirty="0">
                <a:solidFill>
                  <a:srgbClr val="C00000"/>
                </a:solidFill>
                <a:latin typeface="Tahoma"/>
                <a:cs typeface="Tahoma"/>
              </a:rPr>
              <a:t>Q:</a:t>
            </a:r>
            <a:r>
              <a:rPr sz="1463" spc="8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463" spc="49" dirty="0">
                <a:latin typeface="Tahoma"/>
                <a:cs typeface="Tahoma"/>
              </a:rPr>
              <a:t>How</a:t>
            </a:r>
            <a:r>
              <a:rPr sz="1463" spc="4" dirty="0">
                <a:latin typeface="Tahoma"/>
                <a:cs typeface="Tahoma"/>
              </a:rPr>
              <a:t> </a:t>
            </a:r>
            <a:r>
              <a:rPr sz="1463" spc="94" dirty="0">
                <a:latin typeface="Tahoma"/>
                <a:cs typeface="Tahoma"/>
              </a:rPr>
              <a:t>do</a:t>
            </a:r>
            <a:r>
              <a:rPr sz="1463" dirty="0">
                <a:latin typeface="Tahoma"/>
                <a:cs typeface="Tahoma"/>
              </a:rPr>
              <a:t> we</a:t>
            </a:r>
            <a:r>
              <a:rPr sz="1463" spc="-4" dirty="0">
                <a:latin typeface="Tahoma"/>
                <a:cs typeface="Tahoma"/>
              </a:rPr>
              <a:t> </a:t>
            </a:r>
            <a:r>
              <a:rPr sz="1463" spc="38" dirty="0">
                <a:latin typeface="Tahoma"/>
                <a:cs typeface="Tahoma"/>
              </a:rPr>
              <a:t>determine</a:t>
            </a:r>
            <a:r>
              <a:rPr sz="1463" dirty="0">
                <a:latin typeface="Tahoma"/>
                <a:cs typeface="Tahoma"/>
              </a:rPr>
              <a:t> how</a:t>
            </a:r>
            <a:r>
              <a:rPr sz="1463" spc="4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much </a:t>
            </a:r>
            <a:r>
              <a:rPr sz="1463" spc="45" dirty="0">
                <a:latin typeface="Tahoma"/>
                <a:cs typeface="Tahoma"/>
              </a:rPr>
              <a:t>to</a:t>
            </a:r>
            <a:r>
              <a:rPr sz="1463" dirty="0">
                <a:latin typeface="Tahoma"/>
                <a:cs typeface="Tahoma"/>
              </a:rPr>
              <a:t> pay attention </a:t>
            </a:r>
            <a:r>
              <a:rPr sz="1463" spc="45" dirty="0">
                <a:latin typeface="Tahoma"/>
                <a:cs typeface="Tahoma"/>
              </a:rPr>
              <a:t>to</a:t>
            </a:r>
            <a:r>
              <a:rPr sz="1463" spc="-4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each of</a:t>
            </a:r>
            <a:r>
              <a:rPr sz="1463" spc="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the encoder’s </a:t>
            </a:r>
            <a:r>
              <a:rPr sz="1463" spc="53" dirty="0">
                <a:latin typeface="Tahoma"/>
                <a:cs typeface="Tahoma"/>
              </a:rPr>
              <a:t>hidden</a:t>
            </a:r>
            <a:r>
              <a:rPr sz="1463" dirty="0">
                <a:latin typeface="Tahoma"/>
                <a:cs typeface="Tahoma"/>
              </a:rPr>
              <a:t> </a:t>
            </a:r>
            <a:r>
              <a:rPr sz="1463" spc="-8" dirty="0">
                <a:latin typeface="Tahoma"/>
                <a:cs typeface="Tahoma"/>
              </a:rPr>
              <a:t>layers?</a:t>
            </a:r>
            <a:endParaRPr sz="1463">
              <a:latin typeface="Tahoma"/>
              <a:cs typeface="Tahoma"/>
            </a:endParaRPr>
          </a:p>
          <a:p>
            <a:pPr marL="9525" marR="3810">
              <a:lnSpc>
                <a:spcPct val="119000"/>
              </a:lnSpc>
              <a:spcBef>
                <a:spcPts val="1080"/>
              </a:spcBef>
            </a:pPr>
            <a:r>
              <a:rPr sz="1463" dirty="0">
                <a:solidFill>
                  <a:srgbClr val="C00000"/>
                </a:solidFill>
                <a:latin typeface="Tahoma"/>
                <a:cs typeface="Tahoma"/>
              </a:rPr>
              <a:t>A:</a:t>
            </a:r>
            <a:r>
              <a:rPr sz="1463" spc="-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Let’s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base</a:t>
            </a:r>
            <a:r>
              <a:rPr sz="1463" spc="-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it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spc="49" dirty="0">
                <a:latin typeface="Tahoma"/>
                <a:cs typeface="Tahoma"/>
              </a:rPr>
              <a:t>on</a:t>
            </a:r>
            <a:r>
              <a:rPr sz="1463" spc="-4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our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spc="34" dirty="0">
                <a:latin typeface="Tahoma"/>
                <a:cs typeface="Tahoma"/>
              </a:rPr>
              <a:t>decoder’s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current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spc="53" dirty="0">
                <a:latin typeface="Tahoma"/>
                <a:cs typeface="Tahoma"/>
              </a:rPr>
              <a:t>hidden</a:t>
            </a:r>
            <a:r>
              <a:rPr sz="1463" spc="-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state</a:t>
            </a:r>
            <a:r>
              <a:rPr sz="1463" spc="-8" dirty="0">
                <a:latin typeface="Tahoma"/>
                <a:cs typeface="Tahoma"/>
              </a:rPr>
              <a:t> </a:t>
            </a:r>
            <a:r>
              <a:rPr sz="1463" spc="-19" dirty="0">
                <a:latin typeface="Tahoma"/>
                <a:cs typeface="Tahoma"/>
              </a:rPr>
              <a:t>(our</a:t>
            </a:r>
            <a:r>
              <a:rPr sz="1463" spc="-11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current</a:t>
            </a:r>
            <a:r>
              <a:rPr sz="1463" spc="-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representation</a:t>
            </a:r>
            <a:r>
              <a:rPr sz="1463" spc="-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of</a:t>
            </a:r>
            <a:r>
              <a:rPr sz="1463" spc="-4" dirty="0">
                <a:latin typeface="Tahoma"/>
                <a:cs typeface="Tahoma"/>
              </a:rPr>
              <a:t> </a:t>
            </a:r>
            <a:r>
              <a:rPr sz="1463" spc="-8" dirty="0">
                <a:latin typeface="Tahoma"/>
                <a:cs typeface="Tahoma"/>
              </a:rPr>
              <a:t>meaning) </a:t>
            </a:r>
            <a:r>
              <a:rPr sz="1463" spc="38" dirty="0">
                <a:latin typeface="Tahoma"/>
                <a:cs typeface="Tahoma"/>
              </a:rPr>
              <a:t>and</a:t>
            </a:r>
            <a:r>
              <a:rPr sz="1463" spc="4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all</a:t>
            </a:r>
            <a:r>
              <a:rPr sz="1463" spc="11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of</a:t>
            </a:r>
            <a:r>
              <a:rPr sz="1463" spc="11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the</a:t>
            </a:r>
            <a:r>
              <a:rPr sz="1463" spc="8" dirty="0">
                <a:latin typeface="Tahoma"/>
                <a:cs typeface="Tahoma"/>
              </a:rPr>
              <a:t> </a:t>
            </a:r>
            <a:r>
              <a:rPr sz="1463" dirty="0">
                <a:latin typeface="Tahoma"/>
                <a:cs typeface="Tahoma"/>
              </a:rPr>
              <a:t>encoder’s</a:t>
            </a:r>
            <a:r>
              <a:rPr sz="1463" spc="4" dirty="0">
                <a:latin typeface="Tahoma"/>
                <a:cs typeface="Tahoma"/>
              </a:rPr>
              <a:t> </a:t>
            </a:r>
            <a:r>
              <a:rPr sz="1463" spc="53" dirty="0">
                <a:latin typeface="Tahoma"/>
                <a:cs typeface="Tahoma"/>
              </a:rPr>
              <a:t>hidden</a:t>
            </a:r>
            <a:r>
              <a:rPr sz="1463" spc="8" dirty="0">
                <a:latin typeface="Tahoma"/>
                <a:cs typeface="Tahoma"/>
              </a:rPr>
              <a:t> </a:t>
            </a:r>
            <a:r>
              <a:rPr sz="1463" spc="-8" dirty="0">
                <a:latin typeface="Tahoma"/>
                <a:cs typeface="Tahoma"/>
              </a:rPr>
              <a:t>layers!</a:t>
            </a:r>
            <a:endParaRPr sz="1463">
              <a:latin typeface="Tahoma"/>
              <a:cs typeface="Tahom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7432312" y="3122998"/>
            <a:ext cx="770573" cy="587216"/>
            <a:chOff x="9909750" y="4163996"/>
            <a:chExt cx="1027430" cy="782955"/>
          </a:xfrm>
        </p:grpSpPr>
        <p:sp>
          <p:nvSpPr>
            <p:cNvPr id="59" name="object 59"/>
            <p:cNvSpPr/>
            <p:nvPr/>
          </p:nvSpPr>
          <p:spPr>
            <a:xfrm>
              <a:off x="9960521" y="4435513"/>
              <a:ext cx="909955" cy="511175"/>
            </a:xfrm>
            <a:custGeom>
              <a:avLst/>
              <a:gdLst/>
              <a:ahLst/>
              <a:cxnLst/>
              <a:rect l="l" t="t" r="r" b="b"/>
              <a:pathLst>
                <a:path w="909954" h="511175">
                  <a:moveTo>
                    <a:pt x="360159" y="286321"/>
                  </a:moveTo>
                  <a:lnTo>
                    <a:pt x="346595" y="4229"/>
                  </a:lnTo>
                  <a:lnTo>
                    <a:pt x="83616" y="107213"/>
                  </a:lnTo>
                  <a:lnTo>
                    <a:pt x="183756" y="172072"/>
                  </a:lnTo>
                  <a:lnTo>
                    <a:pt x="0" y="455803"/>
                  </a:lnTo>
                  <a:lnTo>
                    <a:pt x="76250" y="505193"/>
                  </a:lnTo>
                  <a:lnTo>
                    <a:pt x="260019" y="221462"/>
                  </a:lnTo>
                  <a:lnTo>
                    <a:pt x="360159" y="286321"/>
                  </a:lnTo>
                  <a:close/>
                </a:path>
                <a:path w="909954" h="511175">
                  <a:moveTo>
                    <a:pt x="909472" y="464591"/>
                  </a:moveTo>
                  <a:lnTo>
                    <a:pt x="736777" y="173990"/>
                  </a:lnTo>
                  <a:lnTo>
                    <a:pt x="839343" y="113030"/>
                  </a:lnTo>
                  <a:lnTo>
                    <a:pt x="580542" y="0"/>
                  </a:lnTo>
                  <a:lnTo>
                    <a:pt x="556107" y="281355"/>
                  </a:lnTo>
                  <a:lnTo>
                    <a:pt x="658672" y="220408"/>
                  </a:lnTo>
                  <a:lnTo>
                    <a:pt x="831367" y="511009"/>
                  </a:lnTo>
                  <a:lnTo>
                    <a:pt x="909472" y="464591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928800" y="4183046"/>
              <a:ext cx="989330" cy="217170"/>
            </a:xfrm>
            <a:custGeom>
              <a:avLst/>
              <a:gdLst/>
              <a:ahLst/>
              <a:cxnLst/>
              <a:rect l="l" t="t" r="r" b="b"/>
              <a:pathLst>
                <a:path w="989329" h="217170">
                  <a:moveTo>
                    <a:pt x="988787" y="180693"/>
                  </a:moveTo>
                  <a:lnTo>
                    <a:pt x="985946" y="194760"/>
                  </a:lnTo>
                  <a:lnTo>
                    <a:pt x="978201" y="206247"/>
                  </a:lnTo>
                  <a:lnTo>
                    <a:pt x="966714" y="213992"/>
                  </a:lnTo>
                  <a:lnTo>
                    <a:pt x="952647" y="216833"/>
                  </a:lnTo>
                  <a:lnTo>
                    <a:pt x="36139" y="216833"/>
                  </a:lnTo>
                  <a:lnTo>
                    <a:pt x="22072" y="213992"/>
                  </a:lnTo>
                  <a:lnTo>
                    <a:pt x="10585" y="206247"/>
                  </a:lnTo>
                  <a:lnTo>
                    <a:pt x="2840" y="194760"/>
                  </a:lnTo>
                  <a:lnTo>
                    <a:pt x="0" y="180693"/>
                  </a:lnTo>
                  <a:lnTo>
                    <a:pt x="0" y="36139"/>
                  </a:lnTo>
                  <a:lnTo>
                    <a:pt x="2840" y="22072"/>
                  </a:lnTo>
                  <a:lnTo>
                    <a:pt x="10585" y="10585"/>
                  </a:lnTo>
                  <a:lnTo>
                    <a:pt x="22072" y="2840"/>
                  </a:lnTo>
                  <a:lnTo>
                    <a:pt x="36139" y="0"/>
                  </a:lnTo>
                  <a:lnTo>
                    <a:pt x="952647" y="0"/>
                  </a:lnTo>
                  <a:lnTo>
                    <a:pt x="966714" y="2840"/>
                  </a:lnTo>
                  <a:lnTo>
                    <a:pt x="978201" y="10585"/>
                  </a:lnTo>
                  <a:lnTo>
                    <a:pt x="985946" y="22072"/>
                  </a:lnTo>
                  <a:lnTo>
                    <a:pt x="988787" y="36139"/>
                  </a:lnTo>
                  <a:lnTo>
                    <a:pt x="988787" y="180693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0709027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73639" y="0"/>
                  </a:moveTo>
                  <a:lnTo>
                    <a:pt x="44975" y="5560"/>
                  </a:lnTo>
                  <a:lnTo>
                    <a:pt x="21568" y="20722"/>
                  </a:lnTo>
                  <a:lnTo>
                    <a:pt x="5786" y="43212"/>
                  </a:lnTo>
                  <a:lnTo>
                    <a:pt x="0" y="70752"/>
                  </a:lnTo>
                  <a:lnTo>
                    <a:pt x="5786" y="98293"/>
                  </a:lnTo>
                  <a:lnTo>
                    <a:pt x="21568" y="120782"/>
                  </a:lnTo>
                  <a:lnTo>
                    <a:pt x="44975" y="135945"/>
                  </a:lnTo>
                  <a:lnTo>
                    <a:pt x="73639" y="141505"/>
                  </a:lnTo>
                  <a:lnTo>
                    <a:pt x="102303" y="135945"/>
                  </a:lnTo>
                  <a:lnTo>
                    <a:pt x="125709" y="120782"/>
                  </a:lnTo>
                  <a:lnTo>
                    <a:pt x="141491" y="98293"/>
                  </a:lnTo>
                  <a:lnTo>
                    <a:pt x="147278" y="70752"/>
                  </a:lnTo>
                  <a:lnTo>
                    <a:pt x="141491" y="43212"/>
                  </a:lnTo>
                  <a:lnTo>
                    <a:pt x="125709" y="20722"/>
                  </a:lnTo>
                  <a:lnTo>
                    <a:pt x="102303" y="5560"/>
                  </a:lnTo>
                  <a:lnTo>
                    <a:pt x="73639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0709026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147279" y="70753"/>
                  </a:moveTo>
                  <a:lnTo>
                    <a:pt x="141492" y="98293"/>
                  </a:lnTo>
                  <a:lnTo>
                    <a:pt x="125710" y="120782"/>
                  </a:lnTo>
                  <a:lnTo>
                    <a:pt x="102303" y="135945"/>
                  </a:lnTo>
                  <a:lnTo>
                    <a:pt x="73639" y="141506"/>
                  </a:lnTo>
                  <a:lnTo>
                    <a:pt x="44975" y="135945"/>
                  </a:lnTo>
                  <a:lnTo>
                    <a:pt x="21568" y="120782"/>
                  </a:lnTo>
                  <a:lnTo>
                    <a:pt x="5786" y="98293"/>
                  </a:lnTo>
                  <a:lnTo>
                    <a:pt x="0" y="70753"/>
                  </a:lnTo>
                  <a:lnTo>
                    <a:pt x="5786" y="43212"/>
                  </a:lnTo>
                  <a:lnTo>
                    <a:pt x="21568" y="20723"/>
                  </a:lnTo>
                  <a:lnTo>
                    <a:pt x="44975" y="5560"/>
                  </a:lnTo>
                  <a:lnTo>
                    <a:pt x="73639" y="0"/>
                  </a:lnTo>
                  <a:lnTo>
                    <a:pt x="102303" y="5560"/>
                  </a:lnTo>
                  <a:lnTo>
                    <a:pt x="125710" y="20723"/>
                  </a:lnTo>
                  <a:lnTo>
                    <a:pt x="141492" y="43212"/>
                  </a:lnTo>
                  <a:lnTo>
                    <a:pt x="147279" y="70753"/>
                  </a:lnTo>
                  <a:close/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530540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73638" y="0"/>
                  </a:moveTo>
                  <a:lnTo>
                    <a:pt x="44975" y="5560"/>
                  </a:lnTo>
                  <a:lnTo>
                    <a:pt x="21568" y="20722"/>
                  </a:lnTo>
                  <a:lnTo>
                    <a:pt x="5786" y="43212"/>
                  </a:lnTo>
                  <a:lnTo>
                    <a:pt x="0" y="70752"/>
                  </a:lnTo>
                  <a:lnTo>
                    <a:pt x="5786" y="98293"/>
                  </a:lnTo>
                  <a:lnTo>
                    <a:pt x="21568" y="120782"/>
                  </a:lnTo>
                  <a:lnTo>
                    <a:pt x="44975" y="135945"/>
                  </a:lnTo>
                  <a:lnTo>
                    <a:pt x="73638" y="141505"/>
                  </a:lnTo>
                  <a:lnTo>
                    <a:pt x="102302" y="135945"/>
                  </a:lnTo>
                  <a:lnTo>
                    <a:pt x="125709" y="120782"/>
                  </a:lnTo>
                  <a:lnTo>
                    <a:pt x="141491" y="98293"/>
                  </a:lnTo>
                  <a:lnTo>
                    <a:pt x="147278" y="70752"/>
                  </a:lnTo>
                  <a:lnTo>
                    <a:pt x="141491" y="43212"/>
                  </a:lnTo>
                  <a:lnTo>
                    <a:pt x="125709" y="20722"/>
                  </a:lnTo>
                  <a:lnTo>
                    <a:pt x="102302" y="5560"/>
                  </a:lnTo>
                  <a:lnTo>
                    <a:pt x="73638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0530539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147279" y="70753"/>
                  </a:moveTo>
                  <a:lnTo>
                    <a:pt x="141492" y="98293"/>
                  </a:lnTo>
                  <a:lnTo>
                    <a:pt x="125710" y="120782"/>
                  </a:lnTo>
                  <a:lnTo>
                    <a:pt x="102303" y="135945"/>
                  </a:lnTo>
                  <a:lnTo>
                    <a:pt x="73639" y="141506"/>
                  </a:lnTo>
                  <a:lnTo>
                    <a:pt x="44975" y="135945"/>
                  </a:lnTo>
                  <a:lnTo>
                    <a:pt x="21568" y="120782"/>
                  </a:lnTo>
                  <a:lnTo>
                    <a:pt x="5786" y="98293"/>
                  </a:lnTo>
                  <a:lnTo>
                    <a:pt x="0" y="70753"/>
                  </a:lnTo>
                  <a:lnTo>
                    <a:pt x="5786" y="43212"/>
                  </a:lnTo>
                  <a:lnTo>
                    <a:pt x="21568" y="20723"/>
                  </a:lnTo>
                  <a:lnTo>
                    <a:pt x="44975" y="5560"/>
                  </a:lnTo>
                  <a:lnTo>
                    <a:pt x="73639" y="0"/>
                  </a:lnTo>
                  <a:lnTo>
                    <a:pt x="102303" y="5560"/>
                  </a:lnTo>
                  <a:lnTo>
                    <a:pt x="125710" y="20723"/>
                  </a:lnTo>
                  <a:lnTo>
                    <a:pt x="141492" y="43212"/>
                  </a:lnTo>
                  <a:lnTo>
                    <a:pt x="147279" y="70753"/>
                  </a:lnTo>
                  <a:close/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0352050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73639" y="0"/>
                  </a:moveTo>
                  <a:lnTo>
                    <a:pt x="44975" y="5560"/>
                  </a:lnTo>
                  <a:lnTo>
                    <a:pt x="21568" y="20722"/>
                  </a:lnTo>
                  <a:lnTo>
                    <a:pt x="5786" y="43212"/>
                  </a:lnTo>
                  <a:lnTo>
                    <a:pt x="0" y="70752"/>
                  </a:lnTo>
                  <a:lnTo>
                    <a:pt x="5786" y="98293"/>
                  </a:lnTo>
                  <a:lnTo>
                    <a:pt x="21568" y="120782"/>
                  </a:lnTo>
                  <a:lnTo>
                    <a:pt x="44975" y="135945"/>
                  </a:lnTo>
                  <a:lnTo>
                    <a:pt x="73639" y="141505"/>
                  </a:lnTo>
                  <a:lnTo>
                    <a:pt x="102303" y="135945"/>
                  </a:lnTo>
                  <a:lnTo>
                    <a:pt x="125710" y="120782"/>
                  </a:lnTo>
                  <a:lnTo>
                    <a:pt x="141492" y="98293"/>
                  </a:lnTo>
                  <a:lnTo>
                    <a:pt x="147279" y="70752"/>
                  </a:lnTo>
                  <a:lnTo>
                    <a:pt x="141492" y="43212"/>
                  </a:lnTo>
                  <a:lnTo>
                    <a:pt x="125710" y="20722"/>
                  </a:lnTo>
                  <a:lnTo>
                    <a:pt x="102303" y="5560"/>
                  </a:lnTo>
                  <a:lnTo>
                    <a:pt x="73639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0352050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147279" y="70753"/>
                  </a:moveTo>
                  <a:lnTo>
                    <a:pt x="141492" y="98293"/>
                  </a:lnTo>
                  <a:lnTo>
                    <a:pt x="125710" y="120782"/>
                  </a:lnTo>
                  <a:lnTo>
                    <a:pt x="102303" y="135945"/>
                  </a:lnTo>
                  <a:lnTo>
                    <a:pt x="73639" y="141506"/>
                  </a:lnTo>
                  <a:lnTo>
                    <a:pt x="44975" y="135945"/>
                  </a:lnTo>
                  <a:lnTo>
                    <a:pt x="21568" y="120782"/>
                  </a:lnTo>
                  <a:lnTo>
                    <a:pt x="5786" y="98293"/>
                  </a:lnTo>
                  <a:lnTo>
                    <a:pt x="0" y="70753"/>
                  </a:lnTo>
                  <a:lnTo>
                    <a:pt x="5786" y="43212"/>
                  </a:lnTo>
                  <a:lnTo>
                    <a:pt x="21568" y="20723"/>
                  </a:lnTo>
                  <a:lnTo>
                    <a:pt x="44975" y="5560"/>
                  </a:lnTo>
                  <a:lnTo>
                    <a:pt x="73639" y="0"/>
                  </a:lnTo>
                  <a:lnTo>
                    <a:pt x="102303" y="5560"/>
                  </a:lnTo>
                  <a:lnTo>
                    <a:pt x="125710" y="20723"/>
                  </a:lnTo>
                  <a:lnTo>
                    <a:pt x="141492" y="43212"/>
                  </a:lnTo>
                  <a:lnTo>
                    <a:pt x="147279" y="70753"/>
                  </a:lnTo>
                  <a:close/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0169496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73639" y="0"/>
                  </a:moveTo>
                  <a:lnTo>
                    <a:pt x="44975" y="5560"/>
                  </a:lnTo>
                  <a:lnTo>
                    <a:pt x="21568" y="20722"/>
                  </a:lnTo>
                  <a:lnTo>
                    <a:pt x="5786" y="43212"/>
                  </a:lnTo>
                  <a:lnTo>
                    <a:pt x="0" y="70752"/>
                  </a:lnTo>
                  <a:lnTo>
                    <a:pt x="5786" y="98293"/>
                  </a:lnTo>
                  <a:lnTo>
                    <a:pt x="21568" y="120782"/>
                  </a:lnTo>
                  <a:lnTo>
                    <a:pt x="44975" y="135945"/>
                  </a:lnTo>
                  <a:lnTo>
                    <a:pt x="73639" y="141505"/>
                  </a:lnTo>
                  <a:lnTo>
                    <a:pt x="102303" y="135945"/>
                  </a:lnTo>
                  <a:lnTo>
                    <a:pt x="125710" y="120782"/>
                  </a:lnTo>
                  <a:lnTo>
                    <a:pt x="141492" y="98293"/>
                  </a:lnTo>
                  <a:lnTo>
                    <a:pt x="147279" y="70752"/>
                  </a:lnTo>
                  <a:lnTo>
                    <a:pt x="141492" y="43212"/>
                  </a:lnTo>
                  <a:lnTo>
                    <a:pt x="125710" y="20722"/>
                  </a:lnTo>
                  <a:lnTo>
                    <a:pt x="102303" y="5560"/>
                  </a:lnTo>
                  <a:lnTo>
                    <a:pt x="73639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0169497" y="4221279"/>
              <a:ext cx="147320" cy="141605"/>
            </a:xfrm>
            <a:custGeom>
              <a:avLst/>
              <a:gdLst/>
              <a:ahLst/>
              <a:cxnLst/>
              <a:rect l="l" t="t" r="r" b="b"/>
              <a:pathLst>
                <a:path w="147320" h="141604">
                  <a:moveTo>
                    <a:pt x="147279" y="70753"/>
                  </a:moveTo>
                  <a:lnTo>
                    <a:pt x="141492" y="98293"/>
                  </a:lnTo>
                  <a:lnTo>
                    <a:pt x="125710" y="120782"/>
                  </a:lnTo>
                  <a:lnTo>
                    <a:pt x="102303" y="135945"/>
                  </a:lnTo>
                  <a:lnTo>
                    <a:pt x="73639" y="141506"/>
                  </a:lnTo>
                  <a:lnTo>
                    <a:pt x="44975" y="135945"/>
                  </a:lnTo>
                  <a:lnTo>
                    <a:pt x="21568" y="120782"/>
                  </a:lnTo>
                  <a:lnTo>
                    <a:pt x="5786" y="98293"/>
                  </a:lnTo>
                  <a:lnTo>
                    <a:pt x="0" y="70753"/>
                  </a:lnTo>
                  <a:lnTo>
                    <a:pt x="5786" y="43212"/>
                  </a:lnTo>
                  <a:lnTo>
                    <a:pt x="21568" y="20723"/>
                  </a:lnTo>
                  <a:lnTo>
                    <a:pt x="44975" y="5560"/>
                  </a:lnTo>
                  <a:lnTo>
                    <a:pt x="73639" y="0"/>
                  </a:lnTo>
                  <a:lnTo>
                    <a:pt x="102303" y="5560"/>
                  </a:lnTo>
                  <a:lnTo>
                    <a:pt x="125710" y="20723"/>
                  </a:lnTo>
                  <a:lnTo>
                    <a:pt x="141492" y="43212"/>
                  </a:lnTo>
                  <a:lnTo>
                    <a:pt x="147279" y="70753"/>
                  </a:lnTo>
                  <a:close/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72976" y="4210163"/>
              <a:ext cx="166329" cy="160556"/>
            </a:xfrm>
            <a:prstGeom prst="rect">
              <a:avLst/>
            </a:prstGeom>
          </p:spPr>
        </p:pic>
      </p:grpSp>
      <p:sp>
        <p:nvSpPr>
          <p:cNvPr id="70" name="object 70"/>
          <p:cNvSpPr/>
          <p:nvPr/>
        </p:nvSpPr>
        <p:spPr>
          <a:xfrm>
            <a:off x="7682352" y="2753680"/>
            <a:ext cx="247174" cy="322421"/>
          </a:xfrm>
          <a:custGeom>
            <a:avLst/>
            <a:gdLst/>
            <a:ahLst/>
            <a:cxnLst/>
            <a:rect l="l" t="t" r="r" b="b"/>
            <a:pathLst>
              <a:path w="329565" h="429895">
                <a:moveTo>
                  <a:pt x="164741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429376"/>
                </a:lnTo>
                <a:lnTo>
                  <a:pt x="210167" y="429376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7692156" y="2349627"/>
            <a:ext cx="79629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baseline="6944" dirty="0">
                <a:latin typeface="Cambria Math"/>
                <a:cs typeface="Cambria Math"/>
              </a:rPr>
              <a:t>𝑒</a:t>
            </a:r>
            <a:r>
              <a:rPr sz="2025" baseline="-6172" dirty="0">
                <a:latin typeface="Cambria Math"/>
                <a:cs typeface="Cambria Math"/>
              </a:rPr>
              <a:t>4</a:t>
            </a:r>
            <a:r>
              <a:rPr sz="2025" spc="269" baseline="-6172" dirty="0">
                <a:latin typeface="Cambria Math"/>
                <a:cs typeface="Cambria Math"/>
              </a:rPr>
              <a:t> </a:t>
            </a:r>
            <a:r>
              <a:rPr spc="-15" dirty="0">
                <a:solidFill>
                  <a:srgbClr val="548235"/>
                </a:solidFill>
                <a:latin typeface="Cambria Math"/>
                <a:cs typeface="Cambria Math"/>
              </a:rPr>
              <a:t>−0.5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134611" y="378946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7381825" y="3690904"/>
            <a:ext cx="260033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718"/>
              </a:lnSpc>
            </a:pPr>
            <a:r>
              <a:rPr sz="2700" spc="-28" baseline="-20833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992750" y="3690904"/>
            <a:ext cx="273368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718"/>
              </a:lnSpc>
            </a:pPr>
            <a:r>
              <a:rPr sz="2700" spc="-28" baseline="-20833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1350" spc="-19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484887" y="3830350"/>
            <a:ext cx="166211" cy="208711"/>
          </a:xfrm>
          <a:prstGeom prst="rect">
            <a:avLst/>
          </a:prstGeom>
        </p:spPr>
        <p:txBody>
          <a:bodyPr vert="horz" wrap="square" lIns="0" tIns="953" rIns="0" bIns="0" rtlCol="0">
            <a:spAutoFit/>
          </a:bodyPr>
          <a:lstStyle/>
          <a:p>
            <a:pPr marL="28575">
              <a:spcBef>
                <a:spcPts val="8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8114860" y="3830350"/>
            <a:ext cx="118586" cy="208711"/>
          </a:xfrm>
          <a:prstGeom prst="rect">
            <a:avLst/>
          </a:prstGeom>
        </p:spPr>
        <p:txBody>
          <a:bodyPr vert="horz" wrap="square" lIns="0" tIns="953" rIns="0" bIns="0" rtlCol="0">
            <a:spAutoFit/>
          </a:bodyPr>
          <a:lstStyle/>
          <a:p>
            <a:pPr marL="9525">
              <a:spcBef>
                <a:spcPts val="8"/>
              </a:spcBef>
            </a:pP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165509" y="4144683"/>
            <a:ext cx="1336358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dirty="0">
                <a:solidFill>
                  <a:srgbClr val="C00000"/>
                </a:solidFill>
                <a:latin typeface="Tahoma"/>
                <a:cs typeface="Tahoma"/>
              </a:rPr>
              <a:t>Separate</a:t>
            </a:r>
            <a:r>
              <a:rPr sz="1463" spc="172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463" spc="113" dirty="0">
                <a:solidFill>
                  <a:srgbClr val="C00000"/>
                </a:solidFill>
                <a:latin typeface="Tahoma"/>
                <a:cs typeface="Tahoma"/>
              </a:rPr>
              <a:t>FFNN</a:t>
            </a:r>
            <a:endParaRPr sz="1463">
              <a:latin typeface="Tahoma"/>
              <a:cs typeface="Tahom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27224" y="4238985"/>
            <a:ext cx="82534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dirty="0">
                <a:solidFill>
                  <a:srgbClr val="262626"/>
                </a:solidFill>
                <a:latin typeface="Tahoma"/>
                <a:cs typeface="Tahoma"/>
              </a:rPr>
              <a:t>Input</a:t>
            </a:r>
            <a:r>
              <a:rPr sz="1313" spc="-64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8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632730" y="4247008"/>
            <a:ext cx="40481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352676" y="4247008"/>
            <a:ext cx="65436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240736" y="4258437"/>
            <a:ext cx="433864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4128790" y="4267582"/>
            <a:ext cx="34194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026919" y="4269867"/>
            <a:ext cx="1586865" cy="6399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&lt;s&gt;</a:t>
            </a:r>
            <a:endParaRPr>
              <a:latin typeface="Tahoma"/>
              <a:cs typeface="Tahoma"/>
            </a:endParaRPr>
          </a:p>
          <a:p>
            <a:pPr marL="199073">
              <a:spcBef>
                <a:spcPts val="1020"/>
              </a:spcBef>
            </a:pPr>
            <a:r>
              <a:rPr sz="1463" spc="101" dirty="0">
                <a:solidFill>
                  <a:srgbClr val="7030A0"/>
                </a:solidFill>
                <a:latin typeface="Tahoma"/>
                <a:cs typeface="Tahoma"/>
              </a:rPr>
              <a:t>DECODER</a:t>
            </a:r>
            <a:r>
              <a:rPr sz="1463" spc="-41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>
              <a:latin typeface="Tahoma"/>
              <a:cs typeface="Tahom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065089" y="4695609"/>
            <a:ext cx="1403509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113" dirty="0">
                <a:solidFill>
                  <a:srgbClr val="7030A0"/>
                </a:solidFill>
                <a:latin typeface="Tahoma"/>
                <a:cs typeface="Tahoma"/>
              </a:rPr>
              <a:t>ENCODER</a:t>
            </a:r>
            <a:r>
              <a:rPr sz="1463" spc="-60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7854" y="578611"/>
            <a:ext cx="4856321" cy="98108"/>
          </a:xfrm>
          <a:custGeom>
            <a:avLst/>
            <a:gdLst/>
            <a:ahLst/>
            <a:cxnLst/>
            <a:rect l="l" t="t" r="r" b="b"/>
            <a:pathLst>
              <a:path w="6475095" h="130809">
                <a:moveTo>
                  <a:pt x="6474895" y="0"/>
                </a:moveTo>
                <a:lnTo>
                  <a:pt x="0" y="0"/>
                </a:lnTo>
                <a:lnTo>
                  <a:pt x="0" y="130218"/>
                </a:lnTo>
                <a:lnTo>
                  <a:pt x="6474895" y="130218"/>
                </a:lnTo>
                <a:lnTo>
                  <a:pt x="647489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34" dirty="0"/>
              <a:t>seq2seq</a:t>
            </a:r>
            <a:r>
              <a:rPr spc="-68" dirty="0"/>
              <a:t> </a:t>
            </a:r>
            <a:r>
              <a:rPr spc="-143" dirty="0"/>
              <a:t>+</a:t>
            </a:r>
            <a:r>
              <a:rPr spc="-68" dirty="0"/>
              <a:t> </a:t>
            </a:r>
            <a:r>
              <a:rPr spc="-8" dirty="0"/>
              <a:t>Attention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7224" y="4238985"/>
            <a:ext cx="82534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dirty="0">
                <a:solidFill>
                  <a:srgbClr val="262626"/>
                </a:solidFill>
                <a:latin typeface="Tahoma"/>
                <a:cs typeface="Tahoma"/>
              </a:rPr>
              <a:t>Input</a:t>
            </a:r>
            <a:r>
              <a:rPr sz="1313" spc="-64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8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6450" y="2988543"/>
            <a:ext cx="99298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spc="60" dirty="0">
                <a:solidFill>
                  <a:srgbClr val="262626"/>
                </a:solidFill>
                <a:latin typeface="Tahoma"/>
                <a:cs typeface="Tahoma"/>
              </a:rPr>
              <a:t>Hidden</a:t>
            </a:r>
            <a:r>
              <a:rPr sz="1313" spc="-41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15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750551" y="2662962"/>
            <a:ext cx="262414" cy="1052036"/>
            <a:chOff x="2334067" y="3550615"/>
            <a:chExt cx="349885" cy="1402715"/>
          </a:xfrm>
        </p:grpSpPr>
        <p:sp>
          <p:nvSpPr>
            <p:cNvPr id="7" name="object 7"/>
            <p:cNvSpPr/>
            <p:nvPr/>
          </p:nvSpPr>
          <p:spPr>
            <a:xfrm>
              <a:off x="235311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6859" y="4636615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390355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144096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3892228"/>
              <a:ext cx="222250" cy="222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914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175721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7115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2" y="0"/>
                </a:moveTo>
                <a:lnTo>
                  <a:pt x="338042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2" y="210167"/>
                </a:lnTo>
                <a:lnTo>
                  <a:pt x="338042" y="329483"/>
                </a:lnTo>
                <a:lnTo>
                  <a:pt x="567437" y="164741"/>
                </a:lnTo>
                <a:lnTo>
                  <a:pt x="33804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2562171" y="2662962"/>
            <a:ext cx="262414" cy="1052036"/>
            <a:chOff x="3416227" y="3550615"/>
            <a:chExt cx="349885" cy="1402715"/>
          </a:xfrm>
        </p:grpSpPr>
        <p:sp>
          <p:nvSpPr>
            <p:cNvPr id="16" name="object 16"/>
            <p:cNvSpPr/>
            <p:nvPr/>
          </p:nvSpPr>
          <p:spPr>
            <a:xfrm>
              <a:off x="343527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9021" y="4636615"/>
              <a:ext cx="222250" cy="2222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390355"/>
              <a:ext cx="222250" cy="2222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144096"/>
              <a:ext cx="222250" cy="2222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3892228"/>
              <a:ext cx="222250" cy="22225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130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2568838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0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82777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3353240" y="2662962"/>
            <a:ext cx="262414" cy="1052036"/>
            <a:chOff x="4470986" y="3550615"/>
            <a:chExt cx="349885" cy="1402715"/>
          </a:xfrm>
        </p:grpSpPr>
        <p:sp>
          <p:nvSpPr>
            <p:cNvPr id="25" name="object 25"/>
            <p:cNvSpPr/>
            <p:nvPr/>
          </p:nvSpPr>
          <p:spPr>
            <a:xfrm>
              <a:off x="4490036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3779" y="4636615"/>
              <a:ext cx="222250" cy="2222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390355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144096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3892228"/>
              <a:ext cx="222250" cy="2222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606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31" name="object 31"/>
          <p:cNvSpPr/>
          <p:nvPr/>
        </p:nvSpPr>
        <p:spPr>
          <a:xfrm>
            <a:off x="335990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67384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4169424" y="2662962"/>
            <a:ext cx="262414" cy="1052036"/>
            <a:chOff x="5559231" y="3550615"/>
            <a:chExt cx="349885" cy="1402715"/>
          </a:xfrm>
        </p:grpSpPr>
        <p:sp>
          <p:nvSpPr>
            <p:cNvPr id="34" name="object 34"/>
            <p:cNvSpPr/>
            <p:nvPr/>
          </p:nvSpPr>
          <p:spPr>
            <a:xfrm>
              <a:off x="5578281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2024" y="4636613"/>
              <a:ext cx="222250" cy="2222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390354"/>
              <a:ext cx="222250" cy="22225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144096"/>
              <a:ext cx="222250" cy="22225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3892227"/>
              <a:ext cx="222250" cy="22225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430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40" name="object 40"/>
          <p:cNvSpPr/>
          <p:nvPr/>
        </p:nvSpPr>
        <p:spPr>
          <a:xfrm>
            <a:off x="4176090" y="378961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632731" y="4247008"/>
            <a:ext cx="137398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729139" algn="l"/>
              </a:tabLst>
            </a:pPr>
            <a:r>
              <a:rPr spc="-19" dirty="0">
                <a:latin typeface="Tahoma"/>
                <a:cs typeface="Tahoma"/>
              </a:rPr>
              <a:t>The</a:t>
            </a:r>
            <a:r>
              <a:rPr dirty="0">
                <a:latin typeface="Tahoma"/>
                <a:cs typeface="Tahoma"/>
              </a:rPr>
              <a:t>	</a:t>
            </a: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40736" y="4258438"/>
            <a:ext cx="433864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128790" y="4267582"/>
            <a:ext cx="34194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881073" y="241134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662144" y="2429637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496597" y="2429637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3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305232" y="242049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496647" y="2233042"/>
            <a:ext cx="196977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7625">
              <a:spcBef>
                <a:spcPts val="75"/>
              </a:spcBef>
              <a:tabLst>
                <a:tab pos="882015" algn="l"/>
                <a:tab pos="1690211" algn="l"/>
              </a:tabLst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2700" spc="-28" baseline="-19675" dirty="0">
                <a:latin typeface="Cambria Math"/>
                <a:cs typeface="Cambria Math"/>
              </a:rPr>
              <a:t>ℎ</a:t>
            </a:r>
            <a:r>
              <a:rPr sz="2025" spc="-28" baseline="1543" dirty="0">
                <a:latin typeface="Cambria Math"/>
                <a:cs typeface="Cambria Math"/>
              </a:rPr>
              <a:t>𝐸</a:t>
            </a:r>
            <a:endParaRPr sz="2025" baseline="1543">
              <a:latin typeface="Cambria Math"/>
              <a:cs typeface="Cambria Math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127729" y="2662962"/>
            <a:ext cx="262414" cy="1052036"/>
            <a:chOff x="6836972" y="3550615"/>
            <a:chExt cx="349885" cy="1402715"/>
          </a:xfrm>
        </p:grpSpPr>
        <p:sp>
          <p:nvSpPr>
            <p:cNvPr id="50" name="object 50"/>
            <p:cNvSpPr/>
            <p:nvPr/>
          </p:nvSpPr>
          <p:spPr>
            <a:xfrm>
              <a:off x="6856022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9765" y="4636613"/>
              <a:ext cx="222250" cy="22225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390354"/>
              <a:ext cx="222250" cy="22225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144096"/>
              <a:ext cx="222250" cy="22225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3892227"/>
              <a:ext cx="222250" cy="22225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0204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5238748" y="240906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730387" y="2214753"/>
            <a:ext cx="368808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  <a:tabLst>
                <a:tab pos="3395663" algn="l"/>
              </a:tabLst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2700" spc="-28" baseline="-20833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1350" spc="-19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298751" y="3172588"/>
            <a:ext cx="79629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baseline="6944" dirty="0">
                <a:latin typeface="Cambria Math"/>
                <a:cs typeface="Cambria Math"/>
              </a:rPr>
              <a:t>𝑒</a:t>
            </a:r>
            <a:r>
              <a:rPr sz="2025" baseline="-6172" dirty="0">
                <a:latin typeface="Cambria Math"/>
                <a:cs typeface="Cambria Math"/>
              </a:rPr>
              <a:t>4</a:t>
            </a:r>
            <a:r>
              <a:rPr sz="2025" spc="269" baseline="-6172" dirty="0">
                <a:latin typeface="Cambria Math"/>
                <a:cs typeface="Cambria Math"/>
              </a:rPr>
              <a:t> </a:t>
            </a:r>
            <a:r>
              <a:rPr spc="-15" dirty="0">
                <a:solidFill>
                  <a:srgbClr val="548235"/>
                </a:solidFill>
                <a:latin typeface="Cambria Math"/>
                <a:cs typeface="Cambria Math"/>
              </a:rPr>
              <a:t>−0.5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body" idx="1"/>
          </p:nvPr>
        </p:nvSpPr>
        <p:spPr>
          <a:xfrm>
            <a:off x="183712" y="1379305"/>
            <a:ext cx="2789396" cy="6827318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pc="45" dirty="0">
                <a:solidFill>
                  <a:srgbClr val="C00000"/>
                </a:solidFill>
              </a:rPr>
              <a:t>Q:</a:t>
            </a:r>
            <a:r>
              <a:rPr spc="8" dirty="0">
                <a:solidFill>
                  <a:srgbClr val="C00000"/>
                </a:solidFill>
              </a:rPr>
              <a:t> </a:t>
            </a:r>
            <a:r>
              <a:rPr spc="49" dirty="0"/>
              <a:t>How</a:t>
            </a:r>
            <a:r>
              <a:rPr spc="4" dirty="0"/>
              <a:t> </a:t>
            </a:r>
            <a:r>
              <a:rPr spc="94" dirty="0"/>
              <a:t>do</a:t>
            </a:r>
            <a:r>
              <a:rPr dirty="0"/>
              <a:t> we</a:t>
            </a:r>
            <a:r>
              <a:rPr spc="-4" dirty="0"/>
              <a:t> </a:t>
            </a:r>
            <a:r>
              <a:rPr spc="38" dirty="0"/>
              <a:t>determine</a:t>
            </a:r>
            <a:r>
              <a:rPr dirty="0"/>
              <a:t> how</a:t>
            </a:r>
            <a:r>
              <a:rPr spc="4" dirty="0"/>
              <a:t> </a:t>
            </a:r>
            <a:r>
              <a:rPr dirty="0"/>
              <a:t>much </a:t>
            </a:r>
            <a:r>
              <a:rPr spc="45" dirty="0"/>
              <a:t>to</a:t>
            </a:r>
            <a:r>
              <a:rPr dirty="0"/>
              <a:t> pay attention </a:t>
            </a:r>
            <a:r>
              <a:rPr spc="45" dirty="0"/>
              <a:t>to</a:t>
            </a:r>
            <a:r>
              <a:rPr spc="-4" dirty="0"/>
              <a:t> </a:t>
            </a:r>
            <a:r>
              <a:rPr dirty="0"/>
              <a:t>each of</a:t>
            </a:r>
            <a:r>
              <a:rPr spc="8" dirty="0"/>
              <a:t> </a:t>
            </a:r>
            <a:r>
              <a:rPr dirty="0"/>
              <a:t>the encoder’s </a:t>
            </a:r>
            <a:r>
              <a:rPr spc="53" dirty="0"/>
              <a:t>hidden</a:t>
            </a:r>
            <a:r>
              <a:rPr dirty="0"/>
              <a:t> </a:t>
            </a:r>
            <a:r>
              <a:rPr spc="-8" dirty="0"/>
              <a:t>layers?</a:t>
            </a:r>
          </a:p>
          <a:p>
            <a:pPr marL="9525" marR="117158">
              <a:lnSpc>
                <a:spcPct val="119000"/>
              </a:lnSpc>
              <a:spcBef>
                <a:spcPts val="1080"/>
              </a:spcBef>
            </a:pPr>
            <a:r>
              <a:rPr dirty="0">
                <a:solidFill>
                  <a:srgbClr val="C00000"/>
                </a:solidFill>
              </a:rPr>
              <a:t>A:</a:t>
            </a:r>
            <a:r>
              <a:rPr spc="-4" dirty="0">
                <a:solidFill>
                  <a:srgbClr val="C00000"/>
                </a:solidFill>
              </a:rPr>
              <a:t> </a:t>
            </a:r>
            <a:r>
              <a:rPr dirty="0"/>
              <a:t>Let’s</a:t>
            </a:r>
            <a:r>
              <a:rPr spc="-11" dirty="0"/>
              <a:t> </a:t>
            </a:r>
            <a:r>
              <a:rPr dirty="0"/>
              <a:t>base</a:t>
            </a:r>
            <a:r>
              <a:rPr spc="-8" dirty="0"/>
              <a:t> </a:t>
            </a:r>
            <a:r>
              <a:rPr dirty="0"/>
              <a:t>it</a:t>
            </a:r>
            <a:r>
              <a:rPr spc="-11" dirty="0"/>
              <a:t> </a:t>
            </a:r>
            <a:r>
              <a:rPr spc="49" dirty="0"/>
              <a:t>on</a:t>
            </a:r>
            <a:r>
              <a:rPr spc="-4" dirty="0"/>
              <a:t> </a:t>
            </a:r>
            <a:r>
              <a:rPr dirty="0"/>
              <a:t>our</a:t>
            </a:r>
            <a:r>
              <a:rPr spc="-11" dirty="0"/>
              <a:t> </a:t>
            </a:r>
            <a:r>
              <a:rPr spc="34" dirty="0"/>
              <a:t>decoder’s</a:t>
            </a:r>
            <a:r>
              <a:rPr spc="-11" dirty="0"/>
              <a:t> </a:t>
            </a:r>
            <a:r>
              <a:rPr dirty="0"/>
              <a:t>current</a:t>
            </a:r>
            <a:r>
              <a:rPr spc="-11" dirty="0"/>
              <a:t> </a:t>
            </a:r>
            <a:r>
              <a:rPr spc="53" dirty="0"/>
              <a:t>hidden</a:t>
            </a:r>
            <a:r>
              <a:rPr spc="-8" dirty="0"/>
              <a:t> </a:t>
            </a:r>
            <a:r>
              <a:rPr dirty="0"/>
              <a:t>state</a:t>
            </a:r>
            <a:r>
              <a:rPr spc="-8" dirty="0"/>
              <a:t> </a:t>
            </a:r>
            <a:r>
              <a:rPr spc="-19" dirty="0"/>
              <a:t>(our</a:t>
            </a:r>
            <a:r>
              <a:rPr spc="-11" dirty="0"/>
              <a:t> </a:t>
            </a:r>
            <a:r>
              <a:rPr dirty="0"/>
              <a:t>current</a:t>
            </a:r>
            <a:r>
              <a:rPr spc="-8" dirty="0"/>
              <a:t> </a:t>
            </a:r>
            <a:r>
              <a:rPr dirty="0"/>
              <a:t>representation</a:t>
            </a:r>
            <a:r>
              <a:rPr spc="-8" dirty="0"/>
              <a:t> </a:t>
            </a:r>
            <a:r>
              <a:rPr dirty="0"/>
              <a:t>of</a:t>
            </a:r>
            <a:r>
              <a:rPr spc="-4" dirty="0"/>
              <a:t> </a:t>
            </a:r>
            <a:r>
              <a:rPr spc="-8" dirty="0"/>
              <a:t>meaning) </a:t>
            </a:r>
            <a:r>
              <a:rPr spc="38" dirty="0"/>
              <a:t>and</a:t>
            </a:r>
            <a:r>
              <a:rPr spc="4" dirty="0"/>
              <a:t> </a:t>
            </a:r>
            <a:r>
              <a:rPr dirty="0"/>
              <a:t>all</a:t>
            </a:r>
            <a:r>
              <a:rPr spc="11" dirty="0"/>
              <a:t> </a:t>
            </a:r>
            <a:r>
              <a:rPr dirty="0"/>
              <a:t>of</a:t>
            </a:r>
            <a:r>
              <a:rPr spc="11" dirty="0"/>
              <a:t> </a:t>
            </a:r>
            <a:r>
              <a:rPr dirty="0"/>
              <a:t>the</a:t>
            </a:r>
            <a:r>
              <a:rPr spc="8" dirty="0"/>
              <a:t> </a:t>
            </a:r>
            <a:r>
              <a:rPr dirty="0"/>
              <a:t>encoder’s</a:t>
            </a:r>
            <a:r>
              <a:rPr spc="4" dirty="0"/>
              <a:t> </a:t>
            </a:r>
            <a:r>
              <a:rPr spc="53" dirty="0"/>
              <a:t>hidden</a:t>
            </a:r>
            <a:r>
              <a:rPr spc="8" dirty="0"/>
              <a:t> </a:t>
            </a:r>
            <a:r>
              <a:rPr spc="-8" dirty="0"/>
              <a:t>layers!</a:t>
            </a:r>
          </a:p>
          <a:p>
            <a:pPr marR="3810" algn="r">
              <a:spcBef>
                <a:spcPts val="1646"/>
              </a:spcBef>
            </a:pPr>
            <a:r>
              <a:rPr spc="38" dirty="0">
                <a:solidFill>
                  <a:srgbClr val="7030A0"/>
                </a:solidFill>
              </a:rPr>
              <a:t>Attention</a:t>
            </a:r>
            <a:r>
              <a:rPr spc="-41" dirty="0">
                <a:solidFill>
                  <a:srgbClr val="7030A0"/>
                </a:solidFill>
              </a:rPr>
              <a:t> </a:t>
            </a:r>
            <a:r>
              <a:rPr spc="-64" dirty="0">
                <a:solidFill>
                  <a:srgbClr val="7030A0"/>
                </a:solidFill>
              </a:rPr>
              <a:t>(raw</a:t>
            </a:r>
            <a:r>
              <a:rPr spc="-38" dirty="0">
                <a:solidFill>
                  <a:srgbClr val="7030A0"/>
                </a:solidFill>
              </a:rPr>
              <a:t> </a:t>
            </a:r>
            <a:r>
              <a:rPr spc="-8" dirty="0">
                <a:solidFill>
                  <a:srgbClr val="7030A0"/>
                </a:solidFill>
              </a:rPr>
              <a:t>scores)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7289844" y="2642235"/>
            <a:ext cx="262890" cy="48410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6683">
              <a:lnSpc>
                <a:spcPts val="1601"/>
              </a:lnSpc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  <a:p>
            <a:pPr marL="28575">
              <a:lnSpc>
                <a:spcPts val="2141"/>
              </a:lnSpc>
            </a:pPr>
            <a:r>
              <a:rPr spc="-19" dirty="0">
                <a:latin typeface="Cambria Math"/>
                <a:cs typeface="Cambria Math"/>
              </a:rPr>
              <a:t>𝑒</a:t>
            </a:r>
            <a:r>
              <a:rPr sz="2025" spc="-28" baseline="-15432" dirty="0">
                <a:latin typeface="Cambria Math"/>
                <a:cs typeface="Cambria Math"/>
              </a:rPr>
              <a:t>3</a:t>
            </a:r>
            <a:endParaRPr sz="2025" baseline="-15432">
              <a:latin typeface="Cambria Math"/>
              <a:cs typeface="Cambria Math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281698" y="2198751"/>
            <a:ext cx="260985" cy="634308"/>
          </a:xfrm>
          <a:prstGeom prst="rect">
            <a:avLst/>
          </a:prstGeom>
        </p:spPr>
        <p:txBody>
          <a:bodyPr vert="horz" wrap="square" lIns="0" tIns="41433" rIns="0" bIns="0" rtlCol="0">
            <a:spAutoFit/>
          </a:bodyPr>
          <a:lstStyle/>
          <a:p>
            <a:pPr marL="31433">
              <a:spcBef>
                <a:spcPts val="326"/>
              </a:spcBef>
            </a:pPr>
            <a:r>
              <a:rPr spc="-19" dirty="0">
                <a:latin typeface="Cambria Math"/>
                <a:cs typeface="Cambria Math"/>
              </a:rPr>
              <a:t>𝑒</a:t>
            </a:r>
            <a:r>
              <a:rPr sz="2025" spc="-28" baseline="-15432" dirty="0">
                <a:latin typeface="Cambria Math"/>
                <a:cs typeface="Cambria Math"/>
              </a:rPr>
              <a:t>1</a:t>
            </a:r>
            <a:endParaRPr sz="2025" baseline="-15432">
              <a:latin typeface="Cambria Math"/>
              <a:cs typeface="Cambria Math"/>
            </a:endParaRPr>
          </a:p>
          <a:p>
            <a:pPr marL="28575">
              <a:spcBef>
                <a:spcPts val="251"/>
              </a:spcBef>
            </a:pPr>
            <a:r>
              <a:rPr spc="-38" dirty="0">
                <a:latin typeface="Cambria Math"/>
                <a:cs typeface="Cambria Math"/>
              </a:rPr>
              <a:t>𝑒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655238" y="2226182"/>
            <a:ext cx="326707" cy="949778"/>
          </a:xfrm>
          <a:prstGeom prst="rect">
            <a:avLst/>
          </a:prstGeom>
        </p:spPr>
        <p:txBody>
          <a:bodyPr vert="horz" wrap="square" lIns="0" tIns="41433" rIns="0" bIns="0" rtlCol="0">
            <a:spAutoFit/>
          </a:bodyPr>
          <a:lstStyle/>
          <a:p>
            <a:pPr marL="10001">
              <a:spcBef>
                <a:spcPts val="326"/>
              </a:spcBef>
            </a:pPr>
            <a:r>
              <a:rPr spc="-19" dirty="0">
                <a:solidFill>
                  <a:srgbClr val="548235"/>
                </a:solidFill>
                <a:latin typeface="Cambria Math"/>
                <a:cs typeface="Cambria Math"/>
              </a:rPr>
              <a:t>1.5</a:t>
            </a:r>
            <a:endParaRPr>
              <a:latin typeface="Cambria Math"/>
              <a:cs typeface="Cambria Math"/>
            </a:endParaRPr>
          </a:p>
          <a:p>
            <a:pPr marL="9525">
              <a:spcBef>
                <a:spcPts val="251"/>
              </a:spcBef>
            </a:pPr>
            <a:r>
              <a:rPr spc="-19" dirty="0">
                <a:solidFill>
                  <a:srgbClr val="548235"/>
                </a:solidFill>
                <a:latin typeface="Cambria Math"/>
                <a:cs typeface="Cambria Math"/>
              </a:rPr>
              <a:t>0.9</a:t>
            </a:r>
            <a:endParaRPr>
              <a:latin typeface="Cambria Math"/>
              <a:cs typeface="Cambria Math"/>
            </a:endParaRPr>
          </a:p>
          <a:p>
            <a:pPr marL="17621">
              <a:spcBef>
                <a:spcPts val="251"/>
              </a:spcBef>
            </a:pPr>
            <a:r>
              <a:rPr spc="-19" dirty="0">
                <a:solidFill>
                  <a:srgbClr val="548235"/>
                </a:solidFill>
                <a:latin typeface="Cambria Math"/>
                <a:cs typeface="Cambria Math"/>
              </a:rPr>
              <a:t>0.2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026920" y="4269867"/>
            <a:ext cx="42148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75" dirty="0">
                <a:latin typeface="Tahoma"/>
                <a:cs typeface="Tahoma"/>
              </a:rPr>
              <a:t>&lt;s&gt;</a:t>
            </a:r>
            <a:endParaRPr>
              <a:latin typeface="Tahoma"/>
              <a:cs typeface="Tahoma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134611" y="378946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5216833" y="4672749"/>
            <a:ext cx="1396841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101" dirty="0">
                <a:solidFill>
                  <a:srgbClr val="7030A0"/>
                </a:solidFill>
                <a:latin typeface="Tahoma"/>
                <a:cs typeface="Tahoma"/>
              </a:rPr>
              <a:t>DECODER</a:t>
            </a:r>
            <a:r>
              <a:rPr sz="1463" spc="-41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>
              <a:latin typeface="Tahoma"/>
              <a:cs typeface="Tahom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065089" y="4695609"/>
            <a:ext cx="1403509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113" dirty="0">
                <a:solidFill>
                  <a:srgbClr val="7030A0"/>
                </a:solidFill>
                <a:latin typeface="Tahoma"/>
                <a:cs typeface="Tahoma"/>
              </a:rPr>
              <a:t>ENCODER</a:t>
            </a:r>
            <a:r>
              <a:rPr sz="1463" spc="-60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7854" y="578611"/>
            <a:ext cx="4856321" cy="98108"/>
          </a:xfrm>
          <a:custGeom>
            <a:avLst/>
            <a:gdLst/>
            <a:ahLst/>
            <a:cxnLst/>
            <a:rect l="l" t="t" r="r" b="b"/>
            <a:pathLst>
              <a:path w="6475095" h="130809">
                <a:moveTo>
                  <a:pt x="6474895" y="0"/>
                </a:moveTo>
                <a:lnTo>
                  <a:pt x="0" y="0"/>
                </a:lnTo>
                <a:lnTo>
                  <a:pt x="0" y="130218"/>
                </a:lnTo>
                <a:lnTo>
                  <a:pt x="6474895" y="130218"/>
                </a:lnTo>
                <a:lnTo>
                  <a:pt x="647489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34" dirty="0"/>
              <a:t>seq2seq</a:t>
            </a:r>
            <a:r>
              <a:rPr spc="-68" dirty="0"/>
              <a:t> </a:t>
            </a:r>
            <a:r>
              <a:rPr spc="-143" dirty="0"/>
              <a:t>+</a:t>
            </a:r>
            <a:r>
              <a:rPr spc="-68" dirty="0"/>
              <a:t> </a:t>
            </a:r>
            <a:r>
              <a:rPr spc="-8" dirty="0"/>
              <a:t>Attention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7224" y="4238985"/>
            <a:ext cx="82534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dirty="0">
                <a:solidFill>
                  <a:srgbClr val="262626"/>
                </a:solidFill>
                <a:latin typeface="Tahoma"/>
                <a:cs typeface="Tahoma"/>
              </a:rPr>
              <a:t>Input</a:t>
            </a:r>
            <a:r>
              <a:rPr sz="1313" spc="-64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8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6450" y="2988543"/>
            <a:ext cx="99298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spc="60" dirty="0">
                <a:solidFill>
                  <a:srgbClr val="262626"/>
                </a:solidFill>
                <a:latin typeface="Tahoma"/>
                <a:cs typeface="Tahoma"/>
              </a:rPr>
              <a:t>Hidden</a:t>
            </a:r>
            <a:r>
              <a:rPr sz="1313" spc="-41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15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750551" y="2662962"/>
            <a:ext cx="262414" cy="1052036"/>
            <a:chOff x="2334067" y="3550615"/>
            <a:chExt cx="349885" cy="1402715"/>
          </a:xfrm>
        </p:grpSpPr>
        <p:sp>
          <p:nvSpPr>
            <p:cNvPr id="7" name="object 7"/>
            <p:cNvSpPr/>
            <p:nvPr/>
          </p:nvSpPr>
          <p:spPr>
            <a:xfrm>
              <a:off x="235311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6859" y="4636615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390355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144096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3892228"/>
              <a:ext cx="222250" cy="222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914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175721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7115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2" y="0"/>
                </a:moveTo>
                <a:lnTo>
                  <a:pt x="338042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2" y="210167"/>
                </a:lnTo>
                <a:lnTo>
                  <a:pt x="338042" y="329483"/>
                </a:lnTo>
                <a:lnTo>
                  <a:pt x="567437" y="164741"/>
                </a:lnTo>
                <a:lnTo>
                  <a:pt x="33804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2562171" y="2662962"/>
            <a:ext cx="262414" cy="1052036"/>
            <a:chOff x="3416227" y="3550615"/>
            <a:chExt cx="349885" cy="1402715"/>
          </a:xfrm>
        </p:grpSpPr>
        <p:sp>
          <p:nvSpPr>
            <p:cNvPr id="16" name="object 16"/>
            <p:cNvSpPr/>
            <p:nvPr/>
          </p:nvSpPr>
          <p:spPr>
            <a:xfrm>
              <a:off x="343527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9021" y="4636615"/>
              <a:ext cx="222250" cy="2222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390355"/>
              <a:ext cx="222250" cy="2222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144096"/>
              <a:ext cx="222250" cy="2222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3892228"/>
              <a:ext cx="222250" cy="22225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130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2568838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0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82777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3353240" y="2662962"/>
            <a:ext cx="262414" cy="1052036"/>
            <a:chOff x="4470986" y="3550615"/>
            <a:chExt cx="349885" cy="1402715"/>
          </a:xfrm>
        </p:grpSpPr>
        <p:sp>
          <p:nvSpPr>
            <p:cNvPr id="25" name="object 25"/>
            <p:cNvSpPr/>
            <p:nvPr/>
          </p:nvSpPr>
          <p:spPr>
            <a:xfrm>
              <a:off x="4490036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3779" y="4636615"/>
              <a:ext cx="222250" cy="2222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390355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144096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3892228"/>
              <a:ext cx="222250" cy="2222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606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31" name="object 31"/>
          <p:cNvSpPr/>
          <p:nvPr/>
        </p:nvSpPr>
        <p:spPr>
          <a:xfrm>
            <a:off x="335990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67384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4169424" y="2662962"/>
            <a:ext cx="262414" cy="1052036"/>
            <a:chOff x="5559231" y="3550615"/>
            <a:chExt cx="349885" cy="1402715"/>
          </a:xfrm>
        </p:grpSpPr>
        <p:sp>
          <p:nvSpPr>
            <p:cNvPr id="34" name="object 34"/>
            <p:cNvSpPr/>
            <p:nvPr/>
          </p:nvSpPr>
          <p:spPr>
            <a:xfrm>
              <a:off x="5578281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2024" y="4636613"/>
              <a:ext cx="222250" cy="2222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390354"/>
              <a:ext cx="222250" cy="22225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144096"/>
              <a:ext cx="222250" cy="22225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3892227"/>
              <a:ext cx="222250" cy="22225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430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40" name="object 40"/>
          <p:cNvSpPr/>
          <p:nvPr/>
        </p:nvSpPr>
        <p:spPr>
          <a:xfrm>
            <a:off x="4176090" y="378961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632731" y="4247008"/>
            <a:ext cx="137398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729139" algn="l"/>
              </a:tabLst>
            </a:pPr>
            <a:r>
              <a:rPr spc="-19" dirty="0">
                <a:latin typeface="Tahoma"/>
                <a:cs typeface="Tahoma"/>
              </a:rPr>
              <a:t>The</a:t>
            </a:r>
            <a:r>
              <a:rPr dirty="0">
                <a:latin typeface="Tahoma"/>
                <a:cs typeface="Tahoma"/>
              </a:rPr>
              <a:t>	</a:t>
            </a: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40736" y="4258438"/>
            <a:ext cx="433864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128790" y="4267582"/>
            <a:ext cx="34194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881073" y="241134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662144" y="2429637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496597" y="2429637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3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305232" y="242049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496647" y="2233042"/>
            <a:ext cx="196977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7625">
              <a:spcBef>
                <a:spcPts val="75"/>
              </a:spcBef>
              <a:tabLst>
                <a:tab pos="882015" algn="l"/>
                <a:tab pos="1690211" algn="l"/>
              </a:tabLst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2700" spc="-28" baseline="-19675" dirty="0">
                <a:latin typeface="Cambria Math"/>
                <a:cs typeface="Cambria Math"/>
              </a:rPr>
              <a:t>ℎ</a:t>
            </a:r>
            <a:r>
              <a:rPr sz="2025" spc="-28" baseline="1543" dirty="0">
                <a:latin typeface="Cambria Math"/>
                <a:cs typeface="Cambria Math"/>
              </a:rPr>
              <a:t>𝐸</a:t>
            </a:r>
            <a:endParaRPr sz="2025" baseline="1543">
              <a:latin typeface="Cambria Math"/>
              <a:cs typeface="Cambria Math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127729" y="2662962"/>
            <a:ext cx="262414" cy="1052036"/>
            <a:chOff x="6836972" y="3550615"/>
            <a:chExt cx="349885" cy="1402715"/>
          </a:xfrm>
        </p:grpSpPr>
        <p:sp>
          <p:nvSpPr>
            <p:cNvPr id="50" name="object 50"/>
            <p:cNvSpPr/>
            <p:nvPr/>
          </p:nvSpPr>
          <p:spPr>
            <a:xfrm>
              <a:off x="6856022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9765" y="4636613"/>
              <a:ext cx="222250" cy="22225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390354"/>
              <a:ext cx="222250" cy="22225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144096"/>
              <a:ext cx="222250" cy="22225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3892227"/>
              <a:ext cx="222250" cy="22225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0204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5238748" y="240906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730387" y="2214753"/>
            <a:ext cx="368808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  <a:tabLst>
                <a:tab pos="3395663" algn="l"/>
              </a:tabLst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2700" spc="-28" baseline="-20833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1350" spc="-19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endParaRPr sz="1350" dirty="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body" idx="1"/>
          </p:nvPr>
        </p:nvSpPr>
        <p:spPr>
          <a:xfrm>
            <a:off x="204272" y="825094"/>
            <a:ext cx="8735456" cy="1435329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600" spc="45" dirty="0">
                <a:solidFill>
                  <a:srgbClr val="C00000"/>
                </a:solidFill>
              </a:rPr>
              <a:t>Q:</a:t>
            </a:r>
            <a:r>
              <a:rPr sz="1600" spc="8" dirty="0">
                <a:solidFill>
                  <a:srgbClr val="C00000"/>
                </a:solidFill>
              </a:rPr>
              <a:t> </a:t>
            </a:r>
            <a:r>
              <a:rPr sz="1600" spc="49" dirty="0"/>
              <a:t>How</a:t>
            </a:r>
            <a:r>
              <a:rPr sz="1600" spc="4" dirty="0"/>
              <a:t> </a:t>
            </a:r>
            <a:r>
              <a:rPr sz="1600" spc="94" dirty="0"/>
              <a:t>do</a:t>
            </a:r>
            <a:r>
              <a:rPr sz="1600" dirty="0"/>
              <a:t> we</a:t>
            </a:r>
            <a:r>
              <a:rPr sz="1600" spc="-4" dirty="0"/>
              <a:t> </a:t>
            </a:r>
            <a:r>
              <a:rPr sz="1600" spc="38" dirty="0"/>
              <a:t>determine</a:t>
            </a:r>
            <a:r>
              <a:rPr sz="1600" dirty="0"/>
              <a:t> how</a:t>
            </a:r>
            <a:r>
              <a:rPr sz="1600" spc="4" dirty="0"/>
              <a:t> </a:t>
            </a:r>
            <a:r>
              <a:rPr sz="1600" dirty="0"/>
              <a:t>much </a:t>
            </a:r>
            <a:r>
              <a:rPr sz="1600" spc="45" dirty="0"/>
              <a:t>to</a:t>
            </a:r>
            <a:r>
              <a:rPr sz="1600" dirty="0"/>
              <a:t> pay attention </a:t>
            </a:r>
            <a:r>
              <a:rPr sz="1600" spc="45" dirty="0"/>
              <a:t>to</a:t>
            </a:r>
            <a:r>
              <a:rPr sz="1600" spc="-4" dirty="0"/>
              <a:t> </a:t>
            </a:r>
            <a:r>
              <a:rPr sz="1600" dirty="0"/>
              <a:t>each of</a:t>
            </a:r>
            <a:r>
              <a:rPr sz="1600" spc="8" dirty="0"/>
              <a:t> </a:t>
            </a:r>
            <a:r>
              <a:rPr sz="1600" dirty="0"/>
              <a:t>the encoder’s </a:t>
            </a:r>
            <a:r>
              <a:rPr sz="1600" spc="53" dirty="0"/>
              <a:t>hidden</a:t>
            </a:r>
            <a:r>
              <a:rPr sz="1600" dirty="0"/>
              <a:t> </a:t>
            </a:r>
            <a:r>
              <a:rPr sz="1600" spc="-8" dirty="0"/>
              <a:t>layers?</a:t>
            </a:r>
          </a:p>
          <a:p>
            <a:pPr marL="9525" marR="117158">
              <a:lnSpc>
                <a:spcPct val="119000"/>
              </a:lnSpc>
              <a:spcBef>
                <a:spcPts val="1080"/>
              </a:spcBef>
            </a:pPr>
            <a:r>
              <a:rPr sz="1600" dirty="0">
                <a:solidFill>
                  <a:srgbClr val="C00000"/>
                </a:solidFill>
              </a:rPr>
              <a:t>A:</a:t>
            </a:r>
            <a:r>
              <a:rPr sz="1600" spc="-4" dirty="0">
                <a:solidFill>
                  <a:srgbClr val="C00000"/>
                </a:solidFill>
              </a:rPr>
              <a:t> </a:t>
            </a:r>
            <a:r>
              <a:rPr sz="1600" dirty="0"/>
              <a:t>Let’s</a:t>
            </a:r>
            <a:r>
              <a:rPr sz="1600" spc="-11" dirty="0"/>
              <a:t> </a:t>
            </a:r>
            <a:r>
              <a:rPr sz="1600" dirty="0"/>
              <a:t>base</a:t>
            </a:r>
            <a:r>
              <a:rPr sz="1600" spc="-8" dirty="0"/>
              <a:t> </a:t>
            </a:r>
            <a:r>
              <a:rPr sz="1600" dirty="0"/>
              <a:t>it</a:t>
            </a:r>
            <a:r>
              <a:rPr sz="1600" spc="-11" dirty="0"/>
              <a:t> </a:t>
            </a:r>
            <a:r>
              <a:rPr sz="1600" spc="49" dirty="0"/>
              <a:t>on</a:t>
            </a:r>
            <a:r>
              <a:rPr sz="1600" spc="-4" dirty="0"/>
              <a:t> </a:t>
            </a:r>
            <a:r>
              <a:rPr sz="1600" dirty="0"/>
              <a:t>our</a:t>
            </a:r>
            <a:r>
              <a:rPr sz="1600" spc="-11" dirty="0"/>
              <a:t> </a:t>
            </a:r>
            <a:r>
              <a:rPr sz="1600" spc="34" dirty="0"/>
              <a:t>decoder’s</a:t>
            </a:r>
            <a:r>
              <a:rPr sz="1600" spc="-11" dirty="0"/>
              <a:t> </a:t>
            </a:r>
            <a:r>
              <a:rPr sz="1600" dirty="0"/>
              <a:t>current</a:t>
            </a:r>
            <a:r>
              <a:rPr sz="1600" spc="-11" dirty="0"/>
              <a:t> </a:t>
            </a:r>
            <a:r>
              <a:rPr sz="1600" spc="53" dirty="0"/>
              <a:t>hidden</a:t>
            </a:r>
            <a:r>
              <a:rPr sz="1600" spc="-8" dirty="0"/>
              <a:t> </a:t>
            </a:r>
            <a:r>
              <a:rPr sz="1600" dirty="0"/>
              <a:t>state</a:t>
            </a:r>
            <a:r>
              <a:rPr sz="1600" spc="-8" dirty="0"/>
              <a:t> </a:t>
            </a:r>
            <a:r>
              <a:rPr sz="1600" spc="-19" dirty="0"/>
              <a:t>(our</a:t>
            </a:r>
            <a:r>
              <a:rPr sz="1600" spc="-11" dirty="0"/>
              <a:t> </a:t>
            </a:r>
            <a:r>
              <a:rPr sz="1600" dirty="0"/>
              <a:t>current</a:t>
            </a:r>
            <a:r>
              <a:rPr sz="1600" spc="-8" dirty="0"/>
              <a:t> </a:t>
            </a:r>
            <a:r>
              <a:rPr sz="1600" dirty="0"/>
              <a:t>representation</a:t>
            </a:r>
            <a:r>
              <a:rPr sz="1600" spc="-8" dirty="0"/>
              <a:t> </a:t>
            </a:r>
            <a:r>
              <a:rPr sz="1600" dirty="0"/>
              <a:t>of</a:t>
            </a:r>
            <a:r>
              <a:rPr sz="1600" spc="-4" dirty="0"/>
              <a:t> </a:t>
            </a:r>
            <a:r>
              <a:rPr sz="1600" spc="-8" dirty="0"/>
              <a:t>meaning) </a:t>
            </a:r>
            <a:r>
              <a:rPr sz="1600" spc="38" dirty="0"/>
              <a:t>and</a:t>
            </a:r>
            <a:r>
              <a:rPr sz="1600" spc="4" dirty="0"/>
              <a:t> </a:t>
            </a:r>
            <a:r>
              <a:rPr sz="1600" dirty="0"/>
              <a:t>all</a:t>
            </a:r>
            <a:r>
              <a:rPr sz="1600" spc="11" dirty="0"/>
              <a:t> </a:t>
            </a:r>
            <a:r>
              <a:rPr sz="1600" dirty="0"/>
              <a:t>of</a:t>
            </a:r>
            <a:r>
              <a:rPr sz="1600" spc="11" dirty="0"/>
              <a:t> </a:t>
            </a:r>
            <a:r>
              <a:rPr sz="1600" dirty="0"/>
              <a:t>the</a:t>
            </a:r>
            <a:r>
              <a:rPr sz="1600" spc="8" dirty="0"/>
              <a:t> </a:t>
            </a:r>
            <a:r>
              <a:rPr sz="1600" dirty="0"/>
              <a:t>encoder’s</a:t>
            </a:r>
            <a:r>
              <a:rPr sz="1600" spc="4" dirty="0"/>
              <a:t> </a:t>
            </a:r>
            <a:r>
              <a:rPr sz="1600" spc="53" dirty="0"/>
              <a:t>hidden</a:t>
            </a:r>
            <a:r>
              <a:rPr sz="1600" spc="8" dirty="0"/>
              <a:t> </a:t>
            </a:r>
            <a:r>
              <a:rPr sz="1600" spc="-8" dirty="0"/>
              <a:t>layers!</a:t>
            </a:r>
          </a:p>
          <a:p>
            <a:pPr marR="3810" algn="r">
              <a:spcBef>
                <a:spcPts val="1646"/>
              </a:spcBef>
            </a:pPr>
            <a:r>
              <a:rPr sz="1600" spc="38" dirty="0">
                <a:solidFill>
                  <a:srgbClr val="7030A0"/>
                </a:solidFill>
              </a:rPr>
              <a:t>Attention</a:t>
            </a:r>
            <a:r>
              <a:rPr sz="1600" spc="-41" dirty="0">
                <a:solidFill>
                  <a:srgbClr val="7030A0"/>
                </a:solidFill>
              </a:rPr>
              <a:t> </a:t>
            </a:r>
            <a:r>
              <a:rPr sz="1600" spc="-64" dirty="0">
                <a:solidFill>
                  <a:srgbClr val="7030A0"/>
                </a:solidFill>
              </a:rPr>
              <a:t>(raw</a:t>
            </a:r>
            <a:r>
              <a:rPr sz="1600" spc="-38" dirty="0">
                <a:solidFill>
                  <a:srgbClr val="7030A0"/>
                </a:solidFill>
              </a:rPr>
              <a:t> </a:t>
            </a:r>
            <a:r>
              <a:rPr sz="1600" spc="-8" dirty="0">
                <a:solidFill>
                  <a:srgbClr val="7030A0"/>
                </a:solidFill>
              </a:rPr>
              <a:t>scores)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7289844" y="2642235"/>
            <a:ext cx="262890" cy="48410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6683">
              <a:lnSpc>
                <a:spcPts val="1601"/>
              </a:lnSpc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  <a:p>
            <a:pPr marL="28575">
              <a:lnSpc>
                <a:spcPts val="2141"/>
              </a:lnSpc>
            </a:pPr>
            <a:r>
              <a:rPr spc="-19" dirty="0">
                <a:latin typeface="Cambria Math"/>
                <a:cs typeface="Cambria Math"/>
              </a:rPr>
              <a:t>𝑒</a:t>
            </a:r>
            <a:r>
              <a:rPr sz="2025" spc="-28" baseline="-15432" dirty="0">
                <a:latin typeface="Cambria Math"/>
                <a:cs typeface="Cambria Math"/>
              </a:rPr>
              <a:t>3</a:t>
            </a:r>
            <a:endParaRPr sz="2025" baseline="-15432">
              <a:latin typeface="Cambria Math"/>
              <a:cs typeface="Cambria Math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281698" y="2198751"/>
            <a:ext cx="260985" cy="634308"/>
          </a:xfrm>
          <a:prstGeom prst="rect">
            <a:avLst/>
          </a:prstGeom>
        </p:spPr>
        <p:txBody>
          <a:bodyPr vert="horz" wrap="square" lIns="0" tIns="41433" rIns="0" bIns="0" rtlCol="0">
            <a:spAutoFit/>
          </a:bodyPr>
          <a:lstStyle/>
          <a:p>
            <a:pPr marL="31433">
              <a:spcBef>
                <a:spcPts val="326"/>
              </a:spcBef>
            </a:pPr>
            <a:r>
              <a:rPr spc="-19" dirty="0">
                <a:latin typeface="Cambria Math"/>
                <a:cs typeface="Cambria Math"/>
              </a:rPr>
              <a:t>𝑒</a:t>
            </a:r>
            <a:r>
              <a:rPr sz="2025" spc="-28" baseline="-15432" dirty="0">
                <a:latin typeface="Cambria Math"/>
                <a:cs typeface="Cambria Math"/>
              </a:rPr>
              <a:t>1</a:t>
            </a:r>
            <a:endParaRPr sz="2025" baseline="-15432">
              <a:latin typeface="Cambria Math"/>
              <a:cs typeface="Cambria Math"/>
            </a:endParaRPr>
          </a:p>
          <a:p>
            <a:pPr marL="28575">
              <a:spcBef>
                <a:spcPts val="251"/>
              </a:spcBef>
            </a:pPr>
            <a:r>
              <a:rPr spc="-38" dirty="0">
                <a:latin typeface="Cambria Math"/>
                <a:cs typeface="Cambria Math"/>
              </a:rPr>
              <a:t>𝑒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655238" y="2226182"/>
            <a:ext cx="326707" cy="949778"/>
          </a:xfrm>
          <a:prstGeom prst="rect">
            <a:avLst/>
          </a:prstGeom>
        </p:spPr>
        <p:txBody>
          <a:bodyPr vert="horz" wrap="square" lIns="0" tIns="41433" rIns="0" bIns="0" rtlCol="0">
            <a:spAutoFit/>
          </a:bodyPr>
          <a:lstStyle/>
          <a:p>
            <a:pPr marL="10001">
              <a:spcBef>
                <a:spcPts val="326"/>
              </a:spcBef>
            </a:pPr>
            <a:r>
              <a:rPr spc="-19" dirty="0">
                <a:solidFill>
                  <a:srgbClr val="548235"/>
                </a:solidFill>
                <a:latin typeface="Cambria Math"/>
                <a:cs typeface="Cambria Math"/>
              </a:rPr>
              <a:t>1.5</a:t>
            </a:r>
            <a:endParaRPr>
              <a:latin typeface="Cambria Math"/>
              <a:cs typeface="Cambria Math"/>
            </a:endParaRPr>
          </a:p>
          <a:p>
            <a:pPr marL="9525">
              <a:spcBef>
                <a:spcPts val="251"/>
              </a:spcBef>
            </a:pPr>
            <a:r>
              <a:rPr spc="-19" dirty="0">
                <a:solidFill>
                  <a:srgbClr val="548235"/>
                </a:solidFill>
                <a:latin typeface="Cambria Math"/>
                <a:cs typeface="Cambria Math"/>
              </a:rPr>
              <a:t>0.9</a:t>
            </a:r>
            <a:endParaRPr>
              <a:latin typeface="Cambria Math"/>
              <a:cs typeface="Cambria Math"/>
            </a:endParaRPr>
          </a:p>
          <a:p>
            <a:pPr marL="17621">
              <a:spcBef>
                <a:spcPts val="251"/>
              </a:spcBef>
            </a:pPr>
            <a:r>
              <a:rPr spc="-19" dirty="0">
                <a:solidFill>
                  <a:srgbClr val="548235"/>
                </a:solidFill>
                <a:latin typeface="Cambria Math"/>
                <a:cs typeface="Cambria Math"/>
              </a:rPr>
              <a:t>0.2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2965" y="3172587"/>
            <a:ext cx="1819275" cy="69127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94360">
              <a:spcBef>
                <a:spcPts val="75"/>
              </a:spcBef>
            </a:pPr>
            <a:r>
              <a:rPr sz="2700" baseline="6944" dirty="0">
                <a:latin typeface="Cambria Math"/>
                <a:cs typeface="Cambria Math"/>
              </a:rPr>
              <a:t>𝑒</a:t>
            </a:r>
            <a:r>
              <a:rPr sz="2025" baseline="-6172" dirty="0">
                <a:latin typeface="Cambria Math"/>
                <a:cs typeface="Cambria Math"/>
              </a:rPr>
              <a:t>4</a:t>
            </a:r>
            <a:r>
              <a:rPr sz="2025" spc="269" baseline="-6172" dirty="0">
                <a:latin typeface="Cambria Math"/>
                <a:cs typeface="Cambria Math"/>
              </a:rPr>
              <a:t> </a:t>
            </a:r>
            <a:r>
              <a:rPr spc="-15" dirty="0">
                <a:solidFill>
                  <a:srgbClr val="548235"/>
                </a:solidFill>
                <a:latin typeface="Cambria Math"/>
                <a:cs typeface="Cambria Math"/>
              </a:rPr>
              <a:t>−0.5</a:t>
            </a:r>
            <a:endParaRPr>
              <a:latin typeface="Cambria Math"/>
              <a:cs typeface="Cambria Math"/>
            </a:endParaRPr>
          </a:p>
          <a:p>
            <a:pPr marL="19050">
              <a:spcBef>
                <a:spcPts val="1433"/>
              </a:spcBef>
            </a:pPr>
            <a:r>
              <a:rPr sz="1463" spc="38" dirty="0">
                <a:solidFill>
                  <a:srgbClr val="7030A0"/>
                </a:solidFill>
                <a:latin typeface="Tahoma"/>
                <a:cs typeface="Tahoma"/>
              </a:rPr>
              <a:t>Attention</a:t>
            </a:r>
            <a:r>
              <a:rPr sz="1463" spc="-38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-8" dirty="0">
                <a:solidFill>
                  <a:srgbClr val="7030A0"/>
                </a:solidFill>
                <a:latin typeface="Tahoma"/>
                <a:cs typeface="Tahoma"/>
              </a:rPr>
              <a:t>(softmax’d)</a:t>
            </a:r>
            <a:endParaRPr sz="1463">
              <a:latin typeface="Tahoma"/>
              <a:cs typeface="Tahom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923558" y="4283583"/>
            <a:ext cx="7953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777110" y="4171569"/>
            <a:ext cx="52578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dirty="0">
                <a:latin typeface="Cambria Math"/>
                <a:cs typeface="Cambria Math"/>
              </a:rPr>
              <a:t>𝑎</a:t>
            </a:r>
            <a:r>
              <a:rPr sz="2025" baseline="30864" dirty="0">
                <a:latin typeface="Cambria Math"/>
                <a:cs typeface="Cambria Math"/>
              </a:rPr>
              <a:t>1</a:t>
            </a:r>
            <a:r>
              <a:rPr sz="2025" spc="416" baseline="30864" dirty="0">
                <a:latin typeface="Cambria Math"/>
                <a:cs typeface="Cambria Math"/>
              </a:rPr>
              <a:t> </a:t>
            </a:r>
            <a:r>
              <a:rPr spc="-38" dirty="0">
                <a:latin typeface="Cambria Math"/>
                <a:cs typeface="Cambria Math"/>
              </a:rPr>
              <a:t>=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7339894" y="4333679"/>
            <a:ext cx="1076325" cy="19050"/>
          </a:xfrm>
          <a:custGeom>
            <a:avLst/>
            <a:gdLst/>
            <a:ahLst/>
            <a:cxnLst/>
            <a:rect l="l" t="t" r="r" b="b"/>
            <a:pathLst>
              <a:path w="1435100" h="25400">
                <a:moveTo>
                  <a:pt x="1435100" y="0"/>
                </a:moveTo>
                <a:lnTo>
                  <a:pt x="0" y="0"/>
                </a:lnTo>
                <a:lnTo>
                  <a:pt x="0" y="25399"/>
                </a:lnTo>
                <a:lnTo>
                  <a:pt x="1435100" y="25399"/>
                </a:lnTo>
                <a:lnTo>
                  <a:pt x="1435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7486962" y="3997834"/>
            <a:ext cx="773906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pc="-8" dirty="0">
                <a:latin typeface="Cambria Math"/>
                <a:cs typeface="Cambria Math"/>
              </a:rPr>
              <a:t>exp(𝑒</a:t>
            </a:r>
            <a:r>
              <a:rPr sz="2025" spc="-11" baseline="-15432" dirty="0">
                <a:latin typeface="Cambria Math"/>
                <a:cs typeface="Cambria Math"/>
              </a:rPr>
              <a:t>𝑖</a:t>
            </a:r>
            <a:r>
              <a:rPr spc="-8" dirty="0">
                <a:latin typeface="Cambria Math"/>
                <a:cs typeface="Cambria Math"/>
              </a:rPr>
              <a:t>)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489343" y="4455033"/>
            <a:ext cx="7953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308319" y="4333876"/>
            <a:ext cx="1131094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baseline="2314" dirty="0">
                <a:latin typeface="Cambria Math"/>
                <a:cs typeface="Cambria Math"/>
              </a:rPr>
              <a:t>∑</a:t>
            </a:r>
            <a:r>
              <a:rPr sz="2025" baseline="27777" dirty="0">
                <a:latin typeface="Cambria Math"/>
                <a:cs typeface="Cambria Math"/>
              </a:rPr>
              <a:t>𝑁</a:t>
            </a:r>
            <a:r>
              <a:rPr sz="2025" spc="45" baseline="27777" dirty="0">
                <a:latin typeface="Cambria Math"/>
                <a:cs typeface="Cambria Math"/>
              </a:rPr>
              <a:t> </a:t>
            </a:r>
            <a:r>
              <a:rPr spc="-8" dirty="0">
                <a:latin typeface="Cambria Math"/>
                <a:cs typeface="Cambria Math"/>
              </a:rPr>
              <a:t>exp(𝑒</a:t>
            </a:r>
            <a:r>
              <a:rPr sz="2025" spc="-11" baseline="-15432" dirty="0">
                <a:latin typeface="Cambria Math"/>
                <a:cs typeface="Cambria Math"/>
              </a:rPr>
              <a:t>1</a:t>
            </a:r>
            <a:r>
              <a:rPr spc="-8" dirty="0">
                <a:latin typeface="Cambria Math"/>
                <a:cs typeface="Cambria Math"/>
              </a:rPr>
              <a:t>)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026920" y="4269867"/>
            <a:ext cx="42148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75" dirty="0">
                <a:latin typeface="Tahoma"/>
                <a:cs typeface="Tahoma"/>
              </a:rPr>
              <a:t>&lt;s&gt;</a:t>
            </a:r>
            <a:endParaRPr>
              <a:latin typeface="Tahoma"/>
              <a:cs typeface="Tahoma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5134611" y="378946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5298041" y="4534112"/>
            <a:ext cx="1396841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101" dirty="0">
                <a:solidFill>
                  <a:srgbClr val="7030A0"/>
                </a:solidFill>
                <a:latin typeface="Tahoma"/>
                <a:cs typeface="Tahoma"/>
              </a:rPr>
              <a:t>DECODER</a:t>
            </a:r>
            <a:r>
              <a:rPr sz="1463" spc="-41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 dirty="0">
              <a:latin typeface="Tahoma"/>
              <a:cs typeface="Tahom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068498" y="4551049"/>
            <a:ext cx="1403509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113" dirty="0">
                <a:solidFill>
                  <a:srgbClr val="7030A0"/>
                </a:solidFill>
                <a:latin typeface="Tahoma"/>
                <a:cs typeface="Tahoma"/>
              </a:rPr>
              <a:t>ENCODER</a:t>
            </a:r>
            <a:r>
              <a:rPr sz="1463" spc="-60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7854" y="578611"/>
            <a:ext cx="4856321" cy="98108"/>
          </a:xfrm>
          <a:custGeom>
            <a:avLst/>
            <a:gdLst/>
            <a:ahLst/>
            <a:cxnLst/>
            <a:rect l="l" t="t" r="r" b="b"/>
            <a:pathLst>
              <a:path w="6475095" h="130809">
                <a:moveTo>
                  <a:pt x="6474895" y="0"/>
                </a:moveTo>
                <a:lnTo>
                  <a:pt x="0" y="0"/>
                </a:lnTo>
                <a:lnTo>
                  <a:pt x="0" y="130218"/>
                </a:lnTo>
                <a:lnTo>
                  <a:pt x="6474895" y="130218"/>
                </a:lnTo>
                <a:lnTo>
                  <a:pt x="647489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34" dirty="0"/>
              <a:t>seq2seq</a:t>
            </a:r>
            <a:r>
              <a:rPr spc="-68" dirty="0"/>
              <a:t> </a:t>
            </a:r>
            <a:r>
              <a:rPr spc="-143" dirty="0"/>
              <a:t>+</a:t>
            </a:r>
            <a:r>
              <a:rPr spc="-68" dirty="0"/>
              <a:t> </a:t>
            </a:r>
            <a:r>
              <a:rPr spc="-8" dirty="0"/>
              <a:t>Attention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6450" y="2988543"/>
            <a:ext cx="99298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spc="60" dirty="0">
                <a:solidFill>
                  <a:srgbClr val="262626"/>
                </a:solidFill>
                <a:latin typeface="Tahoma"/>
                <a:cs typeface="Tahoma"/>
              </a:rPr>
              <a:t>Hidden</a:t>
            </a:r>
            <a:r>
              <a:rPr sz="1313" spc="-41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15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50551" y="2662962"/>
            <a:ext cx="262414" cy="1052036"/>
            <a:chOff x="2334067" y="3550615"/>
            <a:chExt cx="349885" cy="1402715"/>
          </a:xfrm>
        </p:grpSpPr>
        <p:sp>
          <p:nvSpPr>
            <p:cNvPr id="6" name="object 6"/>
            <p:cNvSpPr/>
            <p:nvPr/>
          </p:nvSpPr>
          <p:spPr>
            <a:xfrm>
              <a:off x="235311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6859" y="4636615"/>
              <a:ext cx="222250" cy="222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390355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144096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3892228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914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75721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7115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2" y="0"/>
                </a:moveTo>
                <a:lnTo>
                  <a:pt x="338042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2" y="210167"/>
                </a:lnTo>
                <a:lnTo>
                  <a:pt x="338042" y="329483"/>
                </a:lnTo>
                <a:lnTo>
                  <a:pt x="567437" y="164741"/>
                </a:lnTo>
                <a:lnTo>
                  <a:pt x="33804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2562171" y="2662962"/>
            <a:ext cx="262414" cy="1052036"/>
            <a:chOff x="3416227" y="3550615"/>
            <a:chExt cx="349885" cy="1402715"/>
          </a:xfrm>
        </p:grpSpPr>
        <p:sp>
          <p:nvSpPr>
            <p:cNvPr id="15" name="object 15"/>
            <p:cNvSpPr/>
            <p:nvPr/>
          </p:nvSpPr>
          <p:spPr>
            <a:xfrm>
              <a:off x="343527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9021" y="4636615"/>
              <a:ext cx="222250" cy="2222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390355"/>
              <a:ext cx="222250" cy="2222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144096"/>
              <a:ext cx="222250" cy="2222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3892228"/>
              <a:ext cx="222250" cy="2222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130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2568838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0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82777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3353240" y="2662962"/>
            <a:ext cx="262414" cy="1052036"/>
            <a:chOff x="4470986" y="3550615"/>
            <a:chExt cx="349885" cy="1402715"/>
          </a:xfrm>
        </p:grpSpPr>
        <p:sp>
          <p:nvSpPr>
            <p:cNvPr id="24" name="object 24"/>
            <p:cNvSpPr/>
            <p:nvPr/>
          </p:nvSpPr>
          <p:spPr>
            <a:xfrm>
              <a:off x="4490036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3779" y="4636615"/>
              <a:ext cx="222250" cy="2222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390355"/>
              <a:ext cx="222250" cy="2222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144096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3892228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606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335990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67384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4169424" y="2662962"/>
            <a:ext cx="262414" cy="1052036"/>
            <a:chOff x="5559231" y="3550615"/>
            <a:chExt cx="349885" cy="1402715"/>
          </a:xfrm>
        </p:grpSpPr>
        <p:sp>
          <p:nvSpPr>
            <p:cNvPr id="33" name="object 33"/>
            <p:cNvSpPr/>
            <p:nvPr/>
          </p:nvSpPr>
          <p:spPr>
            <a:xfrm>
              <a:off x="5578281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2024" y="4636613"/>
              <a:ext cx="222250" cy="22225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390354"/>
              <a:ext cx="222250" cy="2222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144096"/>
              <a:ext cx="222250" cy="22225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3892227"/>
              <a:ext cx="222250" cy="22225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430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39" name="object 39"/>
          <p:cNvSpPr/>
          <p:nvPr/>
        </p:nvSpPr>
        <p:spPr>
          <a:xfrm>
            <a:off x="4176090" y="378961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881073" y="241134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662144" y="2429637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496597" y="2429637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3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305232" y="242049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496647" y="2233042"/>
            <a:ext cx="196977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7625">
              <a:spcBef>
                <a:spcPts val="75"/>
              </a:spcBef>
              <a:tabLst>
                <a:tab pos="882015" algn="l"/>
                <a:tab pos="1690211" algn="l"/>
              </a:tabLst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2700" spc="-28" baseline="-19675" dirty="0">
                <a:latin typeface="Cambria Math"/>
                <a:cs typeface="Cambria Math"/>
              </a:rPr>
              <a:t>ℎ</a:t>
            </a:r>
            <a:r>
              <a:rPr sz="2025" spc="-28" baseline="1543" dirty="0">
                <a:latin typeface="Cambria Math"/>
                <a:cs typeface="Cambria Math"/>
              </a:rPr>
              <a:t>𝐸</a:t>
            </a:r>
            <a:endParaRPr sz="2025" baseline="1543">
              <a:latin typeface="Cambria Math"/>
              <a:cs typeface="Cambria Math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127729" y="2662962"/>
            <a:ext cx="262414" cy="1052036"/>
            <a:chOff x="6836972" y="3550615"/>
            <a:chExt cx="349885" cy="1402715"/>
          </a:xfrm>
        </p:grpSpPr>
        <p:sp>
          <p:nvSpPr>
            <p:cNvPr id="46" name="object 46"/>
            <p:cNvSpPr/>
            <p:nvPr/>
          </p:nvSpPr>
          <p:spPr>
            <a:xfrm>
              <a:off x="6856022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9765" y="4636613"/>
              <a:ext cx="222250" cy="22225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390354"/>
              <a:ext cx="222250" cy="22225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144096"/>
              <a:ext cx="222250" cy="22225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3892227"/>
              <a:ext cx="222250" cy="22225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0204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5238748" y="240906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730387" y="2214753"/>
            <a:ext cx="368808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  <a:tabLst>
                <a:tab pos="3395663" algn="l"/>
              </a:tabLst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2700" spc="-28" baseline="-20833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1350" spc="-19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298751" y="3172588"/>
            <a:ext cx="79629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baseline="6944" dirty="0">
                <a:latin typeface="Cambria Math"/>
                <a:cs typeface="Cambria Math"/>
              </a:rPr>
              <a:t>𝑒</a:t>
            </a:r>
            <a:r>
              <a:rPr sz="2025" baseline="-6172" dirty="0">
                <a:latin typeface="Cambria Math"/>
                <a:cs typeface="Cambria Math"/>
              </a:rPr>
              <a:t>4</a:t>
            </a:r>
            <a:r>
              <a:rPr sz="2025" spc="269" baseline="-6172" dirty="0">
                <a:latin typeface="Cambria Math"/>
                <a:cs typeface="Cambria Math"/>
              </a:rPr>
              <a:t> </a:t>
            </a:r>
            <a:r>
              <a:rPr spc="-15" dirty="0">
                <a:solidFill>
                  <a:srgbClr val="548235"/>
                </a:solidFill>
                <a:latin typeface="Cambria Math"/>
                <a:cs typeface="Cambria Math"/>
              </a:rPr>
              <a:t>−0.5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body" idx="1"/>
          </p:nvPr>
        </p:nvSpPr>
        <p:spPr>
          <a:xfrm>
            <a:off x="103744" y="830805"/>
            <a:ext cx="9341288" cy="1435329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600" spc="45" dirty="0">
                <a:solidFill>
                  <a:srgbClr val="C00000"/>
                </a:solidFill>
              </a:rPr>
              <a:t>Q:</a:t>
            </a:r>
            <a:r>
              <a:rPr sz="1600" spc="8" dirty="0">
                <a:solidFill>
                  <a:srgbClr val="C00000"/>
                </a:solidFill>
              </a:rPr>
              <a:t> </a:t>
            </a:r>
            <a:r>
              <a:rPr sz="1600" spc="49" dirty="0"/>
              <a:t>How</a:t>
            </a:r>
            <a:r>
              <a:rPr sz="1600" spc="4" dirty="0"/>
              <a:t> </a:t>
            </a:r>
            <a:r>
              <a:rPr sz="1600" spc="94" dirty="0"/>
              <a:t>do</a:t>
            </a:r>
            <a:r>
              <a:rPr sz="1600" dirty="0"/>
              <a:t> we</a:t>
            </a:r>
            <a:r>
              <a:rPr sz="1600" spc="-4" dirty="0"/>
              <a:t> </a:t>
            </a:r>
            <a:r>
              <a:rPr sz="1600" spc="38" dirty="0"/>
              <a:t>determine</a:t>
            </a:r>
            <a:r>
              <a:rPr sz="1600" dirty="0"/>
              <a:t> how</a:t>
            </a:r>
            <a:r>
              <a:rPr sz="1600" spc="4" dirty="0"/>
              <a:t> </a:t>
            </a:r>
            <a:r>
              <a:rPr sz="1600" dirty="0"/>
              <a:t>much </a:t>
            </a:r>
            <a:r>
              <a:rPr sz="1600" spc="45" dirty="0"/>
              <a:t>to</a:t>
            </a:r>
            <a:r>
              <a:rPr sz="1600" dirty="0"/>
              <a:t> pay attention </a:t>
            </a:r>
            <a:r>
              <a:rPr sz="1600" spc="45" dirty="0"/>
              <a:t>to</a:t>
            </a:r>
            <a:r>
              <a:rPr sz="1600" spc="-4" dirty="0"/>
              <a:t> </a:t>
            </a:r>
            <a:r>
              <a:rPr sz="1600" dirty="0"/>
              <a:t>each of</a:t>
            </a:r>
            <a:r>
              <a:rPr sz="1600" spc="8" dirty="0"/>
              <a:t> </a:t>
            </a:r>
            <a:r>
              <a:rPr sz="1600" dirty="0"/>
              <a:t>the encoder’s </a:t>
            </a:r>
            <a:r>
              <a:rPr sz="1600" spc="53" dirty="0"/>
              <a:t>hidden</a:t>
            </a:r>
            <a:r>
              <a:rPr sz="1600" dirty="0"/>
              <a:t> </a:t>
            </a:r>
            <a:r>
              <a:rPr sz="1600" spc="-8" dirty="0"/>
              <a:t>layers?</a:t>
            </a:r>
          </a:p>
          <a:p>
            <a:pPr marL="9525" marR="117158">
              <a:lnSpc>
                <a:spcPct val="119000"/>
              </a:lnSpc>
              <a:spcBef>
                <a:spcPts val="1080"/>
              </a:spcBef>
            </a:pPr>
            <a:r>
              <a:rPr sz="1600" dirty="0">
                <a:solidFill>
                  <a:srgbClr val="C00000"/>
                </a:solidFill>
              </a:rPr>
              <a:t>A:</a:t>
            </a:r>
            <a:r>
              <a:rPr sz="1600" spc="-4" dirty="0">
                <a:solidFill>
                  <a:srgbClr val="C00000"/>
                </a:solidFill>
              </a:rPr>
              <a:t> </a:t>
            </a:r>
            <a:r>
              <a:rPr sz="1600" dirty="0"/>
              <a:t>Let’s</a:t>
            </a:r>
            <a:r>
              <a:rPr sz="1600" spc="-11" dirty="0"/>
              <a:t> </a:t>
            </a:r>
            <a:r>
              <a:rPr sz="1600" dirty="0"/>
              <a:t>base</a:t>
            </a:r>
            <a:r>
              <a:rPr sz="1600" spc="-8" dirty="0"/>
              <a:t> </a:t>
            </a:r>
            <a:r>
              <a:rPr sz="1600" dirty="0"/>
              <a:t>it</a:t>
            </a:r>
            <a:r>
              <a:rPr sz="1600" spc="-11" dirty="0"/>
              <a:t> </a:t>
            </a:r>
            <a:r>
              <a:rPr sz="1600" spc="49" dirty="0"/>
              <a:t>on</a:t>
            </a:r>
            <a:r>
              <a:rPr sz="1600" spc="-4" dirty="0"/>
              <a:t> </a:t>
            </a:r>
            <a:r>
              <a:rPr sz="1600" dirty="0"/>
              <a:t>our</a:t>
            </a:r>
            <a:r>
              <a:rPr sz="1600" spc="-11" dirty="0"/>
              <a:t> </a:t>
            </a:r>
            <a:r>
              <a:rPr sz="1600" spc="34" dirty="0"/>
              <a:t>decoder’s</a:t>
            </a:r>
            <a:r>
              <a:rPr sz="1600" spc="-11" dirty="0"/>
              <a:t> </a:t>
            </a:r>
            <a:r>
              <a:rPr sz="1600" dirty="0"/>
              <a:t>current</a:t>
            </a:r>
            <a:r>
              <a:rPr sz="1600" spc="-11" dirty="0"/>
              <a:t> </a:t>
            </a:r>
            <a:r>
              <a:rPr sz="1600" spc="53" dirty="0"/>
              <a:t>hidden</a:t>
            </a:r>
            <a:r>
              <a:rPr sz="1600" spc="-8" dirty="0"/>
              <a:t> </a:t>
            </a:r>
            <a:r>
              <a:rPr sz="1600" dirty="0"/>
              <a:t>state</a:t>
            </a:r>
            <a:r>
              <a:rPr sz="1600" spc="-8" dirty="0"/>
              <a:t> </a:t>
            </a:r>
            <a:r>
              <a:rPr sz="1600" spc="-19" dirty="0"/>
              <a:t>(our</a:t>
            </a:r>
            <a:r>
              <a:rPr sz="1600" spc="-11" dirty="0"/>
              <a:t> </a:t>
            </a:r>
            <a:r>
              <a:rPr sz="1600" dirty="0"/>
              <a:t>current</a:t>
            </a:r>
            <a:r>
              <a:rPr sz="1600" spc="-8" dirty="0"/>
              <a:t> </a:t>
            </a:r>
            <a:r>
              <a:rPr sz="1600" dirty="0"/>
              <a:t>representation</a:t>
            </a:r>
            <a:r>
              <a:rPr sz="1600" spc="-8" dirty="0"/>
              <a:t> </a:t>
            </a:r>
            <a:r>
              <a:rPr sz="1600" dirty="0"/>
              <a:t>of</a:t>
            </a:r>
            <a:r>
              <a:rPr sz="1600" spc="-4" dirty="0"/>
              <a:t> </a:t>
            </a:r>
            <a:r>
              <a:rPr sz="1600" spc="-8" dirty="0"/>
              <a:t>meaning) </a:t>
            </a:r>
            <a:r>
              <a:rPr sz="1600" spc="38" dirty="0"/>
              <a:t>and</a:t>
            </a:r>
            <a:r>
              <a:rPr sz="1600" spc="4" dirty="0"/>
              <a:t> </a:t>
            </a:r>
            <a:r>
              <a:rPr sz="1600" dirty="0"/>
              <a:t>all</a:t>
            </a:r>
            <a:r>
              <a:rPr sz="1600" spc="11" dirty="0"/>
              <a:t> </a:t>
            </a:r>
            <a:r>
              <a:rPr sz="1600" dirty="0"/>
              <a:t>of</a:t>
            </a:r>
            <a:r>
              <a:rPr sz="1600" spc="11" dirty="0"/>
              <a:t> </a:t>
            </a:r>
            <a:r>
              <a:rPr sz="1600" dirty="0"/>
              <a:t>the</a:t>
            </a:r>
            <a:r>
              <a:rPr sz="1600" spc="8" dirty="0"/>
              <a:t> </a:t>
            </a:r>
            <a:r>
              <a:rPr sz="1600" dirty="0"/>
              <a:t>encoder’s</a:t>
            </a:r>
            <a:r>
              <a:rPr sz="1600" spc="4" dirty="0"/>
              <a:t> </a:t>
            </a:r>
            <a:r>
              <a:rPr sz="1600" spc="53" dirty="0"/>
              <a:t>hidden</a:t>
            </a:r>
            <a:r>
              <a:rPr sz="1600" spc="8" dirty="0"/>
              <a:t> </a:t>
            </a:r>
            <a:r>
              <a:rPr sz="1600" spc="-8" dirty="0"/>
              <a:t>layers</a:t>
            </a:r>
            <a:r>
              <a:rPr lang="en-IN" sz="1600" spc="-8" dirty="0"/>
              <a:t>!</a:t>
            </a:r>
          </a:p>
          <a:p>
            <a:pPr marR="3810" algn="r">
              <a:spcBef>
                <a:spcPts val="1646"/>
              </a:spcBef>
            </a:pPr>
            <a:r>
              <a:rPr lang="en-IN" sz="1600" spc="38" dirty="0">
                <a:solidFill>
                  <a:srgbClr val="7030A0"/>
                </a:solidFill>
              </a:rPr>
              <a:t>Attention</a:t>
            </a:r>
            <a:r>
              <a:rPr lang="en-IN" sz="1600" spc="-41" dirty="0">
                <a:solidFill>
                  <a:srgbClr val="7030A0"/>
                </a:solidFill>
              </a:rPr>
              <a:t> </a:t>
            </a:r>
            <a:r>
              <a:rPr lang="en-IN" sz="1600" spc="-64" dirty="0">
                <a:solidFill>
                  <a:srgbClr val="7030A0"/>
                </a:solidFill>
              </a:rPr>
              <a:t>(raw</a:t>
            </a:r>
            <a:r>
              <a:rPr lang="en-IN" sz="1600" spc="-38" dirty="0">
                <a:solidFill>
                  <a:srgbClr val="7030A0"/>
                </a:solidFill>
              </a:rPr>
              <a:t> </a:t>
            </a:r>
            <a:r>
              <a:rPr lang="en-IN" sz="1600" spc="-8" dirty="0">
                <a:solidFill>
                  <a:srgbClr val="7030A0"/>
                </a:solidFill>
              </a:rPr>
              <a:t>scores)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7289844" y="2642235"/>
            <a:ext cx="262890" cy="48410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6683">
              <a:lnSpc>
                <a:spcPts val="1601"/>
              </a:lnSpc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  <a:p>
            <a:pPr marL="28575">
              <a:lnSpc>
                <a:spcPts val="2141"/>
              </a:lnSpc>
            </a:pPr>
            <a:r>
              <a:rPr spc="-19" dirty="0">
                <a:latin typeface="Cambria Math"/>
                <a:cs typeface="Cambria Math"/>
              </a:rPr>
              <a:t>𝑒</a:t>
            </a:r>
            <a:r>
              <a:rPr sz="2025" spc="-28" baseline="-15432" dirty="0">
                <a:latin typeface="Cambria Math"/>
                <a:cs typeface="Cambria Math"/>
              </a:rPr>
              <a:t>3</a:t>
            </a:r>
            <a:endParaRPr sz="2025" baseline="-15432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281698" y="2198751"/>
            <a:ext cx="260985" cy="634308"/>
          </a:xfrm>
          <a:prstGeom prst="rect">
            <a:avLst/>
          </a:prstGeom>
        </p:spPr>
        <p:txBody>
          <a:bodyPr vert="horz" wrap="square" lIns="0" tIns="41433" rIns="0" bIns="0" rtlCol="0">
            <a:spAutoFit/>
          </a:bodyPr>
          <a:lstStyle/>
          <a:p>
            <a:pPr marL="31433">
              <a:spcBef>
                <a:spcPts val="326"/>
              </a:spcBef>
            </a:pPr>
            <a:r>
              <a:rPr spc="-19" dirty="0">
                <a:latin typeface="Cambria Math"/>
                <a:cs typeface="Cambria Math"/>
              </a:rPr>
              <a:t>𝑒</a:t>
            </a:r>
            <a:r>
              <a:rPr sz="2025" spc="-28" baseline="-15432" dirty="0">
                <a:latin typeface="Cambria Math"/>
                <a:cs typeface="Cambria Math"/>
              </a:rPr>
              <a:t>1</a:t>
            </a:r>
            <a:endParaRPr sz="2025" baseline="-15432">
              <a:latin typeface="Cambria Math"/>
              <a:cs typeface="Cambria Math"/>
            </a:endParaRPr>
          </a:p>
          <a:p>
            <a:pPr marL="28575">
              <a:spcBef>
                <a:spcPts val="251"/>
              </a:spcBef>
            </a:pPr>
            <a:r>
              <a:rPr spc="-38" dirty="0">
                <a:latin typeface="Cambria Math"/>
                <a:cs typeface="Cambria Math"/>
              </a:rPr>
              <a:t>𝑒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655238" y="2226182"/>
            <a:ext cx="326707" cy="949778"/>
          </a:xfrm>
          <a:prstGeom prst="rect">
            <a:avLst/>
          </a:prstGeom>
        </p:spPr>
        <p:txBody>
          <a:bodyPr vert="horz" wrap="square" lIns="0" tIns="41433" rIns="0" bIns="0" rtlCol="0">
            <a:spAutoFit/>
          </a:bodyPr>
          <a:lstStyle/>
          <a:p>
            <a:pPr marL="10001">
              <a:spcBef>
                <a:spcPts val="326"/>
              </a:spcBef>
            </a:pPr>
            <a:r>
              <a:rPr spc="-19" dirty="0">
                <a:solidFill>
                  <a:srgbClr val="548235"/>
                </a:solidFill>
                <a:latin typeface="Cambria Math"/>
                <a:cs typeface="Cambria Math"/>
              </a:rPr>
              <a:t>1.5</a:t>
            </a:r>
            <a:endParaRPr>
              <a:latin typeface="Cambria Math"/>
              <a:cs typeface="Cambria Math"/>
            </a:endParaRPr>
          </a:p>
          <a:p>
            <a:pPr marL="9525">
              <a:spcBef>
                <a:spcPts val="251"/>
              </a:spcBef>
            </a:pPr>
            <a:r>
              <a:rPr spc="-19" dirty="0">
                <a:solidFill>
                  <a:srgbClr val="548235"/>
                </a:solidFill>
                <a:latin typeface="Cambria Math"/>
                <a:cs typeface="Cambria Math"/>
              </a:rPr>
              <a:t>0.9</a:t>
            </a:r>
            <a:endParaRPr>
              <a:latin typeface="Cambria Math"/>
              <a:cs typeface="Cambria Math"/>
            </a:endParaRPr>
          </a:p>
          <a:p>
            <a:pPr marL="17621">
              <a:spcBef>
                <a:spcPts val="251"/>
              </a:spcBef>
            </a:pPr>
            <a:r>
              <a:rPr spc="-19" dirty="0">
                <a:solidFill>
                  <a:srgbClr val="548235"/>
                </a:solidFill>
                <a:latin typeface="Cambria Math"/>
                <a:cs typeface="Cambria Math"/>
              </a:rPr>
              <a:t>0.2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5134611" y="378946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6742490" y="3628047"/>
            <a:ext cx="1800225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38" dirty="0">
                <a:solidFill>
                  <a:srgbClr val="7030A0"/>
                </a:solidFill>
                <a:latin typeface="Tahoma"/>
                <a:cs typeface="Tahoma"/>
              </a:rPr>
              <a:t>Attention</a:t>
            </a:r>
            <a:r>
              <a:rPr sz="1463" spc="-38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-8" dirty="0">
                <a:solidFill>
                  <a:srgbClr val="7030A0"/>
                </a:solidFill>
                <a:latin typeface="Tahoma"/>
                <a:cs typeface="Tahoma"/>
              </a:rPr>
              <a:t>(softmax’d)</a:t>
            </a:r>
            <a:endParaRPr sz="1463">
              <a:latin typeface="Tahoma"/>
              <a:cs typeface="Tahom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290617" y="3910079"/>
            <a:ext cx="20859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444"/>
              </a:lnSpc>
            </a:pPr>
            <a:r>
              <a:rPr sz="2250" spc="-28" baseline="-20833" dirty="0">
                <a:latin typeface="Cambria Math"/>
                <a:cs typeface="Cambria Math"/>
              </a:rPr>
              <a:t>𝑎</a:t>
            </a:r>
            <a:r>
              <a:rPr sz="1125" spc="-19" dirty="0">
                <a:latin typeface="Cambria Math"/>
                <a:cs typeface="Cambria Math"/>
              </a:rPr>
              <a:t>1</a:t>
            </a:r>
            <a:endParaRPr sz="1125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530964" y="3937978"/>
            <a:ext cx="580073" cy="1090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/>
            <a:r>
              <a:rPr sz="1500" dirty="0">
                <a:latin typeface="Cambria Math"/>
                <a:cs typeface="Cambria Math"/>
              </a:rPr>
              <a:t>=</a:t>
            </a:r>
            <a:r>
              <a:rPr sz="1500" spc="79" dirty="0">
                <a:latin typeface="Cambria Math"/>
                <a:cs typeface="Cambria Math"/>
              </a:rPr>
              <a:t> </a:t>
            </a:r>
            <a:r>
              <a:rPr sz="1500" spc="-15" dirty="0">
                <a:latin typeface="Cambria Math"/>
                <a:cs typeface="Cambria Math"/>
              </a:rPr>
              <a:t>0.51</a:t>
            </a:r>
            <a:endParaRPr sz="1500">
              <a:latin typeface="Cambria Math"/>
              <a:cs typeface="Cambria Math"/>
            </a:endParaRPr>
          </a:p>
          <a:p>
            <a:pPr marL="17145">
              <a:spcBef>
                <a:spcPts val="431"/>
              </a:spcBef>
            </a:pPr>
            <a:r>
              <a:rPr sz="1500" dirty="0">
                <a:latin typeface="Cambria Math"/>
                <a:cs typeface="Cambria Math"/>
              </a:rPr>
              <a:t>=</a:t>
            </a:r>
            <a:r>
              <a:rPr sz="1500" spc="79" dirty="0">
                <a:latin typeface="Cambria Math"/>
                <a:cs typeface="Cambria Math"/>
              </a:rPr>
              <a:t> </a:t>
            </a:r>
            <a:r>
              <a:rPr sz="1500" spc="-15" dirty="0">
                <a:latin typeface="Cambria Math"/>
                <a:cs typeface="Cambria Math"/>
              </a:rPr>
              <a:t>0.28</a:t>
            </a:r>
            <a:endParaRPr sz="1500">
              <a:latin typeface="Cambria Math"/>
              <a:cs typeface="Cambria Math"/>
            </a:endParaRPr>
          </a:p>
          <a:p>
            <a:pPr marL="10953">
              <a:spcBef>
                <a:spcPts val="540"/>
              </a:spcBef>
            </a:pPr>
            <a:r>
              <a:rPr sz="1500" dirty="0">
                <a:latin typeface="Cambria Math"/>
                <a:cs typeface="Cambria Math"/>
              </a:rPr>
              <a:t>=</a:t>
            </a:r>
            <a:r>
              <a:rPr sz="1500" spc="79" dirty="0">
                <a:latin typeface="Cambria Math"/>
                <a:cs typeface="Cambria Math"/>
              </a:rPr>
              <a:t> </a:t>
            </a:r>
            <a:r>
              <a:rPr sz="1500" spc="-15" dirty="0">
                <a:latin typeface="Cambria Math"/>
                <a:cs typeface="Cambria Math"/>
              </a:rPr>
              <a:t>0.14</a:t>
            </a:r>
            <a:endParaRPr sz="1500">
              <a:latin typeface="Cambria Math"/>
              <a:cs typeface="Cambria Math"/>
            </a:endParaRPr>
          </a:p>
          <a:p>
            <a:pPr marL="9525">
              <a:spcBef>
                <a:spcPts val="431"/>
              </a:spcBef>
            </a:pPr>
            <a:r>
              <a:rPr sz="1500" dirty="0">
                <a:latin typeface="Cambria Math"/>
                <a:cs typeface="Cambria Math"/>
              </a:rPr>
              <a:t>=</a:t>
            </a:r>
            <a:r>
              <a:rPr sz="1500" spc="79" dirty="0">
                <a:latin typeface="Cambria Math"/>
                <a:cs typeface="Cambria Math"/>
              </a:rPr>
              <a:t> </a:t>
            </a:r>
            <a:r>
              <a:rPr sz="1500" spc="-15" dirty="0">
                <a:latin typeface="Cambria Math"/>
                <a:cs typeface="Cambria Math"/>
              </a:rPr>
              <a:t>0.07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392153" y="4024379"/>
            <a:ext cx="101918" cy="175529"/>
          </a:xfrm>
          <a:prstGeom prst="rect">
            <a:avLst/>
          </a:prstGeom>
        </p:spPr>
        <p:txBody>
          <a:bodyPr vert="horz" wrap="square" lIns="0" tIns="2381" rIns="0" bIns="0" rtlCol="0">
            <a:spAutoFit/>
          </a:bodyPr>
          <a:lstStyle/>
          <a:p>
            <a:pPr marL="9525">
              <a:spcBef>
                <a:spcPts val="19"/>
              </a:spcBef>
            </a:pPr>
            <a:r>
              <a:rPr sz="1125" spc="-38" dirty="0">
                <a:latin typeface="Cambria Math"/>
                <a:cs typeface="Cambria Math"/>
              </a:rPr>
              <a:t>1</a:t>
            </a:r>
            <a:endParaRPr sz="1125">
              <a:latin typeface="Cambria Math"/>
              <a:cs typeface="Cambria Math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290616" y="4193543"/>
            <a:ext cx="20859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444"/>
              </a:lnSpc>
            </a:pPr>
            <a:r>
              <a:rPr sz="2250" spc="-28" baseline="-20833" dirty="0">
                <a:latin typeface="Cambria Math"/>
                <a:cs typeface="Cambria Math"/>
              </a:rPr>
              <a:t>𝑎</a:t>
            </a:r>
            <a:r>
              <a:rPr sz="1125" spc="-19" dirty="0">
                <a:latin typeface="Cambria Math"/>
                <a:cs typeface="Cambria Math"/>
              </a:rPr>
              <a:t>1</a:t>
            </a:r>
            <a:endParaRPr sz="1125">
              <a:latin typeface="Cambria Math"/>
              <a:cs typeface="Cambria Math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7224" y="4238985"/>
            <a:ext cx="82534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dirty="0">
                <a:solidFill>
                  <a:srgbClr val="262626"/>
                </a:solidFill>
                <a:latin typeface="Tahoma"/>
                <a:cs typeface="Tahoma"/>
              </a:rPr>
              <a:t>Input</a:t>
            </a:r>
            <a:r>
              <a:rPr sz="1313" spc="-64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8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632730" y="4247008"/>
            <a:ext cx="40481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352676" y="4247008"/>
            <a:ext cx="65436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240736" y="4258437"/>
            <a:ext cx="433864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128790" y="4267582"/>
            <a:ext cx="34194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026919" y="4269867"/>
            <a:ext cx="1586865" cy="6399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&lt;s&gt;</a:t>
            </a:r>
            <a:endParaRPr>
              <a:latin typeface="Tahoma"/>
              <a:cs typeface="Tahoma"/>
            </a:endParaRPr>
          </a:p>
          <a:p>
            <a:pPr marL="199073">
              <a:spcBef>
                <a:spcPts val="1020"/>
              </a:spcBef>
            </a:pPr>
            <a:r>
              <a:rPr sz="1463" spc="101" dirty="0">
                <a:solidFill>
                  <a:srgbClr val="7030A0"/>
                </a:solidFill>
                <a:latin typeface="Tahoma"/>
                <a:cs typeface="Tahoma"/>
              </a:rPr>
              <a:t>DECODER</a:t>
            </a:r>
            <a:r>
              <a:rPr sz="1463" spc="-41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>
              <a:latin typeface="Tahoma"/>
              <a:cs typeface="Tahom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396582" y="4307843"/>
            <a:ext cx="101918" cy="175529"/>
          </a:xfrm>
          <a:prstGeom prst="rect">
            <a:avLst/>
          </a:prstGeom>
        </p:spPr>
        <p:txBody>
          <a:bodyPr vert="horz" wrap="square" lIns="0" tIns="2381" rIns="0" bIns="0" rtlCol="0">
            <a:spAutoFit/>
          </a:bodyPr>
          <a:lstStyle/>
          <a:p>
            <a:pPr marL="9525">
              <a:spcBef>
                <a:spcPts val="19"/>
              </a:spcBef>
            </a:pPr>
            <a:r>
              <a:rPr sz="1125" spc="-38" dirty="0">
                <a:latin typeface="Cambria Math"/>
                <a:cs typeface="Cambria Math"/>
              </a:rPr>
              <a:t>2</a:t>
            </a:r>
            <a:endParaRPr sz="1125">
              <a:latin typeface="Cambria Math"/>
              <a:cs typeface="Cambria Math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284166" y="4490723"/>
            <a:ext cx="20859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444"/>
              </a:lnSpc>
            </a:pPr>
            <a:r>
              <a:rPr sz="2250" spc="-28" baseline="-20833" dirty="0">
                <a:latin typeface="Cambria Math"/>
                <a:cs typeface="Cambria Math"/>
              </a:rPr>
              <a:t>𝑎</a:t>
            </a:r>
            <a:r>
              <a:rPr sz="1125" spc="-19" dirty="0">
                <a:latin typeface="Cambria Math"/>
                <a:cs typeface="Cambria Math"/>
              </a:rPr>
              <a:t>1</a:t>
            </a:r>
            <a:endParaRPr sz="1125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390132" y="4607309"/>
            <a:ext cx="101918" cy="175529"/>
          </a:xfrm>
          <a:prstGeom prst="rect">
            <a:avLst/>
          </a:prstGeom>
        </p:spPr>
        <p:txBody>
          <a:bodyPr vert="horz" wrap="square" lIns="0" tIns="2381" rIns="0" bIns="0" rtlCol="0">
            <a:spAutoFit/>
          </a:bodyPr>
          <a:lstStyle/>
          <a:p>
            <a:pPr marL="9525">
              <a:spcBef>
                <a:spcPts val="19"/>
              </a:spcBef>
            </a:pPr>
            <a:r>
              <a:rPr sz="1125" spc="-38" dirty="0">
                <a:latin typeface="Cambria Math"/>
                <a:cs typeface="Cambria Math"/>
              </a:rPr>
              <a:t>3</a:t>
            </a:r>
            <a:endParaRPr sz="1125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065089" y="4695609"/>
            <a:ext cx="1403509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113" dirty="0">
                <a:solidFill>
                  <a:srgbClr val="7030A0"/>
                </a:solidFill>
                <a:latin typeface="Tahoma"/>
                <a:cs typeface="Tahoma"/>
              </a:rPr>
              <a:t>ENCODER</a:t>
            </a:r>
            <a:r>
              <a:rPr sz="1463" spc="-60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>
              <a:latin typeface="Tahoma"/>
              <a:cs typeface="Tahom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82647" y="4774187"/>
            <a:ext cx="20859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444"/>
              </a:lnSpc>
            </a:pPr>
            <a:r>
              <a:rPr sz="2250" spc="-28" baseline="-20833" dirty="0">
                <a:latin typeface="Cambria Math"/>
                <a:cs typeface="Cambria Math"/>
              </a:rPr>
              <a:t>𝑎</a:t>
            </a:r>
            <a:r>
              <a:rPr sz="1125" spc="-19" dirty="0">
                <a:latin typeface="Cambria Math"/>
                <a:cs typeface="Cambria Math"/>
              </a:rPr>
              <a:t>1</a:t>
            </a:r>
            <a:endParaRPr sz="1125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388612" y="4890773"/>
            <a:ext cx="101918" cy="175529"/>
          </a:xfrm>
          <a:prstGeom prst="rect">
            <a:avLst/>
          </a:prstGeom>
        </p:spPr>
        <p:txBody>
          <a:bodyPr vert="horz" wrap="square" lIns="0" tIns="2381" rIns="0" bIns="0" rtlCol="0">
            <a:spAutoFit/>
          </a:bodyPr>
          <a:lstStyle/>
          <a:p>
            <a:pPr marL="9525">
              <a:spcBef>
                <a:spcPts val="19"/>
              </a:spcBef>
            </a:pPr>
            <a:r>
              <a:rPr sz="1125" spc="-38" dirty="0">
                <a:latin typeface="Cambria Math"/>
                <a:cs typeface="Cambria Math"/>
              </a:rPr>
              <a:t>3</a:t>
            </a:r>
            <a:endParaRPr sz="1125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7854" y="578611"/>
            <a:ext cx="4856321" cy="98108"/>
          </a:xfrm>
          <a:custGeom>
            <a:avLst/>
            <a:gdLst/>
            <a:ahLst/>
            <a:cxnLst/>
            <a:rect l="l" t="t" r="r" b="b"/>
            <a:pathLst>
              <a:path w="6475095" h="130809">
                <a:moveTo>
                  <a:pt x="6474895" y="0"/>
                </a:moveTo>
                <a:lnTo>
                  <a:pt x="0" y="0"/>
                </a:lnTo>
                <a:lnTo>
                  <a:pt x="0" y="130218"/>
                </a:lnTo>
                <a:lnTo>
                  <a:pt x="6474895" y="130218"/>
                </a:lnTo>
                <a:lnTo>
                  <a:pt x="647489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34" dirty="0"/>
              <a:t>seq2seq</a:t>
            </a:r>
            <a:r>
              <a:rPr spc="-68" dirty="0"/>
              <a:t> </a:t>
            </a:r>
            <a:r>
              <a:rPr spc="-143" dirty="0"/>
              <a:t>+</a:t>
            </a:r>
            <a:r>
              <a:rPr spc="-68" dirty="0"/>
              <a:t> </a:t>
            </a:r>
            <a:r>
              <a:rPr spc="-8" dirty="0"/>
              <a:t>Attention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6450" y="2988543"/>
            <a:ext cx="99298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spc="60" dirty="0">
                <a:solidFill>
                  <a:srgbClr val="262626"/>
                </a:solidFill>
                <a:latin typeface="Tahoma"/>
                <a:cs typeface="Tahoma"/>
              </a:rPr>
              <a:t>Hidden</a:t>
            </a:r>
            <a:r>
              <a:rPr sz="1313" spc="-41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15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50551" y="2662962"/>
            <a:ext cx="262414" cy="1052036"/>
            <a:chOff x="2334067" y="3550615"/>
            <a:chExt cx="349885" cy="1402715"/>
          </a:xfrm>
        </p:grpSpPr>
        <p:sp>
          <p:nvSpPr>
            <p:cNvPr id="6" name="object 6"/>
            <p:cNvSpPr/>
            <p:nvPr/>
          </p:nvSpPr>
          <p:spPr>
            <a:xfrm>
              <a:off x="235311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6859" y="4636615"/>
              <a:ext cx="222250" cy="222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390355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144096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3892228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914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75721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7115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2" y="0"/>
                </a:moveTo>
                <a:lnTo>
                  <a:pt x="338042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2" y="210167"/>
                </a:lnTo>
                <a:lnTo>
                  <a:pt x="338042" y="329483"/>
                </a:lnTo>
                <a:lnTo>
                  <a:pt x="567437" y="164741"/>
                </a:lnTo>
                <a:lnTo>
                  <a:pt x="33804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2562171" y="2662962"/>
            <a:ext cx="262414" cy="1052036"/>
            <a:chOff x="3416227" y="3550615"/>
            <a:chExt cx="349885" cy="1402715"/>
          </a:xfrm>
        </p:grpSpPr>
        <p:sp>
          <p:nvSpPr>
            <p:cNvPr id="15" name="object 15"/>
            <p:cNvSpPr/>
            <p:nvPr/>
          </p:nvSpPr>
          <p:spPr>
            <a:xfrm>
              <a:off x="343527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9021" y="4636615"/>
              <a:ext cx="222250" cy="2222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390355"/>
              <a:ext cx="222250" cy="2222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144096"/>
              <a:ext cx="222250" cy="2222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3892228"/>
              <a:ext cx="222250" cy="2222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130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2568838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0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82777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3353240" y="2662962"/>
            <a:ext cx="262414" cy="1052036"/>
            <a:chOff x="4470986" y="3550615"/>
            <a:chExt cx="349885" cy="1402715"/>
          </a:xfrm>
        </p:grpSpPr>
        <p:sp>
          <p:nvSpPr>
            <p:cNvPr id="24" name="object 24"/>
            <p:cNvSpPr/>
            <p:nvPr/>
          </p:nvSpPr>
          <p:spPr>
            <a:xfrm>
              <a:off x="4490036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3779" y="4636615"/>
              <a:ext cx="222250" cy="2222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390355"/>
              <a:ext cx="222250" cy="2222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144096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3892228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606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335990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67384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4169424" y="2662962"/>
            <a:ext cx="262414" cy="1052036"/>
            <a:chOff x="5559231" y="3550615"/>
            <a:chExt cx="349885" cy="1402715"/>
          </a:xfrm>
        </p:grpSpPr>
        <p:sp>
          <p:nvSpPr>
            <p:cNvPr id="33" name="object 33"/>
            <p:cNvSpPr/>
            <p:nvPr/>
          </p:nvSpPr>
          <p:spPr>
            <a:xfrm>
              <a:off x="5578281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2024" y="4636613"/>
              <a:ext cx="222250" cy="22225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390354"/>
              <a:ext cx="222250" cy="2222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144096"/>
              <a:ext cx="222250" cy="22225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3892227"/>
              <a:ext cx="222250" cy="22225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430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39" name="object 39"/>
          <p:cNvSpPr/>
          <p:nvPr/>
        </p:nvSpPr>
        <p:spPr>
          <a:xfrm>
            <a:off x="4176090" y="378961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881073" y="241134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39911" y="2214753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662144" y="2429637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15697" y="2233042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496597" y="2429637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3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350149" y="2233042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305232" y="242049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158784" y="2226184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127729" y="2662962"/>
            <a:ext cx="262414" cy="1052036"/>
            <a:chOff x="6836972" y="3550615"/>
            <a:chExt cx="349885" cy="1402715"/>
          </a:xfrm>
        </p:grpSpPr>
        <p:sp>
          <p:nvSpPr>
            <p:cNvPr id="49" name="object 49"/>
            <p:cNvSpPr/>
            <p:nvPr/>
          </p:nvSpPr>
          <p:spPr>
            <a:xfrm>
              <a:off x="6856022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9765" y="4636613"/>
              <a:ext cx="222250" cy="22225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390354"/>
              <a:ext cx="222250" cy="22225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144096"/>
              <a:ext cx="222250" cy="22225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3892227"/>
              <a:ext cx="222250" cy="22225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0204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5238748" y="240906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097587" y="2214753"/>
            <a:ext cx="31146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1350" spc="-19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819144" y="1644867"/>
            <a:ext cx="395288" cy="680085"/>
          </a:xfrm>
          <a:custGeom>
            <a:avLst/>
            <a:gdLst/>
            <a:ahLst/>
            <a:cxnLst/>
            <a:rect l="l" t="t" r="r" b="b"/>
            <a:pathLst>
              <a:path w="527050" h="906780">
                <a:moveTo>
                  <a:pt x="509428" y="0"/>
                </a:moveTo>
                <a:lnTo>
                  <a:pt x="381872" y="61259"/>
                </a:lnTo>
                <a:lnTo>
                  <a:pt x="434328" y="89933"/>
                </a:lnTo>
                <a:lnTo>
                  <a:pt x="0" y="884485"/>
                </a:lnTo>
                <a:lnTo>
                  <a:pt x="39941" y="906318"/>
                </a:lnTo>
                <a:lnTo>
                  <a:pt x="474270" y="111767"/>
                </a:lnTo>
                <a:lnTo>
                  <a:pt x="526726" y="140441"/>
                </a:lnTo>
                <a:lnTo>
                  <a:pt x="509428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352675" y="1590999"/>
            <a:ext cx="1921193" cy="758189"/>
          </a:xfrm>
          <a:custGeom>
            <a:avLst/>
            <a:gdLst/>
            <a:ahLst/>
            <a:cxnLst/>
            <a:rect l="l" t="t" r="r" b="b"/>
            <a:pathLst>
              <a:path w="2561590" h="1010919">
                <a:moveTo>
                  <a:pt x="430263" y="925614"/>
                </a:moveTo>
                <a:lnTo>
                  <a:pt x="102476" y="201676"/>
                </a:lnTo>
                <a:lnTo>
                  <a:pt x="160667" y="175323"/>
                </a:lnTo>
                <a:lnTo>
                  <a:pt x="29679" y="99847"/>
                </a:lnTo>
                <a:lnTo>
                  <a:pt x="0" y="248069"/>
                </a:lnTo>
                <a:lnTo>
                  <a:pt x="58178" y="221729"/>
                </a:lnTo>
                <a:lnTo>
                  <a:pt x="385965" y="945667"/>
                </a:lnTo>
                <a:lnTo>
                  <a:pt x="430263" y="925614"/>
                </a:lnTo>
                <a:close/>
              </a:path>
              <a:path w="2561590" h="1010919">
                <a:moveTo>
                  <a:pt x="2561145" y="960374"/>
                </a:moveTo>
                <a:lnTo>
                  <a:pt x="339178" y="65620"/>
                </a:lnTo>
                <a:lnTo>
                  <a:pt x="365594" y="0"/>
                </a:lnTo>
                <a:lnTo>
                  <a:pt x="202933" y="39801"/>
                </a:lnTo>
                <a:lnTo>
                  <a:pt x="229565" y="81813"/>
                </a:lnTo>
                <a:lnTo>
                  <a:pt x="165315" y="88036"/>
                </a:lnTo>
                <a:lnTo>
                  <a:pt x="232130" y="236918"/>
                </a:lnTo>
                <a:lnTo>
                  <a:pt x="266750" y="177304"/>
                </a:lnTo>
                <a:lnTo>
                  <a:pt x="1531086" y="911593"/>
                </a:lnTo>
                <a:lnTo>
                  <a:pt x="1557451" y="866203"/>
                </a:lnTo>
                <a:lnTo>
                  <a:pt x="308800" y="141033"/>
                </a:lnTo>
                <a:lnTo>
                  <a:pt x="319049" y="115595"/>
                </a:lnTo>
                <a:lnTo>
                  <a:pt x="2541016" y="1010348"/>
                </a:lnTo>
                <a:lnTo>
                  <a:pt x="2561145" y="960374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1877193" y="1832991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736032" y="1638682"/>
            <a:ext cx="28479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𝑎</a:t>
            </a:r>
            <a:r>
              <a:rPr sz="1350" spc="-19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213794" y="1837564"/>
            <a:ext cx="283845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pc="-19" dirty="0">
                <a:latin typeface="Cambria Math"/>
                <a:cs typeface="Cambria Math"/>
              </a:rPr>
              <a:t>𝑎</a:t>
            </a:r>
            <a:r>
              <a:rPr sz="2025" spc="-28" baseline="-16975" dirty="0">
                <a:latin typeface="Cambria Math"/>
                <a:cs typeface="Cambria Math"/>
              </a:rPr>
              <a:t>2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360908" y="1807845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710472" y="1780414"/>
            <a:ext cx="283845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pc="-19" dirty="0">
                <a:latin typeface="Cambria Math"/>
                <a:cs typeface="Cambria Math"/>
              </a:rPr>
              <a:t>𝑎</a:t>
            </a:r>
            <a:r>
              <a:rPr sz="2025" spc="-28" baseline="-16975" dirty="0">
                <a:latin typeface="Cambria Math"/>
                <a:cs typeface="Cambria Math"/>
              </a:rPr>
              <a:t>3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857586" y="174840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347195" y="1698117"/>
            <a:ext cx="283845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pc="-19" dirty="0">
                <a:latin typeface="Cambria Math"/>
                <a:cs typeface="Cambria Math"/>
              </a:rPr>
              <a:t>𝑎</a:t>
            </a:r>
            <a:r>
              <a:rPr sz="2025" spc="-28" baseline="-16975" dirty="0">
                <a:latin typeface="Cambria Math"/>
                <a:cs typeface="Cambria Math"/>
              </a:rPr>
              <a:t>4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494308" y="166839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899901" y="1342766"/>
            <a:ext cx="1052036" cy="262414"/>
            <a:chOff x="2533200" y="1790354"/>
            <a:chExt cx="1402715" cy="349885"/>
          </a:xfrm>
        </p:grpSpPr>
        <p:sp>
          <p:nvSpPr>
            <p:cNvPr id="68" name="object 68"/>
            <p:cNvSpPr/>
            <p:nvPr/>
          </p:nvSpPr>
          <p:spPr>
            <a:xfrm>
              <a:off x="2552250" y="1809404"/>
              <a:ext cx="1364615" cy="311785"/>
            </a:xfrm>
            <a:custGeom>
              <a:avLst/>
              <a:gdLst/>
              <a:ahLst/>
              <a:cxnLst/>
              <a:rect l="l" t="t" r="r" b="b"/>
              <a:pathLst>
                <a:path w="1364614" h="311785">
                  <a:moveTo>
                    <a:pt x="0" y="51895"/>
                  </a:move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1312329" y="0"/>
                  </a:lnTo>
                  <a:lnTo>
                    <a:pt x="1332528" y="4078"/>
                  </a:lnTo>
                  <a:lnTo>
                    <a:pt x="1349024" y="15199"/>
                  </a:lnTo>
                  <a:lnTo>
                    <a:pt x="1360145" y="31695"/>
                  </a:lnTo>
                  <a:lnTo>
                    <a:pt x="1364224" y="51895"/>
                  </a:lnTo>
                  <a:lnTo>
                    <a:pt x="1364224" y="259473"/>
                  </a:lnTo>
                  <a:lnTo>
                    <a:pt x="1360145" y="279673"/>
                  </a:lnTo>
                  <a:lnTo>
                    <a:pt x="1349024" y="296169"/>
                  </a:lnTo>
                  <a:lnTo>
                    <a:pt x="1332528" y="307290"/>
                  </a:lnTo>
                  <a:lnTo>
                    <a:pt x="1312329" y="311369"/>
                  </a:lnTo>
                  <a:lnTo>
                    <a:pt x="51895" y="311369"/>
                  </a:lnTo>
                  <a:lnTo>
                    <a:pt x="31695" y="307290"/>
                  </a:lnTo>
                  <a:lnTo>
                    <a:pt x="15199" y="296169"/>
                  </a:lnTo>
                  <a:lnTo>
                    <a:pt x="4078" y="279673"/>
                  </a:lnTo>
                  <a:lnTo>
                    <a:pt x="0" y="259473"/>
                  </a:lnTo>
                  <a:lnTo>
                    <a:pt x="0" y="51895"/>
                  </a:lnTo>
                  <a:close/>
                </a:path>
              </a:pathLst>
            </a:custGeom>
            <a:ln w="38100">
              <a:solidFill>
                <a:srgbClr val="BF9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27274" y="1853145"/>
              <a:ext cx="222250" cy="22225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73533" y="1853145"/>
              <a:ext cx="222250" cy="22225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19793" y="1853145"/>
              <a:ext cx="222250" cy="22225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71662" y="1853145"/>
              <a:ext cx="222250" cy="22225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29657" y="1855429"/>
              <a:ext cx="222250" cy="222250"/>
            </a:xfrm>
            <a:prstGeom prst="rect">
              <a:avLst/>
            </a:prstGeom>
          </p:spPr>
        </p:pic>
      </p:grpSp>
      <p:sp>
        <p:nvSpPr>
          <p:cNvPr id="74" name="object 74"/>
          <p:cNvSpPr txBox="1"/>
          <p:nvPr/>
        </p:nvSpPr>
        <p:spPr>
          <a:xfrm>
            <a:off x="5066846" y="1063155"/>
            <a:ext cx="3442335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56" dirty="0">
                <a:solidFill>
                  <a:srgbClr val="C00000"/>
                </a:solidFill>
                <a:latin typeface="Tahoma"/>
                <a:cs typeface="Tahoma"/>
              </a:rPr>
              <a:t>We</a:t>
            </a:r>
            <a:r>
              <a:rPr sz="1463" spc="53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463" dirty="0">
                <a:solidFill>
                  <a:srgbClr val="C00000"/>
                </a:solidFill>
                <a:latin typeface="Tahoma"/>
                <a:cs typeface="Tahoma"/>
              </a:rPr>
              <a:t>multiply</a:t>
            </a:r>
            <a:r>
              <a:rPr sz="1463" spc="53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463" dirty="0">
                <a:solidFill>
                  <a:srgbClr val="C00000"/>
                </a:solidFill>
                <a:latin typeface="Tahoma"/>
                <a:cs typeface="Tahoma"/>
              </a:rPr>
              <a:t>each</a:t>
            </a:r>
            <a:r>
              <a:rPr sz="1463" spc="49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463" dirty="0">
                <a:solidFill>
                  <a:srgbClr val="7030A0"/>
                </a:solidFill>
                <a:latin typeface="Tahoma"/>
                <a:cs typeface="Tahoma"/>
              </a:rPr>
              <a:t>encoder’s</a:t>
            </a:r>
            <a:r>
              <a:rPr sz="1463" spc="49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53" dirty="0">
                <a:solidFill>
                  <a:srgbClr val="C00000"/>
                </a:solidFill>
                <a:latin typeface="Tahoma"/>
                <a:cs typeface="Tahoma"/>
              </a:rPr>
              <a:t>hidden </a:t>
            </a:r>
            <a:r>
              <a:rPr sz="1463" spc="-8" dirty="0">
                <a:solidFill>
                  <a:srgbClr val="C00000"/>
                </a:solidFill>
                <a:latin typeface="Tahoma"/>
                <a:cs typeface="Tahoma"/>
              </a:rPr>
              <a:t>layer</a:t>
            </a:r>
            <a:endParaRPr sz="1463">
              <a:latin typeface="Tahoma"/>
              <a:cs typeface="Tahom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668111" y="1443227"/>
            <a:ext cx="69533" cy="18274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125" spc="-38" dirty="0">
                <a:latin typeface="Cambria Math"/>
                <a:cs typeface="Cambria Math"/>
              </a:rPr>
              <a:t>𝑖</a:t>
            </a:r>
            <a:endParaRPr sz="1125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047796" y="1347597"/>
            <a:ext cx="3209925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194" baseline="1424" dirty="0">
                <a:solidFill>
                  <a:srgbClr val="C00000"/>
                </a:solidFill>
                <a:latin typeface="Tahoma"/>
                <a:cs typeface="Tahoma"/>
              </a:rPr>
              <a:t>by</a:t>
            </a:r>
            <a:r>
              <a:rPr sz="2194" spc="17" baseline="142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C00000"/>
                </a:solidFill>
                <a:latin typeface="Tahoma"/>
                <a:cs typeface="Tahoma"/>
              </a:rPr>
              <a:t>its</a:t>
            </a:r>
            <a:r>
              <a:rPr sz="2194" spc="23" baseline="142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500" dirty="0">
                <a:latin typeface="Cambria Math"/>
                <a:cs typeface="Cambria Math"/>
              </a:rPr>
              <a:t>𝑎</a:t>
            </a:r>
            <a:r>
              <a:rPr sz="1688" baseline="29629" dirty="0">
                <a:latin typeface="Cambria Math"/>
                <a:cs typeface="Cambria Math"/>
              </a:rPr>
              <a:t>1</a:t>
            </a:r>
            <a:r>
              <a:rPr sz="1688" spc="304" baseline="29629" dirty="0">
                <a:latin typeface="Cambria Math"/>
                <a:cs typeface="Cambria Math"/>
              </a:rPr>
              <a:t> </a:t>
            </a:r>
            <a:r>
              <a:rPr sz="2194" baseline="1424" dirty="0">
                <a:solidFill>
                  <a:srgbClr val="C00000"/>
                </a:solidFill>
                <a:latin typeface="Tahoma"/>
                <a:cs typeface="Tahoma"/>
              </a:rPr>
              <a:t>attention</a:t>
            </a:r>
            <a:r>
              <a:rPr sz="2194" spc="28" baseline="142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C00000"/>
                </a:solidFill>
                <a:latin typeface="Tahoma"/>
                <a:cs typeface="Tahoma"/>
              </a:rPr>
              <a:t>weights</a:t>
            </a:r>
            <a:r>
              <a:rPr sz="2194" spc="23" baseline="142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194" spc="67" baseline="1424" dirty="0">
                <a:solidFill>
                  <a:srgbClr val="C00000"/>
                </a:solidFill>
                <a:latin typeface="Tahoma"/>
                <a:cs typeface="Tahoma"/>
              </a:rPr>
              <a:t>to</a:t>
            </a:r>
            <a:r>
              <a:rPr sz="2194" spc="28" baseline="142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C00000"/>
                </a:solidFill>
                <a:latin typeface="Tahoma"/>
                <a:cs typeface="Tahoma"/>
              </a:rPr>
              <a:t>create</a:t>
            </a:r>
            <a:r>
              <a:rPr sz="2194" spc="28" baseline="142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194" spc="-56" baseline="1424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endParaRPr sz="2194" baseline="1424">
              <a:latin typeface="Tahoma"/>
              <a:cs typeface="Tahom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405537" y="1715261"/>
            <a:ext cx="101918" cy="18274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125" spc="-38" dirty="0">
                <a:latin typeface="Cambria Math"/>
                <a:cs typeface="Cambria Math"/>
              </a:rPr>
              <a:t>1</a:t>
            </a:r>
            <a:endParaRPr sz="1125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047797" y="1624202"/>
            <a:ext cx="1516856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194" baseline="1424" dirty="0">
                <a:solidFill>
                  <a:srgbClr val="7F6000"/>
                </a:solidFill>
                <a:latin typeface="Tahoma"/>
                <a:cs typeface="Tahoma"/>
              </a:rPr>
              <a:t>context</a:t>
            </a:r>
            <a:r>
              <a:rPr sz="2194" spc="152" baseline="1424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7F6000"/>
                </a:solidFill>
                <a:latin typeface="Tahoma"/>
                <a:cs typeface="Tahoma"/>
              </a:rPr>
              <a:t>vector</a:t>
            </a:r>
            <a:r>
              <a:rPr sz="2194" spc="157" baseline="1424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26" dirty="0">
                <a:latin typeface="Cambria Math"/>
                <a:cs typeface="Cambria Math"/>
              </a:rPr>
              <a:t>𝑐</a:t>
            </a:r>
            <a:r>
              <a:rPr sz="1688" spc="39" baseline="27777" dirty="0">
                <a:latin typeface="Cambria Math"/>
                <a:cs typeface="Cambria Math"/>
              </a:rPr>
              <a:t>𝐷</a:t>
            </a:r>
            <a:endParaRPr sz="1688" baseline="27777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447926" y="1110615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solidFill>
                  <a:srgbClr val="7F60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334959" y="914019"/>
            <a:ext cx="29622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50" baseline="-21990" dirty="0">
                <a:solidFill>
                  <a:srgbClr val="7F6000"/>
                </a:solidFill>
                <a:latin typeface="Cambria Math"/>
                <a:cs typeface="Cambria Math"/>
              </a:rPr>
              <a:t>𝑐</a:t>
            </a:r>
            <a:r>
              <a:rPr sz="1350" spc="34" dirty="0">
                <a:solidFill>
                  <a:srgbClr val="7F6000"/>
                </a:solidFill>
                <a:latin typeface="Cambria Math"/>
                <a:cs typeface="Cambria Math"/>
              </a:rPr>
              <a:t>𝐷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5134611" y="378946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6742490" y="3628047"/>
            <a:ext cx="1800225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38" dirty="0">
                <a:solidFill>
                  <a:srgbClr val="7030A0"/>
                </a:solidFill>
                <a:latin typeface="Tahoma"/>
                <a:cs typeface="Tahoma"/>
              </a:rPr>
              <a:t>Attention</a:t>
            </a:r>
            <a:r>
              <a:rPr sz="1463" spc="-38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-8" dirty="0">
                <a:solidFill>
                  <a:srgbClr val="7030A0"/>
                </a:solidFill>
                <a:latin typeface="Tahoma"/>
                <a:cs typeface="Tahoma"/>
              </a:rPr>
              <a:t>(softmax’d)</a:t>
            </a:r>
            <a:endParaRPr sz="1463">
              <a:latin typeface="Tahoma"/>
              <a:cs typeface="Tahom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290617" y="3910079"/>
            <a:ext cx="20859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444"/>
              </a:lnSpc>
            </a:pPr>
            <a:r>
              <a:rPr sz="2250" spc="-28" baseline="-20833" dirty="0">
                <a:latin typeface="Cambria Math"/>
                <a:cs typeface="Cambria Math"/>
              </a:rPr>
              <a:t>𝑎</a:t>
            </a:r>
            <a:r>
              <a:rPr sz="1125" spc="-19" dirty="0">
                <a:latin typeface="Cambria Math"/>
                <a:cs typeface="Cambria Math"/>
              </a:rPr>
              <a:t>1</a:t>
            </a:r>
            <a:endParaRPr sz="1125">
              <a:latin typeface="Cambria Math"/>
              <a:cs typeface="Cambria Math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530964" y="3937978"/>
            <a:ext cx="580073" cy="1090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/>
            <a:r>
              <a:rPr sz="1500" dirty="0">
                <a:latin typeface="Cambria Math"/>
                <a:cs typeface="Cambria Math"/>
              </a:rPr>
              <a:t>=</a:t>
            </a:r>
            <a:r>
              <a:rPr sz="1500" spc="79" dirty="0">
                <a:latin typeface="Cambria Math"/>
                <a:cs typeface="Cambria Math"/>
              </a:rPr>
              <a:t> </a:t>
            </a:r>
            <a:r>
              <a:rPr sz="1500" spc="-15" dirty="0">
                <a:latin typeface="Cambria Math"/>
                <a:cs typeface="Cambria Math"/>
              </a:rPr>
              <a:t>0.51</a:t>
            </a:r>
            <a:endParaRPr sz="1500">
              <a:latin typeface="Cambria Math"/>
              <a:cs typeface="Cambria Math"/>
            </a:endParaRPr>
          </a:p>
          <a:p>
            <a:pPr marL="17145">
              <a:spcBef>
                <a:spcPts val="431"/>
              </a:spcBef>
            </a:pPr>
            <a:r>
              <a:rPr sz="1500" dirty="0">
                <a:latin typeface="Cambria Math"/>
                <a:cs typeface="Cambria Math"/>
              </a:rPr>
              <a:t>=</a:t>
            </a:r>
            <a:r>
              <a:rPr sz="1500" spc="79" dirty="0">
                <a:latin typeface="Cambria Math"/>
                <a:cs typeface="Cambria Math"/>
              </a:rPr>
              <a:t> </a:t>
            </a:r>
            <a:r>
              <a:rPr sz="1500" spc="-15" dirty="0">
                <a:latin typeface="Cambria Math"/>
                <a:cs typeface="Cambria Math"/>
              </a:rPr>
              <a:t>0.28</a:t>
            </a:r>
            <a:endParaRPr sz="1500">
              <a:latin typeface="Cambria Math"/>
              <a:cs typeface="Cambria Math"/>
            </a:endParaRPr>
          </a:p>
          <a:p>
            <a:pPr marL="10953">
              <a:spcBef>
                <a:spcPts val="540"/>
              </a:spcBef>
            </a:pPr>
            <a:r>
              <a:rPr sz="1500" dirty="0">
                <a:latin typeface="Cambria Math"/>
                <a:cs typeface="Cambria Math"/>
              </a:rPr>
              <a:t>=</a:t>
            </a:r>
            <a:r>
              <a:rPr sz="1500" spc="79" dirty="0">
                <a:latin typeface="Cambria Math"/>
                <a:cs typeface="Cambria Math"/>
              </a:rPr>
              <a:t> </a:t>
            </a:r>
            <a:r>
              <a:rPr sz="1500" spc="-15" dirty="0">
                <a:latin typeface="Cambria Math"/>
                <a:cs typeface="Cambria Math"/>
              </a:rPr>
              <a:t>0.14</a:t>
            </a:r>
            <a:endParaRPr sz="1500">
              <a:latin typeface="Cambria Math"/>
              <a:cs typeface="Cambria Math"/>
            </a:endParaRPr>
          </a:p>
          <a:p>
            <a:pPr marL="9525">
              <a:spcBef>
                <a:spcPts val="431"/>
              </a:spcBef>
            </a:pPr>
            <a:r>
              <a:rPr sz="1500" dirty="0">
                <a:latin typeface="Cambria Math"/>
                <a:cs typeface="Cambria Math"/>
              </a:rPr>
              <a:t>=</a:t>
            </a:r>
            <a:r>
              <a:rPr sz="1500" spc="79" dirty="0">
                <a:latin typeface="Cambria Math"/>
                <a:cs typeface="Cambria Math"/>
              </a:rPr>
              <a:t> </a:t>
            </a:r>
            <a:r>
              <a:rPr sz="1500" spc="-15" dirty="0">
                <a:latin typeface="Cambria Math"/>
                <a:cs typeface="Cambria Math"/>
              </a:rPr>
              <a:t>0.07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392153" y="4024379"/>
            <a:ext cx="101918" cy="175529"/>
          </a:xfrm>
          <a:prstGeom prst="rect">
            <a:avLst/>
          </a:prstGeom>
        </p:spPr>
        <p:txBody>
          <a:bodyPr vert="horz" wrap="square" lIns="0" tIns="2381" rIns="0" bIns="0" rtlCol="0">
            <a:spAutoFit/>
          </a:bodyPr>
          <a:lstStyle/>
          <a:p>
            <a:pPr marL="9525">
              <a:spcBef>
                <a:spcPts val="19"/>
              </a:spcBef>
            </a:pPr>
            <a:r>
              <a:rPr sz="1125" spc="-38" dirty="0">
                <a:latin typeface="Cambria Math"/>
                <a:cs typeface="Cambria Math"/>
              </a:rPr>
              <a:t>1</a:t>
            </a:r>
            <a:endParaRPr sz="1125">
              <a:latin typeface="Cambria Math"/>
              <a:cs typeface="Cambria Math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290616" y="4193543"/>
            <a:ext cx="20859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444"/>
              </a:lnSpc>
            </a:pPr>
            <a:r>
              <a:rPr sz="2250" spc="-28" baseline="-20833" dirty="0">
                <a:latin typeface="Cambria Math"/>
                <a:cs typeface="Cambria Math"/>
              </a:rPr>
              <a:t>𝑎</a:t>
            </a:r>
            <a:r>
              <a:rPr sz="1125" spc="-19" dirty="0">
                <a:latin typeface="Cambria Math"/>
                <a:cs typeface="Cambria Math"/>
              </a:rPr>
              <a:t>1</a:t>
            </a:r>
            <a:endParaRPr sz="1125">
              <a:latin typeface="Cambria Math"/>
              <a:cs typeface="Cambria Math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27224" y="4238985"/>
            <a:ext cx="82534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dirty="0">
                <a:solidFill>
                  <a:srgbClr val="262626"/>
                </a:solidFill>
                <a:latin typeface="Tahoma"/>
                <a:cs typeface="Tahoma"/>
              </a:rPr>
              <a:t>Input</a:t>
            </a:r>
            <a:r>
              <a:rPr sz="1313" spc="-64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8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632730" y="4247008"/>
            <a:ext cx="40481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2352676" y="4247008"/>
            <a:ext cx="65436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240736" y="4258437"/>
            <a:ext cx="433864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4128790" y="4267582"/>
            <a:ext cx="34194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041864" y="4089615"/>
            <a:ext cx="1586865" cy="6399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&lt;s&gt;</a:t>
            </a:r>
            <a:endParaRPr dirty="0">
              <a:latin typeface="Tahoma"/>
              <a:cs typeface="Tahoma"/>
            </a:endParaRPr>
          </a:p>
          <a:p>
            <a:pPr marL="199073">
              <a:spcBef>
                <a:spcPts val="1020"/>
              </a:spcBef>
            </a:pPr>
            <a:r>
              <a:rPr sz="1463" spc="101" dirty="0">
                <a:solidFill>
                  <a:srgbClr val="7030A0"/>
                </a:solidFill>
                <a:latin typeface="Tahoma"/>
                <a:cs typeface="Tahoma"/>
              </a:rPr>
              <a:t>DECODER</a:t>
            </a:r>
            <a:r>
              <a:rPr sz="1463" spc="-41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 dirty="0">
              <a:latin typeface="Tahoma"/>
              <a:cs typeface="Tahoma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396582" y="4307843"/>
            <a:ext cx="101918" cy="175529"/>
          </a:xfrm>
          <a:prstGeom prst="rect">
            <a:avLst/>
          </a:prstGeom>
        </p:spPr>
        <p:txBody>
          <a:bodyPr vert="horz" wrap="square" lIns="0" tIns="2381" rIns="0" bIns="0" rtlCol="0">
            <a:spAutoFit/>
          </a:bodyPr>
          <a:lstStyle/>
          <a:p>
            <a:pPr marL="9525">
              <a:spcBef>
                <a:spcPts val="19"/>
              </a:spcBef>
            </a:pPr>
            <a:r>
              <a:rPr sz="1125" spc="-38" dirty="0">
                <a:latin typeface="Cambria Math"/>
                <a:cs typeface="Cambria Math"/>
              </a:rPr>
              <a:t>2</a:t>
            </a:r>
            <a:endParaRPr sz="1125">
              <a:latin typeface="Cambria Math"/>
              <a:cs typeface="Cambria Math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284166" y="4490723"/>
            <a:ext cx="20859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444"/>
              </a:lnSpc>
            </a:pPr>
            <a:r>
              <a:rPr sz="2250" spc="-28" baseline="-20833" dirty="0">
                <a:latin typeface="Cambria Math"/>
                <a:cs typeface="Cambria Math"/>
              </a:rPr>
              <a:t>𝑎</a:t>
            </a:r>
            <a:r>
              <a:rPr sz="1125" spc="-19" dirty="0">
                <a:latin typeface="Cambria Math"/>
                <a:cs typeface="Cambria Math"/>
              </a:rPr>
              <a:t>1</a:t>
            </a:r>
            <a:endParaRPr sz="1125">
              <a:latin typeface="Cambria Math"/>
              <a:cs typeface="Cambria Math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7390132" y="4607309"/>
            <a:ext cx="101918" cy="175529"/>
          </a:xfrm>
          <a:prstGeom prst="rect">
            <a:avLst/>
          </a:prstGeom>
        </p:spPr>
        <p:txBody>
          <a:bodyPr vert="horz" wrap="square" lIns="0" tIns="2381" rIns="0" bIns="0" rtlCol="0">
            <a:spAutoFit/>
          </a:bodyPr>
          <a:lstStyle/>
          <a:p>
            <a:pPr marL="9525">
              <a:spcBef>
                <a:spcPts val="19"/>
              </a:spcBef>
            </a:pPr>
            <a:r>
              <a:rPr sz="1125" spc="-38" dirty="0">
                <a:latin typeface="Cambria Math"/>
                <a:cs typeface="Cambria Math"/>
              </a:rPr>
              <a:t>3</a:t>
            </a:r>
            <a:endParaRPr sz="1125">
              <a:latin typeface="Cambria Math"/>
              <a:cs typeface="Cambria Math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2119618" y="4552405"/>
            <a:ext cx="1403509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113" dirty="0">
                <a:solidFill>
                  <a:srgbClr val="7030A0"/>
                </a:solidFill>
                <a:latin typeface="Tahoma"/>
                <a:cs typeface="Tahoma"/>
              </a:rPr>
              <a:t>ENCODER</a:t>
            </a:r>
            <a:r>
              <a:rPr sz="1463" spc="-60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>
              <a:latin typeface="Tahoma"/>
              <a:cs typeface="Tahoma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282647" y="4774187"/>
            <a:ext cx="20859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444"/>
              </a:lnSpc>
            </a:pPr>
            <a:r>
              <a:rPr sz="2250" spc="-28" baseline="-20833" dirty="0">
                <a:latin typeface="Cambria Math"/>
                <a:cs typeface="Cambria Math"/>
              </a:rPr>
              <a:t>𝑎</a:t>
            </a:r>
            <a:r>
              <a:rPr sz="1125" spc="-19" dirty="0">
                <a:latin typeface="Cambria Math"/>
                <a:cs typeface="Cambria Math"/>
              </a:rPr>
              <a:t>1</a:t>
            </a:r>
            <a:endParaRPr sz="1125">
              <a:latin typeface="Cambria Math"/>
              <a:cs typeface="Cambria Math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388612" y="4890773"/>
            <a:ext cx="101918" cy="175529"/>
          </a:xfrm>
          <a:prstGeom prst="rect">
            <a:avLst/>
          </a:prstGeom>
        </p:spPr>
        <p:txBody>
          <a:bodyPr vert="horz" wrap="square" lIns="0" tIns="2381" rIns="0" bIns="0" rtlCol="0">
            <a:spAutoFit/>
          </a:bodyPr>
          <a:lstStyle/>
          <a:p>
            <a:pPr marL="9525">
              <a:spcBef>
                <a:spcPts val="19"/>
              </a:spcBef>
            </a:pPr>
            <a:r>
              <a:rPr sz="1125" spc="-38" dirty="0">
                <a:latin typeface="Cambria Math"/>
                <a:cs typeface="Cambria Math"/>
              </a:rPr>
              <a:t>3</a:t>
            </a:r>
            <a:endParaRPr sz="1125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7854" y="578611"/>
            <a:ext cx="4856321" cy="98108"/>
          </a:xfrm>
          <a:custGeom>
            <a:avLst/>
            <a:gdLst/>
            <a:ahLst/>
            <a:cxnLst/>
            <a:rect l="l" t="t" r="r" b="b"/>
            <a:pathLst>
              <a:path w="6475095" h="130809">
                <a:moveTo>
                  <a:pt x="6474895" y="0"/>
                </a:moveTo>
                <a:lnTo>
                  <a:pt x="0" y="0"/>
                </a:lnTo>
                <a:lnTo>
                  <a:pt x="0" y="130218"/>
                </a:lnTo>
                <a:lnTo>
                  <a:pt x="6474895" y="130218"/>
                </a:lnTo>
                <a:lnTo>
                  <a:pt x="647489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34" dirty="0"/>
              <a:t>seq2seq</a:t>
            </a:r>
            <a:r>
              <a:rPr spc="-68" dirty="0"/>
              <a:t> </a:t>
            </a:r>
            <a:r>
              <a:rPr spc="-143" dirty="0"/>
              <a:t>+</a:t>
            </a:r>
            <a:r>
              <a:rPr spc="-68" dirty="0"/>
              <a:t> </a:t>
            </a:r>
            <a:r>
              <a:rPr spc="-8" dirty="0"/>
              <a:t>Attention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7224" y="4238985"/>
            <a:ext cx="82534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dirty="0">
                <a:solidFill>
                  <a:srgbClr val="262626"/>
                </a:solidFill>
                <a:latin typeface="Tahoma"/>
                <a:cs typeface="Tahoma"/>
              </a:rPr>
              <a:t>Input</a:t>
            </a:r>
            <a:r>
              <a:rPr sz="1313" spc="-64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8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6450" y="2988543"/>
            <a:ext cx="99298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spc="60" dirty="0">
                <a:solidFill>
                  <a:srgbClr val="262626"/>
                </a:solidFill>
                <a:latin typeface="Tahoma"/>
                <a:cs typeface="Tahoma"/>
              </a:rPr>
              <a:t>Hidden</a:t>
            </a:r>
            <a:r>
              <a:rPr sz="1313" spc="-41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15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750551" y="2662962"/>
            <a:ext cx="262414" cy="1052036"/>
            <a:chOff x="2334067" y="3550615"/>
            <a:chExt cx="349885" cy="1402715"/>
          </a:xfrm>
        </p:grpSpPr>
        <p:sp>
          <p:nvSpPr>
            <p:cNvPr id="7" name="object 7"/>
            <p:cNvSpPr/>
            <p:nvPr/>
          </p:nvSpPr>
          <p:spPr>
            <a:xfrm>
              <a:off x="235311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6859" y="4636615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390355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144096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3892228"/>
              <a:ext cx="222250" cy="222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914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175721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7115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2" y="0"/>
                </a:moveTo>
                <a:lnTo>
                  <a:pt x="338042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2" y="210167"/>
                </a:lnTo>
                <a:lnTo>
                  <a:pt x="338042" y="329483"/>
                </a:lnTo>
                <a:lnTo>
                  <a:pt x="567437" y="164741"/>
                </a:lnTo>
                <a:lnTo>
                  <a:pt x="33804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2562171" y="2662962"/>
            <a:ext cx="262414" cy="1052036"/>
            <a:chOff x="3416227" y="3550615"/>
            <a:chExt cx="349885" cy="1402715"/>
          </a:xfrm>
        </p:grpSpPr>
        <p:sp>
          <p:nvSpPr>
            <p:cNvPr id="16" name="object 16"/>
            <p:cNvSpPr/>
            <p:nvPr/>
          </p:nvSpPr>
          <p:spPr>
            <a:xfrm>
              <a:off x="343527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9021" y="4636615"/>
              <a:ext cx="222250" cy="2222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390355"/>
              <a:ext cx="222250" cy="2222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144096"/>
              <a:ext cx="222250" cy="2222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3892228"/>
              <a:ext cx="222250" cy="22225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130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2568838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0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82777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3353240" y="2662962"/>
            <a:ext cx="262414" cy="1052036"/>
            <a:chOff x="4470986" y="3550615"/>
            <a:chExt cx="349885" cy="1402715"/>
          </a:xfrm>
        </p:grpSpPr>
        <p:sp>
          <p:nvSpPr>
            <p:cNvPr id="25" name="object 25"/>
            <p:cNvSpPr/>
            <p:nvPr/>
          </p:nvSpPr>
          <p:spPr>
            <a:xfrm>
              <a:off x="4490036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3779" y="4636615"/>
              <a:ext cx="222250" cy="2222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390355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144096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3892228"/>
              <a:ext cx="222250" cy="2222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606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31" name="object 31"/>
          <p:cNvSpPr/>
          <p:nvPr/>
        </p:nvSpPr>
        <p:spPr>
          <a:xfrm>
            <a:off x="335990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67384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4169424" y="2662962"/>
            <a:ext cx="262414" cy="1052036"/>
            <a:chOff x="5559231" y="3550615"/>
            <a:chExt cx="349885" cy="1402715"/>
          </a:xfrm>
        </p:grpSpPr>
        <p:sp>
          <p:nvSpPr>
            <p:cNvPr id="34" name="object 34"/>
            <p:cNvSpPr/>
            <p:nvPr/>
          </p:nvSpPr>
          <p:spPr>
            <a:xfrm>
              <a:off x="5578281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2024" y="4636613"/>
              <a:ext cx="222250" cy="2222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390354"/>
              <a:ext cx="222250" cy="22225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144096"/>
              <a:ext cx="222250" cy="22225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3892227"/>
              <a:ext cx="222250" cy="22225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430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40" name="object 40"/>
          <p:cNvSpPr/>
          <p:nvPr/>
        </p:nvSpPr>
        <p:spPr>
          <a:xfrm>
            <a:off x="4176090" y="378961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632731" y="4247008"/>
            <a:ext cx="137398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729139" algn="l"/>
              </a:tabLst>
            </a:pPr>
            <a:r>
              <a:rPr spc="-19" dirty="0">
                <a:latin typeface="Tahoma"/>
                <a:cs typeface="Tahoma"/>
              </a:rPr>
              <a:t>The</a:t>
            </a:r>
            <a:r>
              <a:rPr dirty="0">
                <a:latin typeface="Tahoma"/>
                <a:cs typeface="Tahoma"/>
              </a:rPr>
              <a:t>	</a:t>
            </a: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40736" y="4258438"/>
            <a:ext cx="433864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128790" y="4267582"/>
            <a:ext cx="34194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881073" y="241134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739911" y="2214753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666049" y="2290191"/>
            <a:ext cx="12906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350149" y="2322195"/>
            <a:ext cx="283845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pc="-19" dirty="0">
                <a:latin typeface="Cambria Math"/>
                <a:cs typeface="Cambria Math"/>
              </a:rPr>
              <a:t>ℎ</a:t>
            </a:r>
            <a:r>
              <a:rPr sz="2025" spc="-28" baseline="-16975" dirty="0">
                <a:latin typeface="Cambria Math"/>
                <a:cs typeface="Cambria Math"/>
              </a:rPr>
              <a:t>3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00502" y="2290191"/>
            <a:ext cx="12906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305232" y="242049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158784" y="2226184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127729" y="2662962"/>
            <a:ext cx="262414" cy="1052036"/>
            <a:chOff x="6836972" y="3550615"/>
            <a:chExt cx="349885" cy="1402715"/>
          </a:xfrm>
        </p:grpSpPr>
        <p:sp>
          <p:nvSpPr>
            <p:cNvPr id="52" name="object 52"/>
            <p:cNvSpPr/>
            <p:nvPr/>
          </p:nvSpPr>
          <p:spPr>
            <a:xfrm>
              <a:off x="6856022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9765" y="4636613"/>
              <a:ext cx="222250" cy="22225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390354"/>
              <a:ext cx="222250" cy="22225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144096"/>
              <a:ext cx="222250" cy="22225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3892227"/>
              <a:ext cx="222250" cy="22225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0204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5026920" y="4269867"/>
            <a:ext cx="42148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75" dirty="0">
                <a:latin typeface="Tahoma"/>
                <a:cs typeface="Tahoma"/>
              </a:rPr>
              <a:t>&lt;s&gt;</a:t>
            </a:r>
            <a:endParaRPr>
              <a:latin typeface="Tahoma"/>
              <a:cs typeface="Tahom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065143" y="2370201"/>
            <a:ext cx="45291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343853" algn="l"/>
              </a:tabLst>
            </a:pP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sz="135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7F60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864450" y="2262759"/>
            <a:ext cx="78771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pc="-30" dirty="0">
                <a:latin typeface="Tahoma"/>
                <a:cs typeface="Tahoma"/>
              </a:rPr>
              <a:t>[</a:t>
            </a:r>
            <a:r>
              <a:rPr spc="-30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2025" spc="-45" baseline="29320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r>
              <a:rPr spc="-30" dirty="0">
                <a:solidFill>
                  <a:srgbClr val="C00000"/>
                </a:solidFill>
                <a:latin typeface="Cambria Math"/>
                <a:cs typeface="Cambria Math"/>
              </a:rPr>
              <a:t>;</a:t>
            </a:r>
            <a:r>
              <a:rPr spc="-83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pc="-19" dirty="0">
                <a:solidFill>
                  <a:srgbClr val="7F6000"/>
                </a:solidFill>
                <a:latin typeface="Cambria Math"/>
                <a:cs typeface="Cambria Math"/>
              </a:rPr>
              <a:t>𝑐</a:t>
            </a:r>
            <a:r>
              <a:rPr sz="2025" spc="-28" baseline="29320" dirty="0">
                <a:solidFill>
                  <a:srgbClr val="7F6000"/>
                </a:solidFill>
                <a:latin typeface="Cambria Math"/>
                <a:cs typeface="Cambria Math"/>
              </a:rPr>
              <a:t>𝐷</a:t>
            </a:r>
            <a:r>
              <a:rPr spc="-19" dirty="0">
                <a:latin typeface="Tahoma"/>
                <a:cs typeface="Tahoma"/>
              </a:rPr>
              <a:t>]</a:t>
            </a:r>
            <a:endParaRPr>
              <a:latin typeface="Tahoma"/>
              <a:cs typeface="Tahoma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504882" y="1590992"/>
            <a:ext cx="1768793" cy="758189"/>
          </a:xfrm>
          <a:custGeom>
            <a:avLst/>
            <a:gdLst/>
            <a:ahLst/>
            <a:cxnLst/>
            <a:rect l="l" t="t" r="r" b="b"/>
            <a:pathLst>
              <a:path w="2358390" h="1010919">
                <a:moveTo>
                  <a:pt x="162662" y="0"/>
                </a:moveTo>
                <a:lnTo>
                  <a:pt x="0" y="39805"/>
                </a:lnTo>
                <a:lnTo>
                  <a:pt x="89684" y="181227"/>
                </a:lnTo>
                <a:lnTo>
                  <a:pt x="116112" y="115600"/>
                </a:lnTo>
                <a:lnTo>
                  <a:pt x="2338082" y="1010351"/>
                </a:lnTo>
                <a:lnTo>
                  <a:pt x="2358205" y="960377"/>
                </a:lnTo>
                <a:lnTo>
                  <a:pt x="136235" y="65627"/>
                </a:lnTo>
                <a:lnTo>
                  <a:pt x="162662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2447926" y="1110615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solidFill>
                  <a:srgbClr val="7F60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334959" y="914019"/>
            <a:ext cx="29622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50" baseline="-21990" dirty="0">
                <a:solidFill>
                  <a:srgbClr val="7F6000"/>
                </a:solidFill>
                <a:latin typeface="Cambria Math"/>
                <a:cs typeface="Cambria Math"/>
              </a:rPr>
              <a:t>𝑐</a:t>
            </a:r>
            <a:r>
              <a:rPr sz="1350" spc="34" dirty="0">
                <a:solidFill>
                  <a:srgbClr val="7F6000"/>
                </a:solidFill>
                <a:latin typeface="Cambria Math"/>
                <a:cs typeface="Cambria Math"/>
              </a:rPr>
              <a:t>𝐷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819144" y="1644867"/>
            <a:ext cx="395288" cy="680085"/>
          </a:xfrm>
          <a:custGeom>
            <a:avLst/>
            <a:gdLst/>
            <a:ahLst/>
            <a:cxnLst/>
            <a:rect l="l" t="t" r="r" b="b"/>
            <a:pathLst>
              <a:path w="527050" h="906780">
                <a:moveTo>
                  <a:pt x="509428" y="0"/>
                </a:moveTo>
                <a:lnTo>
                  <a:pt x="381872" y="61259"/>
                </a:lnTo>
                <a:lnTo>
                  <a:pt x="434328" y="89933"/>
                </a:lnTo>
                <a:lnTo>
                  <a:pt x="0" y="884485"/>
                </a:lnTo>
                <a:lnTo>
                  <a:pt x="39941" y="906318"/>
                </a:lnTo>
                <a:lnTo>
                  <a:pt x="474270" y="111767"/>
                </a:lnTo>
                <a:lnTo>
                  <a:pt x="526726" y="140441"/>
                </a:lnTo>
                <a:lnTo>
                  <a:pt x="509428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352676" y="1645224"/>
            <a:ext cx="1168241" cy="655320"/>
          </a:xfrm>
          <a:custGeom>
            <a:avLst/>
            <a:gdLst/>
            <a:ahLst/>
            <a:cxnLst/>
            <a:rect l="l" t="t" r="r" b="b"/>
            <a:pathLst>
              <a:path w="1557654" h="873760">
                <a:moveTo>
                  <a:pt x="430263" y="853313"/>
                </a:moveTo>
                <a:lnTo>
                  <a:pt x="102476" y="129374"/>
                </a:lnTo>
                <a:lnTo>
                  <a:pt x="160667" y="103022"/>
                </a:lnTo>
                <a:lnTo>
                  <a:pt x="29679" y="27546"/>
                </a:lnTo>
                <a:lnTo>
                  <a:pt x="0" y="175768"/>
                </a:lnTo>
                <a:lnTo>
                  <a:pt x="58178" y="149428"/>
                </a:lnTo>
                <a:lnTo>
                  <a:pt x="385965" y="873366"/>
                </a:lnTo>
                <a:lnTo>
                  <a:pt x="430263" y="853313"/>
                </a:lnTo>
                <a:close/>
              </a:path>
              <a:path w="1557654" h="873760">
                <a:moveTo>
                  <a:pt x="1557451" y="793902"/>
                </a:moveTo>
                <a:lnTo>
                  <a:pt x="293116" y="59613"/>
                </a:lnTo>
                <a:lnTo>
                  <a:pt x="327736" y="0"/>
                </a:lnTo>
                <a:lnTo>
                  <a:pt x="165315" y="15735"/>
                </a:lnTo>
                <a:lnTo>
                  <a:pt x="232130" y="164617"/>
                </a:lnTo>
                <a:lnTo>
                  <a:pt x="266750" y="105003"/>
                </a:lnTo>
                <a:lnTo>
                  <a:pt x="1531086" y="839292"/>
                </a:lnTo>
                <a:lnTo>
                  <a:pt x="1557451" y="793902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1877193" y="1832991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736032" y="1638682"/>
            <a:ext cx="28479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𝑎</a:t>
            </a:r>
            <a:r>
              <a:rPr sz="1350" spc="-19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360241" y="1947291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213794" y="1750695"/>
            <a:ext cx="28479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𝑎</a:t>
            </a:r>
            <a:r>
              <a:rPr sz="1350" spc="-19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515698" y="1780413"/>
            <a:ext cx="478631" cy="8329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22885">
              <a:spcBef>
                <a:spcPts val="75"/>
              </a:spcBef>
            </a:pPr>
            <a:r>
              <a:rPr spc="-19" dirty="0">
                <a:latin typeface="Cambria Math"/>
                <a:cs typeface="Cambria Math"/>
              </a:rPr>
              <a:t>𝑎</a:t>
            </a:r>
            <a:r>
              <a:rPr sz="2025" spc="-28" baseline="-16975" dirty="0">
                <a:latin typeface="Cambria Math"/>
                <a:cs typeface="Cambria Math"/>
              </a:rPr>
              <a:t>3</a:t>
            </a:r>
            <a:endParaRPr sz="2025" baseline="-16975">
              <a:latin typeface="Cambria Math"/>
              <a:cs typeface="Cambria Math"/>
            </a:endParaRPr>
          </a:p>
          <a:p>
            <a:pPr marL="28575">
              <a:spcBef>
                <a:spcPts val="2104"/>
              </a:spcBef>
            </a:pPr>
            <a:r>
              <a:rPr spc="-19" dirty="0">
                <a:latin typeface="Cambria Math"/>
                <a:cs typeface="Cambria Math"/>
              </a:rPr>
              <a:t>ℎ</a:t>
            </a:r>
            <a:r>
              <a:rPr sz="2025" spc="-28" baseline="-16975" dirty="0">
                <a:latin typeface="Cambria Math"/>
                <a:cs typeface="Cambria Math"/>
              </a:rPr>
              <a:t>2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857586" y="174840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493642" y="180555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347194" y="1611250"/>
            <a:ext cx="28479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𝑎</a:t>
            </a:r>
            <a:r>
              <a:rPr sz="1350" spc="-19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1899901" y="1342766"/>
            <a:ext cx="1052036" cy="262414"/>
            <a:chOff x="2533200" y="1790354"/>
            <a:chExt cx="1402715" cy="349885"/>
          </a:xfrm>
        </p:grpSpPr>
        <p:sp>
          <p:nvSpPr>
            <p:cNvPr id="75" name="object 75"/>
            <p:cNvSpPr/>
            <p:nvPr/>
          </p:nvSpPr>
          <p:spPr>
            <a:xfrm>
              <a:off x="2552250" y="1809404"/>
              <a:ext cx="1364615" cy="311785"/>
            </a:xfrm>
            <a:custGeom>
              <a:avLst/>
              <a:gdLst/>
              <a:ahLst/>
              <a:cxnLst/>
              <a:rect l="l" t="t" r="r" b="b"/>
              <a:pathLst>
                <a:path w="1364614" h="311785">
                  <a:moveTo>
                    <a:pt x="0" y="51895"/>
                  </a:move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1312329" y="0"/>
                  </a:lnTo>
                  <a:lnTo>
                    <a:pt x="1332528" y="4078"/>
                  </a:lnTo>
                  <a:lnTo>
                    <a:pt x="1349024" y="15199"/>
                  </a:lnTo>
                  <a:lnTo>
                    <a:pt x="1360145" y="31695"/>
                  </a:lnTo>
                  <a:lnTo>
                    <a:pt x="1364224" y="51895"/>
                  </a:lnTo>
                  <a:lnTo>
                    <a:pt x="1364224" y="259473"/>
                  </a:lnTo>
                  <a:lnTo>
                    <a:pt x="1360145" y="279673"/>
                  </a:lnTo>
                  <a:lnTo>
                    <a:pt x="1349024" y="296169"/>
                  </a:lnTo>
                  <a:lnTo>
                    <a:pt x="1332528" y="307290"/>
                  </a:lnTo>
                  <a:lnTo>
                    <a:pt x="1312329" y="311369"/>
                  </a:lnTo>
                  <a:lnTo>
                    <a:pt x="51895" y="311369"/>
                  </a:lnTo>
                  <a:lnTo>
                    <a:pt x="31695" y="307290"/>
                  </a:lnTo>
                  <a:lnTo>
                    <a:pt x="15199" y="296169"/>
                  </a:lnTo>
                  <a:lnTo>
                    <a:pt x="4078" y="279673"/>
                  </a:lnTo>
                  <a:lnTo>
                    <a:pt x="0" y="259473"/>
                  </a:lnTo>
                  <a:lnTo>
                    <a:pt x="0" y="51895"/>
                  </a:lnTo>
                  <a:close/>
                </a:path>
              </a:pathLst>
            </a:custGeom>
            <a:ln w="38100">
              <a:solidFill>
                <a:srgbClr val="BF9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27274" y="1853145"/>
              <a:ext cx="222250" cy="22225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73533" y="1853145"/>
              <a:ext cx="222250" cy="222250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19793" y="1853145"/>
              <a:ext cx="222250" cy="22225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71662" y="1853145"/>
              <a:ext cx="222250" cy="22225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29657" y="1855429"/>
              <a:ext cx="222250" cy="222250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3741173" y="860298"/>
            <a:ext cx="69533" cy="18274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125" spc="-38" dirty="0">
                <a:solidFill>
                  <a:srgbClr val="C00000"/>
                </a:solidFill>
                <a:latin typeface="Cambria Math"/>
                <a:cs typeface="Cambria Math"/>
              </a:rPr>
              <a:t>𝑖</a:t>
            </a:r>
            <a:endParaRPr sz="1125">
              <a:latin typeface="Cambria Math"/>
              <a:cs typeface="Cambria Math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01114" y="753236"/>
            <a:ext cx="7673340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194" spc="78" baseline="1424" dirty="0">
                <a:solidFill>
                  <a:srgbClr val="C00000"/>
                </a:solidFill>
                <a:latin typeface="Tahoma"/>
                <a:cs typeface="Tahoma"/>
              </a:rPr>
              <a:t>REMEMBER:</a:t>
            </a:r>
            <a:r>
              <a:rPr sz="2194" spc="-17" baseline="142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each</a:t>
            </a:r>
            <a:r>
              <a:rPr sz="2194" spc="-11" baseline="1424" dirty="0"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attention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weight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1500" spc="146" dirty="0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r>
              <a:rPr sz="1688" spc="219" baseline="38888" dirty="0">
                <a:solidFill>
                  <a:srgbClr val="C00000"/>
                </a:solidFill>
                <a:latin typeface="Cambria Math"/>
                <a:cs typeface="Cambria Math"/>
              </a:rPr>
              <a:t>j</a:t>
            </a:r>
            <a:r>
              <a:rPr sz="1688" spc="439" baseline="38888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194" baseline="1424" dirty="0">
                <a:latin typeface="Tahoma"/>
                <a:cs typeface="Tahoma"/>
              </a:rPr>
              <a:t>is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2194" spc="73" baseline="1424" dirty="0">
                <a:latin typeface="Tahoma"/>
                <a:cs typeface="Tahoma"/>
              </a:rPr>
              <a:t>based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2194" spc="73" baseline="1424" dirty="0">
                <a:latin typeface="Tahoma"/>
                <a:cs typeface="Tahoma"/>
              </a:rPr>
              <a:t>on</a:t>
            </a:r>
            <a:r>
              <a:rPr sz="2194" spc="-11" baseline="1424" dirty="0"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the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2194" spc="50" baseline="1424" dirty="0">
                <a:solidFill>
                  <a:srgbClr val="C00000"/>
                </a:solidFill>
                <a:latin typeface="Tahoma"/>
                <a:cs typeface="Tahoma"/>
              </a:rPr>
              <a:t>decoder’s</a:t>
            </a:r>
            <a:r>
              <a:rPr sz="2194" spc="-17" baseline="142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current</a:t>
            </a:r>
            <a:r>
              <a:rPr sz="2194" spc="-23" baseline="1424" dirty="0">
                <a:latin typeface="Tahoma"/>
                <a:cs typeface="Tahoma"/>
              </a:rPr>
              <a:t> </a:t>
            </a:r>
            <a:r>
              <a:rPr sz="2194" spc="78" baseline="1424" dirty="0">
                <a:latin typeface="Tahoma"/>
                <a:cs typeface="Tahoma"/>
              </a:rPr>
              <a:t>hidden</a:t>
            </a:r>
            <a:r>
              <a:rPr sz="2194" spc="-11" baseline="1424" dirty="0"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state,</a:t>
            </a:r>
            <a:r>
              <a:rPr sz="2194" spc="-11" baseline="1424" dirty="0">
                <a:latin typeface="Tahoma"/>
                <a:cs typeface="Tahoma"/>
              </a:rPr>
              <a:t> </a:t>
            </a:r>
            <a:r>
              <a:rPr sz="2194" spc="-23" baseline="1424" dirty="0">
                <a:latin typeface="Tahoma"/>
                <a:cs typeface="Tahoma"/>
              </a:rPr>
              <a:t>too.</a:t>
            </a:r>
            <a:endParaRPr sz="2194" baseline="1424">
              <a:latin typeface="Tahoma"/>
              <a:cs typeface="Tahoma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5153566" y="180699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5139849" y="1186053"/>
            <a:ext cx="300038" cy="54822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lnSpc>
                <a:spcPts val="2141"/>
              </a:lnSpc>
              <a:spcBef>
                <a:spcPts val="75"/>
              </a:spcBef>
            </a:pPr>
            <a:r>
              <a:rPr spc="-19" dirty="0">
                <a:solidFill>
                  <a:srgbClr val="C00000"/>
                </a:solidFill>
                <a:latin typeface="Tahoma"/>
                <a:cs typeface="Tahoma"/>
              </a:rPr>
              <a:t>Le</a:t>
            </a:r>
            <a:endParaRPr>
              <a:latin typeface="Tahoma"/>
              <a:cs typeface="Tahoma"/>
            </a:endParaRPr>
          </a:p>
          <a:p>
            <a:pPr marL="56198">
              <a:lnSpc>
                <a:spcPts val="2141"/>
              </a:lnSpc>
            </a:pPr>
            <a:r>
              <a:rPr spc="-866" dirty="0">
                <a:latin typeface="Cambria Math"/>
                <a:cs typeface="Cambria Math"/>
              </a:rPr>
              <a:t>𝑦</a:t>
            </a:r>
            <a:r>
              <a:rPr spc="-176" dirty="0">
                <a:latin typeface="Cambria Math"/>
                <a:cs typeface="Cambria Math"/>
              </a:rPr>
              <a:t>4</a:t>
            </a:r>
            <a:r>
              <a:rPr sz="2025" spc="-140" baseline="-15432" dirty="0">
                <a:latin typeface="Cambria Math"/>
                <a:cs typeface="Cambria Math"/>
              </a:rPr>
              <a:t>1</a:t>
            </a:r>
            <a:endParaRPr sz="2025" baseline="-15432">
              <a:latin typeface="Cambria Math"/>
              <a:cs typeface="Cambria Math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5134611" y="378946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6172200" y="4350661"/>
            <a:ext cx="1396841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101" dirty="0">
                <a:solidFill>
                  <a:srgbClr val="7030A0"/>
                </a:solidFill>
                <a:latin typeface="Tahoma"/>
                <a:cs typeface="Tahoma"/>
              </a:rPr>
              <a:t>DECODER</a:t>
            </a:r>
            <a:r>
              <a:rPr sz="1463" spc="-41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 dirty="0">
              <a:latin typeface="Tahoma"/>
              <a:cs typeface="Tahom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096993" y="4549918"/>
            <a:ext cx="1403509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113" dirty="0">
                <a:solidFill>
                  <a:srgbClr val="7030A0"/>
                </a:solidFill>
                <a:latin typeface="Tahoma"/>
                <a:cs typeface="Tahoma"/>
              </a:rPr>
              <a:t>ENCODER</a:t>
            </a:r>
            <a:r>
              <a:rPr sz="1463" spc="-60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7854" y="578611"/>
            <a:ext cx="4856321" cy="98108"/>
          </a:xfrm>
          <a:custGeom>
            <a:avLst/>
            <a:gdLst/>
            <a:ahLst/>
            <a:cxnLst/>
            <a:rect l="l" t="t" r="r" b="b"/>
            <a:pathLst>
              <a:path w="6475095" h="130809">
                <a:moveTo>
                  <a:pt x="6474895" y="0"/>
                </a:moveTo>
                <a:lnTo>
                  <a:pt x="0" y="0"/>
                </a:lnTo>
                <a:lnTo>
                  <a:pt x="0" y="130218"/>
                </a:lnTo>
                <a:lnTo>
                  <a:pt x="6474895" y="130218"/>
                </a:lnTo>
                <a:lnTo>
                  <a:pt x="647489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34" dirty="0"/>
              <a:t>seq2seq</a:t>
            </a:r>
            <a:r>
              <a:rPr spc="-68" dirty="0"/>
              <a:t> </a:t>
            </a:r>
            <a:r>
              <a:rPr spc="-143" dirty="0"/>
              <a:t>+</a:t>
            </a:r>
            <a:r>
              <a:rPr spc="-68" dirty="0"/>
              <a:t> </a:t>
            </a:r>
            <a:r>
              <a:rPr spc="-8" dirty="0"/>
              <a:t>Attention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7224" y="4238985"/>
            <a:ext cx="82534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dirty="0">
                <a:solidFill>
                  <a:srgbClr val="262626"/>
                </a:solidFill>
                <a:latin typeface="Tahoma"/>
                <a:cs typeface="Tahoma"/>
              </a:rPr>
              <a:t>Input</a:t>
            </a:r>
            <a:r>
              <a:rPr sz="1313" spc="-64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8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6450" y="2988543"/>
            <a:ext cx="99298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spc="60" dirty="0">
                <a:solidFill>
                  <a:srgbClr val="262626"/>
                </a:solidFill>
                <a:latin typeface="Tahoma"/>
                <a:cs typeface="Tahoma"/>
              </a:rPr>
              <a:t>Hidden</a:t>
            </a:r>
            <a:r>
              <a:rPr sz="1313" spc="-41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15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750551" y="2662962"/>
            <a:ext cx="262414" cy="1052036"/>
            <a:chOff x="2334067" y="3550615"/>
            <a:chExt cx="349885" cy="1402715"/>
          </a:xfrm>
        </p:grpSpPr>
        <p:sp>
          <p:nvSpPr>
            <p:cNvPr id="7" name="object 7"/>
            <p:cNvSpPr/>
            <p:nvPr/>
          </p:nvSpPr>
          <p:spPr>
            <a:xfrm>
              <a:off x="235311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6859" y="4636615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390355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144096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3892228"/>
              <a:ext cx="222250" cy="222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914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175721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7115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2" y="0"/>
                </a:moveTo>
                <a:lnTo>
                  <a:pt x="338042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2" y="210167"/>
                </a:lnTo>
                <a:lnTo>
                  <a:pt x="338042" y="329483"/>
                </a:lnTo>
                <a:lnTo>
                  <a:pt x="567437" y="164741"/>
                </a:lnTo>
                <a:lnTo>
                  <a:pt x="33804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2562171" y="2662962"/>
            <a:ext cx="262414" cy="1052036"/>
            <a:chOff x="3416227" y="3550615"/>
            <a:chExt cx="349885" cy="1402715"/>
          </a:xfrm>
        </p:grpSpPr>
        <p:sp>
          <p:nvSpPr>
            <p:cNvPr id="16" name="object 16"/>
            <p:cNvSpPr/>
            <p:nvPr/>
          </p:nvSpPr>
          <p:spPr>
            <a:xfrm>
              <a:off x="343527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9021" y="4636615"/>
              <a:ext cx="222250" cy="2222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390355"/>
              <a:ext cx="222250" cy="2222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144096"/>
              <a:ext cx="222250" cy="2222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3892228"/>
              <a:ext cx="222250" cy="22225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130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2568838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0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82777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3353240" y="2662962"/>
            <a:ext cx="262414" cy="1052036"/>
            <a:chOff x="4470986" y="3550615"/>
            <a:chExt cx="349885" cy="1402715"/>
          </a:xfrm>
        </p:grpSpPr>
        <p:sp>
          <p:nvSpPr>
            <p:cNvPr id="25" name="object 25"/>
            <p:cNvSpPr/>
            <p:nvPr/>
          </p:nvSpPr>
          <p:spPr>
            <a:xfrm>
              <a:off x="4490036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3779" y="4636615"/>
              <a:ext cx="222250" cy="2222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390355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144096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3892228"/>
              <a:ext cx="222250" cy="2222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606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31" name="object 31"/>
          <p:cNvSpPr/>
          <p:nvPr/>
        </p:nvSpPr>
        <p:spPr>
          <a:xfrm>
            <a:off x="335990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67384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4169424" y="2662962"/>
            <a:ext cx="262414" cy="1052036"/>
            <a:chOff x="5559231" y="3550615"/>
            <a:chExt cx="349885" cy="1402715"/>
          </a:xfrm>
        </p:grpSpPr>
        <p:sp>
          <p:nvSpPr>
            <p:cNvPr id="34" name="object 34"/>
            <p:cNvSpPr/>
            <p:nvPr/>
          </p:nvSpPr>
          <p:spPr>
            <a:xfrm>
              <a:off x="5578281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2024" y="4636613"/>
              <a:ext cx="222250" cy="2222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390354"/>
              <a:ext cx="222250" cy="22225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144096"/>
              <a:ext cx="222250" cy="22225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3892227"/>
              <a:ext cx="222250" cy="22225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430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40" name="object 40"/>
          <p:cNvSpPr/>
          <p:nvPr/>
        </p:nvSpPr>
        <p:spPr>
          <a:xfrm>
            <a:off x="4176090" y="378961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629045" y="4217532"/>
            <a:ext cx="137398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729139" algn="l"/>
              </a:tabLst>
            </a:pPr>
            <a:r>
              <a:rPr spc="-19" dirty="0">
                <a:latin typeface="Tahoma"/>
                <a:cs typeface="Tahoma"/>
              </a:rPr>
              <a:t>The</a:t>
            </a:r>
            <a:r>
              <a:rPr dirty="0">
                <a:latin typeface="Tahoma"/>
                <a:cs typeface="Tahoma"/>
              </a:rPr>
              <a:t>	</a:t>
            </a: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47811" y="4202228"/>
            <a:ext cx="433864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128703" y="4238985"/>
            <a:ext cx="34194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881073" y="241134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739911" y="2214753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666049" y="2290191"/>
            <a:ext cx="12906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350149" y="2322195"/>
            <a:ext cx="283845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pc="-19" dirty="0">
                <a:latin typeface="Cambria Math"/>
                <a:cs typeface="Cambria Math"/>
              </a:rPr>
              <a:t>ℎ</a:t>
            </a:r>
            <a:r>
              <a:rPr sz="2025" spc="-28" baseline="-16975" dirty="0">
                <a:latin typeface="Cambria Math"/>
                <a:cs typeface="Cambria Math"/>
              </a:rPr>
              <a:t>3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00502" y="2290191"/>
            <a:ext cx="12906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305232" y="242049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158784" y="2226184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127729" y="2662962"/>
            <a:ext cx="262414" cy="1052036"/>
            <a:chOff x="6836972" y="3550615"/>
            <a:chExt cx="349885" cy="1402715"/>
          </a:xfrm>
        </p:grpSpPr>
        <p:sp>
          <p:nvSpPr>
            <p:cNvPr id="52" name="object 52"/>
            <p:cNvSpPr/>
            <p:nvPr/>
          </p:nvSpPr>
          <p:spPr>
            <a:xfrm>
              <a:off x="6856022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9765" y="4636613"/>
              <a:ext cx="222250" cy="22225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390354"/>
              <a:ext cx="222250" cy="22225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144096"/>
              <a:ext cx="222250" cy="22225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3892227"/>
              <a:ext cx="222250" cy="22225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0204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5026920" y="4269867"/>
            <a:ext cx="42148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75" dirty="0">
                <a:latin typeface="Tahoma"/>
                <a:cs typeface="Tahoma"/>
              </a:rPr>
              <a:t>&lt;s&gt;</a:t>
            </a:r>
            <a:endParaRPr>
              <a:latin typeface="Tahoma"/>
              <a:cs typeface="Tahoma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2504882" y="1590992"/>
            <a:ext cx="1768793" cy="758189"/>
          </a:xfrm>
          <a:custGeom>
            <a:avLst/>
            <a:gdLst/>
            <a:ahLst/>
            <a:cxnLst/>
            <a:rect l="l" t="t" r="r" b="b"/>
            <a:pathLst>
              <a:path w="2358390" h="1010919">
                <a:moveTo>
                  <a:pt x="162662" y="0"/>
                </a:moveTo>
                <a:lnTo>
                  <a:pt x="0" y="39805"/>
                </a:lnTo>
                <a:lnTo>
                  <a:pt x="89684" y="181227"/>
                </a:lnTo>
                <a:lnTo>
                  <a:pt x="116112" y="115600"/>
                </a:lnTo>
                <a:lnTo>
                  <a:pt x="2338082" y="1010351"/>
                </a:lnTo>
                <a:lnTo>
                  <a:pt x="2358205" y="960377"/>
                </a:lnTo>
                <a:lnTo>
                  <a:pt x="136235" y="65627"/>
                </a:lnTo>
                <a:lnTo>
                  <a:pt x="162662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2453212" y="1110615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solidFill>
                  <a:srgbClr val="7F6000"/>
                </a:solidFill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334959" y="914019"/>
            <a:ext cx="29622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50" baseline="-21990" dirty="0">
                <a:solidFill>
                  <a:srgbClr val="7F6000"/>
                </a:solidFill>
                <a:latin typeface="Cambria Math"/>
                <a:cs typeface="Cambria Math"/>
              </a:rPr>
              <a:t>𝑐</a:t>
            </a:r>
            <a:r>
              <a:rPr sz="1350" spc="34" dirty="0">
                <a:solidFill>
                  <a:srgbClr val="7F6000"/>
                </a:solidFill>
                <a:latin typeface="Cambria Math"/>
                <a:cs typeface="Cambria Math"/>
              </a:rPr>
              <a:t>𝐷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1819144" y="1644867"/>
            <a:ext cx="395288" cy="680085"/>
          </a:xfrm>
          <a:custGeom>
            <a:avLst/>
            <a:gdLst/>
            <a:ahLst/>
            <a:cxnLst/>
            <a:rect l="l" t="t" r="r" b="b"/>
            <a:pathLst>
              <a:path w="527050" h="906780">
                <a:moveTo>
                  <a:pt x="509428" y="0"/>
                </a:moveTo>
                <a:lnTo>
                  <a:pt x="381872" y="61259"/>
                </a:lnTo>
                <a:lnTo>
                  <a:pt x="434328" y="89933"/>
                </a:lnTo>
                <a:lnTo>
                  <a:pt x="0" y="884485"/>
                </a:lnTo>
                <a:lnTo>
                  <a:pt x="39941" y="906318"/>
                </a:lnTo>
                <a:lnTo>
                  <a:pt x="474270" y="111767"/>
                </a:lnTo>
                <a:lnTo>
                  <a:pt x="526726" y="140441"/>
                </a:lnTo>
                <a:lnTo>
                  <a:pt x="509428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352676" y="1645224"/>
            <a:ext cx="1168241" cy="655320"/>
          </a:xfrm>
          <a:custGeom>
            <a:avLst/>
            <a:gdLst/>
            <a:ahLst/>
            <a:cxnLst/>
            <a:rect l="l" t="t" r="r" b="b"/>
            <a:pathLst>
              <a:path w="1557654" h="873760">
                <a:moveTo>
                  <a:pt x="430263" y="853313"/>
                </a:moveTo>
                <a:lnTo>
                  <a:pt x="102476" y="129374"/>
                </a:lnTo>
                <a:lnTo>
                  <a:pt x="160667" y="103022"/>
                </a:lnTo>
                <a:lnTo>
                  <a:pt x="29679" y="27546"/>
                </a:lnTo>
                <a:lnTo>
                  <a:pt x="0" y="175768"/>
                </a:lnTo>
                <a:lnTo>
                  <a:pt x="58178" y="149428"/>
                </a:lnTo>
                <a:lnTo>
                  <a:pt x="385965" y="873366"/>
                </a:lnTo>
                <a:lnTo>
                  <a:pt x="430263" y="853313"/>
                </a:lnTo>
                <a:close/>
              </a:path>
              <a:path w="1557654" h="873760">
                <a:moveTo>
                  <a:pt x="1557451" y="793902"/>
                </a:moveTo>
                <a:lnTo>
                  <a:pt x="293116" y="59613"/>
                </a:lnTo>
                <a:lnTo>
                  <a:pt x="327736" y="0"/>
                </a:lnTo>
                <a:lnTo>
                  <a:pt x="165315" y="15735"/>
                </a:lnTo>
                <a:lnTo>
                  <a:pt x="232130" y="164617"/>
                </a:lnTo>
                <a:lnTo>
                  <a:pt x="266750" y="105003"/>
                </a:lnTo>
                <a:lnTo>
                  <a:pt x="1531086" y="839292"/>
                </a:lnTo>
                <a:lnTo>
                  <a:pt x="1557451" y="793902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1874740" y="1832991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733579" y="1638682"/>
            <a:ext cx="28956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𝑎</a:t>
            </a:r>
            <a:r>
              <a:rPr sz="1350" spc="-19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357788" y="1947291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211341" y="1750695"/>
            <a:ext cx="28956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𝑎</a:t>
            </a:r>
            <a:r>
              <a:rPr sz="1350" spc="-19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515697" y="1780413"/>
            <a:ext cx="476250" cy="8329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20504">
              <a:spcBef>
                <a:spcPts val="75"/>
              </a:spcBef>
            </a:pPr>
            <a:r>
              <a:rPr spc="-19" dirty="0">
                <a:latin typeface="Cambria Math"/>
                <a:cs typeface="Cambria Math"/>
              </a:rPr>
              <a:t>𝑎</a:t>
            </a:r>
            <a:r>
              <a:rPr sz="2025" spc="-28" baseline="-16975" dirty="0">
                <a:latin typeface="Cambria Math"/>
                <a:cs typeface="Cambria Math"/>
              </a:rPr>
              <a:t>3</a:t>
            </a:r>
            <a:endParaRPr sz="2025" baseline="-16975">
              <a:latin typeface="Cambria Math"/>
              <a:cs typeface="Cambria Math"/>
            </a:endParaRPr>
          </a:p>
          <a:p>
            <a:pPr marL="28575">
              <a:spcBef>
                <a:spcPts val="2104"/>
              </a:spcBef>
            </a:pPr>
            <a:r>
              <a:rPr spc="-19" dirty="0">
                <a:latin typeface="Cambria Math"/>
                <a:cs typeface="Cambria Math"/>
              </a:rPr>
              <a:t>ℎ</a:t>
            </a:r>
            <a:r>
              <a:rPr sz="2025" spc="-28" baseline="-16975" dirty="0">
                <a:latin typeface="Cambria Math"/>
                <a:cs typeface="Cambria Math"/>
              </a:rPr>
              <a:t>2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860039" y="174840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491189" y="180555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344741" y="1611250"/>
            <a:ext cx="28956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𝑎</a:t>
            </a:r>
            <a:r>
              <a:rPr sz="1350" spc="-19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1899901" y="1342766"/>
            <a:ext cx="1052036" cy="262414"/>
            <a:chOff x="2533200" y="1790354"/>
            <a:chExt cx="1402715" cy="349885"/>
          </a:xfrm>
        </p:grpSpPr>
        <p:sp>
          <p:nvSpPr>
            <p:cNvPr id="73" name="object 73"/>
            <p:cNvSpPr/>
            <p:nvPr/>
          </p:nvSpPr>
          <p:spPr>
            <a:xfrm>
              <a:off x="2552250" y="1809404"/>
              <a:ext cx="1364615" cy="311785"/>
            </a:xfrm>
            <a:custGeom>
              <a:avLst/>
              <a:gdLst/>
              <a:ahLst/>
              <a:cxnLst/>
              <a:rect l="l" t="t" r="r" b="b"/>
              <a:pathLst>
                <a:path w="1364614" h="311785">
                  <a:moveTo>
                    <a:pt x="0" y="51895"/>
                  </a:move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1312329" y="0"/>
                  </a:lnTo>
                  <a:lnTo>
                    <a:pt x="1332528" y="4078"/>
                  </a:lnTo>
                  <a:lnTo>
                    <a:pt x="1349024" y="15199"/>
                  </a:lnTo>
                  <a:lnTo>
                    <a:pt x="1360145" y="31695"/>
                  </a:lnTo>
                  <a:lnTo>
                    <a:pt x="1364224" y="51895"/>
                  </a:lnTo>
                  <a:lnTo>
                    <a:pt x="1364224" y="259473"/>
                  </a:lnTo>
                  <a:lnTo>
                    <a:pt x="1360145" y="279673"/>
                  </a:lnTo>
                  <a:lnTo>
                    <a:pt x="1349024" y="296169"/>
                  </a:lnTo>
                  <a:lnTo>
                    <a:pt x="1332528" y="307290"/>
                  </a:lnTo>
                  <a:lnTo>
                    <a:pt x="1312329" y="311369"/>
                  </a:lnTo>
                  <a:lnTo>
                    <a:pt x="51895" y="311369"/>
                  </a:lnTo>
                  <a:lnTo>
                    <a:pt x="31695" y="307290"/>
                  </a:lnTo>
                  <a:lnTo>
                    <a:pt x="15199" y="296169"/>
                  </a:lnTo>
                  <a:lnTo>
                    <a:pt x="4078" y="279673"/>
                  </a:lnTo>
                  <a:lnTo>
                    <a:pt x="0" y="259473"/>
                  </a:lnTo>
                  <a:lnTo>
                    <a:pt x="0" y="51895"/>
                  </a:lnTo>
                  <a:close/>
                </a:path>
              </a:pathLst>
            </a:custGeom>
            <a:ln w="38100">
              <a:solidFill>
                <a:srgbClr val="BF9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27274" y="1853145"/>
              <a:ext cx="222250" cy="222250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73533" y="1853145"/>
              <a:ext cx="222250" cy="22225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19793" y="1853145"/>
              <a:ext cx="222250" cy="22225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71662" y="1853145"/>
              <a:ext cx="222250" cy="222250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29657" y="1855429"/>
              <a:ext cx="222250" cy="222250"/>
            </a:xfrm>
            <a:prstGeom prst="rect">
              <a:avLst/>
            </a:prstGeom>
          </p:spPr>
        </p:pic>
      </p:grpSp>
      <p:sp>
        <p:nvSpPr>
          <p:cNvPr id="79" name="object 79"/>
          <p:cNvSpPr txBox="1"/>
          <p:nvPr/>
        </p:nvSpPr>
        <p:spPr>
          <a:xfrm>
            <a:off x="3741173" y="860298"/>
            <a:ext cx="69533" cy="18274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125" spc="-38" dirty="0">
                <a:solidFill>
                  <a:srgbClr val="C00000"/>
                </a:solidFill>
                <a:latin typeface="Cambria Math"/>
                <a:cs typeface="Cambria Math"/>
              </a:rPr>
              <a:t>𝑖</a:t>
            </a:r>
            <a:endParaRPr sz="1125">
              <a:latin typeface="Cambria Math"/>
              <a:cs typeface="Cambria Math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01114" y="753236"/>
            <a:ext cx="7673340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194" spc="78" baseline="1424" dirty="0">
                <a:solidFill>
                  <a:srgbClr val="C00000"/>
                </a:solidFill>
                <a:latin typeface="Tahoma"/>
                <a:cs typeface="Tahoma"/>
              </a:rPr>
              <a:t>REMEMBER:</a:t>
            </a:r>
            <a:r>
              <a:rPr sz="2194" spc="-17" baseline="142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each</a:t>
            </a:r>
            <a:r>
              <a:rPr sz="2194" spc="-11" baseline="1424" dirty="0"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attention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weight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1500" spc="146" dirty="0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r>
              <a:rPr sz="1688" spc="219" baseline="38888" dirty="0">
                <a:solidFill>
                  <a:srgbClr val="C00000"/>
                </a:solidFill>
                <a:latin typeface="Cambria Math"/>
                <a:cs typeface="Cambria Math"/>
              </a:rPr>
              <a:t>j</a:t>
            </a:r>
            <a:r>
              <a:rPr sz="1688" spc="439" baseline="38888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194" baseline="1424" dirty="0">
                <a:latin typeface="Tahoma"/>
                <a:cs typeface="Tahoma"/>
              </a:rPr>
              <a:t>is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2194" spc="73" baseline="1424" dirty="0">
                <a:latin typeface="Tahoma"/>
                <a:cs typeface="Tahoma"/>
              </a:rPr>
              <a:t>based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2194" spc="73" baseline="1424" dirty="0">
                <a:latin typeface="Tahoma"/>
                <a:cs typeface="Tahoma"/>
              </a:rPr>
              <a:t>on</a:t>
            </a:r>
            <a:r>
              <a:rPr sz="2194" spc="-11" baseline="1424" dirty="0"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the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2194" spc="50" baseline="1424" dirty="0">
                <a:solidFill>
                  <a:srgbClr val="C00000"/>
                </a:solidFill>
                <a:latin typeface="Tahoma"/>
                <a:cs typeface="Tahoma"/>
              </a:rPr>
              <a:t>decoder’s</a:t>
            </a:r>
            <a:r>
              <a:rPr sz="2194" spc="-17" baseline="142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current</a:t>
            </a:r>
            <a:r>
              <a:rPr sz="2194" spc="-23" baseline="1424" dirty="0">
                <a:latin typeface="Tahoma"/>
                <a:cs typeface="Tahoma"/>
              </a:rPr>
              <a:t> </a:t>
            </a:r>
            <a:r>
              <a:rPr sz="2194" spc="78" baseline="1424" dirty="0">
                <a:latin typeface="Tahoma"/>
                <a:cs typeface="Tahoma"/>
              </a:rPr>
              <a:t>hidden</a:t>
            </a:r>
            <a:r>
              <a:rPr sz="2194" spc="-11" baseline="1424" dirty="0"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state,</a:t>
            </a:r>
            <a:r>
              <a:rPr sz="2194" spc="-11" baseline="1424" dirty="0">
                <a:latin typeface="Tahoma"/>
                <a:cs typeface="Tahoma"/>
              </a:rPr>
              <a:t> </a:t>
            </a:r>
            <a:r>
              <a:rPr sz="2194" spc="-23" baseline="1424" dirty="0">
                <a:latin typeface="Tahoma"/>
                <a:cs typeface="Tahoma"/>
              </a:rPr>
              <a:t>too.</a:t>
            </a:r>
            <a:endParaRPr sz="2194" baseline="1424">
              <a:latin typeface="Tahoma"/>
              <a:cs typeface="Tahoma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5153566" y="180699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134611" y="378946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3" name="object 83"/>
          <p:cNvGrpSpPr/>
          <p:nvPr/>
        </p:nvGrpSpPr>
        <p:grpSpPr>
          <a:xfrm>
            <a:off x="6007373" y="2662962"/>
            <a:ext cx="262414" cy="1052036"/>
            <a:chOff x="8009830" y="3550615"/>
            <a:chExt cx="349885" cy="1402715"/>
          </a:xfrm>
        </p:grpSpPr>
        <p:sp>
          <p:nvSpPr>
            <p:cNvPr id="84" name="object 84"/>
            <p:cNvSpPr/>
            <p:nvPr/>
          </p:nvSpPr>
          <p:spPr>
            <a:xfrm>
              <a:off x="8028880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72623" y="4636615"/>
              <a:ext cx="222250" cy="22225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72623" y="4390355"/>
              <a:ext cx="222250" cy="22225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72623" y="4144096"/>
              <a:ext cx="222250" cy="22225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72623" y="3892228"/>
              <a:ext cx="222250" cy="222250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74907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90" name="object 90"/>
          <p:cNvSpPr txBox="1"/>
          <p:nvPr/>
        </p:nvSpPr>
        <p:spPr>
          <a:xfrm>
            <a:off x="5986930" y="4269867"/>
            <a:ext cx="260509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Le</a:t>
            </a:r>
            <a:endParaRPr>
              <a:latin typeface="Tahoma"/>
              <a:cs typeface="Tahom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4854926" y="2262758"/>
            <a:ext cx="1686401" cy="33752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ts val="1504"/>
              </a:lnSpc>
              <a:spcBef>
                <a:spcPts val="75"/>
              </a:spcBef>
            </a:pPr>
            <a:r>
              <a:rPr spc="-30" dirty="0">
                <a:latin typeface="Tahoma"/>
                <a:cs typeface="Tahoma"/>
              </a:rPr>
              <a:t>[</a:t>
            </a:r>
            <a:r>
              <a:rPr spc="-30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2025" spc="-45" baseline="29320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r>
              <a:rPr spc="-30" dirty="0">
                <a:solidFill>
                  <a:srgbClr val="C00000"/>
                </a:solidFill>
                <a:latin typeface="Cambria Math"/>
                <a:cs typeface="Cambria Math"/>
              </a:rPr>
              <a:t>;</a:t>
            </a:r>
            <a:r>
              <a:rPr spc="-94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>
                <a:solidFill>
                  <a:srgbClr val="7F6000"/>
                </a:solidFill>
                <a:latin typeface="Cambria Math"/>
                <a:cs typeface="Cambria Math"/>
              </a:rPr>
              <a:t>𝑐</a:t>
            </a:r>
            <a:r>
              <a:rPr sz="2025" baseline="29320" dirty="0">
                <a:solidFill>
                  <a:srgbClr val="7F6000"/>
                </a:solidFill>
                <a:latin typeface="Cambria Math"/>
                <a:cs typeface="Cambria Math"/>
              </a:rPr>
              <a:t>𝐷</a:t>
            </a:r>
            <a:r>
              <a:rPr dirty="0">
                <a:latin typeface="Tahoma"/>
                <a:cs typeface="Tahoma"/>
              </a:rPr>
              <a:t>]</a:t>
            </a:r>
            <a:r>
              <a:rPr spc="15" dirty="0">
                <a:latin typeface="Tahoma"/>
                <a:cs typeface="Tahoma"/>
              </a:rPr>
              <a:t>  </a:t>
            </a:r>
            <a:r>
              <a:rPr spc="-30" dirty="0">
                <a:latin typeface="Tahoma"/>
                <a:cs typeface="Tahoma"/>
              </a:rPr>
              <a:t>[</a:t>
            </a:r>
            <a:r>
              <a:rPr spc="-30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2025" spc="-45" baseline="29320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r>
              <a:rPr spc="-30" dirty="0">
                <a:solidFill>
                  <a:srgbClr val="C00000"/>
                </a:solidFill>
                <a:latin typeface="Cambria Math"/>
                <a:cs typeface="Cambria Math"/>
              </a:rPr>
              <a:t>;</a:t>
            </a:r>
            <a:r>
              <a:rPr spc="-94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pc="-19" dirty="0">
                <a:solidFill>
                  <a:srgbClr val="7F6000"/>
                </a:solidFill>
                <a:latin typeface="Cambria Math"/>
                <a:cs typeface="Cambria Math"/>
              </a:rPr>
              <a:t>𝑐</a:t>
            </a:r>
            <a:r>
              <a:rPr sz="2025" spc="-28" baseline="29320" dirty="0">
                <a:solidFill>
                  <a:srgbClr val="7F6000"/>
                </a:solidFill>
                <a:latin typeface="Cambria Math"/>
                <a:cs typeface="Cambria Math"/>
              </a:rPr>
              <a:t>𝐷</a:t>
            </a:r>
            <a:r>
              <a:rPr spc="-19" dirty="0">
                <a:latin typeface="Tahoma"/>
                <a:cs typeface="Tahoma"/>
              </a:rPr>
              <a:t>]</a:t>
            </a:r>
            <a:endParaRPr>
              <a:latin typeface="Tahoma"/>
              <a:cs typeface="Tahoma"/>
            </a:endParaRPr>
          </a:p>
          <a:p>
            <a:pPr marL="219551">
              <a:lnSpc>
                <a:spcPts val="964"/>
              </a:lnSpc>
              <a:tabLst>
                <a:tab pos="553879" algn="l"/>
                <a:tab pos="1104424" algn="l"/>
                <a:tab pos="1438751" algn="l"/>
              </a:tabLst>
            </a:pP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sz="135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7F6000"/>
                </a:solidFill>
                <a:latin typeface="Cambria Math"/>
                <a:cs typeface="Cambria Math"/>
              </a:rPr>
              <a:t>1</a:t>
            </a:r>
            <a:r>
              <a:rPr sz="1350" dirty="0">
                <a:solidFill>
                  <a:srgbClr val="7F6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r>
              <a:rPr sz="135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7F6000"/>
                </a:solidFill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6033210" y="180699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5130324" y="1186053"/>
            <a:ext cx="1337786" cy="54822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ts val="2141"/>
              </a:lnSpc>
              <a:spcBef>
                <a:spcPts val="75"/>
              </a:spcBef>
              <a:tabLst>
                <a:tab pos="752951" algn="l"/>
              </a:tabLst>
            </a:pPr>
            <a:r>
              <a:rPr spc="-19" dirty="0">
                <a:solidFill>
                  <a:srgbClr val="C00000"/>
                </a:solidFill>
                <a:latin typeface="Tahoma"/>
                <a:cs typeface="Tahoma"/>
              </a:rPr>
              <a:t>Le</a:t>
            </a:r>
            <a:r>
              <a:rPr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pc="-8" dirty="0">
                <a:solidFill>
                  <a:srgbClr val="C00000"/>
                </a:solidFill>
                <a:latin typeface="Tahoma"/>
                <a:cs typeface="Tahoma"/>
              </a:rPr>
              <a:t>chien</a:t>
            </a:r>
            <a:endParaRPr>
              <a:latin typeface="Tahoma"/>
              <a:cs typeface="Tahoma"/>
            </a:endParaRPr>
          </a:p>
          <a:p>
            <a:pPr marL="65723">
              <a:lnSpc>
                <a:spcPts val="2141"/>
              </a:lnSpc>
              <a:tabLst>
                <a:tab pos="942975" algn="l"/>
              </a:tabLst>
            </a:pPr>
            <a:r>
              <a:rPr spc="-866" dirty="0">
                <a:latin typeface="Cambria Math"/>
                <a:cs typeface="Cambria Math"/>
              </a:rPr>
              <a:t>𝑦</a:t>
            </a:r>
            <a:r>
              <a:rPr spc="-176" dirty="0">
                <a:latin typeface="Cambria Math"/>
                <a:cs typeface="Cambria Math"/>
              </a:rPr>
              <a:t>4</a:t>
            </a:r>
            <a:r>
              <a:rPr sz="2025" spc="-140" baseline="-15432" dirty="0">
                <a:latin typeface="Cambria Math"/>
                <a:cs typeface="Cambria Math"/>
              </a:rPr>
              <a:t>1</a:t>
            </a:r>
            <a:r>
              <a:rPr sz="2025" baseline="-15432" dirty="0">
                <a:latin typeface="Cambria Math"/>
                <a:cs typeface="Cambria Math"/>
              </a:rPr>
              <a:t>	</a:t>
            </a:r>
            <a:r>
              <a:rPr spc="-870" dirty="0">
                <a:latin typeface="Cambria Math"/>
                <a:cs typeface="Cambria Math"/>
              </a:rPr>
              <a:t>𝑦</a:t>
            </a:r>
            <a:r>
              <a:rPr spc="-124" dirty="0">
                <a:latin typeface="Cambria Math"/>
                <a:cs typeface="Cambria Math"/>
              </a:rPr>
              <a:t>4</a:t>
            </a:r>
            <a:r>
              <a:rPr sz="2025" spc="-146" baseline="-15432" dirty="0">
                <a:latin typeface="Cambria Math"/>
                <a:cs typeface="Cambria Math"/>
              </a:rPr>
              <a:t>2</a:t>
            </a:r>
            <a:endParaRPr sz="2025" baseline="-15432">
              <a:latin typeface="Cambria Math"/>
              <a:cs typeface="Cambria Math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6014254" y="378946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508286" y="3069207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90" h="329564">
                <a:moveTo>
                  <a:pt x="338040" y="0"/>
                </a:moveTo>
                <a:lnTo>
                  <a:pt x="338040" y="119315"/>
                </a:lnTo>
                <a:lnTo>
                  <a:pt x="0" y="119315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2"/>
                </a:lnTo>
                <a:lnTo>
                  <a:pt x="567437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6253808" y="4449155"/>
            <a:ext cx="1396841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101" dirty="0">
                <a:solidFill>
                  <a:srgbClr val="7030A0"/>
                </a:solidFill>
                <a:latin typeface="Tahoma"/>
                <a:cs typeface="Tahoma"/>
              </a:rPr>
              <a:t>DECODER</a:t>
            </a:r>
            <a:r>
              <a:rPr sz="1463" spc="-41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>
              <a:latin typeface="Tahoma"/>
              <a:cs typeface="Tahoma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2060990" y="4501392"/>
            <a:ext cx="1403509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113" dirty="0">
                <a:solidFill>
                  <a:srgbClr val="7030A0"/>
                </a:solidFill>
                <a:latin typeface="Tahoma"/>
                <a:cs typeface="Tahoma"/>
              </a:rPr>
              <a:t>ENCODER</a:t>
            </a:r>
            <a:r>
              <a:rPr sz="1463" spc="-60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7854" y="578611"/>
            <a:ext cx="4856321" cy="98108"/>
          </a:xfrm>
          <a:custGeom>
            <a:avLst/>
            <a:gdLst/>
            <a:ahLst/>
            <a:cxnLst/>
            <a:rect l="l" t="t" r="r" b="b"/>
            <a:pathLst>
              <a:path w="6475095" h="130809">
                <a:moveTo>
                  <a:pt x="6474895" y="0"/>
                </a:moveTo>
                <a:lnTo>
                  <a:pt x="0" y="0"/>
                </a:lnTo>
                <a:lnTo>
                  <a:pt x="0" y="130218"/>
                </a:lnTo>
                <a:lnTo>
                  <a:pt x="6474895" y="130218"/>
                </a:lnTo>
                <a:lnTo>
                  <a:pt x="647489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34" dirty="0"/>
              <a:t>seq2seq</a:t>
            </a:r>
            <a:r>
              <a:rPr spc="-68" dirty="0"/>
              <a:t> </a:t>
            </a:r>
            <a:r>
              <a:rPr spc="-143" dirty="0"/>
              <a:t>+</a:t>
            </a:r>
            <a:r>
              <a:rPr spc="-68" dirty="0"/>
              <a:t> </a:t>
            </a:r>
            <a:r>
              <a:rPr spc="-8" dirty="0"/>
              <a:t>Attention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6450" y="2988543"/>
            <a:ext cx="99298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spc="60" dirty="0">
                <a:solidFill>
                  <a:srgbClr val="262626"/>
                </a:solidFill>
                <a:latin typeface="Tahoma"/>
                <a:cs typeface="Tahoma"/>
              </a:rPr>
              <a:t>Hidden</a:t>
            </a:r>
            <a:r>
              <a:rPr sz="1313" spc="-41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15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50551" y="2662962"/>
            <a:ext cx="262414" cy="1052036"/>
            <a:chOff x="2334067" y="3550615"/>
            <a:chExt cx="349885" cy="1402715"/>
          </a:xfrm>
        </p:grpSpPr>
        <p:sp>
          <p:nvSpPr>
            <p:cNvPr id="6" name="object 6"/>
            <p:cNvSpPr/>
            <p:nvPr/>
          </p:nvSpPr>
          <p:spPr>
            <a:xfrm>
              <a:off x="235311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6859" y="4636615"/>
              <a:ext cx="222250" cy="222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390355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144096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3892228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914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75721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7115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2" y="0"/>
                </a:moveTo>
                <a:lnTo>
                  <a:pt x="338042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2" y="210167"/>
                </a:lnTo>
                <a:lnTo>
                  <a:pt x="338042" y="329483"/>
                </a:lnTo>
                <a:lnTo>
                  <a:pt x="567437" y="164741"/>
                </a:lnTo>
                <a:lnTo>
                  <a:pt x="33804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2562171" y="2662962"/>
            <a:ext cx="262414" cy="1052036"/>
            <a:chOff x="3416227" y="3550615"/>
            <a:chExt cx="349885" cy="1402715"/>
          </a:xfrm>
        </p:grpSpPr>
        <p:sp>
          <p:nvSpPr>
            <p:cNvPr id="15" name="object 15"/>
            <p:cNvSpPr/>
            <p:nvPr/>
          </p:nvSpPr>
          <p:spPr>
            <a:xfrm>
              <a:off x="343527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9021" y="4636615"/>
              <a:ext cx="222250" cy="2222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390355"/>
              <a:ext cx="222250" cy="2222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144096"/>
              <a:ext cx="222250" cy="2222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3892228"/>
              <a:ext cx="222250" cy="2222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130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2568838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0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82777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3353240" y="2662962"/>
            <a:ext cx="262414" cy="1052036"/>
            <a:chOff x="4470986" y="3550615"/>
            <a:chExt cx="349885" cy="1402715"/>
          </a:xfrm>
        </p:grpSpPr>
        <p:sp>
          <p:nvSpPr>
            <p:cNvPr id="24" name="object 24"/>
            <p:cNvSpPr/>
            <p:nvPr/>
          </p:nvSpPr>
          <p:spPr>
            <a:xfrm>
              <a:off x="4490036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3779" y="4636615"/>
              <a:ext cx="222250" cy="2222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390355"/>
              <a:ext cx="222250" cy="2222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144096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3892228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606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335990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67384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4169424" y="2662962"/>
            <a:ext cx="262414" cy="1052036"/>
            <a:chOff x="5559231" y="3550615"/>
            <a:chExt cx="349885" cy="1402715"/>
          </a:xfrm>
        </p:grpSpPr>
        <p:sp>
          <p:nvSpPr>
            <p:cNvPr id="33" name="object 33"/>
            <p:cNvSpPr/>
            <p:nvPr/>
          </p:nvSpPr>
          <p:spPr>
            <a:xfrm>
              <a:off x="5578281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2024" y="4636613"/>
              <a:ext cx="222250" cy="22225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390354"/>
              <a:ext cx="222250" cy="2222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144096"/>
              <a:ext cx="222250" cy="22225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3892227"/>
              <a:ext cx="222250" cy="22225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430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39" name="object 39"/>
          <p:cNvSpPr/>
          <p:nvPr/>
        </p:nvSpPr>
        <p:spPr>
          <a:xfrm>
            <a:off x="4176090" y="378961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881073" y="241134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39911" y="2214753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666049" y="2290191"/>
            <a:ext cx="12906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350149" y="2322195"/>
            <a:ext cx="283845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pc="-19" dirty="0">
                <a:latin typeface="Cambria Math"/>
                <a:cs typeface="Cambria Math"/>
              </a:rPr>
              <a:t>ℎ</a:t>
            </a:r>
            <a:r>
              <a:rPr sz="2025" spc="-28" baseline="-16975" dirty="0">
                <a:latin typeface="Cambria Math"/>
                <a:cs typeface="Cambria Math"/>
              </a:rPr>
              <a:t>3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00502" y="2290191"/>
            <a:ext cx="12906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305232" y="242049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158784" y="2226184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127729" y="2662962"/>
            <a:ext cx="262414" cy="1052036"/>
            <a:chOff x="6836972" y="3550615"/>
            <a:chExt cx="349885" cy="1402715"/>
          </a:xfrm>
        </p:grpSpPr>
        <p:sp>
          <p:nvSpPr>
            <p:cNvPr id="48" name="object 48"/>
            <p:cNvSpPr/>
            <p:nvPr/>
          </p:nvSpPr>
          <p:spPr>
            <a:xfrm>
              <a:off x="6856022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9765" y="4636613"/>
              <a:ext cx="222250" cy="22225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390354"/>
              <a:ext cx="222250" cy="22225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144096"/>
              <a:ext cx="222250" cy="22225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3892227"/>
              <a:ext cx="222250" cy="22225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0204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54" name="object 54"/>
          <p:cNvSpPr/>
          <p:nvPr/>
        </p:nvSpPr>
        <p:spPr>
          <a:xfrm>
            <a:off x="2504882" y="1590992"/>
            <a:ext cx="1768793" cy="758189"/>
          </a:xfrm>
          <a:custGeom>
            <a:avLst/>
            <a:gdLst/>
            <a:ahLst/>
            <a:cxnLst/>
            <a:rect l="l" t="t" r="r" b="b"/>
            <a:pathLst>
              <a:path w="2358390" h="1010919">
                <a:moveTo>
                  <a:pt x="162662" y="0"/>
                </a:moveTo>
                <a:lnTo>
                  <a:pt x="0" y="39805"/>
                </a:lnTo>
                <a:lnTo>
                  <a:pt x="89684" y="181227"/>
                </a:lnTo>
                <a:lnTo>
                  <a:pt x="116112" y="115600"/>
                </a:lnTo>
                <a:lnTo>
                  <a:pt x="2338082" y="1010351"/>
                </a:lnTo>
                <a:lnTo>
                  <a:pt x="2358205" y="960377"/>
                </a:lnTo>
                <a:lnTo>
                  <a:pt x="136235" y="65627"/>
                </a:lnTo>
                <a:lnTo>
                  <a:pt x="162662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2453212" y="1110615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solidFill>
                  <a:srgbClr val="7F6000"/>
                </a:solidFill>
                <a:latin typeface="Cambria Math"/>
                <a:cs typeface="Cambria Math"/>
              </a:rPr>
              <a:t>3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334959" y="914019"/>
            <a:ext cx="29622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50" baseline="-21990" dirty="0">
                <a:solidFill>
                  <a:srgbClr val="7F6000"/>
                </a:solidFill>
                <a:latin typeface="Cambria Math"/>
                <a:cs typeface="Cambria Math"/>
              </a:rPr>
              <a:t>𝑐</a:t>
            </a:r>
            <a:r>
              <a:rPr sz="1350" spc="34" dirty="0">
                <a:solidFill>
                  <a:srgbClr val="7F6000"/>
                </a:solidFill>
                <a:latin typeface="Cambria Math"/>
                <a:cs typeface="Cambria Math"/>
              </a:rPr>
              <a:t>𝐷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819144" y="1644867"/>
            <a:ext cx="395288" cy="680085"/>
          </a:xfrm>
          <a:custGeom>
            <a:avLst/>
            <a:gdLst/>
            <a:ahLst/>
            <a:cxnLst/>
            <a:rect l="l" t="t" r="r" b="b"/>
            <a:pathLst>
              <a:path w="527050" h="906780">
                <a:moveTo>
                  <a:pt x="509428" y="0"/>
                </a:moveTo>
                <a:lnTo>
                  <a:pt x="381872" y="61259"/>
                </a:lnTo>
                <a:lnTo>
                  <a:pt x="434328" y="89933"/>
                </a:lnTo>
                <a:lnTo>
                  <a:pt x="0" y="884485"/>
                </a:lnTo>
                <a:lnTo>
                  <a:pt x="39941" y="906318"/>
                </a:lnTo>
                <a:lnTo>
                  <a:pt x="474270" y="111767"/>
                </a:lnTo>
                <a:lnTo>
                  <a:pt x="526726" y="140441"/>
                </a:lnTo>
                <a:lnTo>
                  <a:pt x="509428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352676" y="1645224"/>
            <a:ext cx="1168241" cy="655320"/>
          </a:xfrm>
          <a:custGeom>
            <a:avLst/>
            <a:gdLst/>
            <a:ahLst/>
            <a:cxnLst/>
            <a:rect l="l" t="t" r="r" b="b"/>
            <a:pathLst>
              <a:path w="1557654" h="873760">
                <a:moveTo>
                  <a:pt x="430263" y="853313"/>
                </a:moveTo>
                <a:lnTo>
                  <a:pt x="102476" y="129374"/>
                </a:lnTo>
                <a:lnTo>
                  <a:pt x="160667" y="103022"/>
                </a:lnTo>
                <a:lnTo>
                  <a:pt x="29679" y="27546"/>
                </a:lnTo>
                <a:lnTo>
                  <a:pt x="0" y="175768"/>
                </a:lnTo>
                <a:lnTo>
                  <a:pt x="58178" y="149428"/>
                </a:lnTo>
                <a:lnTo>
                  <a:pt x="385965" y="873366"/>
                </a:lnTo>
                <a:lnTo>
                  <a:pt x="430263" y="853313"/>
                </a:lnTo>
                <a:close/>
              </a:path>
              <a:path w="1557654" h="873760">
                <a:moveTo>
                  <a:pt x="1557451" y="793902"/>
                </a:moveTo>
                <a:lnTo>
                  <a:pt x="293116" y="59613"/>
                </a:lnTo>
                <a:lnTo>
                  <a:pt x="327736" y="0"/>
                </a:lnTo>
                <a:lnTo>
                  <a:pt x="165315" y="15735"/>
                </a:lnTo>
                <a:lnTo>
                  <a:pt x="232130" y="164617"/>
                </a:lnTo>
                <a:lnTo>
                  <a:pt x="266750" y="105003"/>
                </a:lnTo>
                <a:lnTo>
                  <a:pt x="1531086" y="839292"/>
                </a:lnTo>
                <a:lnTo>
                  <a:pt x="1557451" y="793902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1874740" y="1835277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733579" y="1636395"/>
            <a:ext cx="28956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1990" dirty="0">
                <a:latin typeface="Cambria Math"/>
                <a:cs typeface="Cambria Math"/>
              </a:rPr>
              <a:t>𝑎</a:t>
            </a:r>
            <a:r>
              <a:rPr sz="1350" spc="-19" dirty="0">
                <a:latin typeface="Cambria Math"/>
                <a:cs typeface="Cambria Math"/>
              </a:rPr>
              <a:t>3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211341" y="1837564"/>
            <a:ext cx="283845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pc="-19" dirty="0">
                <a:latin typeface="Cambria Math"/>
                <a:cs typeface="Cambria Math"/>
              </a:rPr>
              <a:t>𝑎</a:t>
            </a:r>
            <a:r>
              <a:rPr sz="2025" spc="-28" baseline="-16975" dirty="0">
                <a:latin typeface="Cambria Math"/>
                <a:cs typeface="Cambria Math"/>
              </a:rPr>
              <a:t>2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363360" y="1807845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3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515697" y="1789557"/>
            <a:ext cx="476250" cy="82009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20504">
              <a:spcBef>
                <a:spcPts val="75"/>
              </a:spcBef>
            </a:pPr>
            <a:r>
              <a:rPr spc="-19" dirty="0">
                <a:latin typeface="Cambria Math"/>
                <a:cs typeface="Cambria Math"/>
              </a:rPr>
              <a:t>𝑎</a:t>
            </a:r>
            <a:r>
              <a:rPr sz="2025" spc="-28" baseline="-16975" dirty="0">
                <a:latin typeface="Cambria Math"/>
                <a:cs typeface="Cambria Math"/>
              </a:rPr>
              <a:t>3</a:t>
            </a:r>
            <a:endParaRPr sz="2025" baseline="-16975">
              <a:latin typeface="Cambria Math"/>
              <a:cs typeface="Cambria Math"/>
            </a:endParaRPr>
          </a:p>
          <a:p>
            <a:pPr marL="28575">
              <a:spcBef>
                <a:spcPts val="2033"/>
              </a:spcBef>
            </a:pPr>
            <a:r>
              <a:rPr spc="-19" dirty="0">
                <a:latin typeface="Cambria Math"/>
                <a:cs typeface="Cambria Math"/>
              </a:rPr>
              <a:t>ℎ</a:t>
            </a:r>
            <a:r>
              <a:rPr sz="2025" spc="-28" baseline="-16975" dirty="0">
                <a:latin typeface="Cambria Math"/>
                <a:cs typeface="Cambria Math"/>
              </a:rPr>
              <a:t>2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860039" y="175755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3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491189" y="1807845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344741" y="1611250"/>
            <a:ext cx="28956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𝑎</a:t>
            </a:r>
            <a:r>
              <a:rPr sz="1350" spc="-19" dirty="0">
                <a:latin typeface="Cambria Math"/>
                <a:cs typeface="Cambria Math"/>
              </a:rPr>
              <a:t>3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899901" y="1342766"/>
            <a:ext cx="1052036" cy="262414"/>
            <a:chOff x="2533200" y="1790354"/>
            <a:chExt cx="1402715" cy="349885"/>
          </a:xfrm>
        </p:grpSpPr>
        <p:sp>
          <p:nvSpPr>
            <p:cNvPr id="68" name="object 68"/>
            <p:cNvSpPr/>
            <p:nvPr/>
          </p:nvSpPr>
          <p:spPr>
            <a:xfrm>
              <a:off x="2552250" y="1809404"/>
              <a:ext cx="1364615" cy="311785"/>
            </a:xfrm>
            <a:custGeom>
              <a:avLst/>
              <a:gdLst/>
              <a:ahLst/>
              <a:cxnLst/>
              <a:rect l="l" t="t" r="r" b="b"/>
              <a:pathLst>
                <a:path w="1364614" h="311785">
                  <a:moveTo>
                    <a:pt x="0" y="51895"/>
                  </a:move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1312329" y="0"/>
                  </a:lnTo>
                  <a:lnTo>
                    <a:pt x="1332528" y="4078"/>
                  </a:lnTo>
                  <a:lnTo>
                    <a:pt x="1349024" y="15199"/>
                  </a:lnTo>
                  <a:lnTo>
                    <a:pt x="1360145" y="31695"/>
                  </a:lnTo>
                  <a:lnTo>
                    <a:pt x="1364224" y="51895"/>
                  </a:lnTo>
                  <a:lnTo>
                    <a:pt x="1364224" y="259473"/>
                  </a:lnTo>
                  <a:lnTo>
                    <a:pt x="1360145" y="279673"/>
                  </a:lnTo>
                  <a:lnTo>
                    <a:pt x="1349024" y="296169"/>
                  </a:lnTo>
                  <a:lnTo>
                    <a:pt x="1332528" y="307290"/>
                  </a:lnTo>
                  <a:lnTo>
                    <a:pt x="1312329" y="311369"/>
                  </a:lnTo>
                  <a:lnTo>
                    <a:pt x="51895" y="311369"/>
                  </a:lnTo>
                  <a:lnTo>
                    <a:pt x="31695" y="307290"/>
                  </a:lnTo>
                  <a:lnTo>
                    <a:pt x="15199" y="296169"/>
                  </a:lnTo>
                  <a:lnTo>
                    <a:pt x="4078" y="279673"/>
                  </a:lnTo>
                  <a:lnTo>
                    <a:pt x="0" y="259473"/>
                  </a:lnTo>
                  <a:lnTo>
                    <a:pt x="0" y="51895"/>
                  </a:lnTo>
                  <a:close/>
                </a:path>
              </a:pathLst>
            </a:custGeom>
            <a:ln w="38100">
              <a:solidFill>
                <a:srgbClr val="BF9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27274" y="1853145"/>
              <a:ext cx="222250" cy="22225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73533" y="1853145"/>
              <a:ext cx="222250" cy="22225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19793" y="1853145"/>
              <a:ext cx="222250" cy="22225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71662" y="1853145"/>
              <a:ext cx="222250" cy="22225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29657" y="1855429"/>
              <a:ext cx="222250" cy="222250"/>
            </a:xfrm>
            <a:prstGeom prst="rect">
              <a:avLst/>
            </a:prstGeom>
          </p:spPr>
        </p:pic>
      </p:grpSp>
      <p:sp>
        <p:nvSpPr>
          <p:cNvPr id="74" name="object 74"/>
          <p:cNvSpPr txBox="1"/>
          <p:nvPr/>
        </p:nvSpPr>
        <p:spPr>
          <a:xfrm>
            <a:off x="3741173" y="860298"/>
            <a:ext cx="69533" cy="18274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125" spc="-38" dirty="0">
                <a:solidFill>
                  <a:srgbClr val="C00000"/>
                </a:solidFill>
                <a:latin typeface="Cambria Math"/>
                <a:cs typeface="Cambria Math"/>
              </a:rPr>
              <a:t>𝑖</a:t>
            </a:r>
            <a:endParaRPr sz="1125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01114" y="753236"/>
            <a:ext cx="7673340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194" spc="78" baseline="1424" dirty="0">
                <a:solidFill>
                  <a:srgbClr val="C00000"/>
                </a:solidFill>
                <a:latin typeface="Tahoma"/>
                <a:cs typeface="Tahoma"/>
              </a:rPr>
              <a:t>REMEMBER:</a:t>
            </a:r>
            <a:r>
              <a:rPr sz="2194" spc="-17" baseline="142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each</a:t>
            </a:r>
            <a:r>
              <a:rPr sz="2194" spc="-11" baseline="1424" dirty="0"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attention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weight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1500" spc="146" dirty="0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r>
              <a:rPr sz="1688" spc="219" baseline="38888" dirty="0">
                <a:solidFill>
                  <a:srgbClr val="C00000"/>
                </a:solidFill>
                <a:latin typeface="Cambria Math"/>
                <a:cs typeface="Cambria Math"/>
              </a:rPr>
              <a:t>j</a:t>
            </a:r>
            <a:r>
              <a:rPr sz="1688" spc="439" baseline="38888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194" baseline="1424" dirty="0">
                <a:latin typeface="Tahoma"/>
                <a:cs typeface="Tahoma"/>
              </a:rPr>
              <a:t>is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2194" spc="73" baseline="1424" dirty="0">
                <a:latin typeface="Tahoma"/>
                <a:cs typeface="Tahoma"/>
              </a:rPr>
              <a:t>based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2194" spc="73" baseline="1424" dirty="0">
                <a:latin typeface="Tahoma"/>
                <a:cs typeface="Tahoma"/>
              </a:rPr>
              <a:t>on</a:t>
            </a:r>
            <a:r>
              <a:rPr sz="2194" spc="-11" baseline="1424" dirty="0"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the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2194" spc="50" baseline="1424" dirty="0">
                <a:solidFill>
                  <a:srgbClr val="C00000"/>
                </a:solidFill>
                <a:latin typeface="Tahoma"/>
                <a:cs typeface="Tahoma"/>
              </a:rPr>
              <a:t>decoder’s</a:t>
            </a:r>
            <a:r>
              <a:rPr sz="2194" spc="-17" baseline="142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current</a:t>
            </a:r>
            <a:r>
              <a:rPr sz="2194" spc="-23" baseline="1424" dirty="0">
                <a:latin typeface="Tahoma"/>
                <a:cs typeface="Tahoma"/>
              </a:rPr>
              <a:t> </a:t>
            </a:r>
            <a:r>
              <a:rPr sz="2194" spc="78" baseline="1424" dirty="0">
                <a:latin typeface="Tahoma"/>
                <a:cs typeface="Tahoma"/>
              </a:rPr>
              <a:t>hidden</a:t>
            </a:r>
            <a:r>
              <a:rPr sz="2194" spc="-11" baseline="1424" dirty="0"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state,</a:t>
            </a:r>
            <a:r>
              <a:rPr sz="2194" spc="-11" baseline="1424" dirty="0">
                <a:latin typeface="Tahoma"/>
                <a:cs typeface="Tahoma"/>
              </a:rPr>
              <a:t> </a:t>
            </a:r>
            <a:r>
              <a:rPr sz="2194" spc="-23" baseline="1424" dirty="0">
                <a:latin typeface="Tahoma"/>
                <a:cs typeface="Tahoma"/>
              </a:rPr>
              <a:t>too.</a:t>
            </a:r>
            <a:endParaRPr sz="2194" baseline="1424">
              <a:latin typeface="Tahoma"/>
              <a:cs typeface="Tahoma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5153566" y="180699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134611" y="378946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8" name="object 78"/>
          <p:cNvGrpSpPr/>
          <p:nvPr/>
        </p:nvGrpSpPr>
        <p:grpSpPr>
          <a:xfrm>
            <a:off x="6007373" y="2662962"/>
            <a:ext cx="262414" cy="1052036"/>
            <a:chOff x="8009830" y="3550615"/>
            <a:chExt cx="349885" cy="1402715"/>
          </a:xfrm>
        </p:grpSpPr>
        <p:sp>
          <p:nvSpPr>
            <p:cNvPr id="79" name="object 79"/>
            <p:cNvSpPr/>
            <p:nvPr/>
          </p:nvSpPr>
          <p:spPr>
            <a:xfrm>
              <a:off x="8028880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72623" y="4636615"/>
              <a:ext cx="222250" cy="22225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72623" y="4390355"/>
              <a:ext cx="222250" cy="22225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72623" y="4144096"/>
              <a:ext cx="222250" cy="22225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72623" y="3892228"/>
              <a:ext cx="222250" cy="22225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74907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85" name="object 85"/>
          <p:cNvSpPr/>
          <p:nvPr/>
        </p:nvSpPr>
        <p:spPr>
          <a:xfrm>
            <a:off x="6033210" y="180699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5130324" y="1186053"/>
            <a:ext cx="1337786" cy="54822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ts val="2141"/>
              </a:lnSpc>
              <a:spcBef>
                <a:spcPts val="75"/>
              </a:spcBef>
              <a:tabLst>
                <a:tab pos="752951" algn="l"/>
              </a:tabLst>
            </a:pPr>
            <a:r>
              <a:rPr spc="-19" dirty="0">
                <a:solidFill>
                  <a:srgbClr val="C00000"/>
                </a:solidFill>
                <a:latin typeface="Tahoma"/>
                <a:cs typeface="Tahoma"/>
              </a:rPr>
              <a:t>Le</a:t>
            </a:r>
            <a:r>
              <a:rPr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pc="-8" dirty="0">
                <a:solidFill>
                  <a:srgbClr val="C00000"/>
                </a:solidFill>
                <a:latin typeface="Tahoma"/>
                <a:cs typeface="Tahoma"/>
              </a:rPr>
              <a:t>chien</a:t>
            </a:r>
            <a:endParaRPr>
              <a:latin typeface="Tahoma"/>
              <a:cs typeface="Tahoma"/>
            </a:endParaRPr>
          </a:p>
          <a:p>
            <a:pPr marL="65723">
              <a:lnSpc>
                <a:spcPts val="2141"/>
              </a:lnSpc>
              <a:tabLst>
                <a:tab pos="942975" algn="l"/>
              </a:tabLst>
            </a:pPr>
            <a:r>
              <a:rPr spc="-866" dirty="0">
                <a:latin typeface="Cambria Math"/>
                <a:cs typeface="Cambria Math"/>
              </a:rPr>
              <a:t>𝑦</a:t>
            </a:r>
            <a:r>
              <a:rPr spc="-176" dirty="0">
                <a:latin typeface="Cambria Math"/>
                <a:cs typeface="Cambria Math"/>
              </a:rPr>
              <a:t>4</a:t>
            </a:r>
            <a:r>
              <a:rPr sz="2025" spc="-140" baseline="-15432" dirty="0">
                <a:latin typeface="Cambria Math"/>
                <a:cs typeface="Cambria Math"/>
              </a:rPr>
              <a:t>1</a:t>
            </a:r>
            <a:r>
              <a:rPr sz="2025" baseline="-15432" dirty="0">
                <a:latin typeface="Cambria Math"/>
                <a:cs typeface="Cambria Math"/>
              </a:rPr>
              <a:t>	</a:t>
            </a:r>
            <a:r>
              <a:rPr spc="-870" dirty="0">
                <a:latin typeface="Cambria Math"/>
                <a:cs typeface="Cambria Math"/>
              </a:rPr>
              <a:t>𝑦</a:t>
            </a:r>
            <a:r>
              <a:rPr spc="-124" dirty="0">
                <a:latin typeface="Cambria Math"/>
                <a:cs typeface="Cambria Math"/>
              </a:rPr>
              <a:t>4</a:t>
            </a:r>
            <a:r>
              <a:rPr sz="2025" spc="-146" baseline="-15432" dirty="0">
                <a:latin typeface="Cambria Math"/>
                <a:cs typeface="Cambria Math"/>
              </a:rPr>
              <a:t>2</a:t>
            </a:r>
            <a:endParaRPr sz="2025" baseline="-15432">
              <a:latin typeface="Cambria Math"/>
              <a:cs typeface="Cambria Math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6014254" y="378946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508286" y="3069207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90" h="329564">
                <a:moveTo>
                  <a:pt x="338040" y="0"/>
                </a:moveTo>
                <a:lnTo>
                  <a:pt x="338040" y="119315"/>
                </a:lnTo>
                <a:lnTo>
                  <a:pt x="0" y="119315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2"/>
                </a:lnTo>
                <a:lnTo>
                  <a:pt x="567437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9" name="object 89"/>
          <p:cNvGrpSpPr/>
          <p:nvPr/>
        </p:nvGrpSpPr>
        <p:grpSpPr>
          <a:xfrm>
            <a:off x="6872370" y="2662960"/>
            <a:ext cx="262414" cy="1052036"/>
            <a:chOff x="9163159" y="3550613"/>
            <a:chExt cx="349885" cy="1402715"/>
          </a:xfrm>
        </p:grpSpPr>
        <p:sp>
          <p:nvSpPr>
            <p:cNvPr id="90" name="object 90"/>
            <p:cNvSpPr/>
            <p:nvPr/>
          </p:nvSpPr>
          <p:spPr>
            <a:xfrm>
              <a:off x="9182209" y="3569663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25951" y="4636612"/>
              <a:ext cx="222250" cy="22225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5951" y="4390354"/>
              <a:ext cx="222250" cy="22225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5951" y="4144095"/>
              <a:ext cx="222250" cy="22225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5951" y="3892226"/>
              <a:ext cx="222250" cy="22225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8235" y="3634229"/>
              <a:ext cx="222250" cy="222250"/>
            </a:xfrm>
            <a:prstGeom prst="rect">
              <a:avLst/>
            </a:prstGeom>
          </p:spPr>
        </p:pic>
      </p:grpSp>
      <p:sp>
        <p:nvSpPr>
          <p:cNvPr id="96" name="object 96"/>
          <p:cNvSpPr txBox="1"/>
          <p:nvPr/>
        </p:nvSpPr>
        <p:spPr>
          <a:xfrm>
            <a:off x="4854926" y="2262758"/>
            <a:ext cx="2551271" cy="33752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ts val="1504"/>
              </a:lnSpc>
              <a:spcBef>
                <a:spcPts val="75"/>
              </a:spcBef>
            </a:pPr>
            <a:r>
              <a:rPr spc="-30" dirty="0">
                <a:latin typeface="Tahoma"/>
                <a:cs typeface="Tahoma"/>
              </a:rPr>
              <a:t>[</a:t>
            </a:r>
            <a:r>
              <a:rPr spc="-30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2025" spc="-45" baseline="29320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r>
              <a:rPr spc="-30" dirty="0">
                <a:solidFill>
                  <a:srgbClr val="C00000"/>
                </a:solidFill>
                <a:latin typeface="Cambria Math"/>
                <a:cs typeface="Cambria Math"/>
              </a:rPr>
              <a:t>;</a:t>
            </a:r>
            <a:r>
              <a:rPr spc="-94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>
                <a:solidFill>
                  <a:srgbClr val="7F6000"/>
                </a:solidFill>
                <a:latin typeface="Cambria Math"/>
                <a:cs typeface="Cambria Math"/>
              </a:rPr>
              <a:t>𝑐</a:t>
            </a:r>
            <a:r>
              <a:rPr sz="2025" baseline="29320" dirty="0">
                <a:solidFill>
                  <a:srgbClr val="7F6000"/>
                </a:solidFill>
                <a:latin typeface="Cambria Math"/>
                <a:cs typeface="Cambria Math"/>
              </a:rPr>
              <a:t>𝐷</a:t>
            </a:r>
            <a:r>
              <a:rPr dirty="0">
                <a:latin typeface="Tahoma"/>
                <a:cs typeface="Tahoma"/>
              </a:rPr>
              <a:t>]</a:t>
            </a:r>
            <a:r>
              <a:rPr spc="8" dirty="0">
                <a:latin typeface="Tahoma"/>
                <a:cs typeface="Tahoma"/>
              </a:rPr>
              <a:t>  </a:t>
            </a:r>
            <a:r>
              <a:rPr spc="-30" dirty="0">
                <a:latin typeface="Tahoma"/>
                <a:cs typeface="Tahoma"/>
              </a:rPr>
              <a:t>[</a:t>
            </a:r>
            <a:r>
              <a:rPr spc="-30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2025" spc="-45" baseline="29320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r>
              <a:rPr spc="-30" dirty="0">
                <a:solidFill>
                  <a:srgbClr val="C00000"/>
                </a:solidFill>
                <a:latin typeface="Cambria Math"/>
                <a:cs typeface="Cambria Math"/>
              </a:rPr>
              <a:t>;</a:t>
            </a:r>
            <a:r>
              <a:rPr spc="-94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>
                <a:solidFill>
                  <a:srgbClr val="7F6000"/>
                </a:solidFill>
                <a:latin typeface="Cambria Math"/>
                <a:cs typeface="Cambria Math"/>
              </a:rPr>
              <a:t>𝑐</a:t>
            </a:r>
            <a:r>
              <a:rPr sz="2025" baseline="29320" dirty="0">
                <a:solidFill>
                  <a:srgbClr val="7F6000"/>
                </a:solidFill>
                <a:latin typeface="Cambria Math"/>
                <a:cs typeface="Cambria Math"/>
              </a:rPr>
              <a:t>𝐷</a:t>
            </a:r>
            <a:r>
              <a:rPr dirty="0">
                <a:latin typeface="Tahoma"/>
                <a:cs typeface="Tahoma"/>
              </a:rPr>
              <a:t>]</a:t>
            </a:r>
            <a:r>
              <a:rPr spc="-41" dirty="0">
                <a:latin typeface="Tahoma"/>
                <a:cs typeface="Tahoma"/>
              </a:rPr>
              <a:t>  </a:t>
            </a:r>
            <a:r>
              <a:rPr spc="-30" dirty="0">
                <a:latin typeface="Tahoma"/>
                <a:cs typeface="Tahoma"/>
              </a:rPr>
              <a:t>[</a:t>
            </a:r>
            <a:r>
              <a:rPr spc="-30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2025" spc="-45" baseline="29320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r>
              <a:rPr spc="-30" dirty="0">
                <a:solidFill>
                  <a:srgbClr val="C00000"/>
                </a:solidFill>
                <a:latin typeface="Cambria Math"/>
                <a:cs typeface="Cambria Math"/>
              </a:rPr>
              <a:t>;</a:t>
            </a:r>
            <a:r>
              <a:rPr spc="-9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pc="-19" dirty="0">
                <a:solidFill>
                  <a:srgbClr val="7F6000"/>
                </a:solidFill>
                <a:latin typeface="Cambria Math"/>
                <a:cs typeface="Cambria Math"/>
              </a:rPr>
              <a:t>𝑐</a:t>
            </a:r>
            <a:r>
              <a:rPr sz="2025" spc="-28" baseline="29320" dirty="0">
                <a:solidFill>
                  <a:srgbClr val="7F6000"/>
                </a:solidFill>
                <a:latin typeface="Cambria Math"/>
                <a:cs typeface="Cambria Math"/>
              </a:rPr>
              <a:t>𝐷</a:t>
            </a:r>
            <a:r>
              <a:rPr spc="-19" dirty="0">
                <a:latin typeface="Tahoma"/>
                <a:cs typeface="Tahoma"/>
              </a:rPr>
              <a:t>]</a:t>
            </a:r>
            <a:endParaRPr>
              <a:latin typeface="Tahoma"/>
              <a:cs typeface="Tahoma"/>
            </a:endParaRPr>
          </a:p>
          <a:p>
            <a:pPr marL="219551">
              <a:lnSpc>
                <a:spcPts val="964"/>
              </a:lnSpc>
              <a:tabLst>
                <a:tab pos="553879" algn="l"/>
                <a:tab pos="1104424" algn="l"/>
                <a:tab pos="1438751" algn="l"/>
                <a:tab pos="1969294" algn="l"/>
                <a:tab pos="2304098" algn="l"/>
              </a:tabLst>
            </a:pP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sz="135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7F6000"/>
                </a:solidFill>
                <a:latin typeface="Cambria Math"/>
                <a:cs typeface="Cambria Math"/>
              </a:rPr>
              <a:t>1</a:t>
            </a:r>
            <a:r>
              <a:rPr sz="1350" dirty="0">
                <a:solidFill>
                  <a:srgbClr val="7F6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r>
              <a:rPr sz="135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7F6000"/>
                </a:solidFill>
                <a:latin typeface="Cambria Math"/>
                <a:cs typeface="Cambria Math"/>
              </a:rPr>
              <a:t>2</a:t>
            </a:r>
            <a:r>
              <a:rPr sz="1350" dirty="0">
                <a:solidFill>
                  <a:srgbClr val="7F6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3</a:t>
            </a:r>
            <a:r>
              <a:rPr sz="135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7F6000"/>
                </a:solidFill>
                <a:latin typeface="Cambria Math"/>
                <a:cs typeface="Cambria Math"/>
              </a:rPr>
              <a:t>3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6898206" y="1806989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6758039" y="1186053"/>
            <a:ext cx="527209" cy="54822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2141"/>
              </a:lnSpc>
              <a:spcBef>
                <a:spcPts val="75"/>
              </a:spcBef>
            </a:pPr>
            <a:r>
              <a:rPr spc="-15" dirty="0">
                <a:solidFill>
                  <a:srgbClr val="C00000"/>
                </a:solidFill>
                <a:latin typeface="Tahoma"/>
                <a:cs typeface="Tahoma"/>
              </a:rPr>
              <a:t>brun</a:t>
            </a:r>
            <a:endParaRPr>
              <a:latin typeface="Tahoma"/>
              <a:cs typeface="Tahoma"/>
            </a:endParaRPr>
          </a:p>
          <a:p>
            <a:pPr marL="53340" algn="ctr">
              <a:lnSpc>
                <a:spcPts val="2141"/>
              </a:lnSpc>
            </a:pPr>
            <a:r>
              <a:rPr spc="-870" dirty="0">
                <a:latin typeface="Cambria Math"/>
                <a:cs typeface="Cambria Math"/>
              </a:rPr>
              <a:t>𝑦</a:t>
            </a:r>
            <a:r>
              <a:rPr spc="-124" dirty="0">
                <a:latin typeface="Cambria Math"/>
                <a:cs typeface="Cambria Math"/>
              </a:rPr>
              <a:t>4</a:t>
            </a:r>
            <a:r>
              <a:rPr sz="2025" spc="-146" baseline="-15432" dirty="0">
                <a:latin typeface="Cambria Math"/>
                <a:cs typeface="Cambria Math"/>
              </a:rPr>
              <a:t>3</a:t>
            </a:r>
            <a:endParaRPr sz="2025" baseline="-15432">
              <a:latin typeface="Cambria Math"/>
              <a:cs typeface="Cambria Math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6879251" y="3789459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6373282" y="3069204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90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7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527224" y="4238985"/>
            <a:ext cx="82534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dirty="0">
                <a:solidFill>
                  <a:srgbClr val="262626"/>
                </a:solidFill>
                <a:latin typeface="Tahoma"/>
                <a:cs typeface="Tahoma"/>
              </a:rPr>
              <a:t>Input</a:t>
            </a:r>
            <a:r>
              <a:rPr sz="1313" spc="-64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8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632730" y="4247008"/>
            <a:ext cx="40481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2352676" y="4247008"/>
            <a:ext cx="65436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3240736" y="4258437"/>
            <a:ext cx="433864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4128790" y="4267582"/>
            <a:ext cx="34194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5026920" y="4269867"/>
            <a:ext cx="42148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75" dirty="0">
                <a:latin typeface="Tahoma"/>
                <a:cs typeface="Tahoma"/>
              </a:rPr>
              <a:t>&lt;s&gt;</a:t>
            </a:r>
            <a:endParaRPr>
              <a:latin typeface="Tahoma"/>
              <a:cs typeface="Tahoma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5986930" y="4269867"/>
            <a:ext cx="260509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Le</a:t>
            </a:r>
            <a:endParaRPr>
              <a:latin typeface="Tahoma"/>
              <a:cs typeface="Tahoma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6643834" y="4272153"/>
            <a:ext cx="565309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8" dirty="0">
                <a:latin typeface="Tahoma"/>
                <a:cs typeface="Tahoma"/>
              </a:rPr>
              <a:t>chien</a:t>
            </a:r>
            <a:endParaRPr>
              <a:latin typeface="Tahoma"/>
              <a:cs typeface="Tahoma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6428004" y="4535314"/>
            <a:ext cx="1396841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101" dirty="0">
                <a:solidFill>
                  <a:srgbClr val="7030A0"/>
                </a:solidFill>
                <a:latin typeface="Tahoma"/>
                <a:cs typeface="Tahoma"/>
              </a:rPr>
              <a:t>DECODER</a:t>
            </a:r>
            <a:r>
              <a:rPr sz="1463" spc="-41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 dirty="0">
              <a:latin typeface="Tahoma"/>
              <a:cs typeface="Tahoma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2096993" y="4554616"/>
            <a:ext cx="1403509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113" dirty="0">
                <a:solidFill>
                  <a:srgbClr val="7030A0"/>
                </a:solidFill>
                <a:latin typeface="Tahoma"/>
                <a:cs typeface="Tahoma"/>
              </a:rPr>
              <a:t>ENCODER</a:t>
            </a:r>
            <a:r>
              <a:rPr sz="1463" spc="-60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7854" y="578611"/>
            <a:ext cx="4856321" cy="98108"/>
          </a:xfrm>
          <a:custGeom>
            <a:avLst/>
            <a:gdLst/>
            <a:ahLst/>
            <a:cxnLst/>
            <a:rect l="l" t="t" r="r" b="b"/>
            <a:pathLst>
              <a:path w="6475095" h="130809">
                <a:moveTo>
                  <a:pt x="6474895" y="0"/>
                </a:moveTo>
                <a:lnTo>
                  <a:pt x="0" y="0"/>
                </a:lnTo>
                <a:lnTo>
                  <a:pt x="0" y="130218"/>
                </a:lnTo>
                <a:lnTo>
                  <a:pt x="6474895" y="130218"/>
                </a:lnTo>
                <a:lnTo>
                  <a:pt x="647489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34" dirty="0"/>
              <a:t>seq2seq</a:t>
            </a:r>
            <a:r>
              <a:rPr spc="-68" dirty="0"/>
              <a:t> </a:t>
            </a:r>
            <a:r>
              <a:rPr spc="-143" dirty="0"/>
              <a:t>+</a:t>
            </a:r>
            <a:r>
              <a:rPr spc="-68" dirty="0"/>
              <a:t> </a:t>
            </a:r>
            <a:r>
              <a:rPr spc="-8" dirty="0"/>
              <a:t>Attention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6450" y="2988543"/>
            <a:ext cx="99298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spc="60" dirty="0">
                <a:solidFill>
                  <a:srgbClr val="262626"/>
                </a:solidFill>
                <a:latin typeface="Tahoma"/>
                <a:cs typeface="Tahoma"/>
              </a:rPr>
              <a:t>Hidden</a:t>
            </a:r>
            <a:r>
              <a:rPr sz="1313" spc="-41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15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50551" y="2662962"/>
            <a:ext cx="262414" cy="1052036"/>
            <a:chOff x="2334067" y="3550615"/>
            <a:chExt cx="349885" cy="1402715"/>
          </a:xfrm>
        </p:grpSpPr>
        <p:sp>
          <p:nvSpPr>
            <p:cNvPr id="6" name="object 6"/>
            <p:cNvSpPr/>
            <p:nvPr/>
          </p:nvSpPr>
          <p:spPr>
            <a:xfrm>
              <a:off x="235311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6859" y="4636615"/>
              <a:ext cx="222250" cy="222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390355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144096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3892228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914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75721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7115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2" y="0"/>
                </a:moveTo>
                <a:lnTo>
                  <a:pt x="338042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2" y="210167"/>
                </a:lnTo>
                <a:lnTo>
                  <a:pt x="338042" y="329483"/>
                </a:lnTo>
                <a:lnTo>
                  <a:pt x="567437" y="164741"/>
                </a:lnTo>
                <a:lnTo>
                  <a:pt x="33804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2562171" y="2662962"/>
            <a:ext cx="262414" cy="1052036"/>
            <a:chOff x="3416227" y="3550615"/>
            <a:chExt cx="349885" cy="1402715"/>
          </a:xfrm>
        </p:grpSpPr>
        <p:sp>
          <p:nvSpPr>
            <p:cNvPr id="15" name="object 15"/>
            <p:cNvSpPr/>
            <p:nvPr/>
          </p:nvSpPr>
          <p:spPr>
            <a:xfrm>
              <a:off x="343527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9021" y="4636615"/>
              <a:ext cx="222250" cy="2222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390355"/>
              <a:ext cx="222250" cy="2222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144096"/>
              <a:ext cx="222250" cy="2222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3892228"/>
              <a:ext cx="222250" cy="2222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130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2568838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0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82777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3353240" y="2662962"/>
            <a:ext cx="262414" cy="1052036"/>
            <a:chOff x="4470986" y="3550615"/>
            <a:chExt cx="349885" cy="1402715"/>
          </a:xfrm>
        </p:grpSpPr>
        <p:sp>
          <p:nvSpPr>
            <p:cNvPr id="24" name="object 24"/>
            <p:cNvSpPr/>
            <p:nvPr/>
          </p:nvSpPr>
          <p:spPr>
            <a:xfrm>
              <a:off x="4490036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3779" y="4636615"/>
              <a:ext cx="222250" cy="2222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390355"/>
              <a:ext cx="222250" cy="2222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144096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3892228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606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335990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67384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4169424" y="2662962"/>
            <a:ext cx="262414" cy="1052036"/>
            <a:chOff x="5559231" y="3550615"/>
            <a:chExt cx="349885" cy="1402715"/>
          </a:xfrm>
        </p:grpSpPr>
        <p:sp>
          <p:nvSpPr>
            <p:cNvPr id="33" name="object 33"/>
            <p:cNvSpPr/>
            <p:nvPr/>
          </p:nvSpPr>
          <p:spPr>
            <a:xfrm>
              <a:off x="5578281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2024" y="4636613"/>
              <a:ext cx="222250" cy="22225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390354"/>
              <a:ext cx="222250" cy="2222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144096"/>
              <a:ext cx="222250" cy="22225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3892227"/>
              <a:ext cx="222250" cy="22225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430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39" name="object 39"/>
          <p:cNvSpPr/>
          <p:nvPr/>
        </p:nvSpPr>
        <p:spPr>
          <a:xfrm>
            <a:off x="4176090" y="378961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881073" y="241134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39911" y="2214753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666049" y="2290191"/>
            <a:ext cx="12906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350149" y="2322195"/>
            <a:ext cx="283845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pc="-19" dirty="0">
                <a:latin typeface="Cambria Math"/>
                <a:cs typeface="Cambria Math"/>
              </a:rPr>
              <a:t>ℎ</a:t>
            </a:r>
            <a:r>
              <a:rPr sz="2025" spc="-28" baseline="-16975" dirty="0">
                <a:latin typeface="Cambria Math"/>
                <a:cs typeface="Cambria Math"/>
              </a:rPr>
              <a:t>3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00502" y="2290191"/>
            <a:ext cx="12906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305232" y="242049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158784" y="2226184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127729" y="2662962"/>
            <a:ext cx="262414" cy="1052036"/>
            <a:chOff x="6836972" y="3550615"/>
            <a:chExt cx="349885" cy="1402715"/>
          </a:xfrm>
        </p:grpSpPr>
        <p:sp>
          <p:nvSpPr>
            <p:cNvPr id="48" name="object 48"/>
            <p:cNvSpPr/>
            <p:nvPr/>
          </p:nvSpPr>
          <p:spPr>
            <a:xfrm>
              <a:off x="6856022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9765" y="4636613"/>
              <a:ext cx="222250" cy="22225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390354"/>
              <a:ext cx="222250" cy="22225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144096"/>
              <a:ext cx="222250" cy="22225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3892227"/>
              <a:ext cx="222250" cy="22225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0204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54" name="object 54"/>
          <p:cNvSpPr/>
          <p:nvPr/>
        </p:nvSpPr>
        <p:spPr>
          <a:xfrm>
            <a:off x="2504882" y="1590992"/>
            <a:ext cx="1768793" cy="758189"/>
          </a:xfrm>
          <a:custGeom>
            <a:avLst/>
            <a:gdLst/>
            <a:ahLst/>
            <a:cxnLst/>
            <a:rect l="l" t="t" r="r" b="b"/>
            <a:pathLst>
              <a:path w="2358390" h="1010919">
                <a:moveTo>
                  <a:pt x="162662" y="0"/>
                </a:moveTo>
                <a:lnTo>
                  <a:pt x="0" y="39805"/>
                </a:lnTo>
                <a:lnTo>
                  <a:pt x="89684" y="181227"/>
                </a:lnTo>
                <a:lnTo>
                  <a:pt x="116112" y="115600"/>
                </a:lnTo>
                <a:lnTo>
                  <a:pt x="2338082" y="1010351"/>
                </a:lnTo>
                <a:lnTo>
                  <a:pt x="2358205" y="960377"/>
                </a:lnTo>
                <a:lnTo>
                  <a:pt x="136235" y="65627"/>
                </a:lnTo>
                <a:lnTo>
                  <a:pt x="162662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2453212" y="1110615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solidFill>
                  <a:srgbClr val="7F6000"/>
                </a:solidFill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334959" y="914019"/>
            <a:ext cx="29622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50" baseline="-21990" dirty="0">
                <a:solidFill>
                  <a:srgbClr val="7F6000"/>
                </a:solidFill>
                <a:latin typeface="Cambria Math"/>
                <a:cs typeface="Cambria Math"/>
              </a:rPr>
              <a:t>𝑐</a:t>
            </a:r>
            <a:r>
              <a:rPr sz="1350" spc="34" dirty="0">
                <a:solidFill>
                  <a:srgbClr val="7F6000"/>
                </a:solidFill>
                <a:latin typeface="Cambria Math"/>
                <a:cs typeface="Cambria Math"/>
              </a:rPr>
              <a:t>𝐷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819144" y="1644867"/>
            <a:ext cx="395288" cy="680085"/>
          </a:xfrm>
          <a:custGeom>
            <a:avLst/>
            <a:gdLst/>
            <a:ahLst/>
            <a:cxnLst/>
            <a:rect l="l" t="t" r="r" b="b"/>
            <a:pathLst>
              <a:path w="527050" h="906780">
                <a:moveTo>
                  <a:pt x="509428" y="0"/>
                </a:moveTo>
                <a:lnTo>
                  <a:pt x="381872" y="61259"/>
                </a:lnTo>
                <a:lnTo>
                  <a:pt x="434328" y="89933"/>
                </a:lnTo>
                <a:lnTo>
                  <a:pt x="0" y="884485"/>
                </a:lnTo>
                <a:lnTo>
                  <a:pt x="39941" y="906318"/>
                </a:lnTo>
                <a:lnTo>
                  <a:pt x="474270" y="111767"/>
                </a:lnTo>
                <a:lnTo>
                  <a:pt x="526726" y="140441"/>
                </a:lnTo>
                <a:lnTo>
                  <a:pt x="509428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352676" y="1645224"/>
            <a:ext cx="1168241" cy="655320"/>
          </a:xfrm>
          <a:custGeom>
            <a:avLst/>
            <a:gdLst/>
            <a:ahLst/>
            <a:cxnLst/>
            <a:rect l="l" t="t" r="r" b="b"/>
            <a:pathLst>
              <a:path w="1557654" h="873760">
                <a:moveTo>
                  <a:pt x="430263" y="853313"/>
                </a:moveTo>
                <a:lnTo>
                  <a:pt x="102476" y="129374"/>
                </a:lnTo>
                <a:lnTo>
                  <a:pt x="160667" y="103022"/>
                </a:lnTo>
                <a:lnTo>
                  <a:pt x="29679" y="27546"/>
                </a:lnTo>
                <a:lnTo>
                  <a:pt x="0" y="175768"/>
                </a:lnTo>
                <a:lnTo>
                  <a:pt x="58178" y="149428"/>
                </a:lnTo>
                <a:lnTo>
                  <a:pt x="385965" y="873366"/>
                </a:lnTo>
                <a:lnTo>
                  <a:pt x="430263" y="853313"/>
                </a:lnTo>
                <a:close/>
              </a:path>
              <a:path w="1557654" h="873760">
                <a:moveTo>
                  <a:pt x="1557451" y="793902"/>
                </a:moveTo>
                <a:lnTo>
                  <a:pt x="293116" y="59613"/>
                </a:lnTo>
                <a:lnTo>
                  <a:pt x="327736" y="0"/>
                </a:lnTo>
                <a:lnTo>
                  <a:pt x="165315" y="15735"/>
                </a:lnTo>
                <a:lnTo>
                  <a:pt x="232130" y="164617"/>
                </a:lnTo>
                <a:lnTo>
                  <a:pt x="266750" y="105003"/>
                </a:lnTo>
                <a:lnTo>
                  <a:pt x="1531086" y="839292"/>
                </a:lnTo>
                <a:lnTo>
                  <a:pt x="1557451" y="793902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1874740" y="1832991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733579" y="1638682"/>
            <a:ext cx="28956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𝑎</a:t>
            </a:r>
            <a:r>
              <a:rPr sz="1350" spc="-19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357788" y="1947291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211341" y="1750695"/>
            <a:ext cx="28956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𝑎</a:t>
            </a:r>
            <a:r>
              <a:rPr sz="1350" spc="-19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515697" y="1780413"/>
            <a:ext cx="476250" cy="8329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20504">
              <a:spcBef>
                <a:spcPts val="75"/>
              </a:spcBef>
            </a:pPr>
            <a:r>
              <a:rPr spc="-19" dirty="0">
                <a:latin typeface="Cambria Math"/>
                <a:cs typeface="Cambria Math"/>
              </a:rPr>
              <a:t>𝑎</a:t>
            </a:r>
            <a:r>
              <a:rPr sz="2025" spc="-28" baseline="-16975" dirty="0">
                <a:latin typeface="Cambria Math"/>
                <a:cs typeface="Cambria Math"/>
              </a:rPr>
              <a:t>3</a:t>
            </a:r>
            <a:endParaRPr sz="2025" baseline="-16975">
              <a:latin typeface="Cambria Math"/>
              <a:cs typeface="Cambria Math"/>
            </a:endParaRPr>
          </a:p>
          <a:p>
            <a:pPr marL="28575">
              <a:spcBef>
                <a:spcPts val="2104"/>
              </a:spcBef>
            </a:pPr>
            <a:r>
              <a:rPr spc="-19" dirty="0">
                <a:latin typeface="Cambria Math"/>
                <a:cs typeface="Cambria Math"/>
              </a:rPr>
              <a:t>ℎ</a:t>
            </a:r>
            <a:r>
              <a:rPr sz="2025" spc="-28" baseline="-16975" dirty="0">
                <a:latin typeface="Cambria Math"/>
                <a:cs typeface="Cambria Math"/>
              </a:rPr>
              <a:t>2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860039" y="174840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491189" y="180555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344741" y="1611250"/>
            <a:ext cx="28956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𝑎</a:t>
            </a:r>
            <a:r>
              <a:rPr sz="1350" spc="-19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899901" y="1342766"/>
            <a:ext cx="1052036" cy="262414"/>
            <a:chOff x="2533200" y="1790354"/>
            <a:chExt cx="1402715" cy="349885"/>
          </a:xfrm>
        </p:grpSpPr>
        <p:sp>
          <p:nvSpPr>
            <p:cNvPr id="68" name="object 68"/>
            <p:cNvSpPr/>
            <p:nvPr/>
          </p:nvSpPr>
          <p:spPr>
            <a:xfrm>
              <a:off x="2552250" y="1809404"/>
              <a:ext cx="1364615" cy="311785"/>
            </a:xfrm>
            <a:custGeom>
              <a:avLst/>
              <a:gdLst/>
              <a:ahLst/>
              <a:cxnLst/>
              <a:rect l="l" t="t" r="r" b="b"/>
              <a:pathLst>
                <a:path w="1364614" h="311785">
                  <a:moveTo>
                    <a:pt x="0" y="51895"/>
                  </a:move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1312329" y="0"/>
                  </a:lnTo>
                  <a:lnTo>
                    <a:pt x="1332528" y="4078"/>
                  </a:lnTo>
                  <a:lnTo>
                    <a:pt x="1349024" y="15199"/>
                  </a:lnTo>
                  <a:lnTo>
                    <a:pt x="1360145" y="31695"/>
                  </a:lnTo>
                  <a:lnTo>
                    <a:pt x="1364224" y="51895"/>
                  </a:lnTo>
                  <a:lnTo>
                    <a:pt x="1364224" y="259473"/>
                  </a:lnTo>
                  <a:lnTo>
                    <a:pt x="1360145" y="279673"/>
                  </a:lnTo>
                  <a:lnTo>
                    <a:pt x="1349024" y="296169"/>
                  </a:lnTo>
                  <a:lnTo>
                    <a:pt x="1332528" y="307290"/>
                  </a:lnTo>
                  <a:lnTo>
                    <a:pt x="1312329" y="311369"/>
                  </a:lnTo>
                  <a:lnTo>
                    <a:pt x="51895" y="311369"/>
                  </a:lnTo>
                  <a:lnTo>
                    <a:pt x="31695" y="307290"/>
                  </a:lnTo>
                  <a:lnTo>
                    <a:pt x="15199" y="296169"/>
                  </a:lnTo>
                  <a:lnTo>
                    <a:pt x="4078" y="279673"/>
                  </a:lnTo>
                  <a:lnTo>
                    <a:pt x="0" y="259473"/>
                  </a:lnTo>
                  <a:lnTo>
                    <a:pt x="0" y="51895"/>
                  </a:lnTo>
                  <a:close/>
                </a:path>
              </a:pathLst>
            </a:custGeom>
            <a:ln w="38100">
              <a:solidFill>
                <a:srgbClr val="BF9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27274" y="1853145"/>
              <a:ext cx="222250" cy="22225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73533" y="1853145"/>
              <a:ext cx="222250" cy="22225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19793" y="1853145"/>
              <a:ext cx="222250" cy="22225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71662" y="1853145"/>
              <a:ext cx="222250" cy="22225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29657" y="1855429"/>
              <a:ext cx="222250" cy="222250"/>
            </a:xfrm>
            <a:prstGeom prst="rect">
              <a:avLst/>
            </a:prstGeom>
          </p:spPr>
        </p:pic>
      </p:grpSp>
      <p:sp>
        <p:nvSpPr>
          <p:cNvPr id="74" name="object 74"/>
          <p:cNvSpPr txBox="1"/>
          <p:nvPr/>
        </p:nvSpPr>
        <p:spPr>
          <a:xfrm>
            <a:off x="3741173" y="860298"/>
            <a:ext cx="69533" cy="18274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125" spc="-38" dirty="0">
                <a:solidFill>
                  <a:srgbClr val="C00000"/>
                </a:solidFill>
                <a:latin typeface="Cambria Math"/>
                <a:cs typeface="Cambria Math"/>
              </a:rPr>
              <a:t>𝑖</a:t>
            </a:r>
            <a:endParaRPr sz="1125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01114" y="753236"/>
            <a:ext cx="7673340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194" spc="78" baseline="1424" dirty="0">
                <a:solidFill>
                  <a:srgbClr val="C00000"/>
                </a:solidFill>
                <a:latin typeface="Tahoma"/>
                <a:cs typeface="Tahoma"/>
              </a:rPr>
              <a:t>REMEMBER:</a:t>
            </a:r>
            <a:r>
              <a:rPr sz="2194" spc="-17" baseline="142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each</a:t>
            </a:r>
            <a:r>
              <a:rPr sz="2194" spc="-11" baseline="1424" dirty="0"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attention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weight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1500" spc="146" dirty="0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r>
              <a:rPr sz="1688" spc="219" baseline="38888" dirty="0">
                <a:solidFill>
                  <a:srgbClr val="C00000"/>
                </a:solidFill>
                <a:latin typeface="Cambria Math"/>
                <a:cs typeface="Cambria Math"/>
              </a:rPr>
              <a:t>j</a:t>
            </a:r>
            <a:r>
              <a:rPr sz="1688" spc="439" baseline="38888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194" baseline="1424" dirty="0">
                <a:latin typeface="Tahoma"/>
                <a:cs typeface="Tahoma"/>
              </a:rPr>
              <a:t>is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2194" spc="73" baseline="1424" dirty="0">
                <a:latin typeface="Tahoma"/>
                <a:cs typeface="Tahoma"/>
              </a:rPr>
              <a:t>based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2194" spc="73" baseline="1424" dirty="0">
                <a:latin typeface="Tahoma"/>
                <a:cs typeface="Tahoma"/>
              </a:rPr>
              <a:t>on</a:t>
            </a:r>
            <a:r>
              <a:rPr sz="2194" spc="-11" baseline="1424" dirty="0"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the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2194" spc="50" baseline="1424" dirty="0">
                <a:solidFill>
                  <a:srgbClr val="C00000"/>
                </a:solidFill>
                <a:latin typeface="Tahoma"/>
                <a:cs typeface="Tahoma"/>
              </a:rPr>
              <a:t>decoder’s</a:t>
            </a:r>
            <a:r>
              <a:rPr sz="2194" spc="-17" baseline="142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current</a:t>
            </a:r>
            <a:r>
              <a:rPr sz="2194" spc="-23" baseline="1424" dirty="0">
                <a:latin typeface="Tahoma"/>
                <a:cs typeface="Tahoma"/>
              </a:rPr>
              <a:t> </a:t>
            </a:r>
            <a:r>
              <a:rPr sz="2194" spc="78" baseline="1424" dirty="0">
                <a:latin typeface="Tahoma"/>
                <a:cs typeface="Tahoma"/>
              </a:rPr>
              <a:t>hidden</a:t>
            </a:r>
            <a:r>
              <a:rPr sz="2194" spc="-11" baseline="1424" dirty="0"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state,</a:t>
            </a:r>
            <a:r>
              <a:rPr sz="2194" spc="-11" baseline="1424" dirty="0">
                <a:latin typeface="Tahoma"/>
                <a:cs typeface="Tahoma"/>
              </a:rPr>
              <a:t> </a:t>
            </a:r>
            <a:r>
              <a:rPr sz="2194" spc="-23" baseline="1424" dirty="0">
                <a:latin typeface="Tahoma"/>
                <a:cs typeface="Tahoma"/>
              </a:rPr>
              <a:t>too.</a:t>
            </a:r>
            <a:endParaRPr sz="2194" baseline="1424">
              <a:latin typeface="Tahoma"/>
              <a:cs typeface="Tahoma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5153566" y="180699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134611" y="378946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8" name="object 78"/>
          <p:cNvGrpSpPr/>
          <p:nvPr/>
        </p:nvGrpSpPr>
        <p:grpSpPr>
          <a:xfrm>
            <a:off x="6007373" y="2662962"/>
            <a:ext cx="262414" cy="1052036"/>
            <a:chOff x="8009830" y="3550615"/>
            <a:chExt cx="349885" cy="1402715"/>
          </a:xfrm>
        </p:grpSpPr>
        <p:sp>
          <p:nvSpPr>
            <p:cNvPr id="79" name="object 79"/>
            <p:cNvSpPr/>
            <p:nvPr/>
          </p:nvSpPr>
          <p:spPr>
            <a:xfrm>
              <a:off x="8028880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72623" y="4636615"/>
              <a:ext cx="222250" cy="22225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72623" y="4390355"/>
              <a:ext cx="222250" cy="22225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72623" y="4144096"/>
              <a:ext cx="222250" cy="22225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72623" y="3892228"/>
              <a:ext cx="222250" cy="22225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74907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85" name="object 85"/>
          <p:cNvSpPr/>
          <p:nvPr/>
        </p:nvSpPr>
        <p:spPr>
          <a:xfrm>
            <a:off x="6033210" y="180699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5130324" y="1186053"/>
            <a:ext cx="1337786" cy="54822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ts val="2141"/>
              </a:lnSpc>
              <a:spcBef>
                <a:spcPts val="75"/>
              </a:spcBef>
              <a:tabLst>
                <a:tab pos="752951" algn="l"/>
              </a:tabLst>
            </a:pPr>
            <a:r>
              <a:rPr spc="-19" dirty="0">
                <a:solidFill>
                  <a:srgbClr val="C00000"/>
                </a:solidFill>
                <a:latin typeface="Tahoma"/>
                <a:cs typeface="Tahoma"/>
              </a:rPr>
              <a:t>Le</a:t>
            </a:r>
            <a:r>
              <a:rPr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pc="-8" dirty="0">
                <a:solidFill>
                  <a:srgbClr val="C00000"/>
                </a:solidFill>
                <a:latin typeface="Tahoma"/>
                <a:cs typeface="Tahoma"/>
              </a:rPr>
              <a:t>chien</a:t>
            </a:r>
            <a:endParaRPr>
              <a:latin typeface="Tahoma"/>
              <a:cs typeface="Tahoma"/>
            </a:endParaRPr>
          </a:p>
          <a:p>
            <a:pPr marL="65723">
              <a:lnSpc>
                <a:spcPts val="2141"/>
              </a:lnSpc>
              <a:tabLst>
                <a:tab pos="942975" algn="l"/>
              </a:tabLst>
            </a:pPr>
            <a:r>
              <a:rPr spc="-866" dirty="0">
                <a:latin typeface="Cambria Math"/>
                <a:cs typeface="Cambria Math"/>
              </a:rPr>
              <a:t>𝑦</a:t>
            </a:r>
            <a:r>
              <a:rPr spc="-176" dirty="0">
                <a:latin typeface="Cambria Math"/>
                <a:cs typeface="Cambria Math"/>
              </a:rPr>
              <a:t>4</a:t>
            </a:r>
            <a:r>
              <a:rPr sz="2025" spc="-140" baseline="-15432" dirty="0">
                <a:latin typeface="Cambria Math"/>
                <a:cs typeface="Cambria Math"/>
              </a:rPr>
              <a:t>1</a:t>
            </a:r>
            <a:r>
              <a:rPr sz="2025" baseline="-15432" dirty="0">
                <a:latin typeface="Cambria Math"/>
                <a:cs typeface="Cambria Math"/>
              </a:rPr>
              <a:t>	</a:t>
            </a:r>
            <a:r>
              <a:rPr spc="-870" dirty="0">
                <a:latin typeface="Cambria Math"/>
                <a:cs typeface="Cambria Math"/>
              </a:rPr>
              <a:t>𝑦</a:t>
            </a:r>
            <a:r>
              <a:rPr spc="-124" dirty="0">
                <a:latin typeface="Cambria Math"/>
                <a:cs typeface="Cambria Math"/>
              </a:rPr>
              <a:t>4</a:t>
            </a:r>
            <a:r>
              <a:rPr sz="2025" spc="-146" baseline="-15432" dirty="0">
                <a:latin typeface="Cambria Math"/>
                <a:cs typeface="Cambria Math"/>
              </a:rPr>
              <a:t>2</a:t>
            </a:r>
            <a:endParaRPr sz="2025" baseline="-15432">
              <a:latin typeface="Cambria Math"/>
              <a:cs typeface="Cambria Math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6014254" y="378946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508286" y="3069207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90" h="329564">
                <a:moveTo>
                  <a:pt x="338040" y="0"/>
                </a:moveTo>
                <a:lnTo>
                  <a:pt x="338040" y="119315"/>
                </a:lnTo>
                <a:lnTo>
                  <a:pt x="0" y="119315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2"/>
                </a:lnTo>
                <a:lnTo>
                  <a:pt x="567437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9" name="object 89"/>
          <p:cNvGrpSpPr/>
          <p:nvPr/>
        </p:nvGrpSpPr>
        <p:grpSpPr>
          <a:xfrm>
            <a:off x="6872370" y="2662960"/>
            <a:ext cx="262414" cy="1052036"/>
            <a:chOff x="9163159" y="3550613"/>
            <a:chExt cx="349885" cy="1402715"/>
          </a:xfrm>
        </p:grpSpPr>
        <p:sp>
          <p:nvSpPr>
            <p:cNvPr id="90" name="object 90"/>
            <p:cNvSpPr/>
            <p:nvPr/>
          </p:nvSpPr>
          <p:spPr>
            <a:xfrm>
              <a:off x="9182209" y="3569663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25951" y="4636612"/>
              <a:ext cx="222250" cy="22225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5951" y="4390354"/>
              <a:ext cx="222250" cy="22225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5951" y="4144095"/>
              <a:ext cx="222250" cy="22225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5951" y="3892226"/>
              <a:ext cx="222250" cy="22225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8235" y="3634229"/>
              <a:ext cx="222250" cy="222250"/>
            </a:xfrm>
            <a:prstGeom prst="rect">
              <a:avLst/>
            </a:prstGeom>
          </p:spPr>
        </p:pic>
      </p:grpSp>
      <p:sp>
        <p:nvSpPr>
          <p:cNvPr id="96" name="object 96"/>
          <p:cNvSpPr/>
          <p:nvPr/>
        </p:nvSpPr>
        <p:spPr>
          <a:xfrm>
            <a:off x="6898206" y="1806989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879251" y="3789459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373282" y="3069204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90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7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9" name="object 99"/>
          <p:cNvGrpSpPr/>
          <p:nvPr/>
        </p:nvGrpSpPr>
        <p:grpSpPr>
          <a:xfrm>
            <a:off x="7672735" y="2662960"/>
            <a:ext cx="262414" cy="1052036"/>
            <a:chOff x="10230313" y="3550612"/>
            <a:chExt cx="349885" cy="1402715"/>
          </a:xfrm>
        </p:grpSpPr>
        <p:sp>
          <p:nvSpPr>
            <p:cNvPr id="100" name="object 100"/>
            <p:cNvSpPr/>
            <p:nvPr/>
          </p:nvSpPr>
          <p:spPr>
            <a:xfrm>
              <a:off x="10249363" y="3569662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293104" y="4636612"/>
              <a:ext cx="222250" cy="222250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93104" y="4390353"/>
              <a:ext cx="222250" cy="222250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93104" y="4144093"/>
              <a:ext cx="222250" cy="222250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93104" y="3892224"/>
              <a:ext cx="222250" cy="222250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95389" y="3634229"/>
              <a:ext cx="222250" cy="222250"/>
            </a:xfrm>
            <a:prstGeom prst="rect">
              <a:avLst/>
            </a:prstGeom>
          </p:spPr>
        </p:pic>
      </p:grpSp>
      <p:sp>
        <p:nvSpPr>
          <p:cNvPr id="106" name="object 106"/>
          <p:cNvSpPr txBox="1"/>
          <p:nvPr/>
        </p:nvSpPr>
        <p:spPr>
          <a:xfrm>
            <a:off x="4854925" y="2262758"/>
            <a:ext cx="3351848" cy="33752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ts val="1504"/>
              </a:lnSpc>
              <a:spcBef>
                <a:spcPts val="75"/>
              </a:spcBef>
            </a:pPr>
            <a:r>
              <a:rPr spc="-30" dirty="0">
                <a:latin typeface="Tahoma"/>
                <a:cs typeface="Tahoma"/>
              </a:rPr>
              <a:t>[</a:t>
            </a:r>
            <a:r>
              <a:rPr spc="-30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2025" spc="-45" baseline="29320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r>
              <a:rPr spc="-30" dirty="0">
                <a:solidFill>
                  <a:srgbClr val="C00000"/>
                </a:solidFill>
                <a:latin typeface="Cambria Math"/>
                <a:cs typeface="Cambria Math"/>
              </a:rPr>
              <a:t>;</a:t>
            </a:r>
            <a:r>
              <a:rPr spc="-94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>
                <a:solidFill>
                  <a:srgbClr val="7F6000"/>
                </a:solidFill>
                <a:latin typeface="Cambria Math"/>
                <a:cs typeface="Cambria Math"/>
              </a:rPr>
              <a:t>𝑐</a:t>
            </a:r>
            <a:r>
              <a:rPr sz="2025" baseline="29320" dirty="0">
                <a:solidFill>
                  <a:srgbClr val="7F6000"/>
                </a:solidFill>
                <a:latin typeface="Cambria Math"/>
                <a:cs typeface="Cambria Math"/>
              </a:rPr>
              <a:t>𝐷</a:t>
            </a:r>
            <a:r>
              <a:rPr dirty="0">
                <a:latin typeface="Tahoma"/>
                <a:cs typeface="Tahoma"/>
              </a:rPr>
              <a:t>]  </a:t>
            </a:r>
            <a:r>
              <a:rPr spc="-30" dirty="0">
                <a:latin typeface="Tahoma"/>
                <a:cs typeface="Tahoma"/>
              </a:rPr>
              <a:t>[</a:t>
            </a:r>
            <a:r>
              <a:rPr spc="-30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2025" spc="-45" baseline="29320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r>
              <a:rPr spc="-30" dirty="0">
                <a:solidFill>
                  <a:srgbClr val="C00000"/>
                </a:solidFill>
                <a:latin typeface="Cambria Math"/>
                <a:cs typeface="Cambria Math"/>
              </a:rPr>
              <a:t>;</a:t>
            </a:r>
            <a:r>
              <a:rPr spc="-94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>
                <a:solidFill>
                  <a:srgbClr val="7F6000"/>
                </a:solidFill>
                <a:latin typeface="Cambria Math"/>
                <a:cs typeface="Cambria Math"/>
              </a:rPr>
              <a:t>𝑐</a:t>
            </a:r>
            <a:r>
              <a:rPr sz="2025" baseline="29320" dirty="0">
                <a:solidFill>
                  <a:srgbClr val="7F6000"/>
                </a:solidFill>
                <a:latin typeface="Cambria Math"/>
                <a:cs typeface="Cambria Math"/>
              </a:rPr>
              <a:t>𝐷</a:t>
            </a:r>
            <a:r>
              <a:rPr dirty="0">
                <a:latin typeface="Tahoma"/>
                <a:cs typeface="Tahoma"/>
              </a:rPr>
              <a:t>]</a:t>
            </a:r>
            <a:r>
              <a:rPr spc="-41" dirty="0">
                <a:latin typeface="Tahoma"/>
                <a:cs typeface="Tahoma"/>
              </a:rPr>
              <a:t>  </a:t>
            </a:r>
            <a:r>
              <a:rPr spc="-30" dirty="0">
                <a:latin typeface="Tahoma"/>
                <a:cs typeface="Tahoma"/>
              </a:rPr>
              <a:t>[</a:t>
            </a:r>
            <a:r>
              <a:rPr spc="-30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2025" spc="-45" baseline="29320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r>
              <a:rPr spc="-30" dirty="0">
                <a:solidFill>
                  <a:srgbClr val="C00000"/>
                </a:solidFill>
                <a:latin typeface="Cambria Math"/>
                <a:cs typeface="Cambria Math"/>
              </a:rPr>
              <a:t>;</a:t>
            </a:r>
            <a:r>
              <a:rPr spc="-94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>
                <a:solidFill>
                  <a:srgbClr val="7F6000"/>
                </a:solidFill>
                <a:latin typeface="Cambria Math"/>
                <a:cs typeface="Cambria Math"/>
              </a:rPr>
              <a:t>𝑐</a:t>
            </a:r>
            <a:r>
              <a:rPr sz="2025" baseline="29320" dirty="0">
                <a:solidFill>
                  <a:srgbClr val="7F6000"/>
                </a:solidFill>
                <a:latin typeface="Cambria Math"/>
                <a:cs typeface="Cambria Math"/>
              </a:rPr>
              <a:t>𝐷</a:t>
            </a:r>
            <a:r>
              <a:rPr dirty="0">
                <a:latin typeface="Tahoma"/>
                <a:cs typeface="Tahoma"/>
              </a:rPr>
              <a:t>]</a:t>
            </a:r>
            <a:r>
              <a:rPr spc="-23" dirty="0">
                <a:latin typeface="Tahoma"/>
                <a:cs typeface="Tahoma"/>
              </a:rPr>
              <a:t> </a:t>
            </a:r>
            <a:r>
              <a:rPr spc="-30" dirty="0">
                <a:latin typeface="Tahoma"/>
                <a:cs typeface="Tahoma"/>
              </a:rPr>
              <a:t>[</a:t>
            </a:r>
            <a:r>
              <a:rPr spc="-30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2025" spc="-45" baseline="27777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r>
              <a:rPr spc="-30" dirty="0">
                <a:solidFill>
                  <a:srgbClr val="C00000"/>
                </a:solidFill>
                <a:latin typeface="Cambria Math"/>
                <a:cs typeface="Cambria Math"/>
              </a:rPr>
              <a:t>;</a:t>
            </a:r>
            <a:r>
              <a:rPr spc="-94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pc="-19" dirty="0">
                <a:solidFill>
                  <a:srgbClr val="7F6000"/>
                </a:solidFill>
                <a:latin typeface="Cambria Math"/>
                <a:cs typeface="Cambria Math"/>
              </a:rPr>
              <a:t>𝑐</a:t>
            </a:r>
            <a:r>
              <a:rPr sz="2025" spc="-28" baseline="27777" dirty="0">
                <a:solidFill>
                  <a:srgbClr val="7F6000"/>
                </a:solidFill>
                <a:latin typeface="Cambria Math"/>
                <a:cs typeface="Cambria Math"/>
              </a:rPr>
              <a:t>𝐷</a:t>
            </a:r>
            <a:r>
              <a:rPr spc="-19" dirty="0">
                <a:latin typeface="Tahoma"/>
                <a:cs typeface="Tahoma"/>
              </a:rPr>
              <a:t>]</a:t>
            </a:r>
            <a:endParaRPr>
              <a:latin typeface="Tahoma"/>
              <a:cs typeface="Tahoma"/>
            </a:endParaRPr>
          </a:p>
          <a:p>
            <a:pPr marL="219551">
              <a:lnSpc>
                <a:spcPts val="964"/>
              </a:lnSpc>
              <a:tabLst>
                <a:tab pos="553879" algn="l"/>
                <a:tab pos="1104424" algn="l"/>
                <a:tab pos="1438751" algn="l"/>
                <a:tab pos="1969294" algn="l"/>
                <a:tab pos="2304098" algn="l"/>
                <a:tab pos="2769870" algn="l"/>
                <a:tab pos="3104197" algn="l"/>
              </a:tabLst>
            </a:pP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sz="135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7F6000"/>
                </a:solidFill>
                <a:latin typeface="Cambria Math"/>
                <a:cs typeface="Cambria Math"/>
              </a:rPr>
              <a:t>1</a:t>
            </a:r>
            <a:r>
              <a:rPr sz="1350" dirty="0">
                <a:solidFill>
                  <a:srgbClr val="7F6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r>
              <a:rPr sz="135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7F6000"/>
                </a:solidFill>
                <a:latin typeface="Cambria Math"/>
                <a:cs typeface="Cambria Math"/>
              </a:rPr>
              <a:t>2</a:t>
            </a:r>
            <a:r>
              <a:rPr sz="1350" dirty="0">
                <a:solidFill>
                  <a:srgbClr val="7F6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3</a:t>
            </a:r>
            <a:r>
              <a:rPr sz="135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7F6000"/>
                </a:solidFill>
                <a:latin typeface="Cambria Math"/>
                <a:cs typeface="Cambria Math"/>
              </a:rPr>
              <a:t>3</a:t>
            </a:r>
            <a:r>
              <a:rPr sz="1350" dirty="0">
                <a:solidFill>
                  <a:srgbClr val="7F6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4</a:t>
            </a:r>
            <a:r>
              <a:rPr sz="135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7F6000"/>
                </a:solidFill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7698572" y="1806989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5"/>
                </a:lnTo>
                <a:lnTo>
                  <a:pt x="119316" y="229395"/>
                </a:lnTo>
                <a:lnTo>
                  <a:pt x="119316" y="567436"/>
                </a:lnTo>
                <a:lnTo>
                  <a:pt x="210167" y="567436"/>
                </a:lnTo>
                <a:lnTo>
                  <a:pt x="210167" y="229395"/>
                </a:lnTo>
                <a:lnTo>
                  <a:pt x="329483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 txBox="1"/>
          <p:nvPr/>
        </p:nvSpPr>
        <p:spPr>
          <a:xfrm>
            <a:off x="6748514" y="1186053"/>
            <a:ext cx="1243489" cy="54822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ts val="2141"/>
              </a:lnSpc>
              <a:spcBef>
                <a:spcPts val="75"/>
              </a:spcBef>
              <a:tabLst>
                <a:tab pos="1013936" algn="l"/>
              </a:tabLst>
            </a:pPr>
            <a:r>
              <a:rPr spc="-15" dirty="0">
                <a:solidFill>
                  <a:srgbClr val="C00000"/>
                </a:solidFill>
                <a:latin typeface="Tahoma"/>
                <a:cs typeface="Tahoma"/>
              </a:rPr>
              <a:t>brun</a:t>
            </a:r>
            <a:r>
              <a:rPr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pc="-38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endParaRPr>
              <a:latin typeface="Tahoma"/>
              <a:cs typeface="Tahoma"/>
            </a:endParaRPr>
          </a:p>
          <a:p>
            <a:pPr marL="189547">
              <a:lnSpc>
                <a:spcPts val="2141"/>
              </a:lnSpc>
              <a:tabLst>
                <a:tab pos="994886" algn="l"/>
              </a:tabLst>
            </a:pPr>
            <a:r>
              <a:rPr spc="-870" dirty="0">
                <a:latin typeface="Cambria Math"/>
                <a:cs typeface="Cambria Math"/>
              </a:rPr>
              <a:t>𝑦</a:t>
            </a:r>
            <a:r>
              <a:rPr spc="-124" dirty="0">
                <a:latin typeface="Cambria Math"/>
                <a:cs typeface="Cambria Math"/>
              </a:rPr>
              <a:t>4</a:t>
            </a:r>
            <a:r>
              <a:rPr sz="2025" spc="-146" baseline="-15432" dirty="0">
                <a:latin typeface="Cambria Math"/>
                <a:cs typeface="Cambria Math"/>
              </a:rPr>
              <a:t>3</a:t>
            </a:r>
            <a:r>
              <a:rPr sz="2025" baseline="-15432" dirty="0">
                <a:latin typeface="Cambria Math"/>
                <a:cs typeface="Cambria Math"/>
              </a:rPr>
              <a:t>	</a:t>
            </a:r>
            <a:r>
              <a:rPr spc="-859" dirty="0">
                <a:latin typeface="Cambria Math"/>
                <a:cs typeface="Cambria Math"/>
              </a:rPr>
              <a:t>𝑦</a:t>
            </a:r>
            <a:r>
              <a:rPr spc="-221" dirty="0">
                <a:latin typeface="Cambria Math"/>
                <a:cs typeface="Cambria Math"/>
              </a:rPr>
              <a:t>4</a:t>
            </a:r>
            <a:r>
              <a:rPr sz="2025" spc="-129" baseline="-15432" dirty="0">
                <a:latin typeface="Cambria Math"/>
                <a:cs typeface="Cambria Math"/>
              </a:rPr>
              <a:t>4</a:t>
            </a:r>
            <a:endParaRPr sz="2025" baseline="-15432">
              <a:latin typeface="Cambria Math"/>
              <a:cs typeface="Cambria Math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7679616" y="3789459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5"/>
                </a:lnTo>
                <a:lnTo>
                  <a:pt x="119316" y="229395"/>
                </a:lnTo>
                <a:lnTo>
                  <a:pt x="119316" y="567436"/>
                </a:lnTo>
                <a:lnTo>
                  <a:pt x="210167" y="567436"/>
                </a:lnTo>
                <a:lnTo>
                  <a:pt x="210167" y="229395"/>
                </a:lnTo>
                <a:lnTo>
                  <a:pt x="329483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7173649" y="3069204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90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5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 txBox="1"/>
          <p:nvPr/>
        </p:nvSpPr>
        <p:spPr>
          <a:xfrm>
            <a:off x="527224" y="4238985"/>
            <a:ext cx="82534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dirty="0">
                <a:solidFill>
                  <a:srgbClr val="262626"/>
                </a:solidFill>
                <a:latin typeface="Tahoma"/>
                <a:cs typeface="Tahoma"/>
              </a:rPr>
              <a:t>Input</a:t>
            </a:r>
            <a:r>
              <a:rPr sz="1313" spc="-64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8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1632730" y="4247008"/>
            <a:ext cx="40481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2352676" y="4247008"/>
            <a:ext cx="65436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240736" y="4258437"/>
            <a:ext cx="433864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4128790" y="4267582"/>
            <a:ext cx="34194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5026920" y="4269867"/>
            <a:ext cx="42148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75" dirty="0">
                <a:latin typeface="Tahoma"/>
                <a:cs typeface="Tahoma"/>
              </a:rPr>
              <a:t>&lt;s&gt;</a:t>
            </a:r>
            <a:endParaRPr>
              <a:latin typeface="Tahoma"/>
              <a:cs typeface="Tahoma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5986930" y="4269867"/>
            <a:ext cx="260509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Le</a:t>
            </a:r>
            <a:endParaRPr>
              <a:latin typeface="Tahoma"/>
              <a:cs typeface="Tahoma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6643834" y="4272153"/>
            <a:ext cx="565309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8" dirty="0">
                <a:latin typeface="Tahoma"/>
                <a:cs typeface="Tahoma"/>
              </a:rPr>
              <a:t>chien</a:t>
            </a:r>
            <a:endParaRPr>
              <a:latin typeface="Tahoma"/>
              <a:cs typeface="Tahoma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7482299" y="4272153"/>
            <a:ext cx="489109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5" dirty="0">
                <a:latin typeface="Tahoma"/>
                <a:cs typeface="Tahoma"/>
              </a:rPr>
              <a:t>brun</a:t>
            </a:r>
            <a:endParaRPr>
              <a:latin typeface="Tahoma"/>
              <a:cs typeface="Tahoma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6228067" y="4533625"/>
            <a:ext cx="1396841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101" dirty="0">
                <a:solidFill>
                  <a:srgbClr val="7030A0"/>
                </a:solidFill>
                <a:latin typeface="Tahoma"/>
                <a:cs typeface="Tahoma"/>
              </a:rPr>
              <a:t>DECODER</a:t>
            </a:r>
            <a:r>
              <a:rPr sz="1463" spc="-41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>
              <a:latin typeface="Tahoma"/>
              <a:cs typeface="Tahoma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2079985" y="4536586"/>
            <a:ext cx="1403509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113" dirty="0">
                <a:solidFill>
                  <a:srgbClr val="7030A0"/>
                </a:solidFill>
                <a:latin typeface="Tahoma"/>
                <a:cs typeface="Tahoma"/>
              </a:rPr>
              <a:t>ENCODER</a:t>
            </a:r>
            <a:r>
              <a:rPr sz="1463" spc="-60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7854" y="578611"/>
            <a:ext cx="4856321" cy="98108"/>
          </a:xfrm>
          <a:custGeom>
            <a:avLst/>
            <a:gdLst/>
            <a:ahLst/>
            <a:cxnLst/>
            <a:rect l="l" t="t" r="r" b="b"/>
            <a:pathLst>
              <a:path w="6475095" h="130809">
                <a:moveTo>
                  <a:pt x="6474895" y="0"/>
                </a:moveTo>
                <a:lnTo>
                  <a:pt x="0" y="0"/>
                </a:lnTo>
                <a:lnTo>
                  <a:pt x="0" y="130218"/>
                </a:lnTo>
                <a:lnTo>
                  <a:pt x="6474895" y="130218"/>
                </a:lnTo>
                <a:lnTo>
                  <a:pt x="647489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34" dirty="0"/>
              <a:t>seq2seq</a:t>
            </a:r>
            <a:r>
              <a:rPr spc="-68" dirty="0"/>
              <a:t> </a:t>
            </a:r>
            <a:r>
              <a:rPr spc="-143" dirty="0"/>
              <a:t>+</a:t>
            </a:r>
            <a:r>
              <a:rPr spc="-68" dirty="0"/>
              <a:t> </a:t>
            </a:r>
            <a:r>
              <a:rPr spc="-8" dirty="0"/>
              <a:t>Attention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6450" y="2988543"/>
            <a:ext cx="99298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spc="60" dirty="0">
                <a:solidFill>
                  <a:srgbClr val="262626"/>
                </a:solidFill>
                <a:latin typeface="Tahoma"/>
                <a:cs typeface="Tahoma"/>
              </a:rPr>
              <a:t>Hidden</a:t>
            </a:r>
            <a:r>
              <a:rPr sz="1313" spc="-41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15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50551" y="2662962"/>
            <a:ext cx="262414" cy="1052036"/>
            <a:chOff x="2334067" y="3550615"/>
            <a:chExt cx="349885" cy="1402715"/>
          </a:xfrm>
        </p:grpSpPr>
        <p:sp>
          <p:nvSpPr>
            <p:cNvPr id="6" name="object 6"/>
            <p:cNvSpPr/>
            <p:nvPr/>
          </p:nvSpPr>
          <p:spPr>
            <a:xfrm>
              <a:off x="235311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6859" y="4636615"/>
              <a:ext cx="222250" cy="222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390355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4144096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6859" y="3892228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914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75721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7115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2" y="0"/>
                </a:moveTo>
                <a:lnTo>
                  <a:pt x="338042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2" y="210167"/>
                </a:lnTo>
                <a:lnTo>
                  <a:pt x="338042" y="329483"/>
                </a:lnTo>
                <a:lnTo>
                  <a:pt x="567437" y="164741"/>
                </a:lnTo>
                <a:lnTo>
                  <a:pt x="33804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2562171" y="2662962"/>
            <a:ext cx="262414" cy="1052036"/>
            <a:chOff x="3416227" y="3550615"/>
            <a:chExt cx="349885" cy="1402715"/>
          </a:xfrm>
        </p:grpSpPr>
        <p:sp>
          <p:nvSpPr>
            <p:cNvPr id="15" name="object 15"/>
            <p:cNvSpPr/>
            <p:nvPr/>
          </p:nvSpPr>
          <p:spPr>
            <a:xfrm>
              <a:off x="3435277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9021" y="4636615"/>
              <a:ext cx="222250" cy="2222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390355"/>
              <a:ext cx="222250" cy="2222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4144096"/>
              <a:ext cx="222250" cy="2222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9021" y="3892228"/>
              <a:ext cx="222250" cy="2222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130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2568838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0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82777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3353240" y="2662962"/>
            <a:ext cx="262414" cy="1052036"/>
            <a:chOff x="4470986" y="3550615"/>
            <a:chExt cx="349885" cy="1402715"/>
          </a:xfrm>
        </p:grpSpPr>
        <p:sp>
          <p:nvSpPr>
            <p:cNvPr id="24" name="object 24"/>
            <p:cNvSpPr/>
            <p:nvPr/>
          </p:nvSpPr>
          <p:spPr>
            <a:xfrm>
              <a:off x="4490036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3779" y="4636615"/>
              <a:ext cx="222250" cy="2222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390355"/>
              <a:ext cx="222250" cy="2222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4144096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779" y="3892228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6064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3359907" y="378961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673846" y="3055662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89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6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4169424" y="2662962"/>
            <a:ext cx="262414" cy="1052036"/>
            <a:chOff x="5559231" y="3550615"/>
            <a:chExt cx="349885" cy="1402715"/>
          </a:xfrm>
        </p:grpSpPr>
        <p:sp>
          <p:nvSpPr>
            <p:cNvPr id="33" name="object 33"/>
            <p:cNvSpPr/>
            <p:nvPr/>
          </p:nvSpPr>
          <p:spPr>
            <a:xfrm>
              <a:off x="5578281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2024" y="4636613"/>
              <a:ext cx="222250" cy="22225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390354"/>
              <a:ext cx="222250" cy="2222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4144096"/>
              <a:ext cx="222250" cy="22225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2024" y="3892227"/>
              <a:ext cx="222250" cy="22225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430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39" name="object 39"/>
          <p:cNvSpPr/>
          <p:nvPr/>
        </p:nvSpPr>
        <p:spPr>
          <a:xfrm>
            <a:off x="4176090" y="378961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881073" y="241134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39911" y="2214753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1990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666049" y="2290191"/>
            <a:ext cx="12906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350149" y="2322195"/>
            <a:ext cx="283845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pc="-19" dirty="0">
                <a:latin typeface="Cambria Math"/>
                <a:cs typeface="Cambria Math"/>
              </a:rPr>
              <a:t>ℎ</a:t>
            </a:r>
            <a:r>
              <a:rPr sz="2025" spc="-28" baseline="-16975" dirty="0">
                <a:latin typeface="Cambria Math"/>
                <a:cs typeface="Cambria Math"/>
              </a:rPr>
              <a:t>3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00502" y="2290191"/>
            <a:ext cx="12906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305232" y="242049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158784" y="2226184"/>
            <a:ext cx="29813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ℎ</a:t>
            </a:r>
            <a:r>
              <a:rPr sz="1350" spc="-19" dirty="0">
                <a:latin typeface="Cambria Math"/>
                <a:cs typeface="Cambria Math"/>
              </a:rPr>
              <a:t>𝐸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127729" y="2662962"/>
            <a:ext cx="262414" cy="1052036"/>
            <a:chOff x="6836972" y="3550615"/>
            <a:chExt cx="349885" cy="1402715"/>
          </a:xfrm>
        </p:grpSpPr>
        <p:sp>
          <p:nvSpPr>
            <p:cNvPr id="48" name="object 48"/>
            <p:cNvSpPr/>
            <p:nvPr/>
          </p:nvSpPr>
          <p:spPr>
            <a:xfrm>
              <a:off x="6856022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9765" y="4636613"/>
              <a:ext cx="222250" cy="22225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390354"/>
              <a:ext cx="222250" cy="22225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4144096"/>
              <a:ext cx="222250" cy="22225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9765" y="3892227"/>
              <a:ext cx="222250" cy="22225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02048" y="3634230"/>
              <a:ext cx="222250" cy="222250"/>
            </a:xfrm>
            <a:prstGeom prst="rect">
              <a:avLst/>
            </a:prstGeom>
          </p:spPr>
        </p:pic>
      </p:grpSp>
      <p:sp>
        <p:nvSpPr>
          <p:cNvPr id="54" name="object 54"/>
          <p:cNvSpPr/>
          <p:nvPr/>
        </p:nvSpPr>
        <p:spPr>
          <a:xfrm>
            <a:off x="2504882" y="1590992"/>
            <a:ext cx="1768793" cy="758189"/>
          </a:xfrm>
          <a:custGeom>
            <a:avLst/>
            <a:gdLst/>
            <a:ahLst/>
            <a:cxnLst/>
            <a:rect l="l" t="t" r="r" b="b"/>
            <a:pathLst>
              <a:path w="2358390" h="1010919">
                <a:moveTo>
                  <a:pt x="162662" y="0"/>
                </a:moveTo>
                <a:lnTo>
                  <a:pt x="0" y="39805"/>
                </a:lnTo>
                <a:lnTo>
                  <a:pt x="89684" y="181227"/>
                </a:lnTo>
                <a:lnTo>
                  <a:pt x="116112" y="115600"/>
                </a:lnTo>
                <a:lnTo>
                  <a:pt x="2338082" y="1010351"/>
                </a:lnTo>
                <a:lnTo>
                  <a:pt x="2358205" y="960377"/>
                </a:lnTo>
                <a:lnTo>
                  <a:pt x="136235" y="65627"/>
                </a:lnTo>
                <a:lnTo>
                  <a:pt x="162662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2453212" y="1122045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solidFill>
                  <a:srgbClr val="7F6000"/>
                </a:solidFill>
                <a:latin typeface="Cambria Math"/>
                <a:cs typeface="Cambria Math"/>
              </a:rPr>
              <a:t>5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334959" y="920877"/>
            <a:ext cx="29622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50" baseline="-21990" dirty="0">
                <a:solidFill>
                  <a:srgbClr val="7F6000"/>
                </a:solidFill>
                <a:latin typeface="Cambria Math"/>
                <a:cs typeface="Cambria Math"/>
              </a:rPr>
              <a:t>𝑐</a:t>
            </a:r>
            <a:r>
              <a:rPr sz="1350" spc="34" dirty="0">
                <a:solidFill>
                  <a:srgbClr val="7F6000"/>
                </a:solidFill>
                <a:latin typeface="Cambria Math"/>
                <a:cs typeface="Cambria Math"/>
              </a:rPr>
              <a:t>𝐷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819144" y="1644867"/>
            <a:ext cx="395288" cy="680085"/>
          </a:xfrm>
          <a:custGeom>
            <a:avLst/>
            <a:gdLst/>
            <a:ahLst/>
            <a:cxnLst/>
            <a:rect l="l" t="t" r="r" b="b"/>
            <a:pathLst>
              <a:path w="527050" h="906780">
                <a:moveTo>
                  <a:pt x="509428" y="0"/>
                </a:moveTo>
                <a:lnTo>
                  <a:pt x="381872" y="61259"/>
                </a:lnTo>
                <a:lnTo>
                  <a:pt x="434328" y="89933"/>
                </a:lnTo>
                <a:lnTo>
                  <a:pt x="0" y="884485"/>
                </a:lnTo>
                <a:lnTo>
                  <a:pt x="39941" y="906318"/>
                </a:lnTo>
                <a:lnTo>
                  <a:pt x="474270" y="111767"/>
                </a:lnTo>
                <a:lnTo>
                  <a:pt x="526726" y="140441"/>
                </a:lnTo>
                <a:lnTo>
                  <a:pt x="509428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352676" y="1645224"/>
            <a:ext cx="1168241" cy="655320"/>
          </a:xfrm>
          <a:custGeom>
            <a:avLst/>
            <a:gdLst/>
            <a:ahLst/>
            <a:cxnLst/>
            <a:rect l="l" t="t" r="r" b="b"/>
            <a:pathLst>
              <a:path w="1557654" h="873760">
                <a:moveTo>
                  <a:pt x="430263" y="853313"/>
                </a:moveTo>
                <a:lnTo>
                  <a:pt x="102476" y="129374"/>
                </a:lnTo>
                <a:lnTo>
                  <a:pt x="160667" y="103022"/>
                </a:lnTo>
                <a:lnTo>
                  <a:pt x="29679" y="27546"/>
                </a:lnTo>
                <a:lnTo>
                  <a:pt x="0" y="175768"/>
                </a:lnTo>
                <a:lnTo>
                  <a:pt x="58178" y="149428"/>
                </a:lnTo>
                <a:lnTo>
                  <a:pt x="385965" y="873366"/>
                </a:lnTo>
                <a:lnTo>
                  <a:pt x="430263" y="853313"/>
                </a:lnTo>
                <a:close/>
              </a:path>
              <a:path w="1557654" h="873760">
                <a:moveTo>
                  <a:pt x="1557451" y="793902"/>
                </a:moveTo>
                <a:lnTo>
                  <a:pt x="293116" y="59613"/>
                </a:lnTo>
                <a:lnTo>
                  <a:pt x="327736" y="0"/>
                </a:lnTo>
                <a:lnTo>
                  <a:pt x="165315" y="15735"/>
                </a:lnTo>
                <a:lnTo>
                  <a:pt x="232130" y="164617"/>
                </a:lnTo>
                <a:lnTo>
                  <a:pt x="266750" y="105003"/>
                </a:lnTo>
                <a:lnTo>
                  <a:pt x="1531086" y="839292"/>
                </a:lnTo>
                <a:lnTo>
                  <a:pt x="1557451" y="793902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1874740" y="1844421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733579" y="1645540"/>
            <a:ext cx="28956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1990" dirty="0">
                <a:latin typeface="Cambria Math"/>
                <a:cs typeface="Cambria Math"/>
              </a:rPr>
              <a:t>𝑎</a:t>
            </a:r>
            <a:r>
              <a:rPr sz="1350" spc="-19" dirty="0">
                <a:latin typeface="Cambria Math"/>
                <a:cs typeface="Cambria Math"/>
              </a:rPr>
              <a:t>5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211341" y="1848993"/>
            <a:ext cx="283845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pc="-19" dirty="0">
                <a:latin typeface="Cambria Math"/>
                <a:cs typeface="Cambria Math"/>
              </a:rPr>
              <a:t>𝑎</a:t>
            </a:r>
            <a:r>
              <a:rPr sz="2025" spc="-28" baseline="-16975" dirty="0">
                <a:latin typeface="Cambria Math"/>
                <a:cs typeface="Cambria Math"/>
              </a:rPr>
              <a:t>2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363360" y="181698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5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515697" y="1789557"/>
            <a:ext cx="476250" cy="82009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20504">
              <a:spcBef>
                <a:spcPts val="75"/>
              </a:spcBef>
            </a:pPr>
            <a:r>
              <a:rPr spc="-19" dirty="0">
                <a:latin typeface="Cambria Math"/>
                <a:cs typeface="Cambria Math"/>
              </a:rPr>
              <a:t>𝑎</a:t>
            </a:r>
            <a:r>
              <a:rPr sz="2025" spc="-28" baseline="-16975" dirty="0">
                <a:latin typeface="Cambria Math"/>
                <a:cs typeface="Cambria Math"/>
              </a:rPr>
              <a:t>3</a:t>
            </a:r>
            <a:endParaRPr sz="2025" baseline="-16975">
              <a:latin typeface="Cambria Math"/>
              <a:cs typeface="Cambria Math"/>
            </a:endParaRPr>
          </a:p>
          <a:p>
            <a:pPr marL="28575">
              <a:spcBef>
                <a:spcPts val="2033"/>
              </a:spcBef>
            </a:pPr>
            <a:r>
              <a:rPr spc="-19" dirty="0">
                <a:latin typeface="Cambria Math"/>
                <a:cs typeface="Cambria Math"/>
              </a:rPr>
              <a:t>ℎ</a:t>
            </a:r>
            <a:r>
              <a:rPr sz="2025" spc="-28" baseline="-16975" dirty="0">
                <a:latin typeface="Cambria Math"/>
                <a:cs typeface="Cambria Math"/>
              </a:rPr>
              <a:t>2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860039" y="175755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5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491189" y="1816989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344741" y="1620393"/>
            <a:ext cx="28956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𝑎</a:t>
            </a:r>
            <a:r>
              <a:rPr sz="1350" spc="-19" dirty="0">
                <a:latin typeface="Cambria Math"/>
                <a:cs typeface="Cambria Math"/>
              </a:rPr>
              <a:t>5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899901" y="1342766"/>
            <a:ext cx="1052036" cy="262414"/>
            <a:chOff x="2533200" y="1790354"/>
            <a:chExt cx="1402715" cy="349885"/>
          </a:xfrm>
        </p:grpSpPr>
        <p:sp>
          <p:nvSpPr>
            <p:cNvPr id="68" name="object 68"/>
            <p:cNvSpPr/>
            <p:nvPr/>
          </p:nvSpPr>
          <p:spPr>
            <a:xfrm>
              <a:off x="2552250" y="1809404"/>
              <a:ext cx="1364615" cy="311785"/>
            </a:xfrm>
            <a:custGeom>
              <a:avLst/>
              <a:gdLst/>
              <a:ahLst/>
              <a:cxnLst/>
              <a:rect l="l" t="t" r="r" b="b"/>
              <a:pathLst>
                <a:path w="1364614" h="311785">
                  <a:moveTo>
                    <a:pt x="0" y="51895"/>
                  </a:move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1312329" y="0"/>
                  </a:lnTo>
                  <a:lnTo>
                    <a:pt x="1332528" y="4078"/>
                  </a:lnTo>
                  <a:lnTo>
                    <a:pt x="1349024" y="15199"/>
                  </a:lnTo>
                  <a:lnTo>
                    <a:pt x="1360145" y="31695"/>
                  </a:lnTo>
                  <a:lnTo>
                    <a:pt x="1364224" y="51895"/>
                  </a:lnTo>
                  <a:lnTo>
                    <a:pt x="1364224" y="259473"/>
                  </a:lnTo>
                  <a:lnTo>
                    <a:pt x="1360145" y="279673"/>
                  </a:lnTo>
                  <a:lnTo>
                    <a:pt x="1349024" y="296169"/>
                  </a:lnTo>
                  <a:lnTo>
                    <a:pt x="1332528" y="307290"/>
                  </a:lnTo>
                  <a:lnTo>
                    <a:pt x="1312329" y="311369"/>
                  </a:lnTo>
                  <a:lnTo>
                    <a:pt x="51895" y="311369"/>
                  </a:lnTo>
                  <a:lnTo>
                    <a:pt x="31695" y="307290"/>
                  </a:lnTo>
                  <a:lnTo>
                    <a:pt x="15199" y="296169"/>
                  </a:lnTo>
                  <a:lnTo>
                    <a:pt x="4078" y="279673"/>
                  </a:lnTo>
                  <a:lnTo>
                    <a:pt x="0" y="259473"/>
                  </a:lnTo>
                  <a:lnTo>
                    <a:pt x="0" y="51895"/>
                  </a:lnTo>
                  <a:close/>
                </a:path>
              </a:pathLst>
            </a:custGeom>
            <a:ln w="38100">
              <a:solidFill>
                <a:srgbClr val="BF9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27274" y="1853145"/>
              <a:ext cx="222250" cy="22225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73533" y="1853145"/>
              <a:ext cx="222250" cy="22225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19793" y="1853145"/>
              <a:ext cx="222250" cy="22225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71662" y="1853145"/>
              <a:ext cx="222250" cy="22225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29657" y="1855429"/>
              <a:ext cx="222250" cy="222250"/>
            </a:xfrm>
            <a:prstGeom prst="rect">
              <a:avLst/>
            </a:prstGeom>
          </p:spPr>
        </p:pic>
      </p:grpSp>
      <p:sp>
        <p:nvSpPr>
          <p:cNvPr id="74" name="object 74"/>
          <p:cNvSpPr txBox="1"/>
          <p:nvPr/>
        </p:nvSpPr>
        <p:spPr>
          <a:xfrm>
            <a:off x="3741173" y="860298"/>
            <a:ext cx="69533" cy="18274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125" spc="-38" dirty="0">
                <a:solidFill>
                  <a:srgbClr val="C00000"/>
                </a:solidFill>
                <a:latin typeface="Cambria Math"/>
                <a:cs typeface="Cambria Math"/>
              </a:rPr>
              <a:t>𝑖</a:t>
            </a:r>
            <a:endParaRPr sz="1125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01114" y="753236"/>
            <a:ext cx="7673340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194" spc="78" baseline="1424" dirty="0">
                <a:solidFill>
                  <a:srgbClr val="C00000"/>
                </a:solidFill>
                <a:latin typeface="Tahoma"/>
                <a:cs typeface="Tahoma"/>
              </a:rPr>
              <a:t>REMEMBER:</a:t>
            </a:r>
            <a:r>
              <a:rPr sz="2194" spc="-17" baseline="142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each</a:t>
            </a:r>
            <a:r>
              <a:rPr sz="2194" spc="-11" baseline="1424" dirty="0"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attention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weight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1500" spc="146" dirty="0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r>
              <a:rPr sz="1688" spc="219" baseline="38888" dirty="0">
                <a:solidFill>
                  <a:srgbClr val="C00000"/>
                </a:solidFill>
                <a:latin typeface="Cambria Math"/>
                <a:cs typeface="Cambria Math"/>
              </a:rPr>
              <a:t>j</a:t>
            </a:r>
            <a:r>
              <a:rPr sz="1688" spc="439" baseline="38888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194" baseline="1424" dirty="0">
                <a:latin typeface="Tahoma"/>
                <a:cs typeface="Tahoma"/>
              </a:rPr>
              <a:t>is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2194" spc="73" baseline="1424" dirty="0">
                <a:latin typeface="Tahoma"/>
                <a:cs typeface="Tahoma"/>
              </a:rPr>
              <a:t>based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2194" spc="73" baseline="1424" dirty="0">
                <a:latin typeface="Tahoma"/>
                <a:cs typeface="Tahoma"/>
              </a:rPr>
              <a:t>on</a:t>
            </a:r>
            <a:r>
              <a:rPr sz="2194" spc="-11" baseline="1424" dirty="0"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the</a:t>
            </a:r>
            <a:r>
              <a:rPr sz="2194" spc="-17" baseline="1424" dirty="0">
                <a:latin typeface="Tahoma"/>
                <a:cs typeface="Tahoma"/>
              </a:rPr>
              <a:t> </a:t>
            </a:r>
            <a:r>
              <a:rPr sz="2194" spc="50" baseline="1424" dirty="0">
                <a:solidFill>
                  <a:srgbClr val="C00000"/>
                </a:solidFill>
                <a:latin typeface="Tahoma"/>
                <a:cs typeface="Tahoma"/>
              </a:rPr>
              <a:t>decoder’s</a:t>
            </a:r>
            <a:r>
              <a:rPr sz="2194" spc="-17" baseline="142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current</a:t>
            </a:r>
            <a:r>
              <a:rPr sz="2194" spc="-23" baseline="1424" dirty="0">
                <a:latin typeface="Tahoma"/>
                <a:cs typeface="Tahoma"/>
              </a:rPr>
              <a:t> </a:t>
            </a:r>
            <a:r>
              <a:rPr sz="2194" spc="78" baseline="1424" dirty="0">
                <a:latin typeface="Tahoma"/>
                <a:cs typeface="Tahoma"/>
              </a:rPr>
              <a:t>hidden</a:t>
            </a:r>
            <a:r>
              <a:rPr sz="2194" spc="-11" baseline="1424" dirty="0">
                <a:latin typeface="Tahoma"/>
                <a:cs typeface="Tahoma"/>
              </a:rPr>
              <a:t> </a:t>
            </a:r>
            <a:r>
              <a:rPr sz="2194" baseline="1424" dirty="0">
                <a:latin typeface="Tahoma"/>
                <a:cs typeface="Tahoma"/>
              </a:rPr>
              <a:t>state,</a:t>
            </a:r>
            <a:r>
              <a:rPr sz="2194" spc="-11" baseline="1424" dirty="0">
                <a:latin typeface="Tahoma"/>
                <a:cs typeface="Tahoma"/>
              </a:rPr>
              <a:t> </a:t>
            </a:r>
            <a:r>
              <a:rPr sz="2194" spc="-23" baseline="1424" dirty="0">
                <a:latin typeface="Tahoma"/>
                <a:cs typeface="Tahoma"/>
              </a:rPr>
              <a:t>too.</a:t>
            </a:r>
            <a:endParaRPr sz="2194" baseline="1424">
              <a:latin typeface="Tahoma"/>
              <a:cs typeface="Tahoma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5153566" y="180699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134611" y="378946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8" name="object 78"/>
          <p:cNvGrpSpPr/>
          <p:nvPr/>
        </p:nvGrpSpPr>
        <p:grpSpPr>
          <a:xfrm>
            <a:off x="6007373" y="2662962"/>
            <a:ext cx="262414" cy="1052036"/>
            <a:chOff x="8009830" y="3550615"/>
            <a:chExt cx="349885" cy="1402715"/>
          </a:xfrm>
        </p:grpSpPr>
        <p:sp>
          <p:nvSpPr>
            <p:cNvPr id="79" name="object 79"/>
            <p:cNvSpPr/>
            <p:nvPr/>
          </p:nvSpPr>
          <p:spPr>
            <a:xfrm>
              <a:off x="8028880" y="35696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72623" y="4636615"/>
              <a:ext cx="222250" cy="22225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72623" y="4390355"/>
              <a:ext cx="222250" cy="22225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72623" y="4144096"/>
              <a:ext cx="222250" cy="22225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72623" y="3892228"/>
              <a:ext cx="222250" cy="22225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74907" y="3634232"/>
              <a:ext cx="222250" cy="222250"/>
            </a:xfrm>
            <a:prstGeom prst="rect">
              <a:avLst/>
            </a:prstGeom>
          </p:spPr>
        </p:pic>
      </p:grpSp>
      <p:sp>
        <p:nvSpPr>
          <p:cNvPr id="85" name="object 85"/>
          <p:cNvSpPr/>
          <p:nvPr/>
        </p:nvSpPr>
        <p:spPr>
          <a:xfrm>
            <a:off x="6033210" y="180699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5130324" y="1186053"/>
            <a:ext cx="1337786" cy="54822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ts val="2141"/>
              </a:lnSpc>
              <a:spcBef>
                <a:spcPts val="75"/>
              </a:spcBef>
              <a:tabLst>
                <a:tab pos="752951" algn="l"/>
              </a:tabLst>
            </a:pPr>
            <a:r>
              <a:rPr spc="-19" dirty="0">
                <a:solidFill>
                  <a:srgbClr val="C00000"/>
                </a:solidFill>
                <a:latin typeface="Tahoma"/>
                <a:cs typeface="Tahoma"/>
              </a:rPr>
              <a:t>Le</a:t>
            </a:r>
            <a:r>
              <a:rPr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pc="-8" dirty="0">
                <a:solidFill>
                  <a:srgbClr val="C00000"/>
                </a:solidFill>
                <a:latin typeface="Tahoma"/>
                <a:cs typeface="Tahoma"/>
              </a:rPr>
              <a:t>chien</a:t>
            </a:r>
            <a:endParaRPr>
              <a:latin typeface="Tahoma"/>
              <a:cs typeface="Tahoma"/>
            </a:endParaRPr>
          </a:p>
          <a:p>
            <a:pPr marL="65723">
              <a:lnSpc>
                <a:spcPts val="2141"/>
              </a:lnSpc>
              <a:tabLst>
                <a:tab pos="942975" algn="l"/>
              </a:tabLst>
            </a:pPr>
            <a:r>
              <a:rPr spc="-866" dirty="0">
                <a:latin typeface="Cambria Math"/>
                <a:cs typeface="Cambria Math"/>
              </a:rPr>
              <a:t>𝑦</a:t>
            </a:r>
            <a:r>
              <a:rPr spc="-176" dirty="0">
                <a:latin typeface="Cambria Math"/>
                <a:cs typeface="Cambria Math"/>
              </a:rPr>
              <a:t>4</a:t>
            </a:r>
            <a:r>
              <a:rPr sz="2025" spc="-140" baseline="-15432" dirty="0">
                <a:latin typeface="Cambria Math"/>
                <a:cs typeface="Cambria Math"/>
              </a:rPr>
              <a:t>1</a:t>
            </a:r>
            <a:r>
              <a:rPr sz="2025" baseline="-15432" dirty="0">
                <a:latin typeface="Cambria Math"/>
                <a:cs typeface="Cambria Math"/>
              </a:rPr>
              <a:t>	</a:t>
            </a:r>
            <a:r>
              <a:rPr spc="-870" dirty="0">
                <a:latin typeface="Cambria Math"/>
                <a:cs typeface="Cambria Math"/>
              </a:rPr>
              <a:t>𝑦</a:t>
            </a:r>
            <a:r>
              <a:rPr spc="-124" dirty="0">
                <a:latin typeface="Cambria Math"/>
                <a:cs typeface="Cambria Math"/>
              </a:rPr>
              <a:t>4</a:t>
            </a:r>
            <a:r>
              <a:rPr sz="2025" spc="-146" baseline="-15432" dirty="0">
                <a:latin typeface="Cambria Math"/>
                <a:cs typeface="Cambria Math"/>
              </a:rPr>
              <a:t>2</a:t>
            </a:r>
            <a:endParaRPr sz="2025" baseline="-15432">
              <a:latin typeface="Cambria Math"/>
              <a:cs typeface="Cambria Math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6014254" y="3789460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508286" y="3069207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90" h="329564">
                <a:moveTo>
                  <a:pt x="338040" y="0"/>
                </a:moveTo>
                <a:lnTo>
                  <a:pt x="338040" y="119315"/>
                </a:lnTo>
                <a:lnTo>
                  <a:pt x="0" y="119315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2"/>
                </a:lnTo>
                <a:lnTo>
                  <a:pt x="567437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9" name="object 89"/>
          <p:cNvGrpSpPr/>
          <p:nvPr/>
        </p:nvGrpSpPr>
        <p:grpSpPr>
          <a:xfrm>
            <a:off x="6872370" y="2662960"/>
            <a:ext cx="262414" cy="1052036"/>
            <a:chOff x="9163159" y="3550613"/>
            <a:chExt cx="349885" cy="1402715"/>
          </a:xfrm>
        </p:grpSpPr>
        <p:sp>
          <p:nvSpPr>
            <p:cNvPr id="90" name="object 90"/>
            <p:cNvSpPr/>
            <p:nvPr/>
          </p:nvSpPr>
          <p:spPr>
            <a:xfrm>
              <a:off x="9182209" y="3569663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25951" y="4636612"/>
              <a:ext cx="222250" cy="22225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5951" y="4390354"/>
              <a:ext cx="222250" cy="22225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5951" y="4144095"/>
              <a:ext cx="222250" cy="22225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5951" y="3892226"/>
              <a:ext cx="222250" cy="22225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8235" y="3634229"/>
              <a:ext cx="222250" cy="222250"/>
            </a:xfrm>
            <a:prstGeom prst="rect">
              <a:avLst/>
            </a:prstGeom>
          </p:spPr>
        </p:pic>
      </p:grpSp>
      <p:sp>
        <p:nvSpPr>
          <p:cNvPr id="96" name="object 96"/>
          <p:cNvSpPr/>
          <p:nvPr/>
        </p:nvSpPr>
        <p:spPr>
          <a:xfrm>
            <a:off x="6898206" y="1806989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6" y="229396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3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6758039" y="1186053"/>
            <a:ext cx="527209" cy="54822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2141"/>
              </a:lnSpc>
              <a:spcBef>
                <a:spcPts val="75"/>
              </a:spcBef>
            </a:pPr>
            <a:r>
              <a:rPr spc="-15" dirty="0">
                <a:solidFill>
                  <a:srgbClr val="C00000"/>
                </a:solidFill>
                <a:latin typeface="Tahoma"/>
                <a:cs typeface="Tahoma"/>
              </a:rPr>
              <a:t>brun</a:t>
            </a:r>
            <a:endParaRPr>
              <a:latin typeface="Tahoma"/>
              <a:cs typeface="Tahoma"/>
            </a:endParaRPr>
          </a:p>
          <a:p>
            <a:pPr marL="53340" algn="ctr">
              <a:lnSpc>
                <a:spcPts val="2141"/>
              </a:lnSpc>
            </a:pPr>
            <a:r>
              <a:rPr spc="-870" dirty="0">
                <a:latin typeface="Cambria Math"/>
                <a:cs typeface="Cambria Math"/>
              </a:rPr>
              <a:t>𝑦</a:t>
            </a:r>
            <a:r>
              <a:rPr spc="-124" dirty="0">
                <a:latin typeface="Cambria Math"/>
                <a:cs typeface="Cambria Math"/>
              </a:rPr>
              <a:t>4</a:t>
            </a:r>
            <a:r>
              <a:rPr sz="2025" spc="-146" baseline="-15432" dirty="0">
                <a:latin typeface="Cambria Math"/>
                <a:cs typeface="Cambria Math"/>
              </a:rPr>
              <a:t>3</a:t>
            </a:r>
            <a:endParaRPr sz="2025" baseline="-15432">
              <a:latin typeface="Cambria Math"/>
              <a:cs typeface="Cambria Math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6879251" y="3789459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6"/>
                </a:lnTo>
                <a:lnTo>
                  <a:pt x="119315" y="229396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6"/>
                </a:lnTo>
                <a:lnTo>
                  <a:pt x="329482" y="229396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373282" y="3069204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90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7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0" name="object 100"/>
          <p:cNvGrpSpPr/>
          <p:nvPr/>
        </p:nvGrpSpPr>
        <p:grpSpPr>
          <a:xfrm>
            <a:off x="7672735" y="2662960"/>
            <a:ext cx="262414" cy="1052036"/>
            <a:chOff x="10230313" y="3550612"/>
            <a:chExt cx="349885" cy="1402715"/>
          </a:xfrm>
        </p:grpSpPr>
        <p:sp>
          <p:nvSpPr>
            <p:cNvPr id="101" name="object 101"/>
            <p:cNvSpPr/>
            <p:nvPr/>
          </p:nvSpPr>
          <p:spPr>
            <a:xfrm>
              <a:off x="10249363" y="3569662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10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293104" y="4636612"/>
              <a:ext cx="222250" cy="222250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93104" y="4390353"/>
              <a:ext cx="222250" cy="222250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93104" y="4144093"/>
              <a:ext cx="222250" cy="222250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93104" y="3892224"/>
              <a:ext cx="222250" cy="222250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95389" y="3634229"/>
              <a:ext cx="222250" cy="222250"/>
            </a:xfrm>
            <a:prstGeom prst="rect">
              <a:avLst/>
            </a:prstGeom>
          </p:spPr>
        </p:pic>
      </p:grpSp>
      <p:sp>
        <p:nvSpPr>
          <p:cNvPr id="107" name="object 107"/>
          <p:cNvSpPr txBox="1"/>
          <p:nvPr/>
        </p:nvSpPr>
        <p:spPr>
          <a:xfrm>
            <a:off x="5065142" y="2370201"/>
            <a:ext cx="3003233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343853" algn="l"/>
                <a:tab pos="894398" algn="l"/>
                <a:tab pos="1228725" algn="l"/>
                <a:tab pos="1759268" algn="l"/>
                <a:tab pos="2093595" algn="l"/>
                <a:tab pos="2559368" algn="l"/>
                <a:tab pos="2894171" algn="l"/>
              </a:tabLst>
            </a:pP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sz="135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7F6000"/>
                </a:solidFill>
                <a:latin typeface="Cambria Math"/>
                <a:cs typeface="Cambria Math"/>
              </a:rPr>
              <a:t>1</a:t>
            </a:r>
            <a:r>
              <a:rPr sz="1350" dirty="0">
                <a:solidFill>
                  <a:srgbClr val="7F6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r>
              <a:rPr sz="135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7F6000"/>
                </a:solidFill>
                <a:latin typeface="Cambria Math"/>
                <a:cs typeface="Cambria Math"/>
              </a:rPr>
              <a:t>2</a:t>
            </a:r>
            <a:r>
              <a:rPr sz="1350" dirty="0">
                <a:solidFill>
                  <a:srgbClr val="7F6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3</a:t>
            </a:r>
            <a:r>
              <a:rPr sz="135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7F6000"/>
                </a:solidFill>
                <a:latin typeface="Cambria Math"/>
                <a:cs typeface="Cambria Math"/>
              </a:rPr>
              <a:t>3</a:t>
            </a:r>
            <a:r>
              <a:rPr sz="1350" dirty="0">
                <a:solidFill>
                  <a:srgbClr val="7F6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4</a:t>
            </a:r>
            <a:r>
              <a:rPr sz="135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7F6000"/>
                </a:solidFill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7698572" y="1806989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5"/>
                </a:lnTo>
                <a:lnTo>
                  <a:pt x="119316" y="229395"/>
                </a:lnTo>
                <a:lnTo>
                  <a:pt x="119316" y="567436"/>
                </a:lnTo>
                <a:lnTo>
                  <a:pt x="210167" y="567436"/>
                </a:lnTo>
                <a:lnTo>
                  <a:pt x="210167" y="229395"/>
                </a:lnTo>
                <a:lnTo>
                  <a:pt x="329483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7679616" y="3789459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5"/>
                </a:lnTo>
                <a:lnTo>
                  <a:pt x="119316" y="229395"/>
                </a:lnTo>
                <a:lnTo>
                  <a:pt x="119316" y="567436"/>
                </a:lnTo>
                <a:lnTo>
                  <a:pt x="210167" y="567436"/>
                </a:lnTo>
                <a:lnTo>
                  <a:pt x="210167" y="229395"/>
                </a:lnTo>
                <a:lnTo>
                  <a:pt x="329483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7173649" y="3069204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90" h="329564">
                <a:moveTo>
                  <a:pt x="338040" y="0"/>
                </a:moveTo>
                <a:lnTo>
                  <a:pt x="338040" y="119316"/>
                </a:lnTo>
                <a:lnTo>
                  <a:pt x="0" y="119316"/>
                </a:lnTo>
                <a:lnTo>
                  <a:pt x="0" y="210167"/>
                </a:lnTo>
                <a:lnTo>
                  <a:pt x="338040" y="210167"/>
                </a:lnTo>
                <a:lnTo>
                  <a:pt x="338040" y="329483"/>
                </a:lnTo>
                <a:lnTo>
                  <a:pt x="567435" y="164741"/>
                </a:lnTo>
                <a:lnTo>
                  <a:pt x="3380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1" name="object 111"/>
          <p:cNvGrpSpPr/>
          <p:nvPr/>
        </p:nvGrpSpPr>
        <p:grpSpPr>
          <a:xfrm>
            <a:off x="8490162" y="2662959"/>
            <a:ext cx="262414" cy="1052036"/>
            <a:chOff x="11320215" y="3550611"/>
            <a:chExt cx="349885" cy="1402715"/>
          </a:xfrm>
        </p:grpSpPr>
        <p:sp>
          <p:nvSpPr>
            <p:cNvPr id="112" name="object 112"/>
            <p:cNvSpPr/>
            <p:nvPr/>
          </p:nvSpPr>
          <p:spPr>
            <a:xfrm>
              <a:off x="11339265" y="3569661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383006" y="4636611"/>
              <a:ext cx="222250" cy="222250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383006" y="4390351"/>
              <a:ext cx="222250" cy="222250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383006" y="4144092"/>
              <a:ext cx="222250" cy="222250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383006" y="3892223"/>
              <a:ext cx="222250" cy="222250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85291" y="3634228"/>
              <a:ext cx="222250" cy="222250"/>
            </a:xfrm>
            <a:prstGeom prst="rect">
              <a:avLst/>
            </a:prstGeom>
          </p:spPr>
        </p:pic>
      </p:grpSp>
      <p:sp>
        <p:nvSpPr>
          <p:cNvPr id="118" name="object 118"/>
          <p:cNvSpPr txBox="1"/>
          <p:nvPr/>
        </p:nvSpPr>
        <p:spPr>
          <a:xfrm>
            <a:off x="8432861" y="2381631"/>
            <a:ext cx="45291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343853" algn="l"/>
              </a:tabLst>
            </a:pP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5</a:t>
            </a:r>
            <a:r>
              <a:rPr sz="135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1350" spc="-38" dirty="0">
                <a:solidFill>
                  <a:srgbClr val="7F6000"/>
                </a:solidFill>
                <a:latin typeface="Cambria Math"/>
                <a:cs typeface="Cambria Math"/>
              </a:rPr>
              <a:t>5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4864450" y="2271903"/>
            <a:ext cx="415004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45" baseline="2314" dirty="0">
                <a:latin typeface="Tahoma"/>
                <a:cs typeface="Tahoma"/>
              </a:rPr>
              <a:t>[</a:t>
            </a:r>
            <a:r>
              <a:rPr sz="2700" spc="-45" baseline="2314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2025" spc="-45" baseline="32407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r>
              <a:rPr sz="2700" spc="-45" baseline="2314" dirty="0">
                <a:solidFill>
                  <a:srgbClr val="C00000"/>
                </a:solidFill>
                <a:latin typeface="Cambria Math"/>
                <a:cs typeface="Cambria Math"/>
              </a:rPr>
              <a:t>;</a:t>
            </a:r>
            <a:r>
              <a:rPr sz="2700" spc="-140" baseline="2314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700" baseline="2314" dirty="0">
                <a:solidFill>
                  <a:srgbClr val="7F6000"/>
                </a:solidFill>
                <a:latin typeface="Cambria Math"/>
                <a:cs typeface="Cambria Math"/>
              </a:rPr>
              <a:t>𝑐</a:t>
            </a:r>
            <a:r>
              <a:rPr sz="2025" baseline="32407" dirty="0">
                <a:solidFill>
                  <a:srgbClr val="7F6000"/>
                </a:solidFill>
                <a:latin typeface="Cambria Math"/>
                <a:cs typeface="Cambria Math"/>
              </a:rPr>
              <a:t>𝐷</a:t>
            </a:r>
            <a:r>
              <a:rPr sz="2700" baseline="2314" dirty="0">
                <a:latin typeface="Tahoma"/>
                <a:cs typeface="Tahoma"/>
              </a:rPr>
              <a:t>]</a:t>
            </a:r>
            <a:r>
              <a:rPr sz="2700" spc="-11" baseline="2314" dirty="0">
                <a:latin typeface="Tahoma"/>
                <a:cs typeface="Tahoma"/>
              </a:rPr>
              <a:t>  </a:t>
            </a:r>
            <a:r>
              <a:rPr sz="2700" spc="-45" baseline="2314" dirty="0">
                <a:latin typeface="Tahoma"/>
                <a:cs typeface="Tahoma"/>
              </a:rPr>
              <a:t>[</a:t>
            </a:r>
            <a:r>
              <a:rPr sz="2700" spc="-45" baseline="2314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2025" spc="-45" baseline="32407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r>
              <a:rPr sz="2700" spc="-45" baseline="2314" dirty="0">
                <a:solidFill>
                  <a:srgbClr val="C00000"/>
                </a:solidFill>
                <a:latin typeface="Cambria Math"/>
                <a:cs typeface="Cambria Math"/>
              </a:rPr>
              <a:t>;</a:t>
            </a:r>
            <a:r>
              <a:rPr sz="2700" spc="-134" baseline="2314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700" baseline="2314" dirty="0">
                <a:solidFill>
                  <a:srgbClr val="7F6000"/>
                </a:solidFill>
                <a:latin typeface="Cambria Math"/>
                <a:cs typeface="Cambria Math"/>
              </a:rPr>
              <a:t>𝑐</a:t>
            </a:r>
            <a:r>
              <a:rPr sz="2025" baseline="32407" dirty="0">
                <a:solidFill>
                  <a:srgbClr val="7F6000"/>
                </a:solidFill>
                <a:latin typeface="Cambria Math"/>
                <a:cs typeface="Cambria Math"/>
              </a:rPr>
              <a:t>𝐷</a:t>
            </a:r>
            <a:r>
              <a:rPr sz="2700" baseline="2314" dirty="0">
                <a:latin typeface="Tahoma"/>
                <a:cs typeface="Tahoma"/>
              </a:rPr>
              <a:t>]</a:t>
            </a:r>
            <a:r>
              <a:rPr sz="2700" spc="-67" baseline="2314" dirty="0">
                <a:latin typeface="Tahoma"/>
                <a:cs typeface="Tahoma"/>
              </a:rPr>
              <a:t>  </a:t>
            </a:r>
            <a:r>
              <a:rPr sz="2700" spc="-45" baseline="2314" dirty="0">
                <a:latin typeface="Tahoma"/>
                <a:cs typeface="Tahoma"/>
              </a:rPr>
              <a:t>[</a:t>
            </a:r>
            <a:r>
              <a:rPr sz="2700" spc="-45" baseline="2314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2025" spc="-45" baseline="32407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r>
              <a:rPr sz="2700" spc="-45" baseline="2314" dirty="0">
                <a:solidFill>
                  <a:srgbClr val="C00000"/>
                </a:solidFill>
                <a:latin typeface="Cambria Math"/>
                <a:cs typeface="Cambria Math"/>
              </a:rPr>
              <a:t>;</a:t>
            </a:r>
            <a:r>
              <a:rPr sz="2700" spc="-134" baseline="2314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700" baseline="2314" dirty="0">
                <a:solidFill>
                  <a:srgbClr val="7F6000"/>
                </a:solidFill>
                <a:latin typeface="Cambria Math"/>
                <a:cs typeface="Cambria Math"/>
              </a:rPr>
              <a:t>𝑐</a:t>
            </a:r>
            <a:r>
              <a:rPr sz="2025" baseline="32407" dirty="0">
                <a:solidFill>
                  <a:srgbClr val="7F6000"/>
                </a:solidFill>
                <a:latin typeface="Cambria Math"/>
                <a:cs typeface="Cambria Math"/>
              </a:rPr>
              <a:t>𝐷</a:t>
            </a:r>
            <a:r>
              <a:rPr sz="2700" baseline="2314" dirty="0">
                <a:latin typeface="Tahoma"/>
                <a:cs typeface="Tahoma"/>
              </a:rPr>
              <a:t>]</a:t>
            </a:r>
            <a:r>
              <a:rPr sz="2700" spc="-33" baseline="2314" dirty="0">
                <a:latin typeface="Tahoma"/>
                <a:cs typeface="Tahoma"/>
              </a:rPr>
              <a:t> </a:t>
            </a:r>
            <a:r>
              <a:rPr sz="2700" spc="-45" baseline="2314" dirty="0">
                <a:latin typeface="Tahoma"/>
                <a:cs typeface="Tahoma"/>
              </a:rPr>
              <a:t>[</a:t>
            </a:r>
            <a:r>
              <a:rPr sz="2700" spc="-45" baseline="2314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2025" spc="-45" baseline="30864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r>
              <a:rPr sz="2700" spc="-45" baseline="2314" dirty="0">
                <a:solidFill>
                  <a:srgbClr val="C00000"/>
                </a:solidFill>
                <a:latin typeface="Cambria Math"/>
                <a:cs typeface="Cambria Math"/>
              </a:rPr>
              <a:t>;</a:t>
            </a:r>
            <a:r>
              <a:rPr sz="2700" spc="-140" baseline="2314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700" baseline="2314" dirty="0">
                <a:solidFill>
                  <a:srgbClr val="7F6000"/>
                </a:solidFill>
                <a:latin typeface="Cambria Math"/>
                <a:cs typeface="Cambria Math"/>
              </a:rPr>
              <a:t>𝑐</a:t>
            </a:r>
            <a:r>
              <a:rPr sz="2025" baseline="30864" dirty="0">
                <a:solidFill>
                  <a:srgbClr val="7F6000"/>
                </a:solidFill>
                <a:latin typeface="Cambria Math"/>
                <a:cs typeface="Cambria Math"/>
              </a:rPr>
              <a:t>𝐷</a:t>
            </a:r>
            <a:r>
              <a:rPr sz="2700" baseline="2314" dirty="0">
                <a:latin typeface="Tahoma"/>
                <a:cs typeface="Tahoma"/>
              </a:rPr>
              <a:t>]</a:t>
            </a:r>
            <a:r>
              <a:rPr sz="2700" spc="163" baseline="2314" dirty="0">
                <a:latin typeface="Tahoma"/>
                <a:cs typeface="Tahoma"/>
              </a:rPr>
              <a:t> </a:t>
            </a:r>
            <a:r>
              <a:rPr spc="-30" dirty="0">
                <a:latin typeface="Tahoma"/>
                <a:cs typeface="Tahoma"/>
              </a:rPr>
              <a:t>[</a:t>
            </a:r>
            <a:r>
              <a:rPr spc="-30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2025" spc="-45" baseline="29320" dirty="0">
                <a:solidFill>
                  <a:srgbClr val="C00000"/>
                </a:solidFill>
                <a:latin typeface="Cambria Math"/>
                <a:cs typeface="Cambria Math"/>
              </a:rPr>
              <a:t>𝐷</a:t>
            </a:r>
            <a:r>
              <a:rPr spc="-30" dirty="0">
                <a:solidFill>
                  <a:srgbClr val="C00000"/>
                </a:solidFill>
                <a:latin typeface="Cambria Math"/>
                <a:cs typeface="Cambria Math"/>
              </a:rPr>
              <a:t>;</a:t>
            </a:r>
            <a:r>
              <a:rPr spc="-94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pc="-19" dirty="0">
                <a:solidFill>
                  <a:srgbClr val="7F6000"/>
                </a:solidFill>
                <a:latin typeface="Cambria Math"/>
                <a:cs typeface="Cambria Math"/>
              </a:rPr>
              <a:t>𝑐</a:t>
            </a:r>
            <a:r>
              <a:rPr sz="2025" spc="-28" baseline="29320" dirty="0">
                <a:solidFill>
                  <a:srgbClr val="7F6000"/>
                </a:solidFill>
                <a:latin typeface="Cambria Math"/>
                <a:cs typeface="Cambria Math"/>
              </a:rPr>
              <a:t>𝐷</a:t>
            </a:r>
            <a:r>
              <a:rPr spc="-19" dirty="0">
                <a:latin typeface="Tahoma"/>
                <a:cs typeface="Tahoma"/>
              </a:rPr>
              <a:t>]</a:t>
            </a:r>
            <a:endParaRPr>
              <a:latin typeface="Tahoma"/>
              <a:cs typeface="Tahoma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8515998" y="1806988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5"/>
                </a:lnTo>
                <a:lnTo>
                  <a:pt x="119316" y="229395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3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 txBox="1"/>
          <p:nvPr/>
        </p:nvSpPr>
        <p:spPr>
          <a:xfrm>
            <a:off x="7705659" y="1186053"/>
            <a:ext cx="1260158" cy="54822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6674">
              <a:lnSpc>
                <a:spcPts val="2141"/>
              </a:lnSpc>
              <a:spcBef>
                <a:spcPts val="75"/>
              </a:spcBef>
              <a:tabLst>
                <a:tab pos="645319" algn="l"/>
              </a:tabLst>
            </a:pPr>
            <a:r>
              <a:rPr spc="-38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pc="-15" dirty="0">
                <a:solidFill>
                  <a:srgbClr val="C00000"/>
                </a:solidFill>
                <a:latin typeface="Tahoma"/>
                <a:cs typeface="Tahoma"/>
              </a:rPr>
              <a:t>couru</a:t>
            </a:r>
            <a:endParaRPr>
              <a:latin typeface="Tahoma"/>
              <a:cs typeface="Tahoma"/>
            </a:endParaRPr>
          </a:p>
          <a:p>
            <a:pPr marL="38100">
              <a:lnSpc>
                <a:spcPts val="2141"/>
              </a:lnSpc>
              <a:tabLst>
                <a:tab pos="855345" algn="l"/>
              </a:tabLst>
            </a:pPr>
            <a:r>
              <a:rPr spc="-859" dirty="0">
                <a:latin typeface="Cambria Math"/>
                <a:cs typeface="Cambria Math"/>
              </a:rPr>
              <a:t>𝑦</a:t>
            </a:r>
            <a:r>
              <a:rPr spc="-221" dirty="0">
                <a:latin typeface="Cambria Math"/>
                <a:cs typeface="Cambria Math"/>
              </a:rPr>
              <a:t>4</a:t>
            </a:r>
            <a:r>
              <a:rPr sz="2025" spc="-129" baseline="-15432" dirty="0">
                <a:latin typeface="Cambria Math"/>
                <a:cs typeface="Cambria Math"/>
              </a:rPr>
              <a:t>4</a:t>
            </a:r>
            <a:r>
              <a:rPr sz="2025" baseline="-15432" dirty="0">
                <a:latin typeface="Cambria Math"/>
                <a:cs typeface="Cambria Math"/>
              </a:rPr>
              <a:t>	</a:t>
            </a:r>
            <a:r>
              <a:rPr spc="-859" dirty="0">
                <a:latin typeface="Cambria Math"/>
                <a:cs typeface="Cambria Math"/>
              </a:rPr>
              <a:t>𝑦</a:t>
            </a:r>
            <a:r>
              <a:rPr spc="-221" dirty="0">
                <a:latin typeface="Cambria Math"/>
                <a:cs typeface="Cambria Math"/>
              </a:rPr>
              <a:t>4</a:t>
            </a:r>
            <a:r>
              <a:rPr sz="2025" spc="-129" baseline="-15432" dirty="0">
                <a:latin typeface="Cambria Math"/>
                <a:cs typeface="Cambria Math"/>
              </a:rPr>
              <a:t>4</a:t>
            </a:r>
            <a:endParaRPr sz="2025" baseline="-15432">
              <a:latin typeface="Cambria Math"/>
              <a:cs typeface="Cambria Math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8497042" y="3789458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5"/>
                </a:lnTo>
                <a:lnTo>
                  <a:pt x="119316" y="229395"/>
                </a:lnTo>
                <a:lnTo>
                  <a:pt x="119316" y="567436"/>
                </a:lnTo>
                <a:lnTo>
                  <a:pt x="210167" y="567436"/>
                </a:lnTo>
                <a:lnTo>
                  <a:pt x="210167" y="229395"/>
                </a:lnTo>
                <a:lnTo>
                  <a:pt x="329483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7991074" y="3069204"/>
            <a:ext cx="425768" cy="247174"/>
          </a:xfrm>
          <a:custGeom>
            <a:avLst/>
            <a:gdLst/>
            <a:ahLst/>
            <a:cxnLst/>
            <a:rect l="l" t="t" r="r" b="b"/>
            <a:pathLst>
              <a:path w="567690" h="329564">
                <a:moveTo>
                  <a:pt x="338042" y="0"/>
                </a:moveTo>
                <a:lnTo>
                  <a:pt x="338042" y="119315"/>
                </a:lnTo>
                <a:lnTo>
                  <a:pt x="0" y="119315"/>
                </a:lnTo>
                <a:lnTo>
                  <a:pt x="0" y="210167"/>
                </a:lnTo>
                <a:lnTo>
                  <a:pt x="338042" y="210167"/>
                </a:lnTo>
                <a:lnTo>
                  <a:pt x="338042" y="329482"/>
                </a:lnTo>
                <a:lnTo>
                  <a:pt x="567437" y="164741"/>
                </a:lnTo>
                <a:lnTo>
                  <a:pt x="33804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 txBox="1"/>
          <p:nvPr/>
        </p:nvSpPr>
        <p:spPr>
          <a:xfrm>
            <a:off x="527224" y="4238985"/>
            <a:ext cx="825341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dirty="0">
                <a:solidFill>
                  <a:srgbClr val="262626"/>
                </a:solidFill>
                <a:latin typeface="Tahoma"/>
                <a:cs typeface="Tahoma"/>
              </a:rPr>
              <a:t>Input</a:t>
            </a:r>
            <a:r>
              <a:rPr sz="1313" spc="-64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8" dirty="0">
                <a:solidFill>
                  <a:srgbClr val="262626"/>
                </a:solidFill>
                <a:latin typeface="Tahoma"/>
                <a:cs typeface="Tahoma"/>
              </a:rPr>
              <a:t>layer</a:t>
            </a:r>
            <a:endParaRPr sz="1313">
              <a:latin typeface="Tahoma"/>
              <a:cs typeface="Tahoma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632730" y="4247008"/>
            <a:ext cx="40481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2352676" y="4247008"/>
            <a:ext cx="65436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240736" y="4258437"/>
            <a:ext cx="433864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4128790" y="4267582"/>
            <a:ext cx="34194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5026920" y="4269867"/>
            <a:ext cx="42148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75" dirty="0">
                <a:latin typeface="Tahoma"/>
                <a:cs typeface="Tahoma"/>
              </a:rPr>
              <a:t>&lt;s&gt;</a:t>
            </a:r>
            <a:endParaRPr>
              <a:latin typeface="Tahoma"/>
              <a:cs typeface="Tahoma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5986930" y="4269867"/>
            <a:ext cx="260509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Le</a:t>
            </a:r>
            <a:endParaRPr>
              <a:latin typeface="Tahoma"/>
              <a:cs typeface="Tahom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6643834" y="4272153"/>
            <a:ext cx="565309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8" dirty="0">
                <a:latin typeface="Tahoma"/>
                <a:cs typeface="Tahoma"/>
              </a:rPr>
              <a:t>chien</a:t>
            </a:r>
            <a:endParaRPr>
              <a:latin typeface="Tahoma"/>
              <a:cs typeface="Tahoma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7482299" y="4272153"/>
            <a:ext cx="489109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15" dirty="0">
                <a:latin typeface="Tahoma"/>
                <a:cs typeface="Tahoma"/>
              </a:rPr>
              <a:t>brun</a:t>
            </a:r>
            <a:endParaRPr>
              <a:latin typeface="Tahoma"/>
              <a:cs typeface="Tahoma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8475341" y="4272153"/>
            <a:ext cx="13811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38" dirty="0">
                <a:latin typeface="Tahoma"/>
                <a:cs typeface="Tahoma"/>
              </a:rPr>
              <a:t>a</a:t>
            </a:r>
            <a:endParaRPr>
              <a:latin typeface="Tahoma"/>
              <a:cs typeface="Tahoma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6241050" y="4577755"/>
            <a:ext cx="1396841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101" dirty="0">
                <a:solidFill>
                  <a:srgbClr val="7030A0"/>
                </a:solidFill>
                <a:latin typeface="Tahoma"/>
                <a:cs typeface="Tahoma"/>
              </a:rPr>
              <a:t>DECODER</a:t>
            </a:r>
            <a:r>
              <a:rPr sz="1463" spc="-41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 dirty="0">
              <a:latin typeface="Tahoma"/>
              <a:cs typeface="Tahoma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2052067" y="4482794"/>
            <a:ext cx="1403509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spc="113" dirty="0">
                <a:solidFill>
                  <a:srgbClr val="7030A0"/>
                </a:solidFill>
                <a:latin typeface="Tahoma"/>
                <a:cs typeface="Tahoma"/>
              </a:rPr>
              <a:t>ENCODER</a:t>
            </a:r>
            <a:r>
              <a:rPr sz="1463" spc="-60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1463" spc="98" dirty="0">
                <a:solidFill>
                  <a:srgbClr val="7030A0"/>
                </a:solidFill>
                <a:latin typeface="Tahoma"/>
                <a:cs typeface="Tahoma"/>
              </a:rPr>
              <a:t>RNN</a:t>
            </a:r>
            <a:endParaRPr sz="1463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394" y="773248"/>
            <a:ext cx="6115460" cy="396722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81125" y="153735"/>
            <a:ext cx="6562725" cy="418384"/>
          </a:xfrm>
          <a:prstGeom prst="rect">
            <a:avLst/>
          </a:prstGeom>
          <a:solidFill>
            <a:srgbClr val="FFFF00"/>
          </a:solidFill>
          <a:ln w="66675">
            <a:solidFill>
              <a:srgbClr val="000000"/>
            </a:solidFill>
          </a:ln>
        </p:spPr>
        <p:txBody>
          <a:bodyPr vert="horz" wrap="square" lIns="0" tIns="185738" rIns="0" bIns="0" rtlCol="0">
            <a:spAutoFit/>
          </a:bodyPr>
          <a:lstStyle/>
          <a:p>
            <a:pPr marL="230029">
              <a:spcBef>
                <a:spcPts val="1463"/>
              </a:spcBef>
            </a:pPr>
            <a:r>
              <a:rPr sz="1500" dirty="0"/>
              <a:t>For</a:t>
            </a:r>
            <a:r>
              <a:rPr sz="1500" spc="8" dirty="0"/>
              <a:t> </a:t>
            </a:r>
            <a:r>
              <a:rPr sz="1500" dirty="0"/>
              <a:t>convenience,</a:t>
            </a:r>
            <a:r>
              <a:rPr sz="1500" spc="8" dirty="0"/>
              <a:t> </a:t>
            </a:r>
            <a:r>
              <a:rPr sz="1500" spc="-15" dirty="0"/>
              <a:t>here’s</a:t>
            </a:r>
            <a:r>
              <a:rPr sz="1500" spc="8" dirty="0"/>
              <a:t> </a:t>
            </a:r>
            <a:r>
              <a:rPr sz="1500" dirty="0"/>
              <a:t>the</a:t>
            </a:r>
            <a:r>
              <a:rPr sz="1500" spc="11" dirty="0"/>
              <a:t> </a:t>
            </a:r>
            <a:r>
              <a:rPr sz="1500" dirty="0"/>
              <a:t>Attention</a:t>
            </a:r>
            <a:r>
              <a:rPr sz="1500" spc="11" dirty="0"/>
              <a:t> </a:t>
            </a:r>
            <a:r>
              <a:rPr sz="1500" dirty="0"/>
              <a:t>calculation</a:t>
            </a:r>
            <a:r>
              <a:rPr sz="1500" spc="11" dirty="0"/>
              <a:t> </a:t>
            </a:r>
            <a:r>
              <a:rPr sz="1500" dirty="0"/>
              <a:t>summarized</a:t>
            </a:r>
            <a:r>
              <a:rPr sz="1500" spc="11" dirty="0"/>
              <a:t> </a:t>
            </a:r>
            <a:r>
              <a:rPr sz="1500" dirty="0"/>
              <a:t>on</a:t>
            </a:r>
            <a:r>
              <a:rPr sz="1500" spc="11" dirty="0"/>
              <a:t> </a:t>
            </a:r>
            <a:r>
              <a:rPr sz="1500" dirty="0"/>
              <a:t>1</a:t>
            </a:r>
            <a:r>
              <a:rPr sz="1500" spc="11" dirty="0"/>
              <a:t> </a:t>
            </a:r>
            <a:r>
              <a:rPr sz="1500" spc="-8" dirty="0"/>
              <a:t>slide</a:t>
            </a:r>
            <a:endParaRPr sz="15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067415" y="6428920"/>
            <a:ext cx="24447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8575">
              <a:spcBef>
                <a:spcPts val="30"/>
              </a:spcBef>
            </a:pPr>
            <a:fld id="{81D60167-4931-47E6-BA6A-407CBD079E47}" type="slidenum">
              <a:rPr lang="en-IN" spc="-50" smtClean="0"/>
              <a:pPr marL="115570">
                <a:spcBef>
                  <a:spcPts val="40"/>
                </a:spcBef>
              </a:pPr>
              <a:t>50</a:t>
            </a:fld>
            <a:endParaRPr spc="-19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394" y="773248"/>
            <a:ext cx="6115460" cy="396722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81125" y="153735"/>
            <a:ext cx="6562725" cy="418384"/>
          </a:xfrm>
          <a:prstGeom prst="rect">
            <a:avLst/>
          </a:prstGeom>
          <a:solidFill>
            <a:srgbClr val="FFFF00"/>
          </a:solidFill>
          <a:ln w="66675">
            <a:solidFill>
              <a:srgbClr val="000000"/>
            </a:solidFill>
          </a:ln>
        </p:spPr>
        <p:txBody>
          <a:bodyPr vert="horz" wrap="square" lIns="0" tIns="185738" rIns="0" bIns="0" rtlCol="0">
            <a:spAutoFit/>
          </a:bodyPr>
          <a:lstStyle/>
          <a:p>
            <a:pPr marL="230029">
              <a:spcBef>
                <a:spcPts val="1463"/>
              </a:spcBef>
            </a:pPr>
            <a:r>
              <a:rPr sz="1500" dirty="0"/>
              <a:t>For</a:t>
            </a:r>
            <a:r>
              <a:rPr sz="1500" spc="8" dirty="0"/>
              <a:t> </a:t>
            </a:r>
            <a:r>
              <a:rPr sz="1500" dirty="0"/>
              <a:t>convenience,</a:t>
            </a:r>
            <a:r>
              <a:rPr sz="1500" spc="8" dirty="0"/>
              <a:t> </a:t>
            </a:r>
            <a:r>
              <a:rPr sz="1500" spc="-15" dirty="0"/>
              <a:t>here’s</a:t>
            </a:r>
            <a:r>
              <a:rPr sz="1500" spc="8" dirty="0"/>
              <a:t> </a:t>
            </a:r>
            <a:r>
              <a:rPr sz="1500" dirty="0"/>
              <a:t>the</a:t>
            </a:r>
            <a:r>
              <a:rPr sz="1500" spc="11" dirty="0"/>
              <a:t> </a:t>
            </a:r>
            <a:r>
              <a:rPr sz="1500" dirty="0"/>
              <a:t>Attention</a:t>
            </a:r>
            <a:r>
              <a:rPr sz="1500" spc="11" dirty="0"/>
              <a:t> </a:t>
            </a:r>
            <a:r>
              <a:rPr sz="1500" dirty="0"/>
              <a:t>calculation</a:t>
            </a:r>
            <a:r>
              <a:rPr sz="1500" spc="11" dirty="0"/>
              <a:t> </a:t>
            </a:r>
            <a:r>
              <a:rPr sz="1500" dirty="0"/>
              <a:t>summarized</a:t>
            </a:r>
            <a:r>
              <a:rPr sz="1500" spc="11" dirty="0"/>
              <a:t> </a:t>
            </a:r>
            <a:r>
              <a:rPr sz="1500" dirty="0"/>
              <a:t>on</a:t>
            </a:r>
            <a:r>
              <a:rPr sz="1500" spc="11" dirty="0"/>
              <a:t> </a:t>
            </a:r>
            <a:r>
              <a:rPr sz="1500" dirty="0"/>
              <a:t>1</a:t>
            </a:r>
            <a:r>
              <a:rPr sz="1500" spc="11" dirty="0"/>
              <a:t> </a:t>
            </a:r>
            <a:r>
              <a:rPr sz="1500" spc="-8" dirty="0"/>
              <a:t>slide</a:t>
            </a:r>
            <a:endParaRPr sz="1500"/>
          </a:p>
        </p:txBody>
      </p:sp>
      <p:grpSp>
        <p:nvGrpSpPr>
          <p:cNvPr id="5" name="object 5"/>
          <p:cNvGrpSpPr/>
          <p:nvPr/>
        </p:nvGrpSpPr>
        <p:grpSpPr>
          <a:xfrm>
            <a:off x="1105536" y="860712"/>
            <a:ext cx="7370445" cy="3972878"/>
            <a:chOff x="1474048" y="1147616"/>
            <a:chExt cx="9827260" cy="5297170"/>
          </a:xfrm>
        </p:grpSpPr>
        <p:sp>
          <p:nvSpPr>
            <p:cNvPr id="6" name="object 6"/>
            <p:cNvSpPr/>
            <p:nvPr/>
          </p:nvSpPr>
          <p:spPr>
            <a:xfrm>
              <a:off x="1474038" y="1147622"/>
              <a:ext cx="9827260" cy="5297170"/>
            </a:xfrm>
            <a:custGeom>
              <a:avLst/>
              <a:gdLst/>
              <a:ahLst/>
              <a:cxnLst/>
              <a:rect l="l" t="t" r="r" b="b"/>
              <a:pathLst>
                <a:path w="9827260" h="5297170">
                  <a:moveTo>
                    <a:pt x="9243911" y="3576777"/>
                  </a:moveTo>
                  <a:lnTo>
                    <a:pt x="0" y="3576777"/>
                  </a:lnTo>
                  <a:lnTo>
                    <a:pt x="0" y="5296852"/>
                  </a:lnTo>
                  <a:lnTo>
                    <a:pt x="9243911" y="5296852"/>
                  </a:lnTo>
                  <a:lnTo>
                    <a:pt x="9243911" y="3576777"/>
                  </a:lnTo>
                  <a:close/>
                </a:path>
                <a:path w="9827260" h="5297170">
                  <a:moveTo>
                    <a:pt x="9827260" y="0"/>
                  </a:moveTo>
                  <a:lnTo>
                    <a:pt x="583361" y="0"/>
                  </a:lnTo>
                  <a:lnTo>
                    <a:pt x="583361" y="2522677"/>
                  </a:lnTo>
                  <a:lnTo>
                    <a:pt x="9827260" y="2522677"/>
                  </a:lnTo>
                  <a:lnTo>
                    <a:pt x="9827260" y="0"/>
                  </a:lnTo>
                  <a:close/>
                </a:path>
              </a:pathLst>
            </a:custGeom>
            <a:solidFill>
              <a:srgbClr val="FFFFFF">
                <a:alpha val="729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71987" y="1828798"/>
              <a:ext cx="7607300" cy="2522855"/>
            </a:xfrm>
            <a:custGeom>
              <a:avLst/>
              <a:gdLst/>
              <a:ahLst/>
              <a:cxnLst/>
              <a:rect l="l" t="t" r="r" b="b"/>
              <a:pathLst>
                <a:path w="7607300" h="2522854">
                  <a:moveTo>
                    <a:pt x="7607298" y="0"/>
                  </a:moveTo>
                  <a:lnTo>
                    <a:pt x="0" y="0"/>
                  </a:lnTo>
                  <a:lnTo>
                    <a:pt x="0" y="2220697"/>
                  </a:lnTo>
                  <a:lnTo>
                    <a:pt x="1755402" y="2211618"/>
                  </a:lnTo>
                  <a:lnTo>
                    <a:pt x="2199999" y="2522683"/>
                  </a:lnTo>
                  <a:lnTo>
                    <a:pt x="2404261" y="2232345"/>
                  </a:lnTo>
                  <a:lnTo>
                    <a:pt x="5085029" y="2221012"/>
                  </a:lnTo>
                  <a:lnTo>
                    <a:pt x="7607298" y="2220697"/>
                  </a:lnTo>
                  <a:lnTo>
                    <a:pt x="7607298" y="0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71986" y="1828798"/>
              <a:ext cx="7607300" cy="2522855"/>
            </a:xfrm>
            <a:custGeom>
              <a:avLst/>
              <a:gdLst/>
              <a:ahLst/>
              <a:cxnLst/>
              <a:rect l="l" t="t" r="r" b="b"/>
              <a:pathLst>
                <a:path w="7607300" h="2522854">
                  <a:moveTo>
                    <a:pt x="7607299" y="0"/>
                  </a:moveTo>
                  <a:lnTo>
                    <a:pt x="6339415" y="0"/>
                  </a:lnTo>
                  <a:lnTo>
                    <a:pt x="4437592" y="0"/>
                  </a:lnTo>
                  <a:lnTo>
                    <a:pt x="0" y="0"/>
                  </a:lnTo>
                  <a:lnTo>
                    <a:pt x="0" y="1295407"/>
                  </a:lnTo>
                  <a:lnTo>
                    <a:pt x="0" y="1850582"/>
                  </a:lnTo>
                  <a:lnTo>
                    <a:pt x="0" y="2220698"/>
                  </a:lnTo>
                  <a:lnTo>
                    <a:pt x="1755402" y="2211618"/>
                  </a:lnTo>
                  <a:lnTo>
                    <a:pt x="2200000" y="2522683"/>
                  </a:lnTo>
                  <a:lnTo>
                    <a:pt x="2404261" y="2232345"/>
                  </a:lnTo>
                  <a:lnTo>
                    <a:pt x="5085029" y="2221012"/>
                  </a:lnTo>
                  <a:lnTo>
                    <a:pt x="7086043" y="2220698"/>
                  </a:lnTo>
                  <a:lnTo>
                    <a:pt x="7607299" y="2220698"/>
                  </a:lnTo>
                  <a:lnTo>
                    <a:pt x="7607299" y="1850582"/>
                  </a:lnTo>
                  <a:lnTo>
                    <a:pt x="7607299" y="1295407"/>
                  </a:lnTo>
                  <a:lnTo>
                    <a:pt x="7607299" y="0"/>
                  </a:lnTo>
                  <a:close/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926185" y="1596771"/>
            <a:ext cx="4715351" cy="120129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950" dirty="0">
                <a:latin typeface="Tahoma"/>
                <a:cs typeface="Tahoma"/>
              </a:rPr>
              <a:t>The</a:t>
            </a:r>
            <a:r>
              <a:rPr sz="1950" spc="-98" dirty="0">
                <a:latin typeface="Tahoma"/>
                <a:cs typeface="Tahoma"/>
              </a:rPr>
              <a:t> </a:t>
            </a:r>
            <a:r>
              <a:rPr sz="2869" b="1" spc="-28" baseline="1089" dirty="0">
                <a:latin typeface="Trebuchet MS"/>
                <a:cs typeface="Trebuchet MS"/>
              </a:rPr>
              <a:t>Attention</a:t>
            </a:r>
            <a:r>
              <a:rPr sz="2869" b="1" spc="-90" baseline="1089" dirty="0">
                <a:latin typeface="Trebuchet MS"/>
                <a:cs typeface="Trebuchet MS"/>
              </a:rPr>
              <a:t> </a:t>
            </a:r>
            <a:r>
              <a:rPr sz="2869" b="1" spc="-33" baseline="1089" dirty="0">
                <a:latin typeface="Trebuchet MS"/>
                <a:cs typeface="Trebuchet MS"/>
              </a:rPr>
              <a:t>mechanism</a:t>
            </a:r>
            <a:r>
              <a:rPr sz="2869" b="1" spc="-90" baseline="1089" dirty="0">
                <a:latin typeface="Trebuchet MS"/>
                <a:cs typeface="Trebuchet MS"/>
              </a:rPr>
              <a:t> </a:t>
            </a:r>
            <a:r>
              <a:rPr sz="1950" dirty="0">
                <a:latin typeface="Tahoma"/>
                <a:cs typeface="Tahoma"/>
              </a:rPr>
              <a:t>that</a:t>
            </a:r>
            <a:r>
              <a:rPr sz="1950" spc="-98" dirty="0">
                <a:latin typeface="Tahoma"/>
                <a:cs typeface="Tahoma"/>
              </a:rPr>
              <a:t> </a:t>
            </a:r>
            <a:r>
              <a:rPr sz="1950" spc="-8" dirty="0">
                <a:latin typeface="Tahoma"/>
                <a:cs typeface="Tahoma"/>
              </a:rPr>
              <a:t>produces</a:t>
            </a:r>
            <a:endParaRPr sz="1950">
              <a:latin typeface="Tahoma"/>
              <a:cs typeface="Tahoma"/>
            </a:endParaRPr>
          </a:p>
          <a:p>
            <a:pPr marL="9525" marR="3810">
              <a:lnSpc>
                <a:spcPct val="160000"/>
              </a:lnSpc>
            </a:pPr>
            <a:r>
              <a:rPr sz="1950" dirty="0">
                <a:latin typeface="Tahoma"/>
                <a:cs typeface="Tahoma"/>
              </a:rPr>
              <a:t>scores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spc="34" dirty="0">
                <a:latin typeface="Tahoma"/>
                <a:cs typeface="Tahoma"/>
              </a:rPr>
              <a:t>doesn’t</a:t>
            </a:r>
            <a:r>
              <a:rPr sz="1950" spc="-64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have</a:t>
            </a:r>
            <a:r>
              <a:rPr sz="1950" spc="-56" dirty="0">
                <a:latin typeface="Tahoma"/>
                <a:cs typeface="Tahoma"/>
              </a:rPr>
              <a:t> </a:t>
            </a:r>
            <a:r>
              <a:rPr sz="1950" spc="38" dirty="0">
                <a:latin typeface="Tahoma"/>
                <a:cs typeface="Tahoma"/>
              </a:rPr>
              <a:t>to</a:t>
            </a:r>
            <a:r>
              <a:rPr sz="1950" spc="-68" dirty="0">
                <a:latin typeface="Tahoma"/>
                <a:cs typeface="Tahoma"/>
              </a:rPr>
              <a:t> </a:t>
            </a:r>
            <a:r>
              <a:rPr sz="1950" spc="83" dirty="0">
                <a:latin typeface="Tahoma"/>
                <a:cs typeface="Tahoma"/>
              </a:rPr>
              <a:t>be</a:t>
            </a:r>
            <a:r>
              <a:rPr sz="1950" spc="-56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a</a:t>
            </a:r>
            <a:r>
              <a:rPr sz="1950" spc="-68" dirty="0">
                <a:latin typeface="Tahoma"/>
                <a:cs typeface="Tahoma"/>
              </a:rPr>
              <a:t> </a:t>
            </a:r>
            <a:r>
              <a:rPr sz="1950" spc="135" dirty="0">
                <a:solidFill>
                  <a:srgbClr val="C00000"/>
                </a:solidFill>
                <a:latin typeface="Tahoma"/>
                <a:cs typeface="Tahoma"/>
              </a:rPr>
              <a:t>FFNN</a:t>
            </a:r>
            <a:r>
              <a:rPr sz="1950" spc="-56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like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spc="-259" dirty="0">
                <a:latin typeface="Tahoma"/>
                <a:cs typeface="Tahoma"/>
              </a:rPr>
              <a:t>I </a:t>
            </a:r>
            <a:r>
              <a:rPr sz="1950" dirty="0">
                <a:latin typeface="Tahoma"/>
                <a:cs typeface="Tahoma"/>
              </a:rPr>
              <a:t>illustrated.</a:t>
            </a:r>
            <a:r>
              <a:rPr sz="1950" spc="-64" dirty="0">
                <a:latin typeface="Tahoma"/>
                <a:cs typeface="Tahoma"/>
              </a:rPr>
              <a:t> </a:t>
            </a:r>
            <a:r>
              <a:rPr sz="1950" spc="-120" dirty="0">
                <a:latin typeface="Tahoma"/>
                <a:cs typeface="Tahoma"/>
              </a:rPr>
              <a:t>It</a:t>
            </a:r>
            <a:r>
              <a:rPr sz="1950" spc="-64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can</a:t>
            </a:r>
            <a:r>
              <a:rPr sz="1950" spc="-56" dirty="0">
                <a:latin typeface="Tahoma"/>
                <a:cs typeface="Tahoma"/>
              </a:rPr>
              <a:t> </a:t>
            </a:r>
            <a:r>
              <a:rPr sz="1950" spc="83" dirty="0">
                <a:latin typeface="Tahoma"/>
                <a:cs typeface="Tahoma"/>
              </a:rPr>
              <a:t>be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any</a:t>
            </a:r>
            <a:r>
              <a:rPr sz="1950" spc="-64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function</a:t>
            </a:r>
            <a:r>
              <a:rPr sz="1950" spc="-56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you</a:t>
            </a:r>
            <a:r>
              <a:rPr sz="1950" spc="-56" dirty="0">
                <a:latin typeface="Tahoma"/>
                <a:cs typeface="Tahoma"/>
              </a:rPr>
              <a:t> </a:t>
            </a:r>
            <a:r>
              <a:rPr sz="1950" spc="-8" dirty="0">
                <a:latin typeface="Tahoma"/>
                <a:cs typeface="Tahoma"/>
              </a:rPr>
              <a:t>wish.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067415" y="6428920"/>
            <a:ext cx="24447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8575">
              <a:spcBef>
                <a:spcPts val="30"/>
              </a:spcBef>
            </a:pPr>
            <a:fld id="{81D60167-4931-47E6-BA6A-407CBD079E47}" type="slidenum">
              <a:rPr lang="en-IN" spc="-50" smtClean="0"/>
              <a:pPr marL="115570">
                <a:spcBef>
                  <a:spcPts val="40"/>
                </a:spcBef>
              </a:pPr>
              <a:t>51</a:t>
            </a:fld>
            <a:endParaRPr spc="-19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5254" y="4867646"/>
            <a:ext cx="584835" cy="133350"/>
          </a:xfrm>
          <a:custGeom>
            <a:avLst/>
            <a:gdLst/>
            <a:ahLst/>
            <a:cxnLst/>
            <a:rect l="l" t="t" r="r" b="b"/>
            <a:pathLst>
              <a:path w="779780" h="177800">
                <a:moveTo>
                  <a:pt x="779462" y="0"/>
                </a:moveTo>
                <a:lnTo>
                  <a:pt x="0" y="0"/>
                </a:lnTo>
                <a:lnTo>
                  <a:pt x="0" y="177800"/>
                </a:lnTo>
                <a:lnTo>
                  <a:pt x="779462" y="177800"/>
                </a:lnTo>
                <a:lnTo>
                  <a:pt x="77946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896111" y="102395"/>
            <a:ext cx="1790700" cy="1905000"/>
            <a:chOff x="2528148" y="136526"/>
            <a:chExt cx="2387600" cy="2540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28148" y="136526"/>
              <a:ext cx="2006600" cy="2540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191848" y="1374000"/>
              <a:ext cx="723900" cy="342900"/>
            </a:xfrm>
            <a:custGeom>
              <a:avLst/>
              <a:gdLst/>
              <a:ahLst/>
              <a:cxnLst/>
              <a:rect l="l" t="t" r="r" b="b"/>
              <a:pathLst>
                <a:path w="723900" h="342900">
                  <a:moveTo>
                    <a:pt x="72390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723900" y="342900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474404" y="869823"/>
            <a:ext cx="4928235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400" dirty="0"/>
              <a:t>Popular</a:t>
            </a:r>
            <a:r>
              <a:rPr sz="2400" spc="49" dirty="0"/>
              <a:t> </a:t>
            </a:r>
            <a:r>
              <a:rPr sz="2400" spc="34" dirty="0"/>
              <a:t>Attention</a:t>
            </a:r>
            <a:r>
              <a:rPr sz="2400" spc="45" dirty="0"/>
              <a:t> </a:t>
            </a:r>
            <a:r>
              <a:rPr sz="2400" dirty="0"/>
              <a:t>Scoring</a:t>
            </a:r>
            <a:r>
              <a:rPr sz="2400" spc="45" dirty="0"/>
              <a:t> </a:t>
            </a:r>
            <a:r>
              <a:rPr sz="2400" spc="-8" dirty="0"/>
              <a:t>functions:</a:t>
            </a:r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139449" y="2125217"/>
            <a:ext cx="8865394" cy="0"/>
          </a:xfrm>
          <a:custGeom>
            <a:avLst/>
            <a:gdLst/>
            <a:ahLst/>
            <a:cxnLst/>
            <a:rect l="l" t="t" r="r" b="b"/>
            <a:pathLst>
              <a:path w="11820525">
                <a:moveTo>
                  <a:pt x="11820137" y="0"/>
                </a:moveTo>
                <a:lnTo>
                  <a:pt x="0" y="1"/>
                </a:lnTo>
              </a:path>
            </a:pathLst>
          </a:custGeom>
          <a:ln w="508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148" y="2433067"/>
            <a:ext cx="8267699" cy="179069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28575">
              <a:spcBef>
                <a:spcPts val="30"/>
              </a:spcBef>
            </a:pPr>
            <a:fld id="{81D60167-4931-47E6-BA6A-407CBD079E47}" type="slidenum">
              <a:rPr spc="-19" dirty="0"/>
              <a:pPr marL="28575">
                <a:spcBef>
                  <a:spcPts val="30"/>
                </a:spcBef>
              </a:pPr>
              <a:t>52</a:t>
            </a:fld>
            <a:endParaRPr spc="-19" dirty="0"/>
          </a:p>
        </p:txBody>
      </p:sp>
      <p:sp>
        <p:nvSpPr>
          <p:cNvPr id="10" name="object 10"/>
          <p:cNvSpPr txBox="1"/>
          <p:nvPr/>
        </p:nvSpPr>
        <p:spPr>
          <a:xfrm>
            <a:off x="125730" y="4853694"/>
            <a:ext cx="3856196" cy="142347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9525">
              <a:spcBef>
                <a:spcPts val="30"/>
              </a:spcBef>
            </a:pPr>
            <a:r>
              <a:rPr sz="900" b="1" dirty="0">
                <a:solidFill>
                  <a:srgbClr val="FF0000"/>
                </a:solidFill>
                <a:latin typeface="Calibri"/>
                <a:cs typeface="Calibri"/>
              </a:rPr>
              <a:t>Photo</a:t>
            </a:r>
            <a:r>
              <a:rPr sz="900" b="1" spc="-2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0000"/>
                </a:solidFill>
                <a:latin typeface="Calibri"/>
                <a:cs typeface="Calibri"/>
              </a:rPr>
              <a:t>credit</a:t>
            </a:r>
            <a:r>
              <a:rPr sz="900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sz="900" spc="-2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900" spc="-8" dirty="0">
                <a:solidFill>
                  <a:srgbClr val="FF0000"/>
                </a:solidFill>
                <a:latin typeface="Calibri"/>
                <a:cs typeface="Calibri"/>
                <a:hlinkClick r:id="rId4"/>
              </a:rPr>
              <a:t>https://lena-voita.github.io/nlp_course/seq2seq_and_attention.html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7854" y="578611"/>
            <a:ext cx="4856321" cy="98108"/>
          </a:xfrm>
          <a:custGeom>
            <a:avLst/>
            <a:gdLst/>
            <a:ahLst/>
            <a:cxnLst/>
            <a:rect l="l" t="t" r="r" b="b"/>
            <a:pathLst>
              <a:path w="6475095" h="130809">
                <a:moveTo>
                  <a:pt x="6474895" y="0"/>
                </a:moveTo>
                <a:lnTo>
                  <a:pt x="0" y="0"/>
                </a:lnTo>
                <a:lnTo>
                  <a:pt x="0" y="130218"/>
                </a:lnTo>
                <a:lnTo>
                  <a:pt x="6474895" y="130218"/>
                </a:lnTo>
                <a:lnTo>
                  <a:pt x="647489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34" dirty="0"/>
              <a:t>seq2seq</a:t>
            </a:r>
            <a:r>
              <a:rPr spc="-68" dirty="0"/>
              <a:t> </a:t>
            </a:r>
            <a:r>
              <a:rPr spc="-143" dirty="0"/>
              <a:t>+</a:t>
            </a:r>
            <a:r>
              <a:rPr spc="-68" dirty="0"/>
              <a:t> </a:t>
            </a:r>
            <a:r>
              <a:rPr spc="-8" dirty="0"/>
              <a:t>Attention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6908" y="945419"/>
            <a:ext cx="3562826" cy="228338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763" spc="-8" dirty="0">
                <a:latin typeface="Tahoma"/>
                <a:cs typeface="Tahoma"/>
              </a:rPr>
              <a:t>Attention:</a:t>
            </a:r>
            <a:endParaRPr sz="1763">
              <a:latin typeface="Tahoma"/>
              <a:cs typeface="Tahoma"/>
            </a:endParaRPr>
          </a:p>
          <a:p>
            <a:pPr>
              <a:spcBef>
                <a:spcPts val="907"/>
              </a:spcBef>
            </a:pPr>
            <a:endParaRPr sz="1763">
              <a:latin typeface="Tahoma"/>
              <a:cs typeface="Tahoma"/>
            </a:endParaRPr>
          </a:p>
          <a:p>
            <a:pPr marL="180022" indent="-170497">
              <a:buFont typeface="Arial MT"/>
              <a:buChar char="•"/>
              <a:tabLst>
                <a:tab pos="180022" algn="l"/>
              </a:tabLst>
            </a:pPr>
            <a:r>
              <a:rPr dirty="0">
                <a:latin typeface="Tahoma"/>
                <a:cs typeface="Tahoma"/>
              </a:rPr>
              <a:t>greatly</a:t>
            </a:r>
            <a:r>
              <a:rPr spc="-34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improves</a:t>
            </a:r>
            <a:r>
              <a:rPr spc="-3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seq2seq</a:t>
            </a:r>
            <a:r>
              <a:rPr spc="-38" dirty="0">
                <a:latin typeface="Tahoma"/>
                <a:cs typeface="Tahoma"/>
              </a:rPr>
              <a:t> </a:t>
            </a:r>
            <a:r>
              <a:rPr spc="-8" dirty="0">
                <a:latin typeface="Tahoma"/>
                <a:cs typeface="Tahoma"/>
              </a:rPr>
              <a:t>results</a:t>
            </a:r>
            <a:endParaRPr>
              <a:latin typeface="Tahoma"/>
              <a:cs typeface="Tahoma"/>
            </a:endParaRPr>
          </a:p>
          <a:p>
            <a:pPr marL="180022" marR="3810" indent="-170497">
              <a:lnSpc>
                <a:spcPct val="150800"/>
              </a:lnSpc>
              <a:spcBef>
                <a:spcPts val="1099"/>
              </a:spcBef>
              <a:buFont typeface="Arial MT"/>
              <a:buChar char="•"/>
              <a:tabLst>
                <a:tab pos="180975" algn="l"/>
              </a:tabLst>
            </a:pPr>
            <a:r>
              <a:rPr dirty="0">
                <a:latin typeface="Tahoma"/>
                <a:cs typeface="Tahoma"/>
              </a:rPr>
              <a:t>allows</a:t>
            </a:r>
            <a:r>
              <a:rPr spc="-113" dirty="0">
                <a:latin typeface="Tahoma"/>
                <a:cs typeface="Tahoma"/>
              </a:rPr>
              <a:t> </a:t>
            </a:r>
            <a:r>
              <a:rPr spc="-8" dirty="0">
                <a:latin typeface="Tahoma"/>
                <a:cs typeface="Tahoma"/>
              </a:rPr>
              <a:t>us</a:t>
            </a:r>
            <a:r>
              <a:rPr spc="-113" dirty="0">
                <a:latin typeface="Tahoma"/>
                <a:cs typeface="Tahoma"/>
              </a:rPr>
              <a:t> </a:t>
            </a:r>
            <a:r>
              <a:rPr spc="38" dirty="0">
                <a:latin typeface="Tahoma"/>
                <a:cs typeface="Tahoma"/>
              </a:rPr>
              <a:t>to</a:t>
            </a:r>
            <a:r>
              <a:rPr spc="-113" dirty="0">
                <a:latin typeface="Tahoma"/>
                <a:cs typeface="Tahoma"/>
              </a:rPr>
              <a:t> </a:t>
            </a:r>
            <a:r>
              <a:rPr spc="-8" dirty="0">
                <a:latin typeface="Tahoma"/>
                <a:cs typeface="Tahoma"/>
              </a:rPr>
              <a:t>visualize</a:t>
            </a:r>
            <a:r>
              <a:rPr spc="-113" dirty="0">
                <a:latin typeface="Tahoma"/>
                <a:cs typeface="Tahoma"/>
              </a:rPr>
              <a:t> </a:t>
            </a:r>
            <a:r>
              <a:rPr spc="-19" dirty="0">
                <a:latin typeface="Tahoma"/>
                <a:cs typeface="Tahoma"/>
              </a:rPr>
              <a:t>the 	</a:t>
            </a:r>
            <a:r>
              <a:rPr dirty="0">
                <a:latin typeface="Tahoma"/>
                <a:cs typeface="Tahoma"/>
              </a:rPr>
              <a:t>contribution each</a:t>
            </a:r>
            <a:r>
              <a:rPr spc="4" dirty="0">
                <a:latin typeface="Tahoma"/>
                <a:cs typeface="Tahoma"/>
              </a:rPr>
              <a:t> </a:t>
            </a:r>
            <a:r>
              <a:rPr spc="41" dirty="0">
                <a:solidFill>
                  <a:srgbClr val="7030A0"/>
                </a:solidFill>
                <a:latin typeface="Tahoma"/>
                <a:cs typeface="Tahoma"/>
              </a:rPr>
              <a:t>encoding</a:t>
            </a:r>
            <a:r>
              <a:rPr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pc="-15" dirty="0">
                <a:latin typeface="Tahoma"/>
                <a:cs typeface="Tahoma"/>
              </a:rPr>
              <a:t>word 	</a:t>
            </a:r>
            <a:r>
              <a:rPr dirty="0">
                <a:latin typeface="Tahoma"/>
                <a:cs typeface="Tahoma"/>
              </a:rPr>
              <a:t>gave</a:t>
            </a:r>
            <a:r>
              <a:rPr spc="-26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for</a:t>
            </a:r>
            <a:r>
              <a:rPr spc="-26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each</a:t>
            </a:r>
            <a:r>
              <a:rPr spc="-26" dirty="0">
                <a:latin typeface="Tahoma"/>
                <a:cs typeface="Tahoma"/>
              </a:rPr>
              <a:t> </a:t>
            </a:r>
            <a:r>
              <a:rPr dirty="0">
                <a:solidFill>
                  <a:srgbClr val="7030A0"/>
                </a:solidFill>
                <a:latin typeface="Tahoma"/>
                <a:cs typeface="Tahoma"/>
              </a:rPr>
              <a:t>decoder’s</a:t>
            </a:r>
            <a:r>
              <a:rPr spc="-23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pc="-15" dirty="0">
                <a:latin typeface="Tahoma"/>
                <a:cs typeface="Tahoma"/>
              </a:rPr>
              <a:t>word</a:t>
            </a:r>
            <a:endParaRPr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6300" y="1066801"/>
            <a:ext cx="3961492" cy="37634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7599" y="4724781"/>
            <a:ext cx="3405188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i="1" dirty="0">
                <a:solidFill>
                  <a:srgbClr val="111111"/>
                </a:solidFill>
                <a:latin typeface="Arial"/>
                <a:cs typeface="Arial"/>
              </a:rPr>
              <a:t>Image</a:t>
            </a:r>
            <a:r>
              <a:rPr sz="1350" i="1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50" i="1" spc="-23" dirty="0">
                <a:solidFill>
                  <a:srgbClr val="111111"/>
                </a:solidFill>
                <a:latin typeface="Arial"/>
                <a:cs typeface="Arial"/>
              </a:rPr>
              <a:t>source:</a:t>
            </a:r>
            <a:r>
              <a:rPr sz="1350" i="1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50" i="1" spc="-30" dirty="0">
                <a:solidFill>
                  <a:srgbClr val="111111"/>
                </a:solidFill>
                <a:latin typeface="Arial"/>
                <a:cs typeface="Arial"/>
              </a:rPr>
              <a:t>Fig</a:t>
            </a:r>
            <a:r>
              <a:rPr sz="1350" i="1" spc="-19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50" i="1" dirty="0">
                <a:solidFill>
                  <a:srgbClr val="111111"/>
                </a:solidFill>
                <a:latin typeface="Arial"/>
                <a:cs typeface="Arial"/>
              </a:rPr>
              <a:t>3</a:t>
            </a:r>
            <a:r>
              <a:rPr sz="1350" i="1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50" i="1" dirty="0">
                <a:solidFill>
                  <a:srgbClr val="111111"/>
                </a:solidFill>
                <a:latin typeface="Arial"/>
                <a:cs typeface="Arial"/>
              </a:rPr>
              <a:t>in</a:t>
            </a:r>
            <a:r>
              <a:rPr sz="1350" i="1" spc="-19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50" i="1"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cs typeface="Arial"/>
              </a:rPr>
              <a:t>Bahdanau</a:t>
            </a:r>
            <a:r>
              <a:rPr sz="1350" i="1" u="sng" spc="-19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cs typeface="Arial"/>
              </a:rPr>
              <a:t> </a:t>
            </a:r>
            <a:r>
              <a:rPr sz="1350" i="1"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cs typeface="Arial"/>
              </a:rPr>
              <a:t>et</a:t>
            </a:r>
            <a:r>
              <a:rPr sz="1350" i="1" u="sng" spc="-8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cs typeface="Arial"/>
              </a:rPr>
              <a:t> </a:t>
            </a:r>
            <a:r>
              <a:rPr sz="1350" i="1"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cs typeface="Arial"/>
              </a:rPr>
              <a:t>al.,</a:t>
            </a:r>
            <a:r>
              <a:rPr sz="1350" i="1" u="sng" spc="-11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cs typeface="Arial"/>
              </a:rPr>
              <a:t> </a:t>
            </a:r>
            <a:r>
              <a:rPr sz="1350" i="1" u="sng" spc="-1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cs typeface="Arial"/>
              </a:rPr>
              <a:t>2015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7124" y="192785"/>
            <a:ext cx="3903345" cy="4775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0038"/>
            <a:r>
              <a:rPr sz="2100" spc="34" dirty="0">
                <a:latin typeface="Tahoma"/>
                <a:cs typeface="Tahoma"/>
              </a:rPr>
              <a:t>seq2seq</a:t>
            </a:r>
            <a:r>
              <a:rPr sz="2100" spc="-68" dirty="0">
                <a:latin typeface="Tahoma"/>
                <a:cs typeface="Tahoma"/>
              </a:rPr>
              <a:t> </a:t>
            </a:r>
            <a:r>
              <a:rPr sz="2100" spc="-143" dirty="0">
                <a:latin typeface="Tahoma"/>
                <a:cs typeface="Tahoma"/>
              </a:rPr>
              <a:t>+</a:t>
            </a:r>
            <a:r>
              <a:rPr sz="2100" spc="-68" dirty="0">
                <a:latin typeface="Tahoma"/>
                <a:cs typeface="Tahoma"/>
              </a:rPr>
              <a:t> </a:t>
            </a:r>
            <a:r>
              <a:rPr sz="2100" spc="-8" dirty="0">
                <a:latin typeface="Tahoma"/>
                <a:cs typeface="Tahoma"/>
              </a:rPr>
              <a:t>Attention</a:t>
            </a:r>
            <a:endParaRPr sz="2100">
              <a:latin typeface="Tahoma"/>
              <a:cs typeface="Tahoma"/>
            </a:endParaRPr>
          </a:p>
          <a:p>
            <a:pPr>
              <a:spcBef>
                <a:spcPts val="945"/>
              </a:spcBef>
            </a:pPr>
            <a:endParaRPr sz="2100">
              <a:latin typeface="Tahoma"/>
              <a:cs typeface="Tahoma"/>
            </a:endParaRPr>
          </a:p>
          <a:p>
            <a:pPr marL="359093">
              <a:spcBef>
                <a:spcPts val="4"/>
              </a:spcBef>
            </a:pPr>
            <a:r>
              <a:rPr sz="1763" spc="-8" dirty="0">
                <a:latin typeface="Tahoma"/>
                <a:cs typeface="Tahoma"/>
              </a:rPr>
              <a:t>Attention:</a:t>
            </a:r>
            <a:endParaRPr sz="1763">
              <a:latin typeface="Tahoma"/>
              <a:cs typeface="Tahoma"/>
            </a:endParaRPr>
          </a:p>
          <a:p>
            <a:pPr>
              <a:spcBef>
                <a:spcPts val="907"/>
              </a:spcBef>
            </a:pPr>
            <a:endParaRPr sz="1763">
              <a:latin typeface="Tahoma"/>
              <a:cs typeface="Tahoma"/>
            </a:endParaRPr>
          </a:p>
          <a:p>
            <a:pPr marL="359093"/>
            <a:r>
              <a:rPr dirty="0">
                <a:latin typeface="Arial MT"/>
                <a:cs typeface="Arial MT"/>
              </a:rPr>
              <a:t>•</a:t>
            </a:r>
            <a:r>
              <a:rPr spc="278" dirty="0">
                <a:latin typeface="Arial MT"/>
                <a:cs typeface="Arial MT"/>
              </a:rPr>
              <a:t> </a:t>
            </a:r>
            <a:r>
              <a:rPr dirty="0">
                <a:latin typeface="Tahoma"/>
                <a:cs typeface="Tahoma"/>
              </a:rPr>
              <a:t>greatly</a:t>
            </a:r>
            <a:r>
              <a:rPr spc="-53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improves</a:t>
            </a:r>
            <a:r>
              <a:rPr spc="-53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seq2seq</a:t>
            </a:r>
            <a:r>
              <a:rPr spc="-56" dirty="0">
                <a:latin typeface="Tahoma"/>
                <a:cs typeface="Tahoma"/>
              </a:rPr>
              <a:t> </a:t>
            </a:r>
            <a:r>
              <a:rPr spc="-8" dirty="0">
                <a:latin typeface="Tahoma"/>
                <a:cs typeface="Tahoma"/>
              </a:rPr>
              <a:t>results</a:t>
            </a:r>
            <a:endParaRPr>
              <a:latin typeface="Tahoma"/>
              <a:cs typeface="Tahoma"/>
            </a:endParaRPr>
          </a:p>
          <a:p>
            <a:pPr marL="530543" indent="-171450">
              <a:lnSpc>
                <a:spcPct val="150800"/>
              </a:lnSpc>
              <a:spcBef>
                <a:spcPts val="1099"/>
              </a:spcBef>
            </a:pPr>
            <a:r>
              <a:rPr dirty="0">
                <a:latin typeface="Arial MT"/>
                <a:cs typeface="Arial MT"/>
              </a:rPr>
              <a:t>•</a:t>
            </a:r>
            <a:r>
              <a:rPr spc="195" dirty="0">
                <a:latin typeface="Arial MT"/>
                <a:cs typeface="Arial MT"/>
              </a:rPr>
              <a:t> </a:t>
            </a:r>
            <a:r>
              <a:rPr dirty="0">
                <a:latin typeface="Tahoma"/>
                <a:cs typeface="Tahoma"/>
              </a:rPr>
              <a:t>allows</a:t>
            </a:r>
            <a:r>
              <a:rPr spc="-109" dirty="0">
                <a:latin typeface="Tahoma"/>
                <a:cs typeface="Tahoma"/>
              </a:rPr>
              <a:t> </a:t>
            </a:r>
            <a:r>
              <a:rPr spc="-8" dirty="0">
                <a:latin typeface="Tahoma"/>
                <a:cs typeface="Tahoma"/>
              </a:rPr>
              <a:t>us</a:t>
            </a:r>
            <a:r>
              <a:rPr spc="-105" dirty="0">
                <a:latin typeface="Tahoma"/>
                <a:cs typeface="Tahoma"/>
              </a:rPr>
              <a:t> </a:t>
            </a:r>
            <a:r>
              <a:rPr spc="38" dirty="0">
                <a:latin typeface="Tahoma"/>
                <a:cs typeface="Tahoma"/>
              </a:rPr>
              <a:t>to</a:t>
            </a:r>
            <a:r>
              <a:rPr spc="-109" dirty="0">
                <a:latin typeface="Tahoma"/>
                <a:cs typeface="Tahoma"/>
              </a:rPr>
              <a:t> </a:t>
            </a:r>
            <a:r>
              <a:rPr spc="-8" dirty="0">
                <a:latin typeface="Tahoma"/>
                <a:cs typeface="Tahoma"/>
              </a:rPr>
              <a:t>visualize</a:t>
            </a:r>
            <a:r>
              <a:rPr spc="-105" dirty="0">
                <a:latin typeface="Tahoma"/>
                <a:cs typeface="Tahoma"/>
              </a:rPr>
              <a:t> </a:t>
            </a:r>
            <a:r>
              <a:rPr spc="-19" dirty="0">
                <a:latin typeface="Tahoma"/>
                <a:cs typeface="Tahoma"/>
              </a:rPr>
              <a:t>the </a:t>
            </a:r>
            <a:r>
              <a:rPr dirty="0">
                <a:latin typeface="Tahoma"/>
                <a:cs typeface="Tahoma"/>
              </a:rPr>
              <a:t>contribution each</a:t>
            </a:r>
            <a:r>
              <a:rPr spc="4" dirty="0">
                <a:latin typeface="Tahoma"/>
                <a:cs typeface="Tahoma"/>
              </a:rPr>
              <a:t> </a:t>
            </a:r>
            <a:r>
              <a:rPr spc="41" dirty="0">
                <a:solidFill>
                  <a:srgbClr val="7030A0"/>
                </a:solidFill>
                <a:latin typeface="Tahoma"/>
                <a:cs typeface="Tahoma"/>
              </a:rPr>
              <a:t>encoding</a:t>
            </a:r>
            <a:r>
              <a:rPr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pc="-15" dirty="0">
                <a:latin typeface="Tahoma"/>
                <a:cs typeface="Tahoma"/>
              </a:rPr>
              <a:t>word </a:t>
            </a:r>
            <a:r>
              <a:rPr dirty="0">
                <a:latin typeface="Tahoma"/>
                <a:cs typeface="Tahoma"/>
              </a:rPr>
              <a:t>gave</a:t>
            </a:r>
            <a:r>
              <a:rPr spc="-26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for</a:t>
            </a:r>
            <a:r>
              <a:rPr spc="-26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each</a:t>
            </a:r>
            <a:r>
              <a:rPr spc="-26" dirty="0">
                <a:latin typeface="Tahoma"/>
                <a:cs typeface="Tahoma"/>
              </a:rPr>
              <a:t> </a:t>
            </a:r>
            <a:r>
              <a:rPr dirty="0">
                <a:solidFill>
                  <a:srgbClr val="7030A0"/>
                </a:solidFill>
                <a:latin typeface="Tahoma"/>
                <a:cs typeface="Tahoma"/>
              </a:rPr>
              <a:t>decoder’s</a:t>
            </a:r>
            <a:r>
              <a:rPr spc="-23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pc="-15" dirty="0">
                <a:latin typeface="Tahoma"/>
                <a:cs typeface="Tahoma"/>
              </a:rPr>
              <a:t>word</a:t>
            </a:r>
            <a:endParaRPr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>
              <a:latin typeface="Tahoma"/>
              <a:cs typeface="Tahoma"/>
            </a:endParaRPr>
          </a:p>
          <a:p>
            <a:pPr>
              <a:spcBef>
                <a:spcPts val="708"/>
              </a:spcBef>
            </a:pPr>
            <a:endParaRPr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sz="1350" i="1" dirty="0">
                <a:solidFill>
                  <a:srgbClr val="111111"/>
                </a:solidFill>
                <a:latin typeface="Arial"/>
                <a:cs typeface="Arial"/>
              </a:rPr>
              <a:t>Image</a:t>
            </a:r>
            <a:r>
              <a:rPr sz="1350" i="1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50" i="1" spc="-23" dirty="0">
                <a:solidFill>
                  <a:srgbClr val="111111"/>
                </a:solidFill>
                <a:latin typeface="Arial"/>
                <a:cs typeface="Arial"/>
              </a:rPr>
              <a:t>source:</a:t>
            </a:r>
            <a:r>
              <a:rPr sz="1350" i="1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50" i="1" spc="-30" dirty="0">
                <a:solidFill>
                  <a:srgbClr val="111111"/>
                </a:solidFill>
                <a:latin typeface="Arial"/>
                <a:cs typeface="Arial"/>
              </a:rPr>
              <a:t>Fig</a:t>
            </a:r>
            <a:r>
              <a:rPr sz="1350" i="1" spc="-19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50" i="1" dirty="0">
                <a:solidFill>
                  <a:srgbClr val="111111"/>
                </a:solidFill>
                <a:latin typeface="Arial"/>
                <a:cs typeface="Arial"/>
              </a:rPr>
              <a:t>3</a:t>
            </a:r>
            <a:r>
              <a:rPr sz="1350" i="1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50" i="1" dirty="0">
                <a:solidFill>
                  <a:srgbClr val="111111"/>
                </a:solidFill>
                <a:latin typeface="Arial"/>
                <a:cs typeface="Arial"/>
              </a:rPr>
              <a:t>in</a:t>
            </a:r>
            <a:r>
              <a:rPr sz="1350" i="1" spc="-19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50" i="1" dirty="0">
                <a:solidFill>
                  <a:srgbClr val="0563C1"/>
                </a:solidFill>
                <a:latin typeface="Arial"/>
                <a:cs typeface="Arial"/>
              </a:rPr>
              <a:t>Bahdanau</a:t>
            </a:r>
            <a:r>
              <a:rPr sz="1350" i="1" spc="-19" dirty="0">
                <a:solidFill>
                  <a:srgbClr val="0563C1"/>
                </a:solidFill>
                <a:latin typeface="Arial"/>
                <a:cs typeface="Arial"/>
              </a:rPr>
              <a:t> </a:t>
            </a:r>
            <a:r>
              <a:rPr sz="1350" i="1" dirty="0">
                <a:solidFill>
                  <a:srgbClr val="0563C1"/>
                </a:solidFill>
                <a:latin typeface="Arial"/>
                <a:cs typeface="Arial"/>
              </a:rPr>
              <a:t>et</a:t>
            </a:r>
            <a:r>
              <a:rPr sz="1350" i="1" spc="-8" dirty="0">
                <a:solidFill>
                  <a:srgbClr val="0563C1"/>
                </a:solidFill>
                <a:latin typeface="Arial"/>
                <a:cs typeface="Arial"/>
              </a:rPr>
              <a:t> </a:t>
            </a:r>
            <a:r>
              <a:rPr sz="1350" i="1" dirty="0">
                <a:solidFill>
                  <a:srgbClr val="0563C1"/>
                </a:solidFill>
                <a:latin typeface="Arial"/>
                <a:cs typeface="Arial"/>
              </a:rPr>
              <a:t>al.,</a:t>
            </a:r>
            <a:r>
              <a:rPr sz="1350" i="1" spc="-11" dirty="0">
                <a:solidFill>
                  <a:srgbClr val="0563C1"/>
                </a:solidFill>
                <a:latin typeface="Arial"/>
                <a:cs typeface="Arial"/>
              </a:rPr>
              <a:t> </a:t>
            </a:r>
            <a:r>
              <a:rPr sz="1350" i="1" spc="-15" dirty="0">
                <a:solidFill>
                  <a:srgbClr val="0563C1"/>
                </a:solidFill>
                <a:latin typeface="Arial"/>
                <a:cs typeface="Arial"/>
              </a:rPr>
              <a:t>2015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6300" y="1066801"/>
            <a:ext cx="3961492" cy="376341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25917" y="83914"/>
            <a:ext cx="8892540" cy="4863465"/>
            <a:chOff x="167889" y="111885"/>
            <a:chExt cx="11856720" cy="6484620"/>
          </a:xfrm>
        </p:grpSpPr>
        <p:sp>
          <p:nvSpPr>
            <p:cNvPr id="5" name="object 5"/>
            <p:cNvSpPr/>
            <p:nvPr/>
          </p:nvSpPr>
          <p:spPr>
            <a:xfrm>
              <a:off x="167889" y="111885"/>
              <a:ext cx="11856720" cy="6484620"/>
            </a:xfrm>
            <a:custGeom>
              <a:avLst/>
              <a:gdLst/>
              <a:ahLst/>
              <a:cxnLst/>
              <a:rect l="l" t="t" r="r" b="b"/>
              <a:pathLst>
                <a:path w="11856720" h="6484620">
                  <a:moveTo>
                    <a:pt x="11856222" y="0"/>
                  </a:moveTo>
                  <a:lnTo>
                    <a:pt x="0" y="0"/>
                  </a:lnTo>
                  <a:lnTo>
                    <a:pt x="0" y="6484044"/>
                  </a:lnTo>
                  <a:lnTo>
                    <a:pt x="11856222" y="6484044"/>
                  </a:lnTo>
                  <a:lnTo>
                    <a:pt x="11856222" y="0"/>
                  </a:lnTo>
                  <a:close/>
                </a:path>
              </a:pathLst>
            </a:custGeom>
            <a:solidFill>
              <a:srgbClr val="FFFFFF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0986" y="258125"/>
              <a:ext cx="9177474" cy="5032693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002155" y="903118"/>
            <a:ext cx="1230154" cy="644055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063" spc="-30" dirty="0"/>
              <a:t>Takeaway:</a:t>
            </a:r>
            <a:endParaRPr sz="2063"/>
          </a:p>
        </p:txBody>
      </p:sp>
      <p:sp>
        <p:nvSpPr>
          <p:cNvPr id="8" name="object 8"/>
          <p:cNvSpPr txBox="1"/>
          <p:nvPr/>
        </p:nvSpPr>
        <p:spPr>
          <a:xfrm>
            <a:off x="2002154" y="1548003"/>
            <a:ext cx="4822508" cy="1591782"/>
          </a:xfrm>
          <a:prstGeom prst="rect">
            <a:avLst/>
          </a:prstGeom>
        </p:spPr>
        <p:txBody>
          <a:bodyPr vert="horz" wrap="square" lIns="0" tIns="4763" rIns="0" bIns="0" rtlCol="0">
            <a:spAutoFit/>
          </a:bodyPr>
          <a:lstStyle/>
          <a:p>
            <a:pPr marL="9525" marR="3810">
              <a:lnSpc>
                <a:spcPct val="101400"/>
              </a:lnSpc>
              <a:spcBef>
                <a:spcPts val="38"/>
              </a:spcBef>
            </a:pPr>
            <a:r>
              <a:rPr sz="2100" dirty="0">
                <a:latin typeface="Tahoma"/>
                <a:cs typeface="Tahoma"/>
              </a:rPr>
              <a:t>Having</a:t>
            </a:r>
            <a:r>
              <a:rPr sz="2100" spc="-19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19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separate</a:t>
            </a:r>
            <a:r>
              <a:rPr sz="2100" spc="-19" dirty="0">
                <a:latin typeface="Tahoma"/>
                <a:cs typeface="Tahoma"/>
              </a:rPr>
              <a:t> </a:t>
            </a:r>
            <a:r>
              <a:rPr sz="2100" spc="41" dirty="0">
                <a:solidFill>
                  <a:srgbClr val="7030A0"/>
                </a:solidFill>
                <a:latin typeface="Tahoma"/>
                <a:cs typeface="Tahoma"/>
              </a:rPr>
              <a:t>encoder</a:t>
            </a:r>
            <a:r>
              <a:rPr sz="2100" spc="-23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and</a:t>
            </a:r>
            <a:r>
              <a:rPr sz="2100" spc="-19" dirty="0">
                <a:latin typeface="Tahoma"/>
                <a:cs typeface="Tahoma"/>
              </a:rPr>
              <a:t> </a:t>
            </a:r>
            <a:r>
              <a:rPr sz="2100" spc="53" dirty="0">
                <a:solidFill>
                  <a:srgbClr val="7030A0"/>
                </a:solidFill>
                <a:latin typeface="Tahoma"/>
                <a:cs typeface="Tahoma"/>
              </a:rPr>
              <a:t>decoder </a:t>
            </a:r>
            <a:r>
              <a:rPr sz="2100" dirty="0">
                <a:latin typeface="Tahoma"/>
                <a:cs typeface="Tahoma"/>
              </a:rPr>
              <a:t>allows</a:t>
            </a:r>
            <a:r>
              <a:rPr sz="2100" spc="-56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for</a:t>
            </a:r>
            <a:r>
              <a:rPr sz="2100" spc="-49" dirty="0">
                <a:latin typeface="Tahoma"/>
                <a:cs typeface="Tahoma"/>
              </a:rPr>
              <a:t> </a:t>
            </a:r>
            <a:r>
              <a:rPr sz="3094" baseline="101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3094" spc="-45" baseline="101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100" dirty="0">
                <a:latin typeface="Wingdings"/>
                <a:cs typeface="Wingdings"/>
              </a:rPr>
              <a:t></a:t>
            </a:r>
            <a:r>
              <a:rPr sz="2100" spc="79" dirty="0">
                <a:latin typeface="Times New Roman"/>
                <a:cs typeface="Times New Roman"/>
              </a:rPr>
              <a:t> </a:t>
            </a:r>
            <a:r>
              <a:rPr sz="3094" spc="73" baseline="1010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3094" spc="-50" baseline="101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length</a:t>
            </a:r>
            <a:r>
              <a:rPr sz="2100" spc="-38" dirty="0">
                <a:latin typeface="Tahoma"/>
                <a:cs typeface="Tahoma"/>
              </a:rPr>
              <a:t> </a:t>
            </a:r>
            <a:r>
              <a:rPr sz="2100" spc="-8" dirty="0">
                <a:latin typeface="Tahoma"/>
                <a:cs typeface="Tahoma"/>
              </a:rPr>
              <a:t>predictions.</a:t>
            </a:r>
            <a:endParaRPr sz="2100">
              <a:latin typeface="Tahoma"/>
              <a:cs typeface="Tahoma"/>
            </a:endParaRPr>
          </a:p>
          <a:p>
            <a:pPr marL="9525" marR="783431">
              <a:lnSpc>
                <a:spcPct val="100699"/>
              </a:lnSpc>
              <a:spcBef>
                <a:spcPts val="2414"/>
              </a:spcBef>
            </a:pPr>
            <a:r>
              <a:rPr sz="3094" spc="73" baseline="1010" dirty="0">
                <a:solidFill>
                  <a:srgbClr val="C00000"/>
                </a:solidFill>
                <a:latin typeface="Tahoma"/>
                <a:cs typeface="Tahoma"/>
              </a:rPr>
              <a:t>Attention</a:t>
            </a:r>
            <a:r>
              <a:rPr sz="3094" spc="-113" baseline="101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94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powerful;</a:t>
            </a:r>
            <a:r>
              <a:rPr sz="2100" spc="-94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allows</a:t>
            </a:r>
            <a:r>
              <a:rPr sz="2100" spc="-9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us</a:t>
            </a:r>
            <a:r>
              <a:rPr sz="2100" spc="-94" dirty="0">
                <a:latin typeface="Tahoma"/>
                <a:cs typeface="Tahoma"/>
              </a:rPr>
              <a:t> </a:t>
            </a:r>
            <a:r>
              <a:rPr sz="2100" spc="19" dirty="0">
                <a:latin typeface="Tahoma"/>
                <a:cs typeface="Tahoma"/>
              </a:rPr>
              <a:t>to </a:t>
            </a:r>
            <a:r>
              <a:rPr sz="2100" dirty="0">
                <a:latin typeface="Tahoma"/>
                <a:cs typeface="Tahoma"/>
              </a:rPr>
              <a:t>conditionally</a:t>
            </a:r>
            <a:r>
              <a:rPr sz="2100" spc="94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weight</a:t>
            </a:r>
            <a:r>
              <a:rPr sz="2100" spc="86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our</a:t>
            </a:r>
            <a:r>
              <a:rPr sz="2100" spc="90" dirty="0">
                <a:latin typeface="Tahoma"/>
                <a:cs typeface="Tahoma"/>
              </a:rPr>
              <a:t> </a:t>
            </a:r>
            <a:r>
              <a:rPr sz="2100" spc="-8" dirty="0">
                <a:latin typeface="Tahoma"/>
                <a:cs typeface="Tahoma"/>
              </a:rPr>
              <a:t>focus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3101" y="350901"/>
            <a:ext cx="1038701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400" spc="53" dirty="0">
                <a:solidFill>
                  <a:srgbClr val="404040"/>
                </a:solidFill>
              </a:rPr>
              <a:t>Outline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794601" y="1794872"/>
            <a:ext cx="578644" cy="143351"/>
            <a:chOff x="1059468" y="2393162"/>
            <a:chExt cx="771525" cy="191135"/>
          </a:xfrm>
        </p:grpSpPr>
        <p:sp>
          <p:nvSpPr>
            <p:cNvPr id="4" name="object 4"/>
            <p:cNvSpPr/>
            <p:nvPr/>
          </p:nvSpPr>
          <p:spPr>
            <a:xfrm>
              <a:off x="1059468" y="2393162"/>
              <a:ext cx="771525" cy="90805"/>
            </a:xfrm>
            <a:custGeom>
              <a:avLst/>
              <a:gdLst/>
              <a:ahLst/>
              <a:cxnLst/>
              <a:rect l="l" t="t" r="r" b="b"/>
              <a:pathLst>
                <a:path w="771525" h="90805">
                  <a:moveTo>
                    <a:pt x="771242" y="0"/>
                  </a:moveTo>
                  <a:lnTo>
                    <a:pt x="0" y="0"/>
                  </a:lnTo>
                  <a:lnTo>
                    <a:pt x="0" y="90716"/>
                  </a:lnTo>
                  <a:lnTo>
                    <a:pt x="771242" y="90716"/>
                  </a:lnTo>
                  <a:lnTo>
                    <a:pt x="771242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59468" y="2483877"/>
              <a:ext cx="771525" cy="100965"/>
            </a:xfrm>
            <a:custGeom>
              <a:avLst/>
              <a:gdLst/>
              <a:ahLst/>
              <a:cxnLst/>
              <a:rect l="l" t="t" r="r" b="b"/>
              <a:pathLst>
                <a:path w="771525" h="100964">
                  <a:moveTo>
                    <a:pt x="771242" y="0"/>
                  </a:moveTo>
                  <a:lnTo>
                    <a:pt x="0" y="0"/>
                  </a:lnTo>
                  <a:lnTo>
                    <a:pt x="0" y="100361"/>
                  </a:lnTo>
                  <a:lnTo>
                    <a:pt x="771242" y="100361"/>
                  </a:lnTo>
                  <a:lnTo>
                    <a:pt x="771242" y="0"/>
                  </a:lnTo>
                  <a:close/>
                </a:path>
              </a:pathLst>
            </a:custGeom>
            <a:solidFill>
              <a:srgbClr val="3857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94601" y="1177563"/>
            <a:ext cx="578644" cy="143351"/>
            <a:chOff x="1059468" y="1570083"/>
            <a:chExt cx="771525" cy="191135"/>
          </a:xfrm>
        </p:grpSpPr>
        <p:sp>
          <p:nvSpPr>
            <p:cNvPr id="7" name="object 7"/>
            <p:cNvSpPr/>
            <p:nvPr/>
          </p:nvSpPr>
          <p:spPr>
            <a:xfrm>
              <a:off x="1059468" y="1570083"/>
              <a:ext cx="771525" cy="90805"/>
            </a:xfrm>
            <a:custGeom>
              <a:avLst/>
              <a:gdLst/>
              <a:ahLst/>
              <a:cxnLst/>
              <a:rect l="l" t="t" r="r" b="b"/>
              <a:pathLst>
                <a:path w="771525" h="90805">
                  <a:moveTo>
                    <a:pt x="771242" y="0"/>
                  </a:moveTo>
                  <a:lnTo>
                    <a:pt x="0" y="0"/>
                  </a:lnTo>
                  <a:lnTo>
                    <a:pt x="0" y="90716"/>
                  </a:lnTo>
                  <a:lnTo>
                    <a:pt x="771242" y="90716"/>
                  </a:lnTo>
                  <a:lnTo>
                    <a:pt x="771242" y="0"/>
                  </a:lnTo>
                  <a:close/>
                </a:path>
              </a:pathLst>
            </a:custGeom>
            <a:solidFill>
              <a:srgbClr val="FEE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59468" y="1660798"/>
              <a:ext cx="771525" cy="100965"/>
            </a:xfrm>
            <a:custGeom>
              <a:avLst/>
              <a:gdLst/>
              <a:ahLst/>
              <a:cxnLst/>
              <a:rect l="l" t="t" r="r" b="b"/>
              <a:pathLst>
                <a:path w="771525" h="100964">
                  <a:moveTo>
                    <a:pt x="771242" y="0"/>
                  </a:moveTo>
                  <a:lnTo>
                    <a:pt x="0" y="0"/>
                  </a:lnTo>
                  <a:lnTo>
                    <a:pt x="0" y="100360"/>
                  </a:lnTo>
                  <a:lnTo>
                    <a:pt x="771242" y="100360"/>
                  </a:lnTo>
                  <a:lnTo>
                    <a:pt x="771242" y="0"/>
                  </a:lnTo>
                  <a:close/>
                </a:path>
              </a:pathLst>
            </a:custGeom>
            <a:solidFill>
              <a:srgbClr val="BF9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674812" y="1024509"/>
            <a:ext cx="2506503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5" dirty="0">
                <a:solidFill>
                  <a:srgbClr val="3B3838"/>
                </a:solidFill>
                <a:latin typeface="Tahoma"/>
                <a:cs typeface="Tahoma"/>
              </a:rPr>
              <a:t>seq2seq</a:t>
            </a:r>
            <a:r>
              <a:rPr sz="2100" spc="-64" dirty="0">
                <a:solidFill>
                  <a:srgbClr val="3B3838"/>
                </a:solidFill>
                <a:latin typeface="Tahoma"/>
                <a:cs typeface="Tahoma"/>
              </a:rPr>
              <a:t> </a:t>
            </a:r>
            <a:r>
              <a:rPr sz="2100" spc="-143" dirty="0">
                <a:solidFill>
                  <a:srgbClr val="3B3838"/>
                </a:solidFill>
                <a:latin typeface="Tahoma"/>
                <a:cs typeface="Tahoma"/>
              </a:rPr>
              <a:t>+</a:t>
            </a:r>
            <a:r>
              <a:rPr sz="2100" spc="-68" dirty="0">
                <a:solidFill>
                  <a:srgbClr val="3B3838"/>
                </a:solidFill>
                <a:latin typeface="Tahoma"/>
                <a:cs typeface="Tahoma"/>
              </a:rPr>
              <a:t> </a:t>
            </a:r>
            <a:r>
              <a:rPr sz="2100" spc="56" dirty="0">
                <a:solidFill>
                  <a:srgbClr val="3B3838"/>
                </a:solidFill>
                <a:latin typeface="Tahoma"/>
                <a:cs typeface="Tahoma"/>
              </a:rPr>
              <a:t>Attention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39008" y="4812546"/>
            <a:ext cx="183356" cy="142347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28575">
              <a:spcBef>
                <a:spcPts val="30"/>
              </a:spcBef>
            </a:pPr>
            <a:fld id="{81D60167-4931-47E6-BA6A-407CBD079E47}" type="slidenum">
              <a:rPr sz="900" spc="-19" dirty="0">
                <a:solidFill>
                  <a:srgbClr val="898989"/>
                </a:solidFill>
                <a:latin typeface="Calibri"/>
                <a:cs typeface="Calibri"/>
              </a:rPr>
              <a:pPr marL="28575">
                <a:spcBef>
                  <a:spcPts val="30"/>
                </a:spcBef>
              </a:pPr>
              <a:t>55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5757" y="1665631"/>
            <a:ext cx="1850231" cy="338554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15240" rIns="0" bIns="0" rtlCol="0">
            <a:spAutoFit/>
          </a:bodyPr>
          <a:lstStyle/>
          <a:p>
            <a:pPr marL="68580">
              <a:spcBef>
                <a:spcPts val="120"/>
              </a:spcBef>
            </a:pPr>
            <a:r>
              <a:rPr sz="2100" dirty="0">
                <a:solidFill>
                  <a:srgbClr val="3B3838"/>
                </a:solidFill>
                <a:latin typeface="Tahoma"/>
                <a:cs typeface="Tahoma"/>
              </a:rPr>
              <a:t>Self-</a:t>
            </a:r>
            <a:r>
              <a:rPr sz="2100" spc="56" dirty="0">
                <a:solidFill>
                  <a:srgbClr val="3B3838"/>
                </a:solidFill>
                <a:latin typeface="Tahoma"/>
                <a:cs typeface="Tahoma"/>
              </a:rPr>
              <a:t>Attention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7854" y="578611"/>
            <a:ext cx="4856321" cy="98108"/>
          </a:xfrm>
          <a:custGeom>
            <a:avLst/>
            <a:gdLst/>
            <a:ahLst/>
            <a:cxnLst/>
            <a:rect l="l" t="t" r="r" b="b"/>
            <a:pathLst>
              <a:path w="6475095" h="130809">
                <a:moveTo>
                  <a:pt x="6474895" y="0"/>
                </a:moveTo>
                <a:lnTo>
                  <a:pt x="0" y="0"/>
                </a:lnTo>
                <a:lnTo>
                  <a:pt x="0" y="130218"/>
                </a:lnTo>
                <a:lnTo>
                  <a:pt x="6474895" y="130218"/>
                </a:lnTo>
                <a:lnTo>
                  <a:pt x="647489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41" dirty="0"/>
              <a:t>Goals</a:t>
            </a:r>
          </a:p>
        </p:txBody>
      </p:sp>
      <p:sp>
        <p:nvSpPr>
          <p:cNvPr id="4" name="object 4"/>
          <p:cNvSpPr/>
          <p:nvPr/>
        </p:nvSpPr>
        <p:spPr>
          <a:xfrm>
            <a:off x="2099649" y="2562530"/>
            <a:ext cx="959168" cy="304800"/>
          </a:xfrm>
          <a:custGeom>
            <a:avLst/>
            <a:gdLst/>
            <a:ahLst/>
            <a:cxnLst/>
            <a:rect l="l" t="t" r="r" b="b"/>
            <a:pathLst>
              <a:path w="1278889" h="406400">
                <a:moveTo>
                  <a:pt x="1278572" y="0"/>
                </a:moveTo>
                <a:lnTo>
                  <a:pt x="0" y="0"/>
                </a:lnTo>
                <a:lnTo>
                  <a:pt x="0" y="406400"/>
                </a:lnTo>
                <a:lnTo>
                  <a:pt x="1278572" y="406400"/>
                </a:lnTo>
                <a:lnTo>
                  <a:pt x="127857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6907" y="891159"/>
            <a:ext cx="7110413" cy="308052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80022" marR="3810" indent="-170497">
              <a:lnSpc>
                <a:spcPct val="151200"/>
              </a:lnSpc>
              <a:spcBef>
                <a:spcPts val="120"/>
              </a:spcBef>
              <a:buFont typeface="Arial MT"/>
              <a:buChar char="•"/>
              <a:tabLst>
                <a:tab pos="180975" algn="l"/>
              </a:tabLst>
            </a:pPr>
            <a:r>
              <a:rPr dirty="0">
                <a:latin typeface="Tahoma"/>
                <a:cs typeface="Tahoma"/>
              </a:rPr>
              <a:t>Each</a:t>
            </a:r>
            <a:r>
              <a:rPr spc="-68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word</a:t>
            </a:r>
            <a:r>
              <a:rPr spc="-68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in</a:t>
            </a:r>
            <a:r>
              <a:rPr spc="-68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a</a:t>
            </a:r>
            <a:r>
              <a:rPr spc="-64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sequence</a:t>
            </a:r>
            <a:r>
              <a:rPr spc="-64" dirty="0">
                <a:latin typeface="Tahoma"/>
                <a:cs typeface="Tahoma"/>
              </a:rPr>
              <a:t> </a:t>
            </a:r>
            <a:r>
              <a:rPr spc="38" dirty="0">
                <a:latin typeface="Tahoma"/>
                <a:cs typeface="Tahoma"/>
              </a:rPr>
              <a:t>to</a:t>
            </a:r>
            <a:r>
              <a:rPr spc="-68" dirty="0">
                <a:latin typeface="Tahoma"/>
                <a:cs typeface="Tahoma"/>
              </a:rPr>
              <a:t> </a:t>
            </a:r>
            <a:r>
              <a:rPr spc="71" dirty="0">
                <a:latin typeface="Tahoma"/>
                <a:cs typeface="Tahoma"/>
              </a:rPr>
              <a:t>be</a:t>
            </a:r>
            <a:r>
              <a:rPr spc="-64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transformed</a:t>
            </a:r>
            <a:r>
              <a:rPr spc="-68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into</a:t>
            </a:r>
            <a:r>
              <a:rPr spc="-68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a</a:t>
            </a:r>
            <a:r>
              <a:rPr spc="-64" dirty="0">
                <a:latin typeface="Tahoma"/>
                <a:cs typeface="Tahoma"/>
              </a:rPr>
              <a:t> </a:t>
            </a:r>
            <a:r>
              <a:rPr spc="-19" dirty="0">
                <a:latin typeface="Tahoma"/>
                <a:cs typeface="Tahoma"/>
              </a:rPr>
              <a:t>rich,</a:t>
            </a:r>
            <a:r>
              <a:rPr spc="-64" dirty="0">
                <a:latin typeface="Tahoma"/>
                <a:cs typeface="Tahoma"/>
              </a:rPr>
              <a:t> </a:t>
            </a:r>
            <a:r>
              <a:rPr spc="-8" dirty="0">
                <a:latin typeface="Tahoma"/>
                <a:cs typeface="Tahoma"/>
              </a:rPr>
              <a:t>abstract 	</a:t>
            </a:r>
            <a:r>
              <a:rPr sz="2644" baseline="1182" dirty="0">
                <a:latin typeface="Tahoma"/>
                <a:cs typeface="Tahoma"/>
              </a:rPr>
              <a:t>representation</a:t>
            </a:r>
            <a:r>
              <a:rPr sz="2644" spc="78" baseline="1182" dirty="0">
                <a:latin typeface="Tahoma"/>
                <a:cs typeface="Tahoma"/>
              </a:rPr>
              <a:t> </a:t>
            </a:r>
            <a:r>
              <a:rPr spc="-15" dirty="0">
                <a:latin typeface="Tahoma"/>
                <a:cs typeface="Tahoma"/>
              </a:rPr>
              <a:t>(</a:t>
            </a:r>
            <a:r>
              <a:rPr spc="-15" dirty="0">
                <a:solidFill>
                  <a:srgbClr val="C00000"/>
                </a:solidFill>
                <a:latin typeface="Tahoma"/>
                <a:cs typeface="Tahoma"/>
              </a:rPr>
              <a:t>context</a:t>
            </a:r>
            <a:r>
              <a:rPr spc="38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C00000"/>
                </a:solidFill>
                <a:latin typeface="Tahoma"/>
                <a:cs typeface="Tahoma"/>
              </a:rPr>
              <a:t>embedding</a:t>
            </a:r>
            <a:r>
              <a:rPr dirty="0">
                <a:latin typeface="Tahoma"/>
                <a:cs typeface="Tahoma"/>
              </a:rPr>
              <a:t>)</a:t>
            </a:r>
            <a:r>
              <a:rPr spc="41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based</a:t>
            </a:r>
            <a:r>
              <a:rPr spc="34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on</a:t>
            </a:r>
            <a:r>
              <a:rPr spc="41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the</a:t>
            </a:r>
            <a:r>
              <a:rPr spc="41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weighted</a:t>
            </a:r>
            <a:r>
              <a:rPr spc="34" dirty="0">
                <a:latin typeface="Tahoma"/>
                <a:cs typeface="Tahoma"/>
              </a:rPr>
              <a:t> </a:t>
            </a:r>
            <a:r>
              <a:rPr spc="-15" dirty="0">
                <a:latin typeface="Tahoma"/>
                <a:cs typeface="Tahoma"/>
              </a:rPr>
              <a:t>sums</a:t>
            </a:r>
            <a:r>
              <a:rPr spc="41" dirty="0">
                <a:latin typeface="Tahoma"/>
                <a:cs typeface="Tahoma"/>
              </a:rPr>
              <a:t> </a:t>
            </a:r>
            <a:r>
              <a:rPr spc="-19" dirty="0">
                <a:latin typeface="Tahoma"/>
                <a:cs typeface="Tahoma"/>
              </a:rPr>
              <a:t>of 	</a:t>
            </a:r>
            <a:r>
              <a:rPr dirty="0">
                <a:latin typeface="Tahoma"/>
                <a:cs typeface="Tahoma"/>
              </a:rPr>
              <a:t>the</a:t>
            </a:r>
            <a:r>
              <a:rPr spc="-53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other</a:t>
            </a:r>
            <a:r>
              <a:rPr spc="-53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words</a:t>
            </a:r>
            <a:r>
              <a:rPr spc="-53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in</a:t>
            </a:r>
            <a:r>
              <a:rPr spc="-49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the</a:t>
            </a:r>
            <a:r>
              <a:rPr spc="-53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same</a:t>
            </a:r>
            <a:r>
              <a:rPr spc="-53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sequence</a:t>
            </a:r>
            <a:r>
              <a:rPr spc="-53" dirty="0">
                <a:latin typeface="Tahoma"/>
                <a:cs typeface="Tahoma"/>
              </a:rPr>
              <a:t> </a:t>
            </a:r>
            <a:r>
              <a:rPr spc="-64" dirty="0">
                <a:latin typeface="Tahoma"/>
                <a:cs typeface="Tahoma"/>
              </a:rPr>
              <a:t>(akin</a:t>
            </a:r>
            <a:r>
              <a:rPr spc="-49" dirty="0">
                <a:latin typeface="Tahoma"/>
                <a:cs typeface="Tahoma"/>
              </a:rPr>
              <a:t> </a:t>
            </a:r>
            <a:r>
              <a:rPr spc="38" dirty="0">
                <a:latin typeface="Tahoma"/>
                <a:cs typeface="Tahoma"/>
              </a:rPr>
              <a:t>to</a:t>
            </a:r>
            <a:r>
              <a:rPr spc="-56" dirty="0">
                <a:latin typeface="Tahoma"/>
                <a:cs typeface="Tahoma"/>
              </a:rPr>
              <a:t> </a:t>
            </a:r>
            <a:r>
              <a:rPr spc="71" dirty="0">
                <a:latin typeface="Tahoma"/>
                <a:cs typeface="Tahoma"/>
              </a:rPr>
              <a:t>deep</a:t>
            </a:r>
            <a:r>
              <a:rPr spc="-56" dirty="0">
                <a:latin typeface="Tahoma"/>
                <a:cs typeface="Tahoma"/>
              </a:rPr>
              <a:t> </a:t>
            </a:r>
            <a:r>
              <a:rPr spc="184" dirty="0">
                <a:latin typeface="Tahoma"/>
                <a:cs typeface="Tahoma"/>
              </a:rPr>
              <a:t>CNN</a:t>
            </a:r>
            <a:r>
              <a:rPr spc="-56" dirty="0">
                <a:latin typeface="Tahoma"/>
                <a:cs typeface="Tahoma"/>
              </a:rPr>
              <a:t> </a:t>
            </a:r>
            <a:r>
              <a:rPr spc="-8" dirty="0">
                <a:latin typeface="Tahoma"/>
                <a:cs typeface="Tahoma"/>
              </a:rPr>
              <a:t>layers)</a:t>
            </a:r>
            <a:endParaRPr>
              <a:latin typeface="Tahoma"/>
              <a:cs typeface="Tahoma"/>
            </a:endParaRPr>
          </a:p>
          <a:p>
            <a:pPr>
              <a:spcBef>
                <a:spcPts val="75"/>
              </a:spcBef>
              <a:buFont typeface="Arial MT"/>
              <a:buChar char="•"/>
            </a:pPr>
            <a:endParaRPr>
              <a:latin typeface="Tahoma"/>
              <a:cs typeface="Tahoma"/>
            </a:endParaRPr>
          </a:p>
          <a:p>
            <a:pPr marL="180022" marR="58579" indent="-170497">
              <a:lnSpc>
                <a:spcPct val="149200"/>
              </a:lnSpc>
              <a:buFont typeface="Arial MT"/>
              <a:buChar char="•"/>
              <a:tabLst>
                <a:tab pos="180975" algn="l"/>
              </a:tabLst>
            </a:pPr>
            <a:r>
              <a:rPr spc="-8" dirty="0">
                <a:latin typeface="Tahoma"/>
                <a:cs typeface="Tahoma"/>
              </a:rPr>
              <a:t>Inspired</a:t>
            </a:r>
            <a:r>
              <a:rPr spc="-68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by</a:t>
            </a:r>
            <a:r>
              <a:rPr spc="-6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Attention,</a:t>
            </a:r>
            <a:r>
              <a:rPr spc="-6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we</a:t>
            </a:r>
            <a:r>
              <a:rPr spc="-60" dirty="0">
                <a:latin typeface="Tahoma"/>
                <a:cs typeface="Tahoma"/>
              </a:rPr>
              <a:t> </a:t>
            </a:r>
            <a:r>
              <a:rPr spc="-30" dirty="0">
                <a:latin typeface="Tahoma"/>
                <a:cs typeface="Tahoma"/>
              </a:rPr>
              <a:t>want</a:t>
            </a:r>
            <a:r>
              <a:rPr spc="-6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each</a:t>
            </a:r>
            <a:r>
              <a:rPr spc="-6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word</a:t>
            </a:r>
            <a:r>
              <a:rPr spc="-68" dirty="0">
                <a:latin typeface="Tahoma"/>
                <a:cs typeface="Tahoma"/>
              </a:rPr>
              <a:t> </a:t>
            </a:r>
            <a:r>
              <a:rPr spc="38" dirty="0">
                <a:latin typeface="Tahoma"/>
                <a:cs typeface="Tahoma"/>
              </a:rPr>
              <a:t>to</a:t>
            </a:r>
            <a:r>
              <a:rPr spc="-64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determine,</a:t>
            </a:r>
            <a:r>
              <a:rPr spc="-60" dirty="0">
                <a:latin typeface="Tahoma"/>
                <a:cs typeface="Tahoma"/>
              </a:rPr>
              <a:t> </a:t>
            </a:r>
            <a:r>
              <a:rPr spc="53" dirty="0">
                <a:latin typeface="Tahoma"/>
                <a:cs typeface="Tahoma"/>
              </a:rPr>
              <a:t>“how</a:t>
            </a:r>
            <a:r>
              <a:rPr spc="-64" dirty="0">
                <a:latin typeface="Tahoma"/>
                <a:cs typeface="Tahoma"/>
              </a:rPr>
              <a:t> </a:t>
            </a:r>
            <a:r>
              <a:rPr spc="-15" dirty="0">
                <a:latin typeface="Tahoma"/>
                <a:cs typeface="Tahoma"/>
              </a:rPr>
              <a:t>much 	</a:t>
            </a:r>
            <a:r>
              <a:rPr dirty="0">
                <a:latin typeface="Tahoma"/>
                <a:cs typeface="Tahoma"/>
              </a:rPr>
              <a:t>should</a:t>
            </a:r>
            <a:r>
              <a:rPr spc="-49" dirty="0">
                <a:latin typeface="Tahoma"/>
                <a:cs typeface="Tahoma"/>
              </a:rPr>
              <a:t> </a:t>
            </a:r>
            <a:r>
              <a:rPr spc="-210" dirty="0">
                <a:latin typeface="Tahoma"/>
                <a:cs typeface="Tahoma"/>
              </a:rPr>
              <a:t>I</a:t>
            </a:r>
            <a:r>
              <a:rPr spc="-45" dirty="0">
                <a:latin typeface="Tahoma"/>
                <a:cs typeface="Tahoma"/>
              </a:rPr>
              <a:t> </a:t>
            </a:r>
            <a:r>
              <a:rPr spc="71" dirty="0">
                <a:latin typeface="Tahoma"/>
                <a:cs typeface="Tahoma"/>
              </a:rPr>
              <a:t>be</a:t>
            </a:r>
            <a:r>
              <a:rPr spc="-38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influenced</a:t>
            </a:r>
            <a:r>
              <a:rPr spc="-45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by</a:t>
            </a:r>
            <a:r>
              <a:rPr spc="-45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each</a:t>
            </a:r>
            <a:r>
              <a:rPr spc="-38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of</a:t>
            </a:r>
            <a:r>
              <a:rPr spc="-41" dirty="0">
                <a:latin typeface="Tahoma"/>
                <a:cs typeface="Tahoma"/>
              </a:rPr>
              <a:t> </a:t>
            </a:r>
            <a:r>
              <a:rPr spc="-15" dirty="0">
                <a:latin typeface="Tahoma"/>
                <a:cs typeface="Tahoma"/>
              </a:rPr>
              <a:t>my</a:t>
            </a:r>
            <a:r>
              <a:rPr spc="-41" dirty="0">
                <a:latin typeface="Tahoma"/>
                <a:cs typeface="Tahoma"/>
              </a:rPr>
              <a:t> </a:t>
            </a:r>
            <a:r>
              <a:rPr spc="38" dirty="0">
                <a:latin typeface="Tahoma"/>
                <a:cs typeface="Tahoma"/>
              </a:rPr>
              <a:t>neighbors”</a:t>
            </a:r>
            <a:endParaRPr>
              <a:latin typeface="Tahoma"/>
              <a:cs typeface="Tahoma"/>
            </a:endParaRPr>
          </a:p>
          <a:p>
            <a:pPr>
              <a:spcBef>
                <a:spcPts val="1140"/>
              </a:spcBef>
              <a:buFont typeface="Arial MT"/>
              <a:buChar char="•"/>
            </a:pPr>
            <a:endParaRPr>
              <a:latin typeface="Tahoma"/>
              <a:cs typeface="Tahoma"/>
            </a:endParaRPr>
          </a:p>
          <a:p>
            <a:pPr marL="180022" indent="-170497">
              <a:buFont typeface="Arial MT"/>
              <a:buChar char="•"/>
              <a:tabLst>
                <a:tab pos="180022" algn="l"/>
              </a:tabLst>
            </a:pPr>
            <a:r>
              <a:rPr dirty="0">
                <a:latin typeface="Tahoma"/>
                <a:cs typeface="Tahoma"/>
              </a:rPr>
              <a:t>Want</a:t>
            </a:r>
            <a:r>
              <a:rPr spc="-131" dirty="0">
                <a:latin typeface="Tahoma"/>
                <a:cs typeface="Tahoma"/>
              </a:rPr>
              <a:t> </a:t>
            </a:r>
            <a:r>
              <a:rPr spc="-8" dirty="0">
                <a:latin typeface="Tahoma"/>
                <a:cs typeface="Tahoma"/>
              </a:rPr>
              <a:t>positionality</a:t>
            </a:r>
            <a:endParaRPr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7854" y="578611"/>
            <a:ext cx="4856321" cy="98108"/>
          </a:xfrm>
          <a:custGeom>
            <a:avLst/>
            <a:gdLst/>
            <a:ahLst/>
            <a:cxnLst/>
            <a:rect l="l" t="t" r="r" b="b"/>
            <a:pathLst>
              <a:path w="6475095" h="130809">
                <a:moveTo>
                  <a:pt x="6474895" y="0"/>
                </a:moveTo>
                <a:lnTo>
                  <a:pt x="0" y="0"/>
                </a:lnTo>
                <a:lnTo>
                  <a:pt x="0" y="130218"/>
                </a:lnTo>
                <a:lnTo>
                  <a:pt x="6474895" y="130218"/>
                </a:lnTo>
                <a:lnTo>
                  <a:pt x="647489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8502" y="3272007"/>
            <a:ext cx="1008698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dirty="0">
                <a:solidFill>
                  <a:srgbClr val="262626"/>
                </a:solidFill>
                <a:latin typeface="Tahoma"/>
                <a:cs typeface="Tahoma"/>
              </a:rPr>
              <a:t>Input</a:t>
            </a:r>
            <a:r>
              <a:rPr sz="1313" spc="-64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8" dirty="0">
                <a:solidFill>
                  <a:srgbClr val="262626"/>
                </a:solidFill>
                <a:latin typeface="Tahoma"/>
                <a:cs typeface="Tahoma"/>
              </a:rPr>
              <a:t>vectors</a:t>
            </a:r>
            <a:endParaRPr sz="1313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28792" y="4004313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6"/>
                </a:lnTo>
                <a:lnTo>
                  <a:pt x="210167" y="567436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733745" y="2877664"/>
            <a:ext cx="262414" cy="1052036"/>
            <a:chOff x="3644993" y="3836884"/>
            <a:chExt cx="349885" cy="1402715"/>
          </a:xfrm>
        </p:grpSpPr>
        <p:sp>
          <p:nvSpPr>
            <p:cNvPr id="7" name="object 7"/>
            <p:cNvSpPr/>
            <p:nvPr/>
          </p:nvSpPr>
          <p:spPr>
            <a:xfrm>
              <a:off x="3664043" y="3855934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7786" y="4922884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7786" y="4676625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7786" y="4430365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7786" y="4178496"/>
              <a:ext cx="222250" cy="222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0071" y="3920501"/>
              <a:ext cx="222250" cy="222250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2740412" y="4004313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6" y="229395"/>
                </a:lnTo>
                <a:lnTo>
                  <a:pt x="119316" y="567436"/>
                </a:lnTo>
                <a:lnTo>
                  <a:pt x="210167" y="567436"/>
                </a:lnTo>
                <a:lnTo>
                  <a:pt x="210167" y="229395"/>
                </a:lnTo>
                <a:lnTo>
                  <a:pt x="329483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3524815" y="2877664"/>
            <a:ext cx="262414" cy="1052036"/>
            <a:chOff x="4699753" y="3836884"/>
            <a:chExt cx="349885" cy="1402715"/>
          </a:xfrm>
        </p:grpSpPr>
        <p:sp>
          <p:nvSpPr>
            <p:cNvPr id="15" name="object 15"/>
            <p:cNvSpPr/>
            <p:nvPr/>
          </p:nvSpPr>
          <p:spPr>
            <a:xfrm>
              <a:off x="4718803" y="3855934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62545" y="4922884"/>
              <a:ext cx="222250" cy="2222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45" y="4676625"/>
              <a:ext cx="222250" cy="2222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45" y="4430365"/>
              <a:ext cx="222250" cy="2222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45" y="4178496"/>
              <a:ext cx="222250" cy="2222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4829" y="3920501"/>
              <a:ext cx="222250" cy="222250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3531481" y="4004313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6" y="229395"/>
                </a:lnTo>
                <a:lnTo>
                  <a:pt x="119316" y="567436"/>
                </a:lnTo>
                <a:lnTo>
                  <a:pt x="210167" y="567436"/>
                </a:lnTo>
                <a:lnTo>
                  <a:pt x="210167" y="229395"/>
                </a:lnTo>
                <a:lnTo>
                  <a:pt x="329483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4340998" y="2877663"/>
            <a:ext cx="262414" cy="1052036"/>
            <a:chOff x="5787997" y="3836883"/>
            <a:chExt cx="349885" cy="1402715"/>
          </a:xfrm>
        </p:grpSpPr>
        <p:sp>
          <p:nvSpPr>
            <p:cNvPr id="23" name="object 23"/>
            <p:cNvSpPr/>
            <p:nvPr/>
          </p:nvSpPr>
          <p:spPr>
            <a:xfrm>
              <a:off x="5807047" y="3855933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50789" y="4922883"/>
              <a:ext cx="222250" cy="2222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0789" y="4676623"/>
              <a:ext cx="222250" cy="2222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0789" y="4430364"/>
              <a:ext cx="222250" cy="2222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0789" y="4178495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3074" y="3920500"/>
              <a:ext cx="222250" cy="222250"/>
            </a:xfrm>
            <a:prstGeom prst="rect">
              <a:avLst/>
            </a:prstGeom>
          </p:spPr>
        </p:pic>
      </p:grpSp>
      <p:sp>
        <p:nvSpPr>
          <p:cNvPr id="29" name="object 29"/>
          <p:cNvSpPr/>
          <p:nvPr/>
        </p:nvSpPr>
        <p:spPr>
          <a:xfrm>
            <a:off x="4347664" y="4004312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957957" y="709961"/>
            <a:ext cx="234315" cy="28091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763" spc="-19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744" spc="-28" baseline="-17921" dirty="0">
                <a:solidFill>
                  <a:srgbClr val="DE55B3"/>
                </a:solidFill>
                <a:latin typeface="Tahoma"/>
                <a:cs typeface="Tahoma"/>
              </a:rPr>
              <a:t>1</a:t>
            </a:r>
            <a:endParaRPr sz="1744" baseline="-17921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936722" y="1052745"/>
            <a:ext cx="262414" cy="1052036"/>
            <a:chOff x="2582295" y="1403659"/>
            <a:chExt cx="349885" cy="1402715"/>
          </a:xfrm>
        </p:grpSpPr>
        <p:sp>
          <p:nvSpPr>
            <p:cNvPr id="32" name="object 32"/>
            <p:cNvSpPr/>
            <p:nvPr/>
          </p:nvSpPr>
          <p:spPr>
            <a:xfrm>
              <a:off x="2601345" y="1422709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259473" y="0"/>
                  </a:move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9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9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close/>
                </a:path>
              </a:pathLst>
            </a:custGeom>
            <a:ln w="38100">
              <a:solidFill>
                <a:srgbClr val="FF7F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56248" y="1507260"/>
              <a:ext cx="203200" cy="2032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56248" y="1753519"/>
              <a:ext cx="203200" cy="2032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56248" y="1999777"/>
              <a:ext cx="203200" cy="2032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56248" y="2251646"/>
              <a:ext cx="203200" cy="2032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53963" y="2509643"/>
              <a:ext cx="203200" cy="20320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351074" y="1201428"/>
            <a:ext cx="1128713" cy="48574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marR="3810" indent="556736">
              <a:lnSpc>
                <a:spcPct val="124600"/>
              </a:lnSpc>
              <a:spcBef>
                <a:spcPts val="71"/>
              </a:spcBef>
            </a:pPr>
            <a:r>
              <a:rPr sz="1313" spc="45" dirty="0">
                <a:solidFill>
                  <a:srgbClr val="262626"/>
                </a:solidFill>
                <a:latin typeface="Tahoma"/>
                <a:cs typeface="Tahoma"/>
              </a:rPr>
              <a:t>Output </a:t>
            </a:r>
            <a:r>
              <a:rPr sz="1313" spc="-8" dirty="0">
                <a:solidFill>
                  <a:srgbClr val="262626"/>
                </a:solidFill>
                <a:latin typeface="Tahoma"/>
                <a:cs typeface="Tahoma"/>
              </a:rPr>
              <a:t>representation</a:t>
            </a:r>
            <a:endParaRPr sz="1313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769943" y="709961"/>
            <a:ext cx="234315" cy="28091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763" spc="-19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744" spc="-28" baseline="-17921" dirty="0">
                <a:solidFill>
                  <a:srgbClr val="DE55B3"/>
                </a:solidFill>
                <a:latin typeface="Tahoma"/>
                <a:cs typeface="Tahoma"/>
              </a:rPr>
              <a:t>2</a:t>
            </a:r>
            <a:endParaRPr sz="1744" baseline="-17921">
              <a:latin typeface="Tahoma"/>
              <a:cs typeface="Tahom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748708" y="1052745"/>
            <a:ext cx="262414" cy="1052036"/>
            <a:chOff x="3664943" y="1403659"/>
            <a:chExt cx="349885" cy="1402715"/>
          </a:xfrm>
        </p:grpSpPr>
        <p:sp>
          <p:nvSpPr>
            <p:cNvPr id="41" name="object 41"/>
            <p:cNvSpPr/>
            <p:nvPr/>
          </p:nvSpPr>
          <p:spPr>
            <a:xfrm>
              <a:off x="3683993" y="1422709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259473" y="0"/>
                  </a:move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9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9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close/>
                </a:path>
              </a:pathLst>
            </a:custGeom>
            <a:ln w="38100">
              <a:solidFill>
                <a:srgbClr val="FF7F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38896" y="1507260"/>
              <a:ext cx="203200" cy="2032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38896" y="1753519"/>
              <a:ext cx="203200" cy="2032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38896" y="1999777"/>
              <a:ext cx="203200" cy="2032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38896" y="2251646"/>
              <a:ext cx="203200" cy="2032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36611" y="2509643"/>
              <a:ext cx="203200" cy="203200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3548969" y="705389"/>
            <a:ext cx="234315" cy="28091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763" spc="-19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744" spc="-28" baseline="-17921" dirty="0">
                <a:solidFill>
                  <a:srgbClr val="DE55B3"/>
                </a:solidFill>
                <a:latin typeface="Tahoma"/>
                <a:cs typeface="Tahoma"/>
              </a:rPr>
              <a:t>3</a:t>
            </a:r>
            <a:endParaRPr sz="1744" baseline="-17921">
              <a:latin typeface="Tahoma"/>
              <a:cs typeface="Tahom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527733" y="1049857"/>
            <a:ext cx="262414" cy="1052036"/>
            <a:chOff x="4703643" y="1399809"/>
            <a:chExt cx="349885" cy="1402715"/>
          </a:xfrm>
        </p:grpSpPr>
        <p:sp>
          <p:nvSpPr>
            <p:cNvPr id="49" name="object 49"/>
            <p:cNvSpPr/>
            <p:nvPr/>
          </p:nvSpPr>
          <p:spPr>
            <a:xfrm>
              <a:off x="4722693" y="1418859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259473" y="0"/>
                  </a:move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9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9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close/>
                </a:path>
              </a:pathLst>
            </a:custGeom>
            <a:ln w="38100">
              <a:solidFill>
                <a:srgbClr val="FF7F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77596" y="1503409"/>
              <a:ext cx="203200" cy="2032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7596" y="1749668"/>
              <a:ext cx="203200" cy="2032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7596" y="1995928"/>
              <a:ext cx="203200" cy="2032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7596" y="2247797"/>
              <a:ext cx="203200" cy="2032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75313" y="2505792"/>
              <a:ext cx="203200" cy="203200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4360954" y="700817"/>
            <a:ext cx="234315" cy="28091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763" spc="-19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744" spc="-28" baseline="-17921" dirty="0">
                <a:solidFill>
                  <a:srgbClr val="DE55B3"/>
                </a:solidFill>
                <a:latin typeface="Tahoma"/>
                <a:cs typeface="Tahoma"/>
              </a:rPr>
              <a:t>4</a:t>
            </a:r>
            <a:endParaRPr sz="1744" baseline="-17921">
              <a:latin typeface="Tahoma"/>
              <a:cs typeface="Tahoma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4339719" y="1045123"/>
            <a:ext cx="262414" cy="1052036"/>
            <a:chOff x="5786292" y="1393496"/>
            <a:chExt cx="349885" cy="1402715"/>
          </a:xfrm>
        </p:grpSpPr>
        <p:sp>
          <p:nvSpPr>
            <p:cNvPr id="57" name="object 57"/>
            <p:cNvSpPr/>
            <p:nvPr/>
          </p:nvSpPr>
          <p:spPr>
            <a:xfrm>
              <a:off x="5805342" y="1412546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259473" y="0"/>
                  </a:move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9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9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close/>
                </a:path>
              </a:pathLst>
            </a:custGeom>
            <a:ln w="38100">
              <a:solidFill>
                <a:srgbClr val="FF7F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60244" y="1497096"/>
              <a:ext cx="203200" cy="2032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60244" y="1743354"/>
              <a:ext cx="203200" cy="2032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0244" y="1989613"/>
              <a:ext cx="203200" cy="2032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0244" y="2241482"/>
              <a:ext cx="203200" cy="2032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57960" y="2499479"/>
              <a:ext cx="203200" cy="203200"/>
            </a:xfrm>
            <a:prstGeom prst="rect">
              <a:avLst/>
            </a:prstGeom>
          </p:spPr>
        </p:pic>
      </p:grpSp>
      <p:grpSp>
        <p:nvGrpSpPr>
          <p:cNvPr id="63" name="object 63"/>
          <p:cNvGrpSpPr/>
          <p:nvPr/>
        </p:nvGrpSpPr>
        <p:grpSpPr>
          <a:xfrm>
            <a:off x="1941048" y="2877662"/>
            <a:ext cx="262414" cy="1052036"/>
            <a:chOff x="2588063" y="3836882"/>
            <a:chExt cx="349885" cy="1402715"/>
          </a:xfrm>
        </p:grpSpPr>
        <p:sp>
          <p:nvSpPr>
            <p:cNvPr id="64" name="object 64"/>
            <p:cNvSpPr/>
            <p:nvPr/>
          </p:nvSpPr>
          <p:spPr>
            <a:xfrm>
              <a:off x="2607113" y="3855932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50855" y="4922882"/>
              <a:ext cx="222250" cy="22225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0855" y="4676622"/>
              <a:ext cx="222250" cy="22225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0855" y="4430363"/>
              <a:ext cx="222250" cy="22225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0855" y="4178494"/>
              <a:ext cx="222250" cy="22225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3140" y="3920499"/>
              <a:ext cx="222250" cy="222250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2151151" y="2297629"/>
            <a:ext cx="2230755" cy="329899"/>
          </a:xfrm>
          <a:prstGeom prst="rect">
            <a:avLst/>
          </a:prstGeom>
          <a:ln w="38100">
            <a:solidFill>
              <a:srgbClr val="1F4E79"/>
            </a:solidFill>
          </a:ln>
        </p:spPr>
        <p:txBody>
          <a:bodyPr vert="horz" wrap="square" lIns="0" tIns="52388" rIns="0" bIns="0" rtlCol="0">
            <a:spAutoFit/>
          </a:bodyPr>
          <a:lstStyle/>
          <a:p>
            <a:pPr algn="ctr">
              <a:spcBef>
                <a:spcPts val="413"/>
              </a:spcBef>
            </a:pPr>
            <a:r>
              <a:rPr spc="-8" dirty="0">
                <a:latin typeface="Tahoma"/>
                <a:cs typeface="Tahoma"/>
              </a:rPr>
              <a:t>??????</a:t>
            </a:r>
            <a:endParaRPr>
              <a:latin typeface="Tahoma"/>
              <a:cs typeface="Tahom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775730" y="4461891"/>
            <a:ext cx="1431131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ts val="2059"/>
              </a:lnSpc>
              <a:spcBef>
                <a:spcPts val="75"/>
              </a:spcBef>
              <a:tabLst>
                <a:tab pos="757714" algn="l"/>
              </a:tabLst>
            </a:pPr>
            <a:r>
              <a:rPr spc="-19" dirty="0">
                <a:latin typeface="Tahoma"/>
                <a:cs typeface="Tahoma"/>
              </a:rPr>
              <a:t>The</a:t>
            </a:r>
            <a:r>
              <a:rPr dirty="0">
                <a:latin typeface="Tahoma"/>
                <a:cs typeface="Tahoma"/>
              </a:rPr>
              <a:t>	</a:t>
            </a: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  <a:p>
            <a:pPr marL="171450">
              <a:lnSpc>
                <a:spcPts val="1699"/>
              </a:lnSpc>
              <a:tabLst>
                <a:tab pos="981551" algn="l"/>
              </a:tabLst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r>
              <a:rPr sz="1463" baseline="-17094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2250" spc="-28" baseline="1388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4957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endParaRPr sz="1463" baseline="-14957">
              <a:latin typeface="Tahoma"/>
              <a:cs typeface="Tahom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393261" y="4473321"/>
            <a:ext cx="471964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2078"/>
              </a:lnSpc>
              <a:spcBef>
                <a:spcPts val="75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  <a:p>
            <a:pPr marL="43814" algn="ctr">
              <a:lnSpc>
                <a:spcPts val="1718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281315" y="4482465"/>
            <a:ext cx="380048" cy="4712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lnSpc>
                <a:spcPts val="2002"/>
              </a:lnSpc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  <a:p>
            <a:pPr marL="140970">
              <a:lnSpc>
                <a:spcPts val="164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574030" y="1098423"/>
            <a:ext cx="3244215" cy="65505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 marR="22860">
              <a:lnSpc>
                <a:spcPct val="150000"/>
              </a:lnSpc>
              <a:spcBef>
                <a:spcPts val="75"/>
              </a:spcBef>
            </a:pPr>
            <a:r>
              <a:rPr sz="2194" baseline="1424" dirty="0">
                <a:solidFill>
                  <a:srgbClr val="404040"/>
                </a:solidFill>
                <a:latin typeface="Tahoma"/>
                <a:cs typeface="Tahoma"/>
              </a:rPr>
              <a:t>Self-</a:t>
            </a:r>
            <a:r>
              <a:rPr sz="2194" spc="67" baseline="1424" dirty="0">
                <a:solidFill>
                  <a:srgbClr val="404040"/>
                </a:solidFill>
                <a:latin typeface="Tahoma"/>
                <a:cs typeface="Tahoma"/>
              </a:rPr>
              <a:t>Attention</a:t>
            </a:r>
            <a:r>
              <a:rPr sz="1500" spc="45" dirty="0">
                <a:solidFill>
                  <a:srgbClr val="404040"/>
                </a:solidFill>
                <a:latin typeface="Tahoma"/>
                <a:cs typeface="Tahoma"/>
              </a:rPr>
              <a:t>’s</a:t>
            </a:r>
            <a:r>
              <a:rPr sz="1500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38" dirty="0">
                <a:solidFill>
                  <a:srgbClr val="404040"/>
                </a:solidFill>
                <a:latin typeface="Tahoma"/>
                <a:cs typeface="Tahoma"/>
              </a:rPr>
              <a:t>goal</a:t>
            </a:r>
            <a:r>
              <a:rPr sz="1500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is</a:t>
            </a:r>
            <a:r>
              <a:rPr sz="1500" spc="-26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56" dirty="0">
                <a:solidFill>
                  <a:srgbClr val="404040"/>
                </a:solidFill>
                <a:latin typeface="Tahoma"/>
                <a:cs typeface="Tahoma"/>
              </a:rPr>
              <a:t>to</a:t>
            </a:r>
            <a:r>
              <a:rPr sz="1500" spc="-26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-8" dirty="0">
                <a:solidFill>
                  <a:srgbClr val="404040"/>
                </a:solidFill>
                <a:latin typeface="Tahoma"/>
                <a:cs typeface="Tahoma"/>
              </a:rPr>
              <a:t>create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great</a:t>
            </a:r>
            <a:r>
              <a:rPr sz="1500" spc="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representations,</a:t>
            </a:r>
            <a:r>
              <a:rPr sz="1500" spc="26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406" baseline="-17777" dirty="0">
                <a:solidFill>
                  <a:srgbClr val="DE55B3"/>
                </a:solidFill>
                <a:latin typeface="Tahoma"/>
                <a:cs typeface="Tahoma"/>
              </a:rPr>
              <a:t>i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,</a:t>
            </a:r>
            <a:r>
              <a:rPr sz="1500" spc="19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404040"/>
                </a:solidFill>
                <a:latin typeface="Tahoma"/>
                <a:cs typeface="Tahoma"/>
              </a:rPr>
              <a:t>of</a:t>
            </a:r>
            <a:r>
              <a:rPr sz="1500" spc="26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the</a:t>
            </a:r>
            <a:r>
              <a:rPr sz="1500" spc="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-8" dirty="0">
                <a:solidFill>
                  <a:srgbClr val="404040"/>
                </a:solidFill>
                <a:latin typeface="Tahoma"/>
                <a:cs typeface="Tahoma"/>
              </a:rPr>
              <a:t>input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7854" y="578611"/>
            <a:ext cx="4856321" cy="98108"/>
          </a:xfrm>
          <a:custGeom>
            <a:avLst/>
            <a:gdLst/>
            <a:ahLst/>
            <a:cxnLst/>
            <a:rect l="l" t="t" r="r" b="b"/>
            <a:pathLst>
              <a:path w="6475095" h="130809">
                <a:moveTo>
                  <a:pt x="6474895" y="0"/>
                </a:moveTo>
                <a:lnTo>
                  <a:pt x="0" y="0"/>
                </a:lnTo>
                <a:lnTo>
                  <a:pt x="0" y="130218"/>
                </a:lnTo>
                <a:lnTo>
                  <a:pt x="6474895" y="130218"/>
                </a:lnTo>
                <a:lnTo>
                  <a:pt x="647489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sp>
        <p:nvSpPr>
          <p:cNvPr id="4" name="object 4"/>
          <p:cNvSpPr/>
          <p:nvPr/>
        </p:nvSpPr>
        <p:spPr>
          <a:xfrm>
            <a:off x="1928792" y="4004313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6"/>
                </a:lnTo>
                <a:lnTo>
                  <a:pt x="210167" y="567436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40412" y="4004313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6" y="229395"/>
                </a:lnTo>
                <a:lnTo>
                  <a:pt x="119316" y="567436"/>
                </a:lnTo>
                <a:lnTo>
                  <a:pt x="210167" y="567436"/>
                </a:lnTo>
                <a:lnTo>
                  <a:pt x="210167" y="229395"/>
                </a:lnTo>
                <a:lnTo>
                  <a:pt x="329483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31481" y="4004313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6" y="229395"/>
                </a:lnTo>
                <a:lnTo>
                  <a:pt x="119316" y="567436"/>
                </a:lnTo>
                <a:lnTo>
                  <a:pt x="210167" y="567436"/>
                </a:lnTo>
                <a:lnTo>
                  <a:pt x="210167" y="229395"/>
                </a:lnTo>
                <a:lnTo>
                  <a:pt x="329483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47664" y="4004312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941047" y="2075815"/>
            <a:ext cx="2662238" cy="1854041"/>
            <a:chOff x="2588063" y="2767752"/>
            <a:chExt cx="3549650" cy="2472055"/>
          </a:xfrm>
        </p:grpSpPr>
        <p:sp>
          <p:nvSpPr>
            <p:cNvPr id="9" name="object 9"/>
            <p:cNvSpPr/>
            <p:nvPr/>
          </p:nvSpPr>
          <p:spPr>
            <a:xfrm>
              <a:off x="3664043" y="3855934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7786" y="4922884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7786" y="4676625"/>
              <a:ext cx="222250" cy="222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7786" y="4430365"/>
              <a:ext cx="222250" cy="2222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7786" y="4178496"/>
              <a:ext cx="222250" cy="2222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0071" y="3920501"/>
              <a:ext cx="222250" cy="22225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718803" y="3855934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62545" y="4922884"/>
              <a:ext cx="222250" cy="2222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45" y="4676625"/>
              <a:ext cx="222250" cy="2222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45" y="4430365"/>
              <a:ext cx="222250" cy="2222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45" y="4178496"/>
              <a:ext cx="222250" cy="2222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4829" y="3920501"/>
              <a:ext cx="222250" cy="22225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807047" y="3855933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50789" y="4922883"/>
              <a:ext cx="222250" cy="22225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0789" y="4676623"/>
              <a:ext cx="222250" cy="22225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0789" y="4430364"/>
              <a:ext cx="222250" cy="2222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0789" y="4178495"/>
              <a:ext cx="222250" cy="2222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3074" y="3920500"/>
              <a:ext cx="222250" cy="22225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607113" y="3855931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50855" y="4922882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0855" y="4676622"/>
              <a:ext cx="222250" cy="2222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0855" y="4430363"/>
              <a:ext cx="222250" cy="2222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0855" y="4178494"/>
              <a:ext cx="222250" cy="2222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3140" y="3920498"/>
              <a:ext cx="222250" cy="22225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945600" y="2767761"/>
              <a:ext cx="2996565" cy="1113155"/>
            </a:xfrm>
            <a:custGeom>
              <a:avLst/>
              <a:gdLst/>
              <a:ahLst/>
              <a:cxnLst/>
              <a:rect l="l" t="t" r="r" b="b"/>
              <a:pathLst>
                <a:path w="2996565" h="1113154">
                  <a:moveTo>
                    <a:pt x="860717" y="998321"/>
                  </a:moveTo>
                  <a:lnTo>
                    <a:pt x="109664" y="166230"/>
                  </a:lnTo>
                  <a:lnTo>
                    <a:pt x="161493" y="119456"/>
                  </a:lnTo>
                  <a:lnTo>
                    <a:pt x="0" y="84391"/>
                  </a:lnTo>
                  <a:lnTo>
                    <a:pt x="18376" y="248627"/>
                  </a:lnTo>
                  <a:lnTo>
                    <a:pt x="70205" y="201853"/>
                  </a:lnTo>
                  <a:lnTo>
                    <a:pt x="821245" y="1033945"/>
                  </a:lnTo>
                  <a:lnTo>
                    <a:pt x="860717" y="998321"/>
                  </a:lnTo>
                  <a:close/>
                </a:path>
                <a:path w="2996565" h="1113154">
                  <a:moveTo>
                    <a:pt x="1839658" y="960945"/>
                  </a:moveTo>
                  <a:lnTo>
                    <a:pt x="296900" y="64960"/>
                  </a:lnTo>
                  <a:lnTo>
                    <a:pt x="334632" y="0"/>
                  </a:lnTo>
                  <a:lnTo>
                    <a:pt x="157632" y="17157"/>
                  </a:lnTo>
                  <a:lnTo>
                    <a:pt x="230441" y="179387"/>
                  </a:lnTo>
                  <a:lnTo>
                    <a:pt x="268173" y="114427"/>
                  </a:lnTo>
                  <a:lnTo>
                    <a:pt x="1810931" y="1010412"/>
                  </a:lnTo>
                  <a:lnTo>
                    <a:pt x="1839658" y="960945"/>
                  </a:lnTo>
                  <a:close/>
                </a:path>
                <a:path w="2996565" h="1113154">
                  <a:moveTo>
                    <a:pt x="2996031" y="1062609"/>
                  </a:moveTo>
                  <a:lnTo>
                    <a:pt x="774065" y="167868"/>
                  </a:lnTo>
                  <a:lnTo>
                    <a:pt x="800493" y="102235"/>
                  </a:lnTo>
                  <a:lnTo>
                    <a:pt x="637832" y="142036"/>
                  </a:lnTo>
                  <a:lnTo>
                    <a:pt x="727519" y="283464"/>
                  </a:lnTo>
                  <a:lnTo>
                    <a:pt x="753948" y="217843"/>
                  </a:lnTo>
                  <a:lnTo>
                    <a:pt x="2975914" y="1112583"/>
                  </a:lnTo>
                  <a:lnTo>
                    <a:pt x="2996031" y="1062609"/>
                  </a:lnTo>
                  <a:close/>
                </a:path>
              </a:pathLst>
            </a:custGeom>
            <a:solidFill>
              <a:srgbClr val="F4B1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957957" y="709961"/>
            <a:ext cx="234315" cy="28091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763" spc="-19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744" spc="-28" baseline="-17921" dirty="0">
                <a:solidFill>
                  <a:srgbClr val="DE55B3"/>
                </a:solidFill>
                <a:latin typeface="Tahoma"/>
                <a:cs typeface="Tahoma"/>
              </a:rPr>
              <a:t>1</a:t>
            </a:r>
            <a:endParaRPr sz="1744" baseline="-17921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936722" y="1052745"/>
            <a:ext cx="262414" cy="1052036"/>
            <a:chOff x="2582295" y="1403659"/>
            <a:chExt cx="349885" cy="1402715"/>
          </a:xfrm>
        </p:grpSpPr>
        <p:sp>
          <p:nvSpPr>
            <p:cNvPr id="36" name="object 36"/>
            <p:cNvSpPr/>
            <p:nvPr/>
          </p:nvSpPr>
          <p:spPr>
            <a:xfrm>
              <a:off x="2601345" y="1422709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259473" y="0"/>
                  </a:move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9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9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close/>
                </a:path>
              </a:pathLst>
            </a:custGeom>
            <a:ln w="38100">
              <a:solidFill>
                <a:srgbClr val="FF7F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56248" y="1507260"/>
              <a:ext cx="203200" cy="2032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56248" y="1753519"/>
              <a:ext cx="203200" cy="2032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56248" y="1999777"/>
              <a:ext cx="203200" cy="2032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56248" y="2251646"/>
              <a:ext cx="203200" cy="2032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53963" y="2509643"/>
              <a:ext cx="203200" cy="20320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351074" y="1201428"/>
            <a:ext cx="1128713" cy="48574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marR="3810" indent="556736">
              <a:lnSpc>
                <a:spcPct val="124600"/>
              </a:lnSpc>
              <a:spcBef>
                <a:spcPts val="71"/>
              </a:spcBef>
            </a:pPr>
            <a:r>
              <a:rPr sz="1313" spc="45" dirty="0">
                <a:solidFill>
                  <a:srgbClr val="262626"/>
                </a:solidFill>
                <a:latin typeface="Tahoma"/>
                <a:cs typeface="Tahoma"/>
              </a:rPr>
              <a:t>Output </a:t>
            </a:r>
            <a:r>
              <a:rPr sz="1313" spc="-8" dirty="0">
                <a:solidFill>
                  <a:srgbClr val="262626"/>
                </a:solidFill>
                <a:latin typeface="Tahoma"/>
                <a:cs typeface="Tahoma"/>
              </a:rPr>
              <a:t>representation</a:t>
            </a:r>
            <a:endParaRPr sz="1313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577575" y="2175128"/>
            <a:ext cx="2683669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194" baseline="1424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406" baseline="-15555" dirty="0">
                <a:solidFill>
                  <a:srgbClr val="DE55B3"/>
                </a:solidFill>
                <a:latin typeface="Tahoma"/>
                <a:cs typeface="Tahoma"/>
              </a:rPr>
              <a:t>1</a:t>
            </a:r>
            <a:r>
              <a:rPr sz="1406" spc="225" baseline="-15555" dirty="0">
                <a:solidFill>
                  <a:srgbClr val="DE55B3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will</a:t>
            </a:r>
            <a:r>
              <a:rPr sz="1500" spc="-34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64" dirty="0">
                <a:solidFill>
                  <a:srgbClr val="404040"/>
                </a:solidFill>
                <a:latin typeface="Tahoma"/>
                <a:cs typeface="Tahoma"/>
              </a:rPr>
              <a:t>be</a:t>
            </a:r>
            <a:r>
              <a:rPr sz="1500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38" dirty="0">
                <a:solidFill>
                  <a:srgbClr val="404040"/>
                </a:solidFill>
                <a:latin typeface="Tahoma"/>
                <a:cs typeface="Tahoma"/>
              </a:rPr>
              <a:t>based</a:t>
            </a:r>
            <a:r>
              <a:rPr sz="1500" spc="-34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on</a:t>
            </a:r>
            <a:r>
              <a:rPr sz="1500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a</a:t>
            </a:r>
            <a:r>
              <a:rPr sz="1500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26" dirty="0">
                <a:solidFill>
                  <a:srgbClr val="404040"/>
                </a:solidFill>
                <a:latin typeface="Tahoma"/>
                <a:cs typeface="Tahoma"/>
              </a:rPr>
              <a:t>weighted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596625" y="2518029"/>
            <a:ext cx="2277904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contribution</a:t>
            </a:r>
            <a:r>
              <a:rPr sz="1500" spc="-34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404040"/>
                </a:solidFill>
                <a:latin typeface="Tahoma"/>
                <a:cs typeface="Tahoma"/>
              </a:rPr>
              <a:t>of</a:t>
            </a:r>
            <a:r>
              <a:rPr sz="1500" spc="-38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194" spc="73" baseline="1424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2194" spc="191" baseline="1424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2194" spc="73" baseline="1424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2194" spc="191" baseline="1424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26" dirty="0">
                <a:latin typeface="Tahoma"/>
                <a:cs typeface="Tahoma"/>
              </a:rPr>
              <a:t> </a:t>
            </a:r>
            <a:r>
              <a:rPr sz="2194" spc="73" baseline="1424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2194" spc="191" baseline="1424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26" dirty="0">
                <a:latin typeface="Tahoma"/>
                <a:cs typeface="Tahoma"/>
              </a:rPr>
              <a:t> </a:t>
            </a:r>
            <a:r>
              <a:rPr sz="2194" spc="17" baseline="1424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endParaRPr sz="2194" baseline="1424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030137" y="2621934"/>
            <a:ext cx="913448" cy="156357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9525">
              <a:spcBef>
                <a:spcPts val="94"/>
              </a:spcBef>
              <a:tabLst>
                <a:tab pos="284321" algn="l"/>
                <a:tab pos="559118" algn="l"/>
                <a:tab pos="834390" algn="l"/>
              </a:tabLst>
            </a:pPr>
            <a:r>
              <a:rPr sz="938" spc="-38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r>
              <a:rPr sz="938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938" spc="-38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r>
              <a:rPr sz="938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938" spc="-38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r>
              <a:rPr sz="938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938" spc="-38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938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775730" y="4461891"/>
            <a:ext cx="1431131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ts val="2059"/>
              </a:lnSpc>
              <a:spcBef>
                <a:spcPts val="75"/>
              </a:spcBef>
              <a:tabLst>
                <a:tab pos="757714" algn="l"/>
              </a:tabLst>
            </a:pPr>
            <a:r>
              <a:rPr spc="-19" dirty="0">
                <a:latin typeface="Tahoma"/>
                <a:cs typeface="Tahoma"/>
              </a:rPr>
              <a:t>The</a:t>
            </a:r>
            <a:r>
              <a:rPr dirty="0">
                <a:latin typeface="Tahoma"/>
                <a:cs typeface="Tahoma"/>
              </a:rPr>
              <a:t>	</a:t>
            </a: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  <a:p>
            <a:pPr marL="171450">
              <a:lnSpc>
                <a:spcPts val="1699"/>
              </a:lnSpc>
              <a:tabLst>
                <a:tab pos="981551" algn="l"/>
              </a:tabLst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r>
              <a:rPr sz="1463" baseline="-17094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2250" spc="-28" baseline="1388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4957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endParaRPr sz="1463" baseline="-14957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393261" y="4473321"/>
            <a:ext cx="471964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2078"/>
              </a:lnSpc>
              <a:spcBef>
                <a:spcPts val="75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  <a:p>
            <a:pPr marL="43814" algn="ctr">
              <a:lnSpc>
                <a:spcPts val="1718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281315" y="4482465"/>
            <a:ext cx="380048" cy="4712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lnSpc>
                <a:spcPts val="2002"/>
              </a:lnSpc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  <a:p>
            <a:pPr marL="140970">
              <a:lnSpc>
                <a:spcPts val="164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18502" y="3272007"/>
            <a:ext cx="1008698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dirty="0">
                <a:solidFill>
                  <a:srgbClr val="262626"/>
                </a:solidFill>
                <a:latin typeface="Tahoma"/>
                <a:cs typeface="Tahoma"/>
              </a:rPr>
              <a:t>Input</a:t>
            </a:r>
            <a:r>
              <a:rPr sz="1313" spc="-64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8" dirty="0">
                <a:solidFill>
                  <a:srgbClr val="262626"/>
                </a:solidFill>
                <a:latin typeface="Tahoma"/>
                <a:cs typeface="Tahoma"/>
              </a:rPr>
              <a:t>vectors</a:t>
            </a:r>
            <a:endParaRPr sz="1313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574030" y="1098423"/>
            <a:ext cx="3244215" cy="65505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 marR="22860">
              <a:lnSpc>
                <a:spcPct val="150000"/>
              </a:lnSpc>
              <a:spcBef>
                <a:spcPts val="75"/>
              </a:spcBef>
            </a:pPr>
            <a:r>
              <a:rPr sz="2194" baseline="1424" dirty="0">
                <a:solidFill>
                  <a:srgbClr val="404040"/>
                </a:solidFill>
                <a:latin typeface="Tahoma"/>
                <a:cs typeface="Tahoma"/>
              </a:rPr>
              <a:t>Self-</a:t>
            </a:r>
            <a:r>
              <a:rPr sz="2194" spc="67" baseline="1424" dirty="0">
                <a:solidFill>
                  <a:srgbClr val="404040"/>
                </a:solidFill>
                <a:latin typeface="Tahoma"/>
                <a:cs typeface="Tahoma"/>
              </a:rPr>
              <a:t>Attention</a:t>
            </a:r>
            <a:r>
              <a:rPr sz="1500" spc="45" dirty="0">
                <a:solidFill>
                  <a:srgbClr val="404040"/>
                </a:solidFill>
                <a:latin typeface="Tahoma"/>
                <a:cs typeface="Tahoma"/>
              </a:rPr>
              <a:t>’s</a:t>
            </a:r>
            <a:r>
              <a:rPr sz="1500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38" dirty="0">
                <a:solidFill>
                  <a:srgbClr val="404040"/>
                </a:solidFill>
                <a:latin typeface="Tahoma"/>
                <a:cs typeface="Tahoma"/>
              </a:rPr>
              <a:t>goal</a:t>
            </a:r>
            <a:r>
              <a:rPr sz="1500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is</a:t>
            </a:r>
            <a:r>
              <a:rPr sz="1500" spc="-26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56" dirty="0">
                <a:solidFill>
                  <a:srgbClr val="404040"/>
                </a:solidFill>
                <a:latin typeface="Tahoma"/>
                <a:cs typeface="Tahoma"/>
              </a:rPr>
              <a:t>to</a:t>
            </a:r>
            <a:r>
              <a:rPr sz="1500" spc="-26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-8" dirty="0">
                <a:solidFill>
                  <a:srgbClr val="404040"/>
                </a:solidFill>
                <a:latin typeface="Tahoma"/>
                <a:cs typeface="Tahoma"/>
              </a:rPr>
              <a:t>create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great</a:t>
            </a:r>
            <a:r>
              <a:rPr sz="1500" spc="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representations,</a:t>
            </a:r>
            <a:r>
              <a:rPr sz="1500" spc="26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406" baseline="-17777" dirty="0">
                <a:solidFill>
                  <a:srgbClr val="DE55B3"/>
                </a:solidFill>
                <a:latin typeface="Tahoma"/>
                <a:cs typeface="Tahoma"/>
              </a:rPr>
              <a:t>i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,</a:t>
            </a:r>
            <a:r>
              <a:rPr sz="1500" spc="19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404040"/>
                </a:solidFill>
                <a:latin typeface="Tahoma"/>
                <a:cs typeface="Tahoma"/>
              </a:rPr>
              <a:t>of</a:t>
            </a:r>
            <a:r>
              <a:rPr sz="1500" spc="26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the</a:t>
            </a:r>
            <a:r>
              <a:rPr sz="1500" spc="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-8" dirty="0">
                <a:solidFill>
                  <a:srgbClr val="404040"/>
                </a:solidFill>
                <a:latin typeface="Tahoma"/>
                <a:cs typeface="Tahoma"/>
              </a:rPr>
              <a:t>input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004580" y="2153613"/>
            <a:ext cx="124301" cy="674846"/>
          </a:xfrm>
          <a:custGeom>
            <a:avLst/>
            <a:gdLst/>
            <a:ahLst/>
            <a:cxnLst/>
            <a:rect l="l" t="t" r="r" b="b"/>
            <a:pathLst>
              <a:path w="165735" h="899795">
                <a:moveTo>
                  <a:pt x="82790" y="0"/>
                </a:moveTo>
                <a:lnTo>
                  <a:pt x="0" y="115281"/>
                </a:lnTo>
                <a:lnTo>
                  <a:pt x="59960" y="115281"/>
                </a:lnTo>
                <a:lnTo>
                  <a:pt x="59960" y="899313"/>
                </a:lnTo>
                <a:lnTo>
                  <a:pt x="105619" y="899313"/>
                </a:lnTo>
                <a:lnTo>
                  <a:pt x="105619" y="115281"/>
                </a:lnTo>
                <a:lnTo>
                  <a:pt x="165581" y="115281"/>
                </a:lnTo>
                <a:lnTo>
                  <a:pt x="82790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1738737" y="2317624"/>
            <a:ext cx="278606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pc="-19" dirty="0">
                <a:latin typeface="Cambria Math"/>
                <a:cs typeface="Cambria Math"/>
              </a:rPr>
              <a:t>𝑎</a:t>
            </a:r>
            <a:r>
              <a:rPr sz="2025" spc="-28" baseline="-16975" dirty="0">
                <a:latin typeface="Cambria Math"/>
                <a:cs typeface="Cambria Math"/>
              </a:rPr>
              <a:t>1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885850" y="2287905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165062" y="2338198"/>
            <a:ext cx="283845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pc="-19" dirty="0">
                <a:latin typeface="Cambria Math"/>
                <a:cs typeface="Cambria Math"/>
              </a:rPr>
              <a:t>𝑎</a:t>
            </a:r>
            <a:r>
              <a:rPr sz="2025" spc="-28" baseline="-16975" dirty="0">
                <a:latin typeface="Cambria Math"/>
                <a:cs typeface="Cambria Math"/>
              </a:rPr>
              <a:t>2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312176" y="230619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914417" y="2415921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3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767969" y="2219326"/>
            <a:ext cx="28479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𝑎</a:t>
            </a:r>
            <a:r>
              <a:rPr sz="1350" spc="-19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662996" y="2372487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516549" y="2178177"/>
            <a:ext cx="28479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𝑎</a:t>
            </a:r>
            <a:r>
              <a:rPr sz="1350" spc="-19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7854" y="578611"/>
            <a:ext cx="4856321" cy="98108"/>
          </a:xfrm>
          <a:custGeom>
            <a:avLst/>
            <a:gdLst/>
            <a:ahLst/>
            <a:cxnLst/>
            <a:rect l="l" t="t" r="r" b="b"/>
            <a:pathLst>
              <a:path w="6475095" h="130809">
                <a:moveTo>
                  <a:pt x="6474895" y="0"/>
                </a:moveTo>
                <a:lnTo>
                  <a:pt x="0" y="0"/>
                </a:lnTo>
                <a:lnTo>
                  <a:pt x="0" y="130218"/>
                </a:lnTo>
                <a:lnTo>
                  <a:pt x="6474895" y="130218"/>
                </a:lnTo>
                <a:lnTo>
                  <a:pt x="647489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sp>
        <p:nvSpPr>
          <p:cNvPr id="4" name="object 4"/>
          <p:cNvSpPr/>
          <p:nvPr/>
        </p:nvSpPr>
        <p:spPr>
          <a:xfrm>
            <a:off x="1928792" y="4004313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6"/>
                </a:lnTo>
                <a:lnTo>
                  <a:pt x="210167" y="567436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40412" y="4004313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6" y="229395"/>
                </a:lnTo>
                <a:lnTo>
                  <a:pt x="119316" y="567436"/>
                </a:lnTo>
                <a:lnTo>
                  <a:pt x="210167" y="567436"/>
                </a:lnTo>
                <a:lnTo>
                  <a:pt x="210167" y="229395"/>
                </a:lnTo>
                <a:lnTo>
                  <a:pt x="329483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31481" y="4004313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6" y="229395"/>
                </a:lnTo>
                <a:lnTo>
                  <a:pt x="119316" y="567436"/>
                </a:lnTo>
                <a:lnTo>
                  <a:pt x="210167" y="567436"/>
                </a:lnTo>
                <a:lnTo>
                  <a:pt x="210167" y="229395"/>
                </a:lnTo>
                <a:lnTo>
                  <a:pt x="329483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47664" y="4004312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941047" y="2075815"/>
            <a:ext cx="2662238" cy="1854041"/>
            <a:chOff x="2588063" y="2767752"/>
            <a:chExt cx="3549650" cy="2472055"/>
          </a:xfrm>
        </p:grpSpPr>
        <p:sp>
          <p:nvSpPr>
            <p:cNvPr id="9" name="object 9"/>
            <p:cNvSpPr/>
            <p:nvPr/>
          </p:nvSpPr>
          <p:spPr>
            <a:xfrm>
              <a:off x="3664043" y="3855934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7786" y="4922884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7786" y="4676625"/>
              <a:ext cx="222250" cy="222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7786" y="4430365"/>
              <a:ext cx="222250" cy="2222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7786" y="4178496"/>
              <a:ext cx="222250" cy="2222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0071" y="3920501"/>
              <a:ext cx="222250" cy="22225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718803" y="3855934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62545" y="4922884"/>
              <a:ext cx="222250" cy="2222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45" y="4676625"/>
              <a:ext cx="222250" cy="2222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45" y="4430365"/>
              <a:ext cx="222250" cy="2222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45" y="4178496"/>
              <a:ext cx="222250" cy="2222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4829" y="3920501"/>
              <a:ext cx="222250" cy="22225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807047" y="3855933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50789" y="4922883"/>
              <a:ext cx="222250" cy="22225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0789" y="4676623"/>
              <a:ext cx="222250" cy="22225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0789" y="4430364"/>
              <a:ext cx="222250" cy="2222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0789" y="4178495"/>
              <a:ext cx="222250" cy="2222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3074" y="3920500"/>
              <a:ext cx="222250" cy="22225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607113" y="3855931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50855" y="4922882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0855" y="4676622"/>
              <a:ext cx="222250" cy="2222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0855" y="4430363"/>
              <a:ext cx="222250" cy="2222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0855" y="4178494"/>
              <a:ext cx="222250" cy="2222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3140" y="3920498"/>
              <a:ext cx="222250" cy="22225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945600" y="2767761"/>
              <a:ext cx="2996565" cy="1113155"/>
            </a:xfrm>
            <a:custGeom>
              <a:avLst/>
              <a:gdLst/>
              <a:ahLst/>
              <a:cxnLst/>
              <a:rect l="l" t="t" r="r" b="b"/>
              <a:pathLst>
                <a:path w="2996565" h="1113154">
                  <a:moveTo>
                    <a:pt x="860717" y="998321"/>
                  </a:moveTo>
                  <a:lnTo>
                    <a:pt x="109664" y="166230"/>
                  </a:lnTo>
                  <a:lnTo>
                    <a:pt x="161493" y="119456"/>
                  </a:lnTo>
                  <a:lnTo>
                    <a:pt x="0" y="84391"/>
                  </a:lnTo>
                  <a:lnTo>
                    <a:pt x="18376" y="248627"/>
                  </a:lnTo>
                  <a:lnTo>
                    <a:pt x="70205" y="201853"/>
                  </a:lnTo>
                  <a:lnTo>
                    <a:pt x="821245" y="1033945"/>
                  </a:lnTo>
                  <a:lnTo>
                    <a:pt x="860717" y="998321"/>
                  </a:lnTo>
                  <a:close/>
                </a:path>
                <a:path w="2996565" h="1113154">
                  <a:moveTo>
                    <a:pt x="1839658" y="960945"/>
                  </a:moveTo>
                  <a:lnTo>
                    <a:pt x="296900" y="64960"/>
                  </a:lnTo>
                  <a:lnTo>
                    <a:pt x="334632" y="0"/>
                  </a:lnTo>
                  <a:lnTo>
                    <a:pt x="157632" y="17157"/>
                  </a:lnTo>
                  <a:lnTo>
                    <a:pt x="230441" y="179387"/>
                  </a:lnTo>
                  <a:lnTo>
                    <a:pt x="268173" y="114427"/>
                  </a:lnTo>
                  <a:lnTo>
                    <a:pt x="1810931" y="1010412"/>
                  </a:lnTo>
                  <a:lnTo>
                    <a:pt x="1839658" y="960945"/>
                  </a:lnTo>
                  <a:close/>
                </a:path>
                <a:path w="2996565" h="1113154">
                  <a:moveTo>
                    <a:pt x="2996031" y="1062609"/>
                  </a:moveTo>
                  <a:lnTo>
                    <a:pt x="774065" y="167868"/>
                  </a:lnTo>
                  <a:lnTo>
                    <a:pt x="800493" y="102235"/>
                  </a:lnTo>
                  <a:lnTo>
                    <a:pt x="637832" y="142036"/>
                  </a:lnTo>
                  <a:lnTo>
                    <a:pt x="727519" y="283464"/>
                  </a:lnTo>
                  <a:lnTo>
                    <a:pt x="753948" y="217843"/>
                  </a:lnTo>
                  <a:lnTo>
                    <a:pt x="2975914" y="1112583"/>
                  </a:lnTo>
                  <a:lnTo>
                    <a:pt x="2996031" y="1062609"/>
                  </a:lnTo>
                  <a:close/>
                </a:path>
              </a:pathLst>
            </a:custGeom>
            <a:solidFill>
              <a:srgbClr val="F4B1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957957" y="709961"/>
            <a:ext cx="234315" cy="28091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763" spc="-19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744" spc="-28" baseline="-17921" dirty="0">
                <a:solidFill>
                  <a:srgbClr val="DE55B3"/>
                </a:solidFill>
                <a:latin typeface="Tahoma"/>
                <a:cs typeface="Tahoma"/>
              </a:rPr>
              <a:t>1</a:t>
            </a:r>
            <a:endParaRPr sz="1744" baseline="-17921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936722" y="1052745"/>
            <a:ext cx="262414" cy="1052036"/>
            <a:chOff x="2582295" y="1403659"/>
            <a:chExt cx="349885" cy="1402715"/>
          </a:xfrm>
        </p:grpSpPr>
        <p:sp>
          <p:nvSpPr>
            <p:cNvPr id="36" name="object 36"/>
            <p:cNvSpPr/>
            <p:nvPr/>
          </p:nvSpPr>
          <p:spPr>
            <a:xfrm>
              <a:off x="2601345" y="1422709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259473" y="0"/>
                  </a:move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9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9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close/>
                </a:path>
              </a:pathLst>
            </a:custGeom>
            <a:ln w="38100">
              <a:solidFill>
                <a:srgbClr val="FF7F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56248" y="1507260"/>
              <a:ext cx="203200" cy="2032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56248" y="1753519"/>
              <a:ext cx="203200" cy="2032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56248" y="1999777"/>
              <a:ext cx="203200" cy="2032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56248" y="2251646"/>
              <a:ext cx="203200" cy="2032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53963" y="2509643"/>
              <a:ext cx="203200" cy="20320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351074" y="1201428"/>
            <a:ext cx="1128713" cy="48574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marR="3810" indent="556736">
              <a:lnSpc>
                <a:spcPct val="124600"/>
              </a:lnSpc>
              <a:spcBef>
                <a:spcPts val="71"/>
              </a:spcBef>
            </a:pPr>
            <a:r>
              <a:rPr sz="1313" spc="45" dirty="0">
                <a:solidFill>
                  <a:srgbClr val="262626"/>
                </a:solidFill>
                <a:latin typeface="Tahoma"/>
                <a:cs typeface="Tahoma"/>
              </a:rPr>
              <a:t>Output </a:t>
            </a:r>
            <a:r>
              <a:rPr sz="1313" spc="-8" dirty="0">
                <a:solidFill>
                  <a:srgbClr val="262626"/>
                </a:solidFill>
                <a:latin typeface="Tahoma"/>
                <a:cs typeface="Tahoma"/>
              </a:rPr>
              <a:t>representation</a:t>
            </a:r>
            <a:endParaRPr sz="1313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577575" y="2175128"/>
            <a:ext cx="2683669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194" baseline="1424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406" baseline="-15555" dirty="0">
                <a:solidFill>
                  <a:srgbClr val="DE55B3"/>
                </a:solidFill>
                <a:latin typeface="Tahoma"/>
                <a:cs typeface="Tahoma"/>
              </a:rPr>
              <a:t>1</a:t>
            </a:r>
            <a:r>
              <a:rPr sz="1406" spc="225" baseline="-15555" dirty="0">
                <a:solidFill>
                  <a:srgbClr val="DE55B3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will</a:t>
            </a:r>
            <a:r>
              <a:rPr sz="1500" spc="-34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64" dirty="0">
                <a:solidFill>
                  <a:srgbClr val="404040"/>
                </a:solidFill>
                <a:latin typeface="Tahoma"/>
                <a:cs typeface="Tahoma"/>
              </a:rPr>
              <a:t>be</a:t>
            </a:r>
            <a:r>
              <a:rPr sz="1500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38" dirty="0">
                <a:solidFill>
                  <a:srgbClr val="404040"/>
                </a:solidFill>
                <a:latin typeface="Tahoma"/>
                <a:cs typeface="Tahoma"/>
              </a:rPr>
              <a:t>based</a:t>
            </a:r>
            <a:r>
              <a:rPr sz="1500" spc="-34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on</a:t>
            </a:r>
            <a:r>
              <a:rPr sz="1500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a</a:t>
            </a:r>
            <a:r>
              <a:rPr sz="1500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26" dirty="0">
                <a:solidFill>
                  <a:srgbClr val="404040"/>
                </a:solidFill>
                <a:latin typeface="Tahoma"/>
                <a:cs typeface="Tahoma"/>
              </a:rPr>
              <a:t>weighted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596625" y="2518029"/>
            <a:ext cx="2277904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contribution</a:t>
            </a:r>
            <a:r>
              <a:rPr sz="1500" spc="-34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404040"/>
                </a:solidFill>
                <a:latin typeface="Tahoma"/>
                <a:cs typeface="Tahoma"/>
              </a:rPr>
              <a:t>of</a:t>
            </a:r>
            <a:r>
              <a:rPr sz="1500" spc="-38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194" spc="73" baseline="1424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2194" spc="191" baseline="1424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2194" spc="73" baseline="1424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2194" spc="191" baseline="1424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26" dirty="0">
                <a:latin typeface="Tahoma"/>
                <a:cs typeface="Tahoma"/>
              </a:rPr>
              <a:t> </a:t>
            </a:r>
            <a:r>
              <a:rPr sz="2194" spc="73" baseline="1424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2194" spc="191" baseline="1424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26" dirty="0">
                <a:latin typeface="Tahoma"/>
                <a:cs typeface="Tahoma"/>
              </a:rPr>
              <a:t> </a:t>
            </a:r>
            <a:r>
              <a:rPr sz="2194" spc="17" baseline="1424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endParaRPr sz="2194" baseline="1424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030137" y="2621934"/>
            <a:ext cx="913448" cy="156357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9525">
              <a:spcBef>
                <a:spcPts val="94"/>
              </a:spcBef>
              <a:tabLst>
                <a:tab pos="284321" algn="l"/>
                <a:tab pos="559118" algn="l"/>
                <a:tab pos="834390" algn="l"/>
              </a:tabLst>
            </a:pPr>
            <a:r>
              <a:rPr sz="938" spc="-38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r>
              <a:rPr sz="938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938" spc="-38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r>
              <a:rPr sz="938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938" spc="-38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r>
              <a:rPr sz="938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938" spc="-38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938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775730" y="4461891"/>
            <a:ext cx="1431131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ts val="2059"/>
              </a:lnSpc>
              <a:spcBef>
                <a:spcPts val="75"/>
              </a:spcBef>
              <a:tabLst>
                <a:tab pos="757714" algn="l"/>
              </a:tabLst>
            </a:pPr>
            <a:r>
              <a:rPr spc="-19" dirty="0">
                <a:latin typeface="Tahoma"/>
                <a:cs typeface="Tahoma"/>
              </a:rPr>
              <a:t>The</a:t>
            </a:r>
            <a:r>
              <a:rPr dirty="0">
                <a:latin typeface="Tahoma"/>
                <a:cs typeface="Tahoma"/>
              </a:rPr>
              <a:t>	</a:t>
            </a: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  <a:p>
            <a:pPr marL="171450">
              <a:lnSpc>
                <a:spcPts val="1699"/>
              </a:lnSpc>
              <a:tabLst>
                <a:tab pos="981551" algn="l"/>
              </a:tabLst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r>
              <a:rPr sz="1463" baseline="-17094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2250" spc="-28" baseline="1388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4957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endParaRPr sz="1463" baseline="-14957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393261" y="4473321"/>
            <a:ext cx="471964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2078"/>
              </a:lnSpc>
              <a:spcBef>
                <a:spcPts val="75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  <a:p>
            <a:pPr marL="43814" algn="ctr">
              <a:lnSpc>
                <a:spcPts val="1718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281315" y="4482465"/>
            <a:ext cx="380048" cy="4712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lnSpc>
                <a:spcPts val="2002"/>
              </a:lnSpc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  <a:p>
            <a:pPr marL="140970">
              <a:lnSpc>
                <a:spcPts val="164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18502" y="3272007"/>
            <a:ext cx="1008698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dirty="0">
                <a:solidFill>
                  <a:srgbClr val="262626"/>
                </a:solidFill>
                <a:latin typeface="Tahoma"/>
                <a:cs typeface="Tahoma"/>
              </a:rPr>
              <a:t>Input</a:t>
            </a:r>
            <a:r>
              <a:rPr sz="1313" spc="-64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8" dirty="0">
                <a:solidFill>
                  <a:srgbClr val="262626"/>
                </a:solidFill>
                <a:latin typeface="Tahoma"/>
                <a:cs typeface="Tahoma"/>
              </a:rPr>
              <a:t>vectors</a:t>
            </a:r>
            <a:endParaRPr sz="1313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574030" y="1098423"/>
            <a:ext cx="3244215" cy="65505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 marR="22860">
              <a:lnSpc>
                <a:spcPct val="150000"/>
              </a:lnSpc>
              <a:spcBef>
                <a:spcPts val="75"/>
              </a:spcBef>
            </a:pPr>
            <a:r>
              <a:rPr sz="2194" baseline="1424" dirty="0">
                <a:solidFill>
                  <a:srgbClr val="404040"/>
                </a:solidFill>
                <a:latin typeface="Tahoma"/>
                <a:cs typeface="Tahoma"/>
              </a:rPr>
              <a:t>Self-</a:t>
            </a:r>
            <a:r>
              <a:rPr sz="2194" spc="67" baseline="1424" dirty="0">
                <a:solidFill>
                  <a:srgbClr val="404040"/>
                </a:solidFill>
                <a:latin typeface="Tahoma"/>
                <a:cs typeface="Tahoma"/>
              </a:rPr>
              <a:t>Attention</a:t>
            </a:r>
            <a:r>
              <a:rPr sz="1500" spc="45" dirty="0">
                <a:solidFill>
                  <a:srgbClr val="404040"/>
                </a:solidFill>
                <a:latin typeface="Tahoma"/>
                <a:cs typeface="Tahoma"/>
              </a:rPr>
              <a:t>’s</a:t>
            </a:r>
            <a:r>
              <a:rPr sz="1500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38" dirty="0">
                <a:solidFill>
                  <a:srgbClr val="404040"/>
                </a:solidFill>
                <a:latin typeface="Tahoma"/>
                <a:cs typeface="Tahoma"/>
              </a:rPr>
              <a:t>goal</a:t>
            </a:r>
            <a:r>
              <a:rPr sz="1500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is</a:t>
            </a:r>
            <a:r>
              <a:rPr sz="1500" spc="-26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56" dirty="0">
                <a:solidFill>
                  <a:srgbClr val="404040"/>
                </a:solidFill>
                <a:latin typeface="Tahoma"/>
                <a:cs typeface="Tahoma"/>
              </a:rPr>
              <a:t>to</a:t>
            </a:r>
            <a:r>
              <a:rPr sz="1500" spc="-26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-8" dirty="0">
                <a:solidFill>
                  <a:srgbClr val="404040"/>
                </a:solidFill>
                <a:latin typeface="Tahoma"/>
                <a:cs typeface="Tahoma"/>
              </a:rPr>
              <a:t>create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great</a:t>
            </a:r>
            <a:r>
              <a:rPr sz="1500" spc="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representations,</a:t>
            </a:r>
            <a:r>
              <a:rPr sz="1500" spc="26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406" baseline="-17777" dirty="0">
                <a:solidFill>
                  <a:srgbClr val="DE55B3"/>
                </a:solidFill>
                <a:latin typeface="Tahoma"/>
                <a:cs typeface="Tahoma"/>
              </a:rPr>
              <a:t>i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,</a:t>
            </a:r>
            <a:r>
              <a:rPr sz="1500" spc="19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404040"/>
                </a:solidFill>
                <a:latin typeface="Tahoma"/>
                <a:cs typeface="Tahoma"/>
              </a:rPr>
              <a:t>of</a:t>
            </a:r>
            <a:r>
              <a:rPr sz="1500" spc="26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the</a:t>
            </a:r>
            <a:r>
              <a:rPr sz="1500" spc="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-8" dirty="0">
                <a:solidFill>
                  <a:srgbClr val="404040"/>
                </a:solidFill>
                <a:latin typeface="Tahoma"/>
                <a:cs typeface="Tahoma"/>
              </a:rPr>
              <a:t>input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004580" y="2153613"/>
            <a:ext cx="124301" cy="674846"/>
          </a:xfrm>
          <a:custGeom>
            <a:avLst/>
            <a:gdLst/>
            <a:ahLst/>
            <a:cxnLst/>
            <a:rect l="l" t="t" r="r" b="b"/>
            <a:pathLst>
              <a:path w="165735" h="899795">
                <a:moveTo>
                  <a:pt x="82790" y="0"/>
                </a:moveTo>
                <a:lnTo>
                  <a:pt x="0" y="115281"/>
                </a:lnTo>
                <a:lnTo>
                  <a:pt x="59960" y="115281"/>
                </a:lnTo>
                <a:lnTo>
                  <a:pt x="59960" y="899313"/>
                </a:lnTo>
                <a:lnTo>
                  <a:pt x="105619" y="899313"/>
                </a:lnTo>
                <a:lnTo>
                  <a:pt x="105619" y="115281"/>
                </a:lnTo>
                <a:lnTo>
                  <a:pt x="165581" y="115281"/>
                </a:lnTo>
                <a:lnTo>
                  <a:pt x="82790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1738737" y="2317624"/>
            <a:ext cx="278606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pc="-19" dirty="0">
                <a:latin typeface="Cambria Math"/>
                <a:cs typeface="Cambria Math"/>
              </a:rPr>
              <a:t>𝑎</a:t>
            </a:r>
            <a:r>
              <a:rPr sz="2025" spc="-28" baseline="-16975" dirty="0">
                <a:latin typeface="Cambria Math"/>
                <a:cs typeface="Cambria Math"/>
              </a:rPr>
              <a:t>1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885850" y="2287905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165062" y="2338198"/>
            <a:ext cx="283845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pc="-19" dirty="0">
                <a:latin typeface="Cambria Math"/>
                <a:cs typeface="Cambria Math"/>
              </a:rPr>
              <a:t>𝑎</a:t>
            </a:r>
            <a:r>
              <a:rPr sz="2025" spc="-28" baseline="-16975" dirty="0">
                <a:latin typeface="Cambria Math"/>
                <a:cs typeface="Cambria Math"/>
              </a:rPr>
              <a:t>2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312176" y="230619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914417" y="2415921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3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767969" y="2219326"/>
            <a:ext cx="28479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𝑎</a:t>
            </a:r>
            <a:r>
              <a:rPr sz="1350" spc="-19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662996" y="2372487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516549" y="2178177"/>
            <a:ext cx="28479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𝑎</a:t>
            </a:r>
            <a:r>
              <a:rPr sz="1350" spc="-19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714497" y="3324605"/>
            <a:ext cx="72390" cy="18274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125" spc="-38" dirty="0">
                <a:solidFill>
                  <a:srgbClr val="BF9000"/>
                </a:solidFill>
                <a:latin typeface="Cambria Math"/>
                <a:cs typeface="Cambria Math"/>
              </a:rPr>
              <a:t>𝒊</a:t>
            </a:r>
            <a:endParaRPr sz="1125">
              <a:latin typeface="Cambria Math"/>
              <a:cs typeface="Cambria Math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577575" y="3231261"/>
            <a:ext cx="2529840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dirty="0">
                <a:solidFill>
                  <a:srgbClr val="BF9000"/>
                </a:solidFill>
                <a:latin typeface="Cambria Math"/>
                <a:cs typeface="Cambria Math"/>
              </a:rPr>
              <a:t>𝒂</a:t>
            </a:r>
            <a:r>
              <a:rPr sz="1688" baseline="29629" dirty="0">
                <a:solidFill>
                  <a:srgbClr val="BF9000"/>
                </a:solidFill>
                <a:latin typeface="Cambria Math"/>
                <a:cs typeface="Cambria Math"/>
              </a:rPr>
              <a:t>𝟏</a:t>
            </a:r>
            <a:r>
              <a:rPr sz="1688" spc="203" baseline="29629" dirty="0">
                <a:solidFill>
                  <a:srgbClr val="BF9000"/>
                </a:solidFill>
                <a:latin typeface="Cambria Math"/>
                <a:cs typeface="Cambria Math"/>
              </a:rPr>
              <a:t>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is</a:t>
            </a:r>
            <a:r>
              <a:rPr sz="1500" spc="-38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53" dirty="0">
                <a:solidFill>
                  <a:srgbClr val="404040"/>
                </a:solidFill>
                <a:latin typeface="Tahoma"/>
                <a:cs typeface="Tahoma"/>
              </a:rPr>
              <a:t>“just”</a:t>
            </a:r>
            <a:r>
              <a:rPr sz="1500" spc="-38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a</a:t>
            </a:r>
            <a:r>
              <a:rPr sz="1500" spc="-41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weight.</a:t>
            </a:r>
            <a:r>
              <a:rPr sz="1500" spc="-41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71" dirty="0">
                <a:solidFill>
                  <a:srgbClr val="404040"/>
                </a:solidFill>
                <a:latin typeface="Tahoma"/>
                <a:cs typeface="Tahoma"/>
              </a:rPr>
              <a:t>More</a:t>
            </a:r>
            <a:r>
              <a:rPr sz="1500" spc="-38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-19" dirty="0">
                <a:solidFill>
                  <a:srgbClr val="404040"/>
                </a:solidFill>
                <a:latin typeface="Tahoma"/>
                <a:cs typeface="Tahoma"/>
              </a:rPr>
              <a:t>is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577575" y="3469004"/>
            <a:ext cx="2766059" cy="100482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 marR="22860">
              <a:lnSpc>
                <a:spcPct val="150000"/>
              </a:lnSpc>
              <a:spcBef>
                <a:spcPts val="75"/>
              </a:spcBef>
            </a:pP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happening</a:t>
            </a:r>
            <a:r>
              <a:rPr sz="1500" spc="113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under</a:t>
            </a:r>
            <a:r>
              <a:rPr sz="1500" spc="113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the</a:t>
            </a:r>
            <a:r>
              <a:rPr sz="1500" spc="116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hood,</a:t>
            </a:r>
            <a:r>
              <a:rPr sz="1500" spc="109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23" dirty="0">
                <a:solidFill>
                  <a:srgbClr val="404040"/>
                </a:solidFill>
                <a:latin typeface="Tahoma"/>
                <a:cs typeface="Tahoma"/>
              </a:rPr>
              <a:t>but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it’s</a:t>
            </a:r>
            <a:r>
              <a:rPr sz="1500" spc="56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04040"/>
                </a:solidFill>
                <a:latin typeface="Tahoma"/>
                <a:cs typeface="Tahoma"/>
              </a:rPr>
              <a:t>effectively</a:t>
            </a:r>
            <a:r>
              <a:rPr sz="1500" spc="64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spc="-8" dirty="0">
                <a:solidFill>
                  <a:srgbClr val="404040"/>
                </a:solidFill>
                <a:latin typeface="Tahoma"/>
                <a:cs typeface="Tahoma"/>
              </a:rPr>
              <a:t>weighting </a:t>
            </a:r>
            <a:r>
              <a:rPr sz="1500" i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versions</a:t>
            </a:r>
            <a:r>
              <a:rPr sz="1500" i="1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500" spc="41" dirty="0">
                <a:solidFill>
                  <a:srgbClr val="404040"/>
                </a:solidFill>
                <a:latin typeface="Tahoma"/>
                <a:cs typeface="Tahoma"/>
              </a:rPr>
              <a:t>of</a:t>
            </a:r>
            <a:r>
              <a:rPr sz="1500" spc="-53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06" baseline="-15555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06" baseline="-15555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06" baseline="-15555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2194" spc="-28" baseline="1424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06" spc="-28" baseline="-15555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06" baseline="-15555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7854" y="578611"/>
            <a:ext cx="4856321" cy="98108"/>
          </a:xfrm>
          <a:custGeom>
            <a:avLst/>
            <a:gdLst/>
            <a:ahLst/>
            <a:cxnLst/>
            <a:rect l="l" t="t" r="r" b="b"/>
            <a:pathLst>
              <a:path w="6475095" h="130809">
                <a:moveTo>
                  <a:pt x="6474895" y="0"/>
                </a:moveTo>
                <a:lnTo>
                  <a:pt x="0" y="0"/>
                </a:lnTo>
                <a:lnTo>
                  <a:pt x="0" y="130218"/>
                </a:lnTo>
                <a:lnTo>
                  <a:pt x="6474895" y="130218"/>
                </a:lnTo>
                <a:lnTo>
                  <a:pt x="647489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sp>
        <p:nvSpPr>
          <p:cNvPr id="4" name="object 4"/>
          <p:cNvSpPr/>
          <p:nvPr/>
        </p:nvSpPr>
        <p:spPr>
          <a:xfrm>
            <a:off x="1928792" y="4004313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6"/>
                </a:lnTo>
                <a:lnTo>
                  <a:pt x="210167" y="567436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40412" y="4004313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6" y="229395"/>
                </a:lnTo>
                <a:lnTo>
                  <a:pt x="119316" y="567436"/>
                </a:lnTo>
                <a:lnTo>
                  <a:pt x="210167" y="567436"/>
                </a:lnTo>
                <a:lnTo>
                  <a:pt x="210167" y="229395"/>
                </a:lnTo>
                <a:lnTo>
                  <a:pt x="329483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31481" y="4004313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6" y="229395"/>
                </a:lnTo>
                <a:lnTo>
                  <a:pt x="119316" y="567436"/>
                </a:lnTo>
                <a:lnTo>
                  <a:pt x="210167" y="567436"/>
                </a:lnTo>
                <a:lnTo>
                  <a:pt x="210167" y="229395"/>
                </a:lnTo>
                <a:lnTo>
                  <a:pt x="329483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47664" y="4004312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941047" y="2075815"/>
            <a:ext cx="2662238" cy="1854041"/>
            <a:chOff x="2588063" y="2767752"/>
            <a:chExt cx="3549650" cy="2472055"/>
          </a:xfrm>
        </p:grpSpPr>
        <p:sp>
          <p:nvSpPr>
            <p:cNvPr id="9" name="object 9"/>
            <p:cNvSpPr/>
            <p:nvPr/>
          </p:nvSpPr>
          <p:spPr>
            <a:xfrm>
              <a:off x="3664043" y="3855934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7786" y="4922884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7786" y="4676625"/>
              <a:ext cx="222250" cy="222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7786" y="4430365"/>
              <a:ext cx="222250" cy="2222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7786" y="4178496"/>
              <a:ext cx="222250" cy="2222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0071" y="3920501"/>
              <a:ext cx="222250" cy="22225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718803" y="3855934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62545" y="4922884"/>
              <a:ext cx="222250" cy="2222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45" y="4676625"/>
              <a:ext cx="222250" cy="2222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45" y="4430365"/>
              <a:ext cx="222250" cy="2222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45" y="4178496"/>
              <a:ext cx="222250" cy="2222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4829" y="3920501"/>
              <a:ext cx="222250" cy="22225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807047" y="3855933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50789" y="4922883"/>
              <a:ext cx="222250" cy="22225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0789" y="4676623"/>
              <a:ext cx="222250" cy="22225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0789" y="4430364"/>
              <a:ext cx="222250" cy="2222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0789" y="4178495"/>
              <a:ext cx="222250" cy="2222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3074" y="3920500"/>
              <a:ext cx="222250" cy="22225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607113" y="3855931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50855" y="4922882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0855" y="4676622"/>
              <a:ext cx="222250" cy="2222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0855" y="4430363"/>
              <a:ext cx="222250" cy="2222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0855" y="4178494"/>
              <a:ext cx="222250" cy="2222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3140" y="3920498"/>
              <a:ext cx="222250" cy="22225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945600" y="2767761"/>
              <a:ext cx="2996565" cy="1113155"/>
            </a:xfrm>
            <a:custGeom>
              <a:avLst/>
              <a:gdLst/>
              <a:ahLst/>
              <a:cxnLst/>
              <a:rect l="l" t="t" r="r" b="b"/>
              <a:pathLst>
                <a:path w="2996565" h="1113154">
                  <a:moveTo>
                    <a:pt x="860717" y="998321"/>
                  </a:moveTo>
                  <a:lnTo>
                    <a:pt x="109664" y="166230"/>
                  </a:lnTo>
                  <a:lnTo>
                    <a:pt x="161493" y="119456"/>
                  </a:lnTo>
                  <a:lnTo>
                    <a:pt x="0" y="84391"/>
                  </a:lnTo>
                  <a:lnTo>
                    <a:pt x="18376" y="248627"/>
                  </a:lnTo>
                  <a:lnTo>
                    <a:pt x="70205" y="201853"/>
                  </a:lnTo>
                  <a:lnTo>
                    <a:pt x="821245" y="1033945"/>
                  </a:lnTo>
                  <a:lnTo>
                    <a:pt x="860717" y="998321"/>
                  </a:lnTo>
                  <a:close/>
                </a:path>
                <a:path w="2996565" h="1113154">
                  <a:moveTo>
                    <a:pt x="1839658" y="960945"/>
                  </a:moveTo>
                  <a:lnTo>
                    <a:pt x="296900" y="64960"/>
                  </a:lnTo>
                  <a:lnTo>
                    <a:pt x="334632" y="0"/>
                  </a:lnTo>
                  <a:lnTo>
                    <a:pt x="157632" y="17157"/>
                  </a:lnTo>
                  <a:lnTo>
                    <a:pt x="230441" y="179387"/>
                  </a:lnTo>
                  <a:lnTo>
                    <a:pt x="268173" y="114427"/>
                  </a:lnTo>
                  <a:lnTo>
                    <a:pt x="1810931" y="1010412"/>
                  </a:lnTo>
                  <a:lnTo>
                    <a:pt x="1839658" y="960945"/>
                  </a:lnTo>
                  <a:close/>
                </a:path>
                <a:path w="2996565" h="1113154">
                  <a:moveTo>
                    <a:pt x="2996031" y="1062609"/>
                  </a:moveTo>
                  <a:lnTo>
                    <a:pt x="774065" y="167868"/>
                  </a:lnTo>
                  <a:lnTo>
                    <a:pt x="800493" y="102235"/>
                  </a:lnTo>
                  <a:lnTo>
                    <a:pt x="637832" y="142036"/>
                  </a:lnTo>
                  <a:lnTo>
                    <a:pt x="727519" y="283464"/>
                  </a:lnTo>
                  <a:lnTo>
                    <a:pt x="753948" y="217843"/>
                  </a:lnTo>
                  <a:lnTo>
                    <a:pt x="2975914" y="1112583"/>
                  </a:lnTo>
                  <a:lnTo>
                    <a:pt x="2996031" y="1062609"/>
                  </a:lnTo>
                  <a:close/>
                </a:path>
              </a:pathLst>
            </a:custGeom>
            <a:solidFill>
              <a:srgbClr val="F4B1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957957" y="709961"/>
            <a:ext cx="234315" cy="28091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763" spc="-19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744" spc="-28" baseline="-17921" dirty="0">
                <a:solidFill>
                  <a:srgbClr val="DE55B3"/>
                </a:solidFill>
                <a:latin typeface="Tahoma"/>
                <a:cs typeface="Tahoma"/>
              </a:rPr>
              <a:t>1</a:t>
            </a:r>
            <a:endParaRPr sz="1744" baseline="-17921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936722" y="1052745"/>
            <a:ext cx="262414" cy="1052036"/>
            <a:chOff x="2582295" y="1403659"/>
            <a:chExt cx="349885" cy="1402715"/>
          </a:xfrm>
        </p:grpSpPr>
        <p:sp>
          <p:nvSpPr>
            <p:cNvPr id="36" name="object 36"/>
            <p:cNvSpPr/>
            <p:nvPr/>
          </p:nvSpPr>
          <p:spPr>
            <a:xfrm>
              <a:off x="2601345" y="1422709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259473" y="0"/>
                  </a:move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9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9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close/>
                </a:path>
              </a:pathLst>
            </a:custGeom>
            <a:ln w="38100">
              <a:solidFill>
                <a:srgbClr val="FF7F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56248" y="1507260"/>
              <a:ext cx="203200" cy="2032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56248" y="1753519"/>
              <a:ext cx="203200" cy="2032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56248" y="1999777"/>
              <a:ext cx="203200" cy="2032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56248" y="2251646"/>
              <a:ext cx="203200" cy="2032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53963" y="2509643"/>
              <a:ext cx="203200" cy="20320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351074" y="1201428"/>
            <a:ext cx="1128713" cy="48574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marR="3810" indent="556736">
              <a:lnSpc>
                <a:spcPct val="124600"/>
              </a:lnSpc>
              <a:spcBef>
                <a:spcPts val="71"/>
              </a:spcBef>
            </a:pPr>
            <a:r>
              <a:rPr sz="1313" spc="45" dirty="0">
                <a:solidFill>
                  <a:srgbClr val="262626"/>
                </a:solidFill>
                <a:latin typeface="Tahoma"/>
                <a:cs typeface="Tahoma"/>
              </a:rPr>
              <a:t>Output </a:t>
            </a:r>
            <a:r>
              <a:rPr sz="1313" spc="-8" dirty="0">
                <a:solidFill>
                  <a:srgbClr val="262626"/>
                </a:solidFill>
                <a:latin typeface="Tahoma"/>
                <a:cs typeface="Tahoma"/>
              </a:rPr>
              <a:t>representation</a:t>
            </a:r>
            <a:endParaRPr sz="1313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775730" y="4461891"/>
            <a:ext cx="1431131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ts val="2059"/>
              </a:lnSpc>
              <a:spcBef>
                <a:spcPts val="75"/>
              </a:spcBef>
              <a:tabLst>
                <a:tab pos="757714" algn="l"/>
              </a:tabLst>
            </a:pPr>
            <a:r>
              <a:rPr spc="-19" dirty="0">
                <a:latin typeface="Tahoma"/>
                <a:cs typeface="Tahoma"/>
              </a:rPr>
              <a:t>The</a:t>
            </a:r>
            <a:r>
              <a:rPr dirty="0">
                <a:latin typeface="Tahoma"/>
                <a:cs typeface="Tahoma"/>
              </a:rPr>
              <a:t>	</a:t>
            </a: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  <a:p>
            <a:pPr marL="171450">
              <a:lnSpc>
                <a:spcPts val="1699"/>
              </a:lnSpc>
              <a:tabLst>
                <a:tab pos="981551" algn="l"/>
              </a:tabLst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r>
              <a:rPr sz="1463" baseline="-17094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2250" spc="-28" baseline="1388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4957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endParaRPr sz="1463" baseline="-14957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393261" y="4473321"/>
            <a:ext cx="471964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2078"/>
              </a:lnSpc>
              <a:spcBef>
                <a:spcPts val="75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  <a:p>
            <a:pPr marL="43814" algn="ctr">
              <a:lnSpc>
                <a:spcPts val="1718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281315" y="4482465"/>
            <a:ext cx="380048" cy="4712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lnSpc>
                <a:spcPts val="2002"/>
              </a:lnSpc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  <a:p>
            <a:pPr marL="140970">
              <a:lnSpc>
                <a:spcPts val="164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18502" y="3272007"/>
            <a:ext cx="1008698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313" dirty="0">
                <a:solidFill>
                  <a:srgbClr val="262626"/>
                </a:solidFill>
                <a:latin typeface="Tahoma"/>
                <a:cs typeface="Tahoma"/>
              </a:rPr>
              <a:t>Input</a:t>
            </a:r>
            <a:r>
              <a:rPr sz="1313" spc="-64" dirty="0">
                <a:solidFill>
                  <a:srgbClr val="262626"/>
                </a:solidFill>
                <a:latin typeface="Tahoma"/>
                <a:cs typeface="Tahoma"/>
              </a:rPr>
              <a:t> </a:t>
            </a:r>
            <a:r>
              <a:rPr sz="1313" spc="-8" dirty="0">
                <a:solidFill>
                  <a:srgbClr val="262626"/>
                </a:solidFill>
                <a:latin typeface="Tahoma"/>
                <a:cs typeface="Tahoma"/>
              </a:rPr>
              <a:t>vectors</a:t>
            </a:r>
            <a:endParaRPr sz="1313">
              <a:latin typeface="Tahoma"/>
              <a:cs typeface="Tahom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004580" y="2153613"/>
            <a:ext cx="124301" cy="674846"/>
          </a:xfrm>
          <a:custGeom>
            <a:avLst/>
            <a:gdLst/>
            <a:ahLst/>
            <a:cxnLst/>
            <a:rect l="l" t="t" r="r" b="b"/>
            <a:pathLst>
              <a:path w="165735" h="899795">
                <a:moveTo>
                  <a:pt x="82790" y="0"/>
                </a:moveTo>
                <a:lnTo>
                  <a:pt x="0" y="115281"/>
                </a:lnTo>
                <a:lnTo>
                  <a:pt x="59960" y="115281"/>
                </a:lnTo>
                <a:lnTo>
                  <a:pt x="59960" y="899313"/>
                </a:lnTo>
                <a:lnTo>
                  <a:pt x="105619" y="899313"/>
                </a:lnTo>
                <a:lnTo>
                  <a:pt x="105619" y="115281"/>
                </a:lnTo>
                <a:lnTo>
                  <a:pt x="165581" y="115281"/>
                </a:lnTo>
                <a:lnTo>
                  <a:pt x="8279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738737" y="2317624"/>
            <a:ext cx="278606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pc="-19" dirty="0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r>
              <a:rPr sz="2025" spc="-28" baseline="-16975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885850" y="2287905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165062" y="2338198"/>
            <a:ext cx="283845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pc="-19" dirty="0">
                <a:latin typeface="Cambria Math"/>
                <a:cs typeface="Cambria Math"/>
              </a:rPr>
              <a:t>𝑎</a:t>
            </a:r>
            <a:r>
              <a:rPr sz="2025" spc="-28" baseline="-16975" dirty="0">
                <a:latin typeface="Cambria Math"/>
                <a:cs typeface="Cambria Math"/>
              </a:rPr>
              <a:t>2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312176" y="2306193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914417" y="2415921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3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767969" y="2219326"/>
            <a:ext cx="28479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𝑎</a:t>
            </a:r>
            <a:r>
              <a:rPr sz="1350" spc="-19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662996" y="2372487"/>
            <a:ext cx="11858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516549" y="2178177"/>
            <a:ext cx="28479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700" spc="-28" baseline="-20833" dirty="0">
                <a:latin typeface="Cambria Math"/>
                <a:cs typeface="Cambria Math"/>
              </a:rPr>
              <a:t>𝑎</a:t>
            </a:r>
            <a:r>
              <a:rPr sz="1350" spc="-19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698040" y="808864"/>
            <a:ext cx="2941320" cy="1211646"/>
          </a:xfrm>
          <a:prstGeom prst="rect">
            <a:avLst/>
          </a:prstGeom>
        </p:spPr>
        <p:txBody>
          <a:bodyPr vert="horz" wrap="square" lIns="0" tIns="13811" rIns="0" bIns="0" rtlCol="0">
            <a:spAutoFit/>
          </a:bodyPr>
          <a:lstStyle/>
          <a:p>
            <a:pPr marL="28575" marR="22860" algn="just">
              <a:lnSpc>
                <a:spcPct val="150800"/>
              </a:lnSpc>
              <a:spcBef>
                <a:spcPts val="109"/>
              </a:spcBef>
            </a:pPr>
            <a:r>
              <a:rPr spc="41" dirty="0">
                <a:latin typeface="Tahoma"/>
                <a:cs typeface="Tahoma"/>
              </a:rPr>
              <a:t>Under</a:t>
            </a:r>
            <a:r>
              <a:rPr spc="-23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the</a:t>
            </a:r>
            <a:r>
              <a:rPr spc="-19" dirty="0">
                <a:latin typeface="Tahoma"/>
                <a:cs typeface="Tahoma"/>
              </a:rPr>
              <a:t> </a:t>
            </a:r>
            <a:r>
              <a:rPr spc="41" dirty="0">
                <a:latin typeface="Tahoma"/>
                <a:cs typeface="Tahoma"/>
              </a:rPr>
              <a:t>hood,</a:t>
            </a:r>
            <a:r>
              <a:rPr spc="-26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each</a:t>
            </a:r>
            <a:r>
              <a:rPr spc="-19" dirty="0">
                <a:latin typeface="Tahoma"/>
                <a:cs typeface="Tahoma"/>
              </a:rPr>
              <a:t> </a:t>
            </a:r>
            <a:r>
              <a:rPr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baseline="-17361" dirty="0">
                <a:solidFill>
                  <a:srgbClr val="0070C0"/>
                </a:solidFill>
                <a:latin typeface="Tahoma"/>
                <a:cs typeface="Tahoma"/>
              </a:rPr>
              <a:t>i</a:t>
            </a:r>
            <a:r>
              <a:rPr spc="253" baseline="-17361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pc="-19" dirty="0">
                <a:latin typeface="Tahoma"/>
                <a:cs typeface="Tahoma"/>
              </a:rPr>
              <a:t>has </a:t>
            </a:r>
            <a:r>
              <a:rPr dirty="0">
                <a:latin typeface="Tahoma"/>
                <a:cs typeface="Tahoma"/>
              </a:rPr>
              <a:t>3</a:t>
            </a:r>
            <a:r>
              <a:rPr spc="19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small,</a:t>
            </a:r>
            <a:r>
              <a:rPr spc="15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associated</a:t>
            </a:r>
            <a:r>
              <a:rPr spc="11" dirty="0">
                <a:latin typeface="Tahoma"/>
                <a:cs typeface="Tahoma"/>
              </a:rPr>
              <a:t> </a:t>
            </a:r>
            <a:r>
              <a:rPr spc="-8" dirty="0">
                <a:latin typeface="Tahoma"/>
                <a:cs typeface="Tahoma"/>
              </a:rPr>
              <a:t>vectors. </a:t>
            </a:r>
            <a:r>
              <a:rPr spc="56" dirty="0">
                <a:latin typeface="Tahoma"/>
                <a:cs typeface="Tahoma"/>
              </a:rPr>
              <a:t>For</a:t>
            </a:r>
            <a:r>
              <a:rPr spc="11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example,</a:t>
            </a:r>
            <a:r>
              <a:rPr spc="15" dirty="0">
                <a:latin typeface="Tahoma"/>
                <a:cs typeface="Tahoma"/>
              </a:rPr>
              <a:t> </a:t>
            </a:r>
            <a:r>
              <a:rPr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baseline="-17361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r>
              <a:rPr spc="298" baseline="-17361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pc="-15" dirty="0">
                <a:latin typeface="Tahoma"/>
                <a:cs typeface="Tahoma"/>
              </a:rPr>
              <a:t>has:</a:t>
            </a:r>
            <a:endParaRPr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698040" y="2052448"/>
            <a:ext cx="1209675" cy="1261243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85274" indent="-256699">
              <a:spcBef>
                <a:spcPts val="1155"/>
              </a:spcBef>
              <a:buFont typeface="Arial MT"/>
              <a:buChar char="•"/>
              <a:tabLst>
                <a:tab pos="285274" algn="l"/>
              </a:tabLst>
            </a:pPr>
            <a:r>
              <a:rPr spc="53" dirty="0">
                <a:solidFill>
                  <a:srgbClr val="7030A0"/>
                </a:solidFill>
                <a:latin typeface="Tahoma"/>
                <a:cs typeface="Tahoma"/>
              </a:rPr>
              <a:t>Query</a:t>
            </a:r>
            <a:r>
              <a:rPr spc="-53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2644" spc="78" baseline="1182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744" spc="78" baseline="-17921" dirty="0">
                <a:solidFill>
                  <a:srgbClr val="7030A0"/>
                </a:solidFill>
                <a:latin typeface="Tahoma"/>
                <a:cs typeface="Tahoma"/>
              </a:rPr>
              <a:t>i</a:t>
            </a:r>
            <a:endParaRPr sz="1744" baseline="-17921">
              <a:latin typeface="Tahoma"/>
              <a:cs typeface="Tahoma"/>
            </a:endParaRPr>
          </a:p>
          <a:p>
            <a:pPr marL="285274" indent="-256699">
              <a:spcBef>
                <a:spcPts val="1080"/>
              </a:spcBef>
              <a:buFont typeface="Arial MT"/>
              <a:buChar char="•"/>
              <a:tabLst>
                <a:tab pos="285274" algn="l"/>
              </a:tabLst>
            </a:pPr>
            <a:r>
              <a:rPr spc="49" dirty="0">
                <a:solidFill>
                  <a:srgbClr val="BF9000"/>
                </a:solidFill>
                <a:latin typeface="Tahoma"/>
                <a:cs typeface="Tahoma"/>
              </a:rPr>
              <a:t>Key</a:t>
            </a:r>
            <a:r>
              <a:rPr spc="-56" dirty="0">
                <a:solidFill>
                  <a:srgbClr val="BF9000"/>
                </a:solidFill>
                <a:latin typeface="Tahoma"/>
                <a:cs typeface="Tahoma"/>
              </a:rPr>
              <a:t> </a:t>
            </a:r>
            <a:r>
              <a:rPr sz="2644" spc="17" baseline="1182" dirty="0">
                <a:solidFill>
                  <a:srgbClr val="BF9000"/>
                </a:solidFill>
                <a:latin typeface="Tahoma"/>
                <a:cs typeface="Tahoma"/>
              </a:rPr>
              <a:t>k</a:t>
            </a:r>
            <a:r>
              <a:rPr sz="1744" spc="17" baseline="-16129" dirty="0">
                <a:solidFill>
                  <a:srgbClr val="BF9000"/>
                </a:solidFill>
                <a:latin typeface="Tahoma"/>
                <a:cs typeface="Tahoma"/>
              </a:rPr>
              <a:t>i</a:t>
            </a:r>
            <a:endParaRPr sz="1744" baseline="-16129">
              <a:latin typeface="Tahoma"/>
              <a:cs typeface="Tahoma"/>
            </a:endParaRPr>
          </a:p>
          <a:p>
            <a:pPr marL="285274" indent="-256699">
              <a:spcBef>
                <a:spcPts val="1061"/>
              </a:spcBef>
              <a:buFont typeface="Arial MT"/>
              <a:buChar char="•"/>
              <a:tabLst>
                <a:tab pos="285274" algn="l"/>
              </a:tabLst>
            </a:pPr>
            <a:r>
              <a:rPr dirty="0">
                <a:solidFill>
                  <a:srgbClr val="0070C0"/>
                </a:solidFill>
                <a:latin typeface="Tahoma"/>
                <a:cs typeface="Tahoma"/>
              </a:rPr>
              <a:t>Value</a:t>
            </a:r>
            <a:r>
              <a:rPr spc="-71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2644" spc="-28" baseline="1182" dirty="0">
                <a:solidFill>
                  <a:srgbClr val="0070C0"/>
                </a:solidFill>
                <a:latin typeface="Tahoma"/>
                <a:cs typeface="Tahoma"/>
              </a:rPr>
              <a:t>v</a:t>
            </a:r>
            <a:r>
              <a:rPr sz="1744" spc="-28" baseline="-17921" dirty="0">
                <a:solidFill>
                  <a:srgbClr val="0070C0"/>
                </a:solidFill>
                <a:latin typeface="Tahoma"/>
                <a:cs typeface="Tahoma"/>
              </a:rPr>
              <a:t>i</a:t>
            </a:r>
            <a:endParaRPr sz="1744" baseline="-17921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517" y="526165"/>
            <a:ext cx="4862036" cy="61436"/>
          </a:xfrm>
          <a:custGeom>
            <a:avLst/>
            <a:gdLst/>
            <a:ahLst/>
            <a:cxnLst/>
            <a:rect l="l" t="t" r="r" b="b"/>
            <a:pathLst>
              <a:path w="6482715" h="81915">
                <a:moveTo>
                  <a:pt x="6482647" y="0"/>
                </a:moveTo>
                <a:lnTo>
                  <a:pt x="0" y="0"/>
                </a:lnTo>
                <a:lnTo>
                  <a:pt x="0" y="81537"/>
                </a:lnTo>
                <a:lnTo>
                  <a:pt x="6482647" y="81537"/>
                </a:lnTo>
                <a:lnTo>
                  <a:pt x="64826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sp>
        <p:nvSpPr>
          <p:cNvPr id="4" name="object 4"/>
          <p:cNvSpPr/>
          <p:nvPr/>
        </p:nvSpPr>
        <p:spPr>
          <a:xfrm>
            <a:off x="455623" y="4047839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64988" y="4023507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6"/>
                </a:lnTo>
                <a:lnTo>
                  <a:pt x="210167" y="567436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31694" y="401257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6" y="229395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3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05235" y="4023506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467879" y="2921187"/>
            <a:ext cx="262414" cy="1052036"/>
            <a:chOff x="623838" y="3894915"/>
            <a:chExt cx="349885" cy="1402715"/>
          </a:xfrm>
        </p:grpSpPr>
        <p:sp>
          <p:nvSpPr>
            <p:cNvPr id="9" name="object 9"/>
            <p:cNvSpPr/>
            <p:nvPr/>
          </p:nvSpPr>
          <p:spPr>
            <a:xfrm>
              <a:off x="642888" y="39139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980915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734656"/>
              <a:ext cx="222250" cy="222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488397"/>
              <a:ext cx="222250" cy="2222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630" y="4236529"/>
              <a:ext cx="222250" cy="2222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915" y="3978532"/>
              <a:ext cx="222250" cy="22225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12086" y="4505325"/>
            <a:ext cx="442913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lnSpc>
                <a:spcPts val="2059"/>
              </a:lnSpc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  <a:p>
            <a:pPr marL="161925">
              <a:lnSpc>
                <a:spcPts val="1699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29777" y="4482465"/>
            <a:ext cx="692468" cy="48410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2033"/>
              </a:lnSpc>
              <a:spcBef>
                <a:spcPts val="75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  <a:p>
            <a:pPr marR="13335" algn="ctr">
              <a:lnSpc>
                <a:spcPts val="167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93475" y="4480179"/>
            <a:ext cx="471964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2078"/>
              </a:lnSpc>
              <a:spcBef>
                <a:spcPts val="75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  <a:p>
            <a:pPr marL="43814" algn="ctr">
              <a:lnSpc>
                <a:spcPts val="1718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38885" y="4500753"/>
            <a:ext cx="380048" cy="4712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lnSpc>
                <a:spcPts val="2002"/>
              </a:lnSpc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  <a:p>
            <a:pPr marL="140970">
              <a:lnSpc>
                <a:spcPts val="164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83456" y="465201"/>
            <a:ext cx="2616041" cy="7021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 marR="22860" algn="just">
              <a:spcBef>
                <a:spcPts val="75"/>
              </a:spcBef>
            </a:pPr>
            <a:r>
              <a:rPr sz="1500" spc="38" dirty="0">
                <a:latin typeface="Tahoma"/>
                <a:cs typeface="Tahoma"/>
              </a:rPr>
              <a:t>Under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hood,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each </a:t>
            </a:r>
            <a:r>
              <a:rPr sz="1500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baseline="-17094" dirty="0">
                <a:solidFill>
                  <a:srgbClr val="0070C0"/>
                </a:solidFill>
                <a:latin typeface="Tahoma"/>
                <a:cs typeface="Tahoma"/>
              </a:rPr>
              <a:t>i</a:t>
            </a:r>
            <a:r>
              <a:rPr sz="1463" spc="259" baseline="-17094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has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spc="-38" dirty="0">
                <a:latin typeface="Tahoma"/>
                <a:cs typeface="Tahoma"/>
              </a:rPr>
              <a:t>3 </a:t>
            </a:r>
            <a:r>
              <a:rPr sz="1500" dirty="0">
                <a:latin typeface="Tahoma"/>
                <a:cs typeface="Tahoma"/>
              </a:rPr>
              <a:t>small,</a:t>
            </a:r>
            <a:r>
              <a:rPr sz="1500" spc="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associated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vectors.</a:t>
            </a:r>
            <a:r>
              <a:rPr sz="1500" spc="49" dirty="0">
                <a:latin typeface="Tahoma"/>
                <a:cs typeface="Tahoma"/>
              </a:rPr>
              <a:t> </a:t>
            </a:r>
            <a:r>
              <a:rPr sz="1500" spc="34" dirty="0">
                <a:latin typeface="Tahoma"/>
                <a:cs typeface="Tahoma"/>
              </a:rPr>
              <a:t>For </a:t>
            </a:r>
            <a:r>
              <a:rPr sz="1500" dirty="0">
                <a:latin typeface="Tahoma"/>
                <a:cs typeface="Tahoma"/>
              </a:rPr>
              <a:t>example,</a:t>
            </a:r>
            <a:r>
              <a:rPr sz="1500" spc="41" dirty="0"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r>
              <a:rPr sz="1463" spc="332" baseline="-17094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1500" spc="-15" dirty="0">
                <a:latin typeface="Tahoma"/>
                <a:cs typeface="Tahoma"/>
              </a:rPr>
              <a:t>has: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83457" y="1123568"/>
            <a:ext cx="1099185" cy="1048364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285274" indent="-256699">
              <a:spcBef>
                <a:spcPts val="975"/>
              </a:spcBef>
              <a:buFont typeface="Arial MT"/>
              <a:buChar char="•"/>
              <a:tabLst>
                <a:tab pos="285274" algn="l"/>
              </a:tabLst>
            </a:pPr>
            <a:r>
              <a:rPr sz="1500" spc="38" dirty="0">
                <a:solidFill>
                  <a:srgbClr val="7030A0"/>
                </a:solidFill>
                <a:latin typeface="Tahoma"/>
                <a:cs typeface="Tahoma"/>
              </a:rPr>
              <a:t>Query</a:t>
            </a:r>
            <a:r>
              <a:rPr sz="1500" spc="-38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2194" spc="67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67" baseline="-15555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endParaRPr sz="1406" baseline="-15555">
              <a:latin typeface="Tahoma"/>
              <a:cs typeface="Tahoma"/>
            </a:endParaRPr>
          </a:p>
          <a:p>
            <a:pPr marL="285274" indent="-256699">
              <a:spcBef>
                <a:spcPts val="900"/>
              </a:spcBef>
              <a:buFont typeface="Arial MT"/>
              <a:buChar char="•"/>
              <a:tabLst>
                <a:tab pos="285274" algn="l"/>
              </a:tabLst>
            </a:pPr>
            <a:r>
              <a:rPr sz="1500" spc="41" dirty="0">
                <a:solidFill>
                  <a:srgbClr val="BF9000"/>
                </a:solidFill>
                <a:latin typeface="Tahoma"/>
                <a:cs typeface="Tahoma"/>
              </a:rPr>
              <a:t>Key</a:t>
            </a:r>
            <a:r>
              <a:rPr sz="1500" spc="-41" dirty="0">
                <a:solidFill>
                  <a:srgbClr val="BF9000"/>
                </a:solidFill>
                <a:latin typeface="Tahoma"/>
                <a:cs typeface="Tahoma"/>
              </a:rPr>
              <a:t> </a:t>
            </a:r>
            <a:r>
              <a:rPr sz="2194" spc="-28" baseline="1424" dirty="0">
                <a:solidFill>
                  <a:srgbClr val="BF9000"/>
                </a:solidFill>
                <a:latin typeface="Tahoma"/>
                <a:cs typeface="Tahoma"/>
              </a:rPr>
              <a:t>k</a:t>
            </a:r>
            <a:r>
              <a:rPr sz="1406" spc="-28" baseline="-15555" dirty="0">
                <a:solidFill>
                  <a:srgbClr val="BF9000"/>
                </a:solidFill>
                <a:latin typeface="Tahoma"/>
                <a:cs typeface="Tahoma"/>
              </a:rPr>
              <a:t>1</a:t>
            </a:r>
            <a:endParaRPr sz="1406" baseline="-15555">
              <a:latin typeface="Tahoma"/>
              <a:cs typeface="Tahoma"/>
            </a:endParaRPr>
          </a:p>
          <a:p>
            <a:pPr marL="285274" indent="-256699">
              <a:spcBef>
                <a:spcPts val="900"/>
              </a:spcBef>
              <a:buFont typeface="Arial MT"/>
              <a:buChar char="•"/>
              <a:tabLst>
                <a:tab pos="285274" algn="l"/>
              </a:tabLst>
            </a:pPr>
            <a:r>
              <a:rPr sz="1500" dirty="0">
                <a:solidFill>
                  <a:srgbClr val="0070C0"/>
                </a:solidFill>
                <a:latin typeface="Tahoma"/>
                <a:cs typeface="Tahoma"/>
              </a:rPr>
              <a:t>Value</a:t>
            </a:r>
            <a:r>
              <a:rPr sz="1500" spc="-71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2194" spc="-28" baseline="1424" dirty="0">
                <a:solidFill>
                  <a:srgbClr val="0070C0"/>
                </a:solidFill>
                <a:latin typeface="Tahoma"/>
                <a:cs typeface="Tahoma"/>
              </a:rPr>
              <a:t>v</a:t>
            </a:r>
            <a:r>
              <a:rPr sz="1406" spc="-28" baseline="-15555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endParaRPr sz="1406" baseline="-15555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06882" y="2918759"/>
            <a:ext cx="552926" cy="653891"/>
            <a:chOff x="1075842" y="3891678"/>
            <a:chExt cx="737235" cy="871855"/>
          </a:xfrm>
        </p:grpSpPr>
        <p:sp>
          <p:nvSpPr>
            <p:cNvPr id="22" name="object 22"/>
            <p:cNvSpPr/>
            <p:nvPr/>
          </p:nvSpPr>
          <p:spPr>
            <a:xfrm>
              <a:off x="1094892" y="391396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159" y="4497922"/>
              <a:ext cx="203199" cy="2032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8159" y="4246053"/>
              <a:ext cx="203199" cy="2032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0443" y="3988056"/>
              <a:ext cx="203200" cy="2032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482035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5301" y="4494685"/>
              <a:ext cx="203200" cy="2032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5301" y="4242816"/>
              <a:ext cx="203200" cy="2032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7586" y="3984820"/>
              <a:ext cx="203199" cy="203200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1393244" y="2918759"/>
            <a:ext cx="262414" cy="651510"/>
            <a:chOff x="1857658" y="3891678"/>
            <a:chExt cx="349885" cy="868680"/>
          </a:xfrm>
        </p:grpSpPr>
        <p:sp>
          <p:nvSpPr>
            <p:cNvPr id="31" name="object 31"/>
            <p:cNvSpPr/>
            <p:nvPr/>
          </p:nvSpPr>
          <p:spPr>
            <a:xfrm>
              <a:off x="1876708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29974" y="4494685"/>
              <a:ext cx="203200" cy="2032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9974" y="4242816"/>
              <a:ext cx="203200" cy="2032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32259" y="3984820"/>
              <a:ext cx="203200" cy="203200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1939598" y="2927118"/>
            <a:ext cx="262414" cy="1052036"/>
            <a:chOff x="2586130" y="3902823"/>
            <a:chExt cx="349885" cy="1402715"/>
          </a:xfrm>
        </p:grpSpPr>
        <p:sp>
          <p:nvSpPr>
            <p:cNvPr id="36" name="object 36"/>
            <p:cNvSpPr/>
            <p:nvPr/>
          </p:nvSpPr>
          <p:spPr>
            <a:xfrm>
              <a:off x="2605180" y="3921873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988823"/>
              <a:ext cx="222250" cy="22225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742563"/>
              <a:ext cx="222250" cy="22225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496305"/>
              <a:ext cx="222250" cy="22225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244435"/>
              <a:ext cx="222250" cy="22225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206" y="3986439"/>
              <a:ext cx="222250" cy="222250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2278601" y="2924689"/>
            <a:ext cx="552926" cy="653891"/>
            <a:chOff x="3038134" y="3899585"/>
            <a:chExt cx="737235" cy="871855"/>
          </a:xfrm>
        </p:grpSpPr>
        <p:sp>
          <p:nvSpPr>
            <p:cNvPr id="43" name="object 43"/>
            <p:cNvSpPr/>
            <p:nvPr/>
          </p:nvSpPr>
          <p:spPr>
            <a:xfrm>
              <a:off x="3057184" y="3921872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1" y="4505829"/>
              <a:ext cx="203200" cy="2032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1" y="4253960"/>
              <a:ext cx="203200" cy="2032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2734" y="3995963"/>
              <a:ext cx="203200" cy="20320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444327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7594" y="4502591"/>
              <a:ext cx="203200" cy="2032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7594" y="4250722"/>
              <a:ext cx="203200" cy="2032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9877" y="3992726"/>
              <a:ext cx="203200" cy="203200"/>
            </a:xfrm>
            <a:prstGeom prst="rect">
              <a:avLst/>
            </a:prstGeom>
          </p:spPr>
        </p:pic>
      </p:grpSp>
      <p:grpSp>
        <p:nvGrpSpPr>
          <p:cNvPr id="51" name="object 51"/>
          <p:cNvGrpSpPr/>
          <p:nvPr/>
        </p:nvGrpSpPr>
        <p:grpSpPr>
          <a:xfrm>
            <a:off x="2864963" y="2924689"/>
            <a:ext cx="262414" cy="651510"/>
            <a:chOff x="3819950" y="3899585"/>
            <a:chExt cx="349885" cy="868680"/>
          </a:xfrm>
        </p:grpSpPr>
        <p:sp>
          <p:nvSpPr>
            <p:cNvPr id="52" name="object 52"/>
            <p:cNvSpPr/>
            <p:nvPr/>
          </p:nvSpPr>
          <p:spPr>
            <a:xfrm>
              <a:off x="3839000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92266" y="4502591"/>
              <a:ext cx="203200" cy="2032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2266" y="4250722"/>
              <a:ext cx="203200" cy="2032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94551" y="3992726"/>
              <a:ext cx="203200" cy="203200"/>
            </a:xfrm>
            <a:prstGeom prst="rect">
              <a:avLst/>
            </a:prstGeom>
          </p:spPr>
        </p:pic>
      </p:grpSp>
      <p:grpSp>
        <p:nvGrpSpPr>
          <p:cNvPr id="56" name="object 56"/>
          <p:cNvGrpSpPr/>
          <p:nvPr/>
        </p:nvGrpSpPr>
        <p:grpSpPr>
          <a:xfrm>
            <a:off x="3417407" y="2924689"/>
            <a:ext cx="262414" cy="1052036"/>
            <a:chOff x="4556542" y="3899585"/>
            <a:chExt cx="349885" cy="1402715"/>
          </a:xfrm>
        </p:grpSpPr>
        <p:sp>
          <p:nvSpPr>
            <p:cNvPr id="57" name="object 57"/>
            <p:cNvSpPr/>
            <p:nvPr/>
          </p:nvSpPr>
          <p:spPr>
            <a:xfrm>
              <a:off x="4575592" y="391863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985584"/>
              <a:ext cx="222250" cy="22225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739326"/>
              <a:ext cx="222250" cy="22225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493066"/>
              <a:ext cx="222250" cy="22225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335" y="4241198"/>
              <a:ext cx="222250" cy="22225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620" y="3983201"/>
              <a:ext cx="222250" cy="222250"/>
            </a:xfrm>
            <a:prstGeom prst="rect">
              <a:avLst/>
            </a:prstGeom>
          </p:spPr>
        </p:pic>
      </p:grpSp>
      <p:grpSp>
        <p:nvGrpSpPr>
          <p:cNvPr id="63" name="object 63"/>
          <p:cNvGrpSpPr/>
          <p:nvPr/>
        </p:nvGrpSpPr>
        <p:grpSpPr>
          <a:xfrm>
            <a:off x="3756411" y="2922262"/>
            <a:ext cx="552926" cy="653891"/>
            <a:chOff x="5008547" y="3896348"/>
            <a:chExt cx="737235" cy="871855"/>
          </a:xfrm>
        </p:grpSpPr>
        <p:sp>
          <p:nvSpPr>
            <p:cNvPr id="64" name="object 64"/>
            <p:cNvSpPr/>
            <p:nvPr/>
          </p:nvSpPr>
          <p:spPr>
            <a:xfrm>
              <a:off x="5027597" y="3918634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0863" y="4502590"/>
              <a:ext cx="203200" cy="20320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0863" y="4250721"/>
              <a:ext cx="203200" cy="20320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3148" y="3992726"/>
              <a:ext cx="203200" cy="20320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5414740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8006" y="4499353"/>
              <a:ext cx="203200" cy="20320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68006" y="4247484"/>
              <a:ext cx="203200" cy="20320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70291" y="3989489"/>
              <a:ext cx="203200" cy="203200"/>
            </a:xfrm>
            <a:prstGeom prst="rect">
              <a:avLst/>
            </a:prstGeom>
          </p:spPr>
        </p:pic>
      </p:grpSp>
      <p:grpSp>
        <p:nvGrpSpPr>
          <p:cNvPr id="72" name="object 72"/>
          <p:cNvGrpSpPr/>
          <p:nvPr/>
        </p:nvGrpSpPr>
        <p:grpSpPr>
          <a:xfrm>
            <a:off x="4342773" y="2922261"/>
            <a:ext cx="262414" cy="651510"/>
            <a:chOff x="5790363" y="3896348"/>
            <a:chExt cx="349885" cy="868680"/>
          </a:xfrm>
        </p:grpSpPr>
        <p:sp>
          <p:nvSpPr>
            <p:cNvPr id="73" name="object 73"/>
            <p:cNvSpPr/>
            <p:nvPr/>
          </p:nvSpPr>
          <p:spPr>
            <a:xfrm>
              <a:off x="5809413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2679" y="4499353"/>
              <a:ext cx="203200" cy="203200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62679" y="4247484"/>
              <a:ext cx="203200" cy="20320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4964" y="3989489"/>
              <a:ext cx="203200" cy="203200"/>
            </a:xfrm>
            <a:prstGeom prst="rect">
              <a:avLst/>
            </a:prstGeom>
          </p:spPr>
        </p:pic>
      </p:grpSp>
      <p:grpSp>
        <p:nvGrpSpPr>
          <p:cNvPr id="77" name="object 77"/>
          <p:cNvGrpSpPr/>
          <p:nvPr/>
        </p:nvGrpSpPr>
        <p:grpSpPr>
          <a:xfrm>
            <a:off x="4890948" y="2918758"/>
            <a:ext cx="262414" cy="1052036"/>
            <a:chOff x="6521263" y="3891677"/>
            <a:chExt cx="349885" cy="1402715"/>
          </a:xfrm>
        </p:grpSpPr>
        <p:sp>
          <p:nvSpPr>
            <p:cNvPr id="78" name="object 78"/>
            <p:cNvSpPr/>
            <p:nvPr/>
          </p:nvSpPr>
          <p:spPr>
            <a:xfrm>
              <a:off x="6540313" y="3910727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977677"/>
              <a:ext cx="222250" cy="22225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731417"/>
              <a:ext cx="222250" cy="22225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055" y="4485158"/>
              <a:ext cx="222250" cy="22225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233289"/>
              <a:ext cx="222250" cy="22225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6340" y="3975294"/>
              <a:ext cx="222250" cy="222250"/>
            </a:xfrm>
            <a:prstGeom prst="rect">
              <a:avLst/>
            </a:prstGeom>
          </p:spPr>
        </p:pic>
      </p:grpSp>
      <p:grpSp>
        <p:nvGrpSpPr>
          <p:cNvPr id="84" name="object 84"/>
          <p:cNvGrpSpPr/>
          <p:nvPr/>
        </p:nvGrpSpPr>
        <p:grpSpPr>
          <a:xfrm>
            <a:off x="5229951" y="2916330"/>
            <a:ext cx="552926" cy="653891"/>
            <a:chOff x="6973267" y="3888439"/>
            <a:chExt cx="737235" cy="871855"/>
          </a:xfrm>
        </p:grpSpPr>
        <p:sp>
          <p:nvSpPr>
            <p:cNvPr id="85" name="object 85"/>
            <p:cNvSpPr/>
            <p:nvPr/>
          </p:nvSpPr>
          <p:spPr>
            <a:xfrm>
              <a:off x="6992317" y="3910727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5583" y="4494682"/>
              <a:ext cx="203200" cy="20320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5583" y="4242813"/>
              <a:ext cx="203200" cy="20320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7867" y="3984818"/>
              <a:ext cx="203200" cy="203200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7379460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491446"/>
              <a:ext cx="203200" cy="203198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239577"/>
              <a:ext cx="203200" cy="20320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35010" y="3981580"/>
              <a:ext cx="203200" cy="203200"/>
            </a:xfrm>
            <a:prstGeom prst="rect">
              <a:avLst/>
            </a:prstGeom>
          </p:spPr>
        </p:pic>
      </p:grpSp>
      <p:grpSp>
        <p:nvGrpSpPr>
          <p:cNvPr id="93" name="object 93"/>
          <p:cNvGrpSpPr/>
          <p:nvPr/>
        </p:nvGrpSpPr>
        <p:grpSpPr>
          <a:xfrm>
            <a:off x="5816313" y="2916329"/>
            <a:ext cx="262414" cy="651510"/>
            <a:chOff x="7755083" y="3888439"/>
            <a:chExt cx="349885" cy="868680"/>
          </a:xfrm>
        </p:grpSpPr>
        <p:sp>
          <p:nvSpPr>
            <p:cNvPr id="94" name="object 94"/>
            <p:cNvSpPr/>
            <p:nvPr/>
          </p:nvSpPr>
          <p:spPr>
            <a:xfrm>
              <a:off x="7774133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491446"/>
              <a:ext cx="203200" cy="203198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239577"/>
              <a:ext cx="203200" cy="203200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29683" y="3981580"/>
              <a:ext cx="203200" cy="203200"/>
            </a:xfrm>
            <a:prstGeom prst="rect">
              <a:avLst/>
            </a:prstGeom>
          </p:spPr>
        </p:pic>
      </p:grpSp>
      <p:sp>
        <p:nvSpPr>
          <p:cNvPr id="98" name="object 98"/>
          <p:cNvSpPr txBox="1"/>
          <p:nvPr/>
        </p:nvSpPr>
        <p:spPr>
          <a:xfrm>
            <a:off x="2269923" y="3585189"/>
            <a:ext cx="561975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38100">
              <a:spcBef>
                <a:spcPts val="86"/>
              </a:spcBef>
              <a:tabLst>
                <a:tab pos="370523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289571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97483" y="3585189"/>
            <a:ext cx="561975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38100">
              <a:spcBef>
                <a:spcPts val="86"/>
              </a:spcBef>
              <a:tabLst>
                <a:tab pos="370523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42327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772727" y="3582903"/>
            <a:ext cx="851535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38100">
              <a:spcBef>
                <a:spcPts val="86"/>
              </a:spcBef>
              <a:tabLst>
                <a:tab pos="370523" algn="l"/>
                <a:tab pos="653891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2077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endParaRPr sz="1294" baseline="-12077">
              <a:latin typeface="Tahoma"/>
              <a:cs typeface="Tahom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5243436" y="3576045"/>
            <a:ext cx="561975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38100">
              <a:spcBef>
                <a:spcPts val="86"/>
              </a:spcBef>
              <a:tabLst>
                <a:tab pos="370523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4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5869226" y="3569187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783583" y="681121"/>
            <a:ext cx="619125" cy="23948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8573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500" spc="41" dirty="0">
                <a:latin typeface="Tahoma"/>
                <a:cs typeface="Tahoma"/>
              </a:rPr>
              <a:t>Step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spc="-38" dirty="0">
                <a:latin typeface="Tahoma"/>
                <a:cs typeface="Tahoma"/>
              </a:rPr>
              <a:t>1: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436046" y="680084"/>
            <a:ext cx="3622834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500" spc="56" dirty="0">
                <a:latin typeface="Tahoma"/>
                <a:cs typeface="Tahoma"/>
              </a:rPr>
              <a:t>Our</a:t>
            </a:r>
            <a:r>
              <a:rPr sz="1500" spc="-64" dirty="0">
                <a:latin typeface="Tahoma"/>
                <a:cs typeface="Tahoma"/>
              </a:rPr>
              <a:t> </a:t>
            </a:r>
            <a:r>
              <a:rPr sz="1500" spc="-8" dirty="0">
                <a:latin typeface="Tahoma"/>
                <a:cs typeface="Tahoma"/>
              </a:rPr>
              <a:t>Self-</a:t>
            </a:r>
            <a:r>
              <a:rPr sz="1500" spc="41" dirty="0">
                <a:latin typeface="Tahoma"/>
                <a:cs typeface="Tahoma"/>
              </a:rPr>
              <a:t>Attention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spc="53" dirty="0">
                <a:latin typeface="Tahoma"/>
                <a:cs typeface="Tahoma"/>
              </a:rPr>
              <a:t>Head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has</a:t>
            </a:r>
            <a:r>
              <a:rPr sz="1500" spc="-6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just</a:t>
            </a:r>
            <a:r>
              <a:rPr sz="1500" spc="-6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3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spc="-8" dirty="0">
                <a:latin typeface="Tahoma"/>
                <a:cs typeface="Tahoma"/>
              </a:rPr>
              <a:t>weight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55008" y="908684"/>
            <a:ext cx="2509838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dirty="0">
                <a:latin typeface="Tahoma"/>
                <a:cs typeface="Tahoma"/>
              </a:rPr>
              <a:t>matrices</a:t>
            </a:r>
            <a:r>
              <a:rPr sz="1500" spc="-19" dirty="0">
                <a:latin typeface="Tahoma"/>
                <a:cs typeface="Tahoma"/>
              </a:rPr>
              <a:t> </a:t>
            </a:r>
            <a:r>
              <a:rPr sz="1500" spc="38" dirty="0">
                <a:solidFill>
                  <a:srgbClr val="7030A0"/>
                </a:solidFill>
                <a:latin typeface="Tahoma"/>
                <a:cs typeface="Tahoma"/>
              </a:rPr>
              <a:t>W</a:t>
            </a:r>
            <a:r>
              <a:rPr sz="1463" spc="56" baseline="-1709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500" spc="38" dirty="0">
                <a:latin typeface="Tahoma"/>
                <a:cs typeface="Tahoma"/>
              </a:rPr>
              <a:t>,</a:t>
            </a:r>
            <a:r>
              <a:rPr sz="1500" spc="-26" dirty="0"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7F6000"/>
                </a:solidFill>
                <a:latin typeface="Tahoma"/>
                <a:cs typeface="Tahoma"/>
              </a:rPr>
              <a:t>W</a:t>
            </a:r>
            <a:r>
              <a:rPr sz="1463" baseline="-1709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26" dirty="0">
                <a:latin typeface="Tahoma"/>
                <a:cs typeface="Tahoma"/>
              </a:rPr>
              <a:t> </a:t>
            </a:r>
            <a:r>
              <a:rPr sz="1500" spc="38" dirty="0">
                <a:solidFill>
                  <a:srgbClr val="1F4E79"/>
                </a:solidFill>
                <a:latin typeface="Tahoma"/>
                <a:cs typeface="Tahoma"/>
              </a:rPr>
              <a:t>W</a:t>
            </a:r>
            <a:r>
              <a:rPr sz="1463" spc="56" baseline="-1709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63" spc="236" baseline="-17094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-8" dirty="0">
                <a:latin typeface="Tahoma"/>
                <a:cs typeface="Tahoma"/>
              </a:rPr>
              <a:t>total.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288659" y="909721"/>
            <a:ext cx="1866900" cy="23948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8573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500" dirty="0">
                <a:latin typeface="Tahoma"/>
                <a:cs typeface="Tahoma"/>
              </a:rPr>
              <a:t>These</a:t>
            </a:r>
            <a:r>
              <a:rPr sz="1500" spc="-23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same</a:t>
            </a:r>
            <a:r>
              <a:rPr sz="1500" spc="-1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3</a:t>
            </a:r>
            <a:r>
              <a:rPr sz="1500" spc="-19" dirty="0">
                <a:latin typeface="Tahoma"/>
                <a:cs typeface="Tahoma"/>
              </a:rPr>
              <a:t> </a:t>
            </a:r>
            <a:r>
              <a:rPr sz="1500" spc="-8" dirty="0">
                <a:latin typeface="Tahoma"/>
                <a:cs typeface="Tahoma"/>
              </a:rPr>
              <a:t>weight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783583" y="1138321"/>
            <a:ext cx="728663" cy="23948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8573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500" spc="-8" dirty="0">
                <a:latin typeface="Tahoma"/>
                <a:cs typeface="Tahoma"/>
              </a:rPr>
              <a:t>matrices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536059" y="1137284"/>
            <a:ext cx="3922871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dirty="0">
                <a:latin typeface="Tahoma"/>
                <a:cs typeface="Tahoma"/>
              </a:rPr>
              <a:t>are</a:t>
            </a:r>
            <a:r>
              <a:rPr sz="1500" spc="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multiplied</a:t>
            </a:r>
            <a:r>
              <a:rPr sz="1500" spc="8" dirty="0">
                <a:latin typeface="Tahoma"/>
                <a:cs typeface="Tahoma"/>
              </a:rPr>
              <a:t> </a:t>
            </a:r>
            <a:r>
              <a:rPr sz="1500" spc="45" dirty="0">
                <a:latin typeface="Tahoma"/>
                <a:cs typeface="Tahoma"/>
              </a:rPr>
              <a:t>by</a:t>
            </a:r>
            <a:r>
              <a:rPr sz="1500" spc="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each</a:t>
            </a:r>
            <a:r>
              <a:rPr sz="1500" spc="8" dirty="0"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baseline="-17094" dirty="0">
                <a:solidFill>
                  <a:srgbClr val="0070C0"/>
                </a:solidFill>
                <a:latin typeface="Tahoma"/>
                <a:cs typeface="Tahoma"/>
              </a:rPr>
              <a:t>i</a:t>
            </a:r>
            <a:r>
              <a:rPr sz="1463" spc="-56" baseline="-17094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1500" spc="56" dirty="0">
                <a:latin typeface="Tahoma"/>
                <a:cs typeface="Tahoma"/>
              </a:rPr>
              <a:t>to</a:t>
            </a:r>
            <a:r>
              <a:rPr sz="1500" spc="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create</a:t>
            </a:r>
            <a:r>
              <a:rPr sz="1500" spc="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all </a:t>
            </a:r>
            <a:r>
              <a:rPr sz="1500" spc="-8" dirty="0">
                <a:latin typeface="Tahoma"/>
                <a:cs typeface="Tahoma"/>
              </a:rPr>
              <a:t>vectors: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1074940" y="1499235"/>
            <a:ext cx="941546" cy="102457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8575" marR="22860" algn="just">
              <a:lnSpc>
                <a:spcPct val="126299"/>
              </a:lnSpc>
              <a:spcBef>
                <a:spcPts val="135"/>
              </a:spcBef>
            </a:pPr>
            <a:r>
              <a:rPr sz="2644" spc="107" baseline="1182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744" spc="107" baseline="-17921" dirty="0">
                <a:solidFill>
                  <a:srgbClr val="7030A0"/>
                </a:solidFill>
                <a:latin typeface="Tahoma"/>
                <a:cs typeface="Tahoma"/>
              </a:rPr>
              <a:t>i</a:t>
            </a:r>
            <a:r>
              <a:rPr sz="1744" spc="-39" baseline="-17921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pc="-120" dirty="0">
                <a:solidFill>
                  <a:srgbClr val="7030A0"/>
                </a:solidFill>
                <a:latin typeface="Tahoma"/>
                <a:cs typeface="Tahoma"/>
              </a:rPr>
              <a:t>=</a:t>
            </a:r>
            <a:r>
              <a:rPr spc="-68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2644" spc="50" baseline="1182" dirty="0">
                <a:solidFill>
                  <a:srgbClr val="7030A0"/>
                </a:solidFill>
                <a:latin typeface="Tahoma"/>
                <a:cs typeface="Tahoma"/>
              </a:rPr>
              <a:t>w</a:t>
            </a:r>
            <a:r>
              <a:rPr sz="1744" spc="50" baseline="-17921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744" spc="-45" baseline="-17921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pc="-8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pc="-11" baseline="-17361" dirty="0">
                <a:solidFill>
                  <a:srgbClr val="0070C0"/>
                </a:solidFill>
                <a:latin typeface="Tahoma"/>
                <a:cs typeface="Tahoma"/>
              </a:rPr>
              <a:t>i</a:t>
            </a:r>
            <a:r>
              <a:rPr spc="28" baseline="-17361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2644" spc="5" baseline="1182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744" spc="5" baseline="-17921" dirty="0">
                <a:solidFill>
                  <a:srgbClr val="7F6000"/>
                </a:solidFill>
                <a:latin typeface="Tahoma"/>
                <a:cs typeface="Tahoma"/>
              </a:rPr>
              <a:t>i</a:t>
            </a:r>
            <a:r>
              <a:rPr sz="1744" spc="-39" baseline="-17921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pc="-120" dirty="0">
                <a:solidFill>
                  <a:srgbClr val="7030A0"/>
                </a:solidFill>
                <a:latin typeface="Tahoma"/>
                <a:cs typeface="Tahoma"/>
              </a:rPr>
              <a:t>=</a:t>
            </a:r>
            <a:r>
              <a:rPr spc="-68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2644" spc="-17" baseline="1182" dirty="0">
                <a:solidFill>
                  <a:srgbClr val="7F6000"/>
                </a:solidFill>
                <a:latin typeface="Tahoma"/>
                <a:cs typeface="Tahoma"/>
              </a:rPr>
              <a:t>w</a:t>
            </a:r>
            <a:r>
              <a:rPr sz="1744" spc="-17" baseline="-17921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744" spc="-39" baseline="-17921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pc="-8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pc="-11" baseline="-17361" dirty="0">
                <a:solidFill>
                  <a:srgbClr val="0070C0"/>
                </a:solidFill>
                <a:latin typeface="Tahoma"/>
                <a:cs typeface="Tahoma"/>
              </a:rPr>
              <a:t>i</a:t>
            </a:r>
            <a:r>
              <a:rPr spc="28" baseline="-17361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2644" spc="5" baseline="1182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744" spc="5" baseline="-17921" dirty="0">
                <a:solidFill>
                  <a:srgbClr val="1F4E79"/>
                </a:solidFill>
                <a:latin typeface="Tahoma"/>
                <a:cs typeface="Tahoma"/>
              </a:rPr>
              <a:t>i</a:t>
            </a:r>
            <a:r>
              <a:rPr sz="1744" spc="-39" baseline="-17921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pc="-120" dirty="0">
                <a:solidFill>
                  <a:srgbClr val="7030A0"/>
                </a:solidFill>
                <a:latin typeface="Tahoma"/>
                <a:cs typeface="Tahoma"/>
              </a:rPr>
              <a:t>=</a:t>
            </a:r>
            <a:r>
              <a:rPr spc="-68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2644" spc="-17" baseline="1182" dirty="0">
                <a:solidFill>
                  <a:srgbClr val="1F4E79"/>
                </a:solidFill>
                <a:latin typeface="Tahoma"/>
                <a:cs typeface="Tahoma"/>
              </a:rPr>
              <a:t>w</a:t>
            </a:r>
            <a:r>
              <a:rPr sz="1744" spc="-17" baseline="-17921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744" spc="-39" baseline="-17921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pc="-8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pc="-11" baseline="-17361" dirty="0">
                <a:solidFill>
                  <a:srgbClr val="0070C0"/>
                </a:solidFill>
                <a:latin typeface="Tahoma"/>
                <a:cs typeface="Tahoma"/>
              </a:rPr>
              <a:t>i</a:t>
            </a:r>
            <a:endParaRPr baseline="-17361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517" y="526165"/>
            <a:ext cx="4862036" cy="61436"/>
          </a:xfrm>
          <a:custGeom>
            <a:avLst/>
            <a:gdLst/>
            <a:ahLst/>
            <a:cxnLst/>
            <a:rect l="l" t="t" r="r" b="b"/>
            <a:pathLst>
              <a:path w="6482715" h="81915">
                <a:moveTo>
                  <a:pt x="6482647" y="0"/>
                </a:moveTo>
                <a:lnTo>
                  <a:pt x="0" y="0"/>
                </a:lnTo>
                <a:lnTo>
                  <a:pt x="0" y="81537"/>
                </a:lnTo>
                <a:lnTo>
                  <a:pt x="6482647" y="81537"/>
                </a:lnTo>
                <a:lnTo>
                  <a:pt x="64826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5623" y="2916329"/>
            <a:ext cx="5623084" cy="1557338"/>
            <a:chOff x="607497" y="3888439"/>
            <a:chExt cx="7497445" cy="2076450"/>
          </a:xfrm>
        </p:grpSpPr>
        <p:sp>
          <p:nvSpPr>
            <p:cNvPr id="5" name="object 5"/>
            <p:cNvSpPr/>
            <p:nvPr/>
          </p:nvSpPr>
          <p:spPr>
            <a:xfrm>
              <a:off x="607491" y="5350103"/>
              <a:ext cx="6262370" cy="614680"/>
            </a:xfrm>
            <a:custGeom>
              <a:avLst/>
              <a:gdLst/>
              <a:ahLst/>
              <a:cxnLst/>
              <a:rect l="l" t="t" r="r" b="b"/>
              <a:pathLst>
                <a:path w="6262370" h="614679">
                  <a:moveTo>
                    <a:pt x="329476" y="276415"/>
                  </a:moveTo>
                  <a:lnTo>
                    <a:pt x="164744" y="47015"/>
                  </a:lnTo>
                  <a:lnTo>
                    <a:pt x="0" y="276415"/>
                  </a:lnTo>
                  <a:lnTo>
                    <a:pt x="119316" y="276415"/>
                  </a:lnTo>
                  <a:lnTo>
                    <a:pt x="119316" y="614464"/>
                  </a:lnTo>
                  <a:lnTo>
                    <a:pt x="210172" y="614464"/>
                  </a:lnTo>
                  <a:lnTo>
                    <a:pt x="210172" y="276415"/>
                  </a:lnTo>
                  <a:lnTo>
                    <a:pt x="329476" y="276415"/>
                  </a:lnTo>
                  <a:close/>
                </a:path>
                <a:path w="6262370" h="614679">
                  <a:moveTo>
                    <a:pt x="2341969" y="243979"/>
                  </a:moveTo>
                  <a:lnTo>
                    <a:pt x="2177224" y="14579"/>
                  </a:lnTo>
                  <a:lnTo>
                    <a:pt x="2012492" y="243979"/>
                  </a:lnTo>
                  <a:lnTo>
                    <a:pt x="2131796" y="243979"/>
                  </a:lnTo>
                  <a:lnTo>
                    <a:pt x="2131796" y="582015"/>
                  </a:lnTo>
                  <a:lnTo>
                    <a:pt x="2222652" y="582015"/>
                  </a:lnTo>
                  <a:lnTo>
                    <a:pt x="2222652" y="243979"/>
                  </a:lnTo>
                  <a:lnTo>
                    <a:pt x="2341969" y="243979"/>
                  </a:lnTo>
                  <a:close/>
                </a:path>
                <a:path w="6262370" h="614679">
                  <a:moveTo>
                    <a:pt x="4297578" y="229387"/>
                  </a:moveTo>
                  <a:lnTo>
                    <a:pt x="4132834" y="0"/>
                  </a:lnTo>
                  <a:lnTo>
                    <a:pt x="3968089" y="229387"/>
                  </a:lnTo>
                  <a:lnTo>
                    <a:pt x="4087406" y="229387"/>
                  </a:lnTo>
                  <a:lnTo>
                    <a:pt x="4087406" y="567436"/>
                  </a:lnTo>
                  <a:lnTo>
                    <a:pt x="4178262" y="567436"/>
                  </a:lnTo>
                  <a:lnTo>
                    <a:pt x="4178262" y="229387"/>
                  </a:lnTo>
                  <a:lnTo>
                    <a:pt x="4297578" y="229387"/>
                  </a:lnTo>
                  <a:close/>
                </a:path>
                <a:path w="6262370" h="614679">
                  <a:moveTo>
                    <a:pt x="6262294" y="243979"/>
                  </a:moveTo>
                  <a:lnTo>
                    <a:pt x="6097562" y="14579"/>
                  </a:lnTo>
                  <a:lnTo>
                    <a:pt x="5932817" y="243979"/>
                  </a:lnTo>
                  <a:lnTo>
                    <a:pt x="6052134" y="243979"/>
                  </a:lnTo>
                  <a:lnTo>
                    <a:pt x="6052134" y="582015"/>
                  </a:lnTo>
                  <a:lnTo>
                    <a:pt x="6142977" y="582015"/>
                  </a:lnTo>
                  <a:lnTo>
                    <a:pt x="6142977" y="243979"/>
                  </a:lnTo>
                  <a:lnTo>
                    <a:pt x="6262294" y="243979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2888" y="39139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980915"/>
              <a:ext cx="222250" cy="222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734656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488397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630" y="4236529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915" y="3978532"/>
              <a:ext cx="222250" cy="2222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94892" y="391396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159" y="4497922"/>
              <a:ext cx="203199" cy="2032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8159" y="4246053"/>
              <a:ext cx="203199" cy="203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0443" y="3988056"/>
              <a:ext cx="203200" cy="2032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482035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5301" y="4494684"/>
              <a:ext cx="203200" cy="2032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5301" y="4242815"/>
              <a:ext cx="203200" cy="203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7586" y="3984820"/>
              <a:ext cx="203199" cy="2032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876708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29974" y="4494684"/>
              <a:ext cx="203200" cy="2032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9974" y="4242815"/>
              <a:ext cx="203200" cy="203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32259" y="3984820"/>
              <a:ext cx="203200" cy="2032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605180" y="3921872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988822"/>
              <a:ext cx="222250" cy="2222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742563"/>
              <a:ext cx="222250" cy="2222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496305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244435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206" y="3986439"/>
              <a:ext cx="222250" cy="22225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057184" y="3921872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1" y="4505829"/>
              <a:ext cx="203200" cy="2032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1" y="4253960"/>
              <a:ext cx="203200" cy="2032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2734" y="3995963"/>
              <a:ext cx="203200" cy="2032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444327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7594" y="4502591"/>
              <a:ext cx="203200" cy="2032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7594" y="4250723"/>
              <a:ext cx="203200" cy="2032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9877" y="3992726"/>
              <a:ext cx="203200" cy="2032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839000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92266" y="4502591"/>
              <a:ext cx="203200" cy="2032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2266" y="4250723"/>
              <a:ext cx="203200" cy="2032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94551" y="3992726"/>
              <a:ext cx="203200" cy="2032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575592" y="391863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985584"/>
              <a:ext cx="222250" cy="22225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739326"/>
              <a:ext cx="222250" cy="22225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493066"/>
              <a:ext cx="222250" cy="22225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335" y="4241198"/>
              <a:ext cx="222250" cy="22225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620" y="3983201"/>
              <a:ext cx="222250" cy="22225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027597" y="3918634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0863" y="4502590"/>
              <a:ext cx="203200" cy="2032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0863" y="4250721"/>
              <a:ext cx="203200" cy="2032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3148" y="3992726"/>
              <a:ext cx="203200" cy="2032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414740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8006" y="4499353"/>
              <a:ext cx="203200" cy="2032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68006" y="4247484"/>
              <a:ext cx="203200" cy="2032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70291" y="3989489"/>
              <a:ext cx="203200" cy="20320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809413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2679" y="4499353"/>
              <a:ext cx="203200" cy="2032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62679" y="4247484"/>
              <a:ext cx="203200" cy="2032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4964" y="3989489"/>
              <a:ext cx="203200" cy="2032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540313" y="3910727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977677"/>
              <a:ext cx="222250" cy="22225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731417"/>
              <a:ext cx="222250" cy="22225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055" y="4485158"/>
              <a:ext cx="222250" cy="22225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233289"/>
              <a:ext cx="222250" cy="22225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6340" y="3975294"/>
              <a:ext cx="222250" cy="22225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992317" y="3910727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5584" y="4494682"/>
              <a:ext cx="203200" cy="20320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5584" y="4242813"/>
              <a:ext cx="203200" cy="20320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7867" y="3984818"/>
              <a:ext cx="203200" cy="20320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7379460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491446"/>
              <a:ext cx="203200" cy="203198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239577"/>
              <a:ext cx="203200" cy="20320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35010" y="3981580"/>
              <a:ext cx="203200" cy="20320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7774133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491446"/>
              <a:ext cx="203200" cy="203198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239577"/>
              <a:ext cx="203200" cy="20320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29683" y="3981580"/>
              <a:ext cx="203200" cy="203200"/>
            </a:xfrm>
            <a:prstGeom prst="rect">
              <a:avLst/>
            </a:prstGeom>
          </p:spPr>
        </p:pic>
      </p:grpSp>
      <p:sp>
        <p:nvSpPr>
          <p:cNvPr id="78" name="object 78"/>
          <p:cNvSpPr txBox="1"/>
          <p:nvPr/>
        </p:nvSpPr>
        <p:spPr>
          <a:xfrm>
            <a:off x="312086" y="4505325"/>
            <a:ext cx="442913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lnSpc>
                <a:spcPts val="2059"/>
              </a:lnSpc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  <a:p>
            <a:pPr marL="161925">
              <a:lnSpc>
                <a:spcPts val="1699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94195" y="2466214"/>
            <a:ext cx="1381125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1406" spc="11" baseline="-15555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5555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5555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r>
              <a:rPr sz="1406" spc="11" baseline="-15555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112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97483" y="3585189"/>
            <a:ext cx="561975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38100">
              <a:spcBef>
                <a:spcPts val="86"/>
              </a:spcBef>
              <a:tabLst>
                <a:tab pos="370523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451851" y="3578711"/>
            <a:ext cx="4595336" cy="1411765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>
              <a:spcBef>
                <a:spcPts val="356"/>
              </a:spcBef>
              <a:tabLst>
                <a:tab pos="855821" algn="l"/>
                <a:tab pos="1188244" algn="l"/>
                <a:tab pos="1472089" algn="l"/>
                <a:tab pos="2358866" algn="l"/>
                <a:tab pos="2691289" algn="l"/>
                <a:tab pos="2975134" algn="l"/>
                <a:tab pos="3829526" algn="l"/>
                <a:tab pos="4161949" algn="l"/>
                <a:tab pos="4445794" algn="l"/>
              </a:tabLst>
            </a:pPr>
            <a:r>
              <a:rPr sz="1969" spc="-28" baseline="11111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2415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r>
              <a:rPr sz="1294" baseline="2415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969" spc="67" baseline="9523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863" spc="45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z="863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969" spc="-28" baseline="9523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863" spc="-19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r>
              <a:rPr sz="863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1111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2415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r>
              <a:rPr sz="1294" baseline="2415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969" spc="67" baseline="9523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863" spc="45" dirty="0">
                <a:solidFill>
                  <a:srgbClr val="7030A0"/>
                </a:solidFill>
                <a:latin typeface="Tahoma"/>
                <a:cs typeface="Tahoma"/>
              </a:rPr>
              <a:t>3</a:t>
            </a:r>
            <a:r>
              <a:rPr sz="863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969" spc="-28" baseline="9523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863" spc="-19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r>
              <a:rPr sz="863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2698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2415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r>
              <a:rPr sz="1294" baseline="2415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969" spc="67" baseline="12698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4830" dirty="0">
                <a:solidFill>
                  <a:srgbClr val="7030A0"/>
                </a:solidFill>
                <a:latin typeface="Tahoma"/>
                <a:cs typeface="Tahoma"/>
              </a:rPr>
              <a:t>4</a:t>
            </a:r>
            <a:r>
              <a:rPr sz="1294" baseline="4830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969" spc="-28" baseline="12698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4830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r>
              <a:rPr sz="1294" baseline="4830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4285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7246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294" baseline="7246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53"/>
              </a:spcBef>
            </a:pPr>
            <a:endParaRPr sz="863">
              <a:latin typeface="Tahoma"/>
              <a:cs typeface="Tahoma"/>
            </a:endParaRPr>
          </a:p>
          <a:p>
            <a:pPr marR="851059" algn="r">
              <a:lnSpc>
                <a:spcPts val="2078"/>
              </a:lnSpc>
              <a:tabLst>
                <a:tab pos="1563529" algn="l"/>
                <a:tab pos="3108959" algn="l"/>
              </a:tabLst>
            </a:pPr>
            <a:r>
              <a:rPr spc="-8" dirty="0">
                <a:latin typeface="Tahoma"/>
                <a:cs typeface="Tahoma"/>
              </a:rPr>
              <a:t>brown</a:t>
            </a:r>
            <a:r>
              <a:rPr dirty="0">
                <a:latin typeface="Tahoma"/>
                <a:cs typeface="Tahoma"/>
              </a:rPr>
              <a:t>	</a:t>
            </a:r>
            <a:r>
              <a:rPr spc="75" dirty="0">
                <a:latin typeface="Tahoma"/>
                <a:cs typeface="Tahoma"/>
              </a:rPr>
              <a:t>dog</a:t>
            </a:r>
            <a:r>
              <a:rPr dirty="0">
                <a:latin typeface="Tahoma"/>
                <a:cs typeface="Tahoma"/>
              </a:rPr>
              <a:t>	</a:t>
            </a:r>
            <a:r>
              <a:rPr sz="2700" spc="-28" baseline="-4629" dirty="0">
                <a:latin typeface="Tahoma"/>
                <a:cs typeface="Tahoma"/>
              </a:rPr>
              <a:t>ran</a:t>
            </a:r>
            <a:endParaRPr sz="2700" baseline="-4629">
              <a:latin typeface="Tahoma"/>
              <a:cs typeface="Tahoma"/>
            </a:endParaRPr>
          </a:p>
          <a:p>
            <a:pPr marR="893445" algn="r">
              <a:lnSpc>
                <a:spcPts val="1718"/>
              </a:lnSpc>
              <a:tabLst>
                <a:tab pos="1484948" algn="l"/>
                <a:tab pos="2997518" algn="l"/>
              </a:tabLst>
            </a:pPr>
            <a:r>
              <a:rPr sz="2250" spc="-28" baseline="2777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2820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r>
              <a:rPr sz="1463" baseline="-12820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r>
              <a:rPr sz="1463" baseline="-17094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371685" y="2842212"/>
            <a:ext cx="6198869" cy="2176939"/>
          </a:xfrm>
          <a:custGeom>
            <a:avLst/>
            <a:gdLst/>
            <a:ahLst/>
            <a:cxnLst/>
            <a:rect l="l" t="t" r="r" b="b"/>
            <a:pathLst>
              <a:path w="8265159" h="2902584">
                <a:moveTo>
                  <a:pt x="552119" y="93624"/>
                </a:moveTo>
                <a:lnTo>
                  <a:pt x="0" y="93624"/>
                </a:lnTo>
                <a:lnTo>
                  <a:pt x="0" y="1612595"/>
                </a:lnTo>
                <a:lnTo>
                  <a:pt x="552119" y="1612595"/>
                </a:lnTo>
                <a:lnTo>
                  <a:pt x="552119" y="93624"/>
                </a:lnTo>
                <a:close/>
              </a:path>
              <a:path w="8265159" h="2902584">
                <a:moveTo>
                  <a:pt x="8264690" y="0"/>
                </a:moveTo>
                <a:lnTo>
                  <a:pt x="1312265" y="0"/>
                </a:lnTo>
                <a:lnTo>
                  <a:pt x="1312265" y="2902420"/>
                </a:lnTo>
                <a:lnTo>
                  <a:pt x="8264690" y="2902420"/>
                </a:lnTo>
                <a:lnTo>
                  <a:pt x="8264690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783583" y="681120"/>
            <a:ext cx="619125" cy="23948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8573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500" spc="41" dirty="0">
                <a:latin typeface="Tahoma"/>
                <a:cs typeface="Tahoma"/>
              </a:rPr>
              <a:t>Step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spc="-38" dirty="0">
                <a:latin typeface="Tahoma"/>
                <a:cs typeface="Tahoma"/>
              </a:rPr>
              <a:t>2: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416997" y="680084"/>
            <a:ext cx="6141719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spc="49" dirty="0">
                <a:latin typeface="Tahoma"/>
                <a:cs typeface="Tahoma"/>
              </a:rPr>
              <a:t>For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spc="38" dirty="0">
                <a:latin typeface="Tahoma"/>
                <a:cs typeface="Tahoma"/>
              </a:rPr>
              <a:t>word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E75B6"/>
                </a:solidFill>
                <a:latin typeface="Tahoma"/>
                <a:cs typeface="Tahoma"/>
              </a:rPr>
              <a:t>x</a:t>
            </a:r>
            <a:r>
              <a:rPr sz="1463" baseline="-17094" dirty="0">
                <a:solidFill>
                  <a:srgbClr val="2E75B6"/>
                </a:solidFill>
                <a:latin typeface="Tahoma"/>
                <a:cs typeface="Tahoma"/>
              </a:rPr>
              <a:t>1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let’s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calculate</a:t>
            </a:r>
            <a:r>
              <a:rPr sz="1500" spc="-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scores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3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2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8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3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8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4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which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represent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how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55008" y="908684"/>
            <a:ext cx="4459129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dirty="0">
                <a:latin typeface="Tahoma"/>
                <a:cs typeface="Tahoma"/>
              </a:rPr>
              <a:t>much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attention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56" dirty="0">
                <a:latin typeface="Tahoma"/>
                <a:cs typeface="Tahoma"/>
              </a:rPr>
              <a:t>to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pay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56" dirty="0">
                <a:latin typeface="Tahoma"/>
                <a:cs typeface="Tahoma"/>
              </a:rPr>
              <a:t>to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each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respective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83" dirty="0">
                <a:latin typeface="Tahoma"/>
                <a:cs typeface="Tahoma"/>
              </a:rPr>
              <a:t>”word”</a:t>
            </a:r>
            <a:r>
              <a:rPr sz="1500" spc="23" dirty="0">
                <a:latin typeface="Tahoma"/>
                <a:cs typeface="Tahoma"/>
              </a:rPr>
              <a:t> </a:t>
            </a:r>
            <a:r>
              <a:rPr sz="2194" spc="-28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spc="-28" baseline="-17777" dirty="0">
                <a:solidFill>
                  <a:srgbClr val="1F4E79"/>
                </a:solidFill>
                <a:latin typeface="Tahoma"/>
                <a:cs typeface="Tahoma"/>
              </a:rPr>
              <a:t>i</a:t>
            </a:r>
            <a:endParaRPr sz="1406" baseline="-1777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517" y="526165"/>
            <a:ext cx="4862036" cy="61436"/>
          </a:xfrm>
          <a:custGeom>
            <a:avLst/>
            <a:gdLst/>
            <a:ahLst/>
            <a:cxnLst/>
            <a:rect l="l" t="t" r="r" b="b"/>
            <a:pathLst>
              <a:path w="6482715" h="81915">
                <a:moveTo>
                  <a:pt x="6482647" y="0"/>
                </a:moveTo>
                <a:lnTo>
                  <a:pt x="0" y="0"/>
                </a:lnTo>
                <a:lnTo>
                  <a:pt x="0" y="81537"/>
                </a:lnTo>
                <a:lnTo>
                  <a:pt x="6482647" y="81537"/>
                </a:lnTo>
                <a:lnTo>
                  <a:pt x="64826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5623" y="2916329"/>
            <a:ext cx="5623084" cy="1557338"/>
            <a:chOff x="607497" y="3888439"/>
            <a:chExt cx="7497445" cy="2076450"/>
          </a:xfrm>
        </p:grpSpPr>
        <p:sp>
          <p:nvSpPr>
            <p:cNvPr id="5" name="object 5"/>
            <p:cNvSpPr/>
            <p:nvPr/>
          </p:nvSpPr>
          <p:spPr>
            <a:xfrm>
              <a:off x="607491" y="5350103"/>
              <a:ext cx="6262370" cy="614680"/>
            </a:xfrm>
            <a:custGeom>
              <a:avLst/>
              <a:gdLst/>
              <a:ahLst/>
              <a:cxnLst/>
              <a:rect l="l" t="t" r="r" b="b"/>
              <a:pathLst>
                <a:path w="6262370" h="614679">
                  <a:moveTo>
                    <a:pt x="329476" y="276415"/>
                  </a:moveTo>
                  <a:lnTo>
                    <a:pt x="164744" y="47015"/>
                  </a:lnTo>
                  <a:lnTo>
                    <a:pt x="0" y="276415"/>
                  </a:lnTo>
                  <a:lnTo>
                    <a:pt x="119316" y="276415"/>
                  </a:lnTo>
                  <a:lnTo>
                    <a:pt x="119316" y="614464"/>
                  </a:lnTo>
                  <a:lnTo>
                    <a:pt x="210172" y="614464"/>
                  </a:lnTo>
                  <a:lnTo>
                    <a:pt x="210172" y="276415"/>
                  </a:lnTo>
                  <a:lnTo>
                    <a:pt x="329476" y="276415"/>
                  </a:lnTo>
                  <a:close/>
                </a:path>
                <a:path w="6262370" h="614679">
                  <a:moveTo>
                    <a:pt x="2341969" y="243979"/>
                  </a:moveTo>
                  <a:lnTo>
                    <a:pt x="2177224" y="14579"/>
                  </a:lnTo>
                  <a:lnTo>
                    <a:pt x="2012492" y="243979"/>
                  </a:lnTo>
                  <a:lnTo>
                    <a:pt x="2131796" y="243979"/>
                  </a:lnTo>
                  <a:lnTo>
                    <a:pt x="2131796" y="582015"/>
                  </a:lnTo>
                  <a:lnTo>
                    <a:pt x="2222652" y="582015"/>
                  </a:lnTo>
                  <a:lnTo>
                    <a:pt x="2222652" y="243979"/>
                  </a:lnTo>
                  <a:lnTo>
                    <a:pt x="2341969" y="243979"/>
                  </a:lnTo>
                  <a:close/>
                </a:path>
                <a:path w="6262370" h="614679">
                  <a:moveTo>
                    <a:pt x="4297578" y="229387"/>
                  </a:moveTo>
                  <a:lnTo>
                    <a:pt x="4132834" y="0"/>
                  </a:lnTo>
                  <a:lnTo>
                    <a:pt x="3968089" y="229387"/>
                  </a:lnTo>
                  <a:lnTo>
                    <a:pt x="4087406" y="229387"/>
                  </a:lnTo>
                  <a:lnTo>
                    <a:pt x="4087406" y="567436"/>
                  </a:lnTo>
                  <a:lnTo>
                    <a:pt x="4178262" y="567436"/>
                  </a:lnTo>
                  <a:lnTo>
                    <a:pt x="4178262" y="229387"/>
                  </a:lnTo>
                  <a:lnTo>
                    <a:pt x="4297578" y="229387"/>
                  </a:lnTo>
                  <a:close/>
                </a:path>
                <a:path w="6262370" h="614679">
                  <a:moveTo>
                    <a:pt x="6262294" y="243979"/>
                  </a:moveTo>
                  <a:lnTo>
                    <a:pt x="6097562" y="14579"/>
                  </a:lnTo>
                  <a:lnTo>
                    <a:pt x="5932817" y="243979"/>
                  </a:lnTo>
                  <a:lnTo>
                    <a:pt x="6052134" y="243979"/>
                  </a:lnTo>
                  <a:lnTo>
                    <a:pt x="6052134" y="582015"/>
                  </a:lnTo>
                  <a:lnTo>
                    <a:pt x="6142977" y="582015"/>
                  </a:lnTo>
                  <a:lnTo>
                    <a:pt x="6142977" y="243979"/>
                  </a:lnTo>
                  <a:lnTo>
                    <a:pt x="6262294" y="243979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2888" y="39139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980915"/>
              <a:ext cx="222250" cy="222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734656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488397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630" y="4236529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915" y="3978532"/>
              <a:ext cx="222250" cy="2222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94892" y="391396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159" y="4497922"/>
              <a:ext cx="203199" cy="2032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8159" y="4246053"/>
              <a:ext cx="203199" cy="203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0443" y="3988056"/>
              <a:ext cx="203200" cy="2032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482035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5301" y="4494684"/>
              <a:ext cx="203200" cy="2032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5301" y="4242815"/>
              <a:ext cx="203200" cy="203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7586" y="3984820"/>
              <a:ext cx="203199" cy="2032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876708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29974" y="4494684"/>
              <a:ext cx="203200" cy="2032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9974" y="4242815"/>
              <a:ext cx="203200" cy="203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32259" y="3984820"/>
              <a:ext cx="203200" cy="2032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605180" y="3921872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988822"/>
              <a:ext cx="222250" cy="2222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742563"/>
              <a:ext cx="222250" cy="2222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496305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244435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206" y="3986439"/>
              <a:ext cx="222250" cy="22225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057184" y="3921872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1" y="4505829"/>
              <a:ext cx="203200" cy="2032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1" y="4253960"/>
              <a:ext cx="203200" cy="2032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2734" y="3995963"/>
              <a:ext cx="203200" cy="2032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444327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7594" y="4502591"/>
              <a:ext cx="203200" cy="2032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7594" y="4250723"/>
              <a:ext cx="203200" cy="2032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9877" y="3992726"/>
              <a:ext cx="203200" cy="2032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839000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92266" y="4502591"/>
              <a:ext cx="203200" cy="2032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2266" y="4250723"/>
              <a:ext cx="203200" cy="2032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94551" y="3992726"/>
              <a:ext cx="203200" cy="2032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575592" y="391863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985584"/>
              <a:ext cx="222250" cy="22225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739326"/>
              <a:ext cx="222250" cy="22225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493066"/>
              <a:ext cx="222250" cy="22225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335" y="4241198"/>
              <a:ext cx="222250" cy="22225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620" y="3983201"/>
              <a:ext cx="222250" cy="22225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027597" y="3918634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0863" y="4502590"/>
              <a:ext cx="203200" cy="2032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0863" y="4250721"/>
              <a:ext cx="203200" cy="2032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3148" y="3992726"/>
              <a:ext cx="203200" cy="2032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414740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8006" y="4499353"/>
              <a:ext cx="203200" cy="2032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68006" y="4247484"/>
              <a:ext cx="203200" cy="2032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70291" y="3989489"/>
              <a:ext cx="203200" cy="20320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809413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2679" y="4499353"/>
              <a:ext cx="203200" cy="2032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62679" y="4247484"/>
              <a:ext cx="203200" cy="2032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4964" y="3989489"/>
              <a:ext cx="203200" cy="2032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540313" y="3910727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977677"/>
              <a:ext cx="222250" cy="22225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731417"/>
              <a:ext cx="222250" cy="22225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055" y="4485158"/>
              <a:ext cx="222250" cy="22225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233289"/>
              <a:ext cx="222250" cy="22225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6340" y="3975294"/>
              <a:ext cx="222250" cy="22225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992317" y="3910727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5584" y="4494682"/>
              <a:ext cx="203200" cy="20320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5584" y="4242813"/>
              <a:ext cx="203200" cy="20320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7867" y="3984818"/>
              <a:ext cx="203200" cy="20320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7379460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491446"/>
              <a:ext cx="203200" cy="203198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239577"/>
              <a:ext cx="203200" cy="20320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35010" y="3981580"/>
              <a:ext cx="203200" cy="20320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7774133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491446"/>
              <a:ext cx="203200" cy="203198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239577"/>
              <a:ext cx="203200" cy="20320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29683" y="3981580"/>
              <a:ext cx="203200" cy="203200"/>
            </a:xfrm>
            <a:prstGeom prst="rect">
              <a:avLst/>
            </a:prstGeom>
          </p:spPr>
        </p:pic>
      </p:grpSp>
      <p:sp>
        <p:nvSpPr>
          <p:cNvPr id="78" name="object 78"/>
          <p:cNvSpPr txBox="1"/>
          <p:nvPr/>
        </p:nvSpPr>
        <p:spPr>
          <a:xfrm>
            <a:off x="312086" y="4505325"/>
            <a:ext cx="442913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lnSpc>
                <a:spcPts val="2059"/>
              </a:lnSpc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  <a:p>
            <a:pPr marL="161925">
              <a:lnSpc>
                <a:spcPts val="1699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729777" y="4482465"/>
            <a:ext cx="692468" cy="48410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2033"/>
              </a:lnSpc>
              <a:spcBef>
                <a:spcPts val="75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  <a:p>
            <a:pPr marR="13335" algn="ctr">
              <a:lnSpc>
                <a:spcPts val="167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611936" y="3585189"/>
            <a:ext cx="210026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07008" y="3585189"/>
            <a:ext cx="22574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168070" y="3587856"/>
            <a:ext cx="1308735" cy="210218"/>
          </a:xfrm>
          <a:prstGeom prst="rect">
            <a:avLst/>
          </a:prstGeom>
        </p:spPr>
        <p:txBody>
          <a:bodyPr vert="horz" wrap="square" lIns="0" tIns="8096" rIns="0" bIns="0" rtlCol="0">
            <a:spAutoFit/>
          </a:bodyPr>
          <a:lstStyle/>
          <a:p>
            <a:pPr>
              <a:spcBef>
                <a:spcPts val="64"/>
              </a:spcBef>
              <a:tabLst>
                <a:tab pos="283369" algn="l"/>
                <a:tab pos="1139666" algn="l"/>
              </a:tabLst>
            </a:pP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r>
              <a:rPr sz="1294" baseline="-14492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2077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r>
              <a:rPr sz="1294" baseline="-12077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924290" y="3578712"/>
            <a:ext cx="3123247" cy="1406699"/>
          </a:xfrm>
          <a:prstGeom prst="rect">
            <a:avLst/>
          </a:prstGeom>
        </p:spPr>
        <p:txBody>
          <a:bodyPr vert="horz" wrap="square" lIns="0" tIns="14764" rIns="0" bIns="0" rtlCol="0">
            <a:spAutoFit/>
          </a:bodyPr>
          <a:lstStyle/>
          <a:p>
            <a:pPr>
              <a:spcBef>
                <a:spcPts val="116"/>
              </a:spcBef>
              <a:tabLst>
                <a:tab pos="886301" algn="l"/>
                <a:tab pos="1218724" algn="l"/>
                <a:tab pos="1502569" algn="l"/>
                <a:tab pos="2356961" algn="l"/>
                <a:tab pos="2689384" algn="l"/>
                <a:tab pos="2973228" algn="l"/>
              </a:tabLst>
            </a:pPr>
            <a:r>
              <a:rPr sz="1969" spc="-28" baseline="1587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2077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r>
              <a:rPr sz="1294" baseline="-12077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2077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r>
              <a:rPr sz="1294" baseline="-12077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969" spc="56" baseline="1587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56" baseline="-9661" dirty="0">
                <a:solidFill>
                  <a:srgbClr val="7030A0"/>
                </a:solidFill>
                <a:latin typeface="Tahoma"/>
                <a:cs typeface="Tahoma"/>
              </a:rPr>
              <a:t>4</a:t>
            </a:r>
            <a:r>
              <a:rPr sz="1294" baseline="-9661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9661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r>
              <a:rPr sz="1294" baseline="-9661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4761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7246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294" baseline="-7246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274"/>
              </a:spcBef>
            </a:pPr>
            <a:endParaRPr sz="863">
              <a:latin typeface="Tahoma"/>
              <a:cs typeface="Tahoma"/>
            </a:endParaRPr>
          </a:p>
          <a:p>
            <a:pPr marL="397669">
              <a:lnSpc>
                <a:spcPts val="2085"/>
              </a:lnSpc>
              <a:tabLst>
                <a:tab pos="1943100" algn="l"/>
              </a:tabLst>
            </a:pPr>
            <a:r>
              <a:rPr spc="75" dirty="0">
                <a:latin typeface="Tahoma"/>
                <a:cs typeface="Tahoma"/>
              </a:rPr>
              <a:t>dog</a:t>
            </a:r>
            <a:r>
              <a:rPr dirty="0">
                <a:latin typeface="Tahoma"/>
                <a:cs typeface="Tahoma"/>
              </a:rPr>
              <a:t>	</a:t>
            </a:r>
            <a:r>
              <a:rPr sz="2700" spc="-28" baseline="-4629" dirty="0">
                <a:latin typeface="Tahoma"/>
                <a:cs typeface="Tahoma"/>
              </a:rPr>
              <a:t>ran</a:t>
            </a:r>
            <a:endParaRPr sz="2700" baseline="-4629">
              <a:latin typeface="Tahoma"/>
              <a:cs typeface="Tahoma"/>
            </a:endParaRPr>
          </a:p>
          <a:p>
            <a:pPr marL="542925">
              <a:lnSpc>
                <a:spcPts val="1725"/>
              </a:lnSpc>
              <a:tabLst>
                <a:tab pos="2055495" algn="l"/>
              </a:tabLst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r>
              <a:rPr sz="1463" baseline="-17094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371686" y="2799427"/>
            <a:ext cx="5836444" cy="2229326"/>
            <a:chOff x="495581" y="3732569"/>
            <a:chExt cx="7781925" cy="2972435"/>
          </a:xfrm>
        </p:grpSpPr>
        <p:sp>
          <p:nvSpPr>
            <p:cNvPr id="85" name="object 85"/>
            <p:cNvSpPr/>
            <p:nvPr/>
          </p:nvSpPr>
          <p:spPr>
            <a:xfrm>
              <a:off x="495579" y="3789616"/>
              <a:ext cx="2901315" cy="1612900"/>
            </a:xfrm>
            <a:custGeom>
              <a:avLst/>
              <a:gdLst/>
              <a:ahLst/>
              <a:cxnLst/>
              <a:rect l="l" t="t" r="r" b="b"/>
              <a:pathLst>
                <a:path w="2901315" h="1612900">
                  <a:moveTo>
                    <a:pt x="552119" y="93624"/>
                  </a:moveTo>
                  <a:lnTo>
                    <a:pt x="0" y="93624"/>
                  </a:lnTo>
                  <a:lnTo>
                    <a:pt x="0" y="1612595"/>
                  </a:lnTo>
                  <a:lnTo>
                    <a:pt x="552119" y="1612595"/>
                  </a:lnTo>
                  <a:lnTo>
                    <a:pt x="552119" y="93624"/>
                  </a:lnTo>
                  <a:close/>
                </a:path>
                <a:path w="2901315" h="1612900">
                  <a:moveTo>
                    <a:pt x="2901035" y="0"/>
                  </a:moveTo>
                  <a:lnTo>
                    <a:pt x="966228" y="0"/>
                  </a:lnTo>
                  <a:lnTo>
                    <a:pt x="966228" y="1585214"/>
                  </a:lnTo>
                  <a:lnTo>
                    <a:pt x="2901035" y="1585214"/>
                  </a:lnTo>
                  <a:lnTo>
                    <a:pt x="2901035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786337" y="3732569"/>
              <a:ext cx="4491355" cy="2972435"/>
            </a:xfrm>
            <a:custGeom>
              <a:avLst/>
              <a:gdLst/>
              <a:ahLst/>
              <a:cxnLst/>
              <a:rect l="l" t="t" r="r" b="b"/>
              <a:pathLst>
                <a:path w="4491355" h="2972434">
                  <a:moveTo>
                    <a:pt x="4490763" y="0"/>
                  </a:moveTo>
                  <a:lnTo>
                    <a:pt x="0" y="0"/>
                  </a:lnTo>
                  <a:lnTo>
                    <a:pt x="0" y="2972087"/>
                  </a:lnTo>
                  <a:lnTo>
                    <a:pt x="4490763" y="2972087"/>
                  </a:lnTo>
                  <a:lnTo>
                    <a:pt x="4490763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380076" y="2004441"/>
            <a:ext cx="1395413" cy="748121"/>
          </a:xfrm>
          <a:prstGeom prst="rect">
            <a:avLst/>
          </a:prstGeom>
        </p:spPr>
        <p:txBody>
          <a:bodyPr vert="horz" wrap="square" lIns="0" tIns="103346" rIns="0" bIns="0" rtlCol="0">
            <a:spAutoFit/>
          </a:bodyPr>
          <a:lstStyle/>
          <a:p>
            <a:pPr marL="28575">
              <a:spcBef>
                <a:spcPts val="814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2</a:t>
            </a:r>
            <a:r>
              <a:rPr sz="1406" spc="11" baseline="-17777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7777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7777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r>
              <a:rPr sz="1406" spc="11" baseline="-17777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26" dirty="0">
                <a:latin typeface="Tahoma"/>
                <a:cs typeface="Tahoma"/>
              </a:rPr>
              <a:t>96</a:t>
            </a:r>
            <a:endParaRPr sz="1500">
              <a:latin typeface="Tahoma"/>
              <a:cs typeface="Tahoma"/>
            </a:endParaRPr>
          </a:p>
          <a:p>
            <a:pPr marL="42386">
              <a:spcBef>
                <a:spcPts val="735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1406" spc="11" baseline="-15555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5555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5555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r>
              <a:rPr sz="1406" spc="11" baseline="-15555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112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83583" y="681120"/>
            <a:ext cx="619125" cy="23948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8573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500" spc="41" dirty="0">
                <a:latin typeface="Tahoma"/>
                <a:cs typeface="Tahoma"/>
              </a:rPr>
              <a:t>Step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spc="-38" dirty="0">
                <a:latin typeface="Tahoma"/>
                <a:cs typeface="Tahoma"/>
              </a:rPr>
              <a:t>2: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416997" y="680084"/>
            <a:ext cx="6141719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spc="49" dirty="0">
                <a:latin typeface="Tahoma"/>
                <a:cs typeface="Tahoma"/>
              </a:rPr>
              <a:t>For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spc="38" dirty="0">
                <a:latin typeface="Tahoma"/>
                <a:cs typeface="Tahoma"/>
              </a:rPr>
              <a:t>word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E75B6"/>
                </a:solidFill>
                <a:latin typeface="Tahoma"/>
                <a:cs typeface="Tahoma"/>
              </a:rPr>
              <a:t>x</a:t>
            </a:r>
            <a:r>
              <a:rPr sz="1463" baseline="-17094" dirty="0">
                <a:solidFill>
                  <a:srgbClr val="2E75B6"/>
                </a:solidFill>
                <a:latin typeface="Tahoma"/>
                <a:cs typeface="Tahoma"/>
              </a:rPr>
              <a:t>1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let’s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calculate</a:t>
            </a:r>
            <a:r>
              <a:rPr sz="1500" spc="-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scores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3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2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8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3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8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4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which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represent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how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755008" y="908684"/>
            <a:ext cx="4459129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dirty="0">
                <a:latin typeface="Tahoma"/>
                <a:cs typeface="Tahoma"/>
              </a:rPr>
              <a:t>much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attention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56" dirty="0">
                <a:latin typeface="Tahoma"/>
                <a:cs typeface="Tahoma"/>
              </a:rPr>
              <a:t>to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pay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56" dirty="0">
                <a:latin typeface="Tahoma"/>
                <a:cs typeface="Tahoma"/>
              </a:rPr>
              <a:t>to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each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respective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83" dirty="0">
                <a:latin typeface="Tahoma"/>
                <a:cs typeface="Tahoma"/>
              </a:rPr>
              <a:t>”word”</a:t>
            </a:r>
            <a:r>
              <a:rPr sz="1500" spc="23" dirty="0">
                <a:latin typeface="Tahoma"/>
                <a:cs typeface="Tahoma"/>
              </a:rPr>
              <a:t> </a:t>
            </a:r>
            <a:r>
              <a:rPr sz="2194" spc="-28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spc="-28" baseline="-17777" dirty="0">
                <a:solidFill>
                  <a:srgbClr val="1F4E79"/>
                </a:solidFill>
                <a:latin typeface="Tahoma"/>
                <a:cs typeface="Tahoma"/>
              </a:rPr>
              <a:t>i</a:t>
            </a:r>
            <a:endParaRPr sz="1406" baseline="-1777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517" y="526165"/>
            <a:ext cx="4862036" cy="61436"/>
          </a:xfrm>
          <a:custGeom>
            <a:avLst/>
            <a:gdLst/>
            <a:ahLst/>
            <a:cxnLst/>
            <a:rect l="l" t="t" r="r" b="b"/>
            <a:pathLst>
              <a:path w="6482715" h="81915">
                <a:moveTo>
                  <a:pt x="6482647" y="0"/>
                </a:moveTo>
                <a:lnTo>
                  <a:pt x="0" y="0"/>
                </a:lnTo>
                <a:lnTo>
                  <a:pt x="0" y="81537"/>
                </a:lnTo>
                <a:lnTo>
                  <a:pt x="6482647" y="81537"/>
                </a:lnTo>
                <a:lnTo>
                  <a:pt x="64826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5623" y="2918759"/>
            <a:ext cx="2671763" cy="1554956"/>
            <a:chOff x="607497" y="3891678"/>
            <a:chExt cx="3562350" cy="2073275"/>
          </a:xfrm>
        </p:grpSpPr>
        <p:sp>
          <p:nvSpPr>
            <p:cNvPr id="5" name="object 5"/>
            <p:cNvSpPr/>
            <p:nvPr/>
          </p:nvSpPr>
          <p:spPr>
            <a:xfrm>
              <a:off x="607491" y="5364683"/>
              <a:ext cx="2342515" cy="600075"/>
            </a:xfrm>
            <a:custGeom>
              <a:avLst/>
              <a:gdLst/>
              <a:ahLst/>
              <a:cxnLst/>
              <a:rect l="l" t="t" r="r" b="b"/>
              <a:pathLst>
                <a:path w="2342515" h="600075">
                  <a:moveTo>
                    <a:pt x="329476" y="261835"/>
                  </a:moveTo>
                  <a:lnTo>
                    <a:pt x="164744" y="32435"/>
                  </a:lnTo>
                  <a:lnTo>
                    <a:pt x="0" y="261835"/>
                  </a:lnTo>
                  <a:lnTo>
                    <a:pt x="119316" y="261835"/>
                  </a:lnTo>
                  <a:lnTo>
                    <a:pt x="119316" y="599884"/>
                  </a:lnTo>
                  <a:lnTo>
                    <a:pt x="210172" y="599884"/>
                  </a:lnTo>
                  <a:lnTo>
                    <a:pt x="210172" y="261835"/>
                  </a:lnTo>
                  <a:lnTo>
                    <a:pt x="329476" y="261835"/>
                  </a:lnTo>
                  <a:close/>
                </a:path>
                <a:path w="2342515" h="600075">
                  <a:moveTo>
                    <a:pt x="2341969" y="229400"/>
                  </a:moveTo>
                  <a:lnTo>
                    <a:pt x="2177224" y="0"/>
                  </a:lnTo>
                  <a:lnTo>
                    <a:pt x="2012492" y="229400"/>
                  </a:lnTo>
                  <a:lnTo>
                    <a:pt x="2131796" y="229400"/>
                  </a:lnTo>
                  <a:lnTo>
                    <a:pt x="2131796" y="567436"/>
                  </a:lnTo>
                  <a:lnTo>
                    <a:pt x="2222652" y="567436"/>
                  </a:lnTo>
                  <a:lnTo>
                    <a:pt x="2222652" y="229400"/>
                  </a:lnTo>
                  <a:lnTo>
                    <a:pt x="2341969" y="22940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2888" y="39139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980915"/>
              <a:ext cx="222250" cy="222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734656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488397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630" y="4236529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915" y="3978532"/>
              <a:ext cx="222250" cy="2222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94892" y="391396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159" y="4497922"/>
              <a:ext cx="203199" cy="2032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8159" y="4246053"/>
              <a:ext cx="203199" cy="203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0443" y="3988056"/>
              <a:ext cx="203200" cy="2032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482035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5301" y="4494685"/>
              <a:ext cx="203200" cy="2032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5301" y="4242816"/>
              <a:ext cx="203200" cy="203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7586" y="3984820"/>
              <a:ext cx="203199" cy="2032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876708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29974" y="4494685"/>
              <a:ext cx="203200" cy="2032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9974" y="4242816"/>
              <a:ext cx="203200" cy="203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32259" y="3984820"/>
              <a:ext cx="203200" cy="2032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605180" y="3921872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988822"/>
              <a:ext cx="222250" cy="2222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742563"/>
              <a:ext cx="222250" cy="2222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496305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244435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206" y="3986439"/>
              <a:ext cx="222250" cy="22225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057184" y="3921872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1" y="4505829"/>
              <a:ext cx="203200" cy="2032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1" y="4253960"/>
              <a:ext cx="203200" cy="2032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2734" y="3995963"/>
              <a:ext cx="203200" cy="2032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444327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7594" y="4502592"/>
              <a:ext cx="203200" cy="2032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7594" y="4250723"/>
              <a:ext cx="203200" cy="2032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9877" y="3992726"/>
              <a:ext cx="203200" cy="2032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839000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92266" y="4502592"/>
              <a:ext cx="203200" cy="2032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2266" y="4250723"/>
              <a:ext cx="203200" cy="2032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94551" y="3992726"/>
              <a:ext cx="203200" cy="203200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3417407" y="2916329"/>
            <a:ext cx="2661284" cy="1533048"/>
            <a:chOff x="4556542" y="3888439"/>
            <a:chExt cx="3548379" cy="2044064"/>
          </a:xfrm>
        </p:grpSpPr>
        <p:sp>
          <p:nvSpPr>
            <p:cNvPr id="43" name="object 43"/>
            <p:cNvSpPr/>
            <p:nvPr/>
          </p:nvSpPr>
          <p:spPr>
            <a:xfrm>
              <a:off x="4575581" y="5350103"/>
              <a:ext cx="2294255" cy="582295"/>
            </a:xfrm>
            <a:custGeom>
              <a:avLst/>
              <a:gdLst/>
              <a:ahLst/>
              <a:cxnLst/>
              <a:rect l="l" t="t" r="r" b="b"/>
              <a:pathLst>
                <a:path w="2294254" h="582295">
                  <a:moveTo>
                    <a:pt x="329488" y="229387"/>
                  </a:moveTo>
                  <a:lnTo>
                    <a:pt x="164744" y="0"/>
                  </a:lnTo>
                  <a:lnTo>
                    <a:pt x="0" y="229387"/>
                  </a:lnTo>
                  <a:lnTo>
                    <a:pt x="119316" y="229387"/>
                  </a:lnTo>
                  <a:lnTo>
                    <a:pt x="119316" y="567436"/>
                  </a:lnTo>
                  <a:lnTo>
                    <a:pt x="210172" y="567436"/>
                  </a:lnTo>
                  <a:lnTo>
                    <a:pt x="210172" y="229387"/>
                  </a:lnTo>
                  <a:lnTo>
                    <a:pt x="329488" y="229387"/>
                  </a:lnTo>
                  <a:close/>
                </a:path>
                <a:path w="2294254" h="582295">
                  <a:moveTo>
                    <a:pt x="2294204" y="243979"/>
                  </a:moveTo>
                  <a:lnTo>
                    <a:pt x="2129472" y="14579"/>
                  </a:lnTo>
                  <a:lnTo>
                    <a:pt x="1964728" y="243979"/>
                  </a:lnTo>
                  <a:lnTo>
                    <a:pt x="2084044" y="243979"/>
                  </a:lnTo>
                  <a:lnTo>
                    <a:pt x="2084044" y="582015"/>
                  </a:lnTo>
                  <a:lnTo>
                    <a:pt x="2174887" y="582015"/>
                  </a:lnTo>
                  <a:lnTo>
                    <a:pt x="2174887" y="243979"/>
                  </a:lnTo>
                  <a:lnTo>
                    <a:pt x="2294204" y="243979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575592" y="391863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985584"/>
              <a:ext cx="222250" cy="22225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739326"/>
              <a:ext cx="222250" cy="22225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493066"/>
              <a:ext cx="222250" cy="22225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335" y="4241198"/>
              <a:ext cx="222250" cy="22225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620" y="3983201"/>
              <a:ext cx="222250" cy="22225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027597" y="3918634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0863" y="4502590"/>
              <a:ext cx="203200" cy="2032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0863" y="4250721"/>
              <a:ext cx="203200" cy="2032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3148" y="3992726"/>
              <a:ext cx="203200" cy="2032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414740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8006" y="4499353"/>
              <a:ext cx="203200" cy="2032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68006" y="4247484"/>
              <a:ext cx="203200" cy="2032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70291" y="3989489"/>
              <a:ext cx="203200" cy="20320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5809413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2679" y="4499353"/>
              <a:ext cx="203200" cy="2032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62679" y="4247484"/>
              <a:ext cx="203200" cy="2032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4964" y="3989489"/>
              <a:ext cx="203200" cy="203200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540313" y="3910727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977677"/>
              <a:ext cx="222250" cy="22225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731417"/>
              <a:ext cx="222250" cy="22225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055" y="4485158"/>
              <a:ext cx="222250" cy="22225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233289"/>
              <a:ext cx="222250" cy="22225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6340" y="3975294"/>
              <a:ext cx="222250" cy="22225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6992317" y="3910727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5584" y="4494682"/>
              <a:ext cx="203200" cy="20320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5584" y="4242813"/>
              <a:ext cx="203200" cy="20320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7867" y="3984818"/>
              <a:ext cx="203200" cy="20320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7379460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7" y="4491446"/>
              <a:ext cx="203200" cy="203198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7" y="4239577"/>
              <a:ext cx="203200" cy="203200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35010" y="3981580"/>
              <a:ext cx="203200" cy="203200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7774133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491446"/>
              <a:ext cx="203200" cy="203198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239577"/>
              <a:ext cx="203200" cy="20320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29683" y="3981580"/>
              <a:ext cx="203200" cy="203200"/>
            </a:xfrm>
            <a:prstGeom prst="rect">
              <a:avLst/>
            </a:prstGeom>
          </p:spPr>
        </p:pic>
      </p:grpSp>
      <p:sp>
        <p:nvSpPr>
          <p:cNvPr id="80" name="object 80"/>
          <p:cNvSpPr txBox="1"/>
          <p:nvPr/>
        </p:nvSpPr>
        <p:spPr>
          <a:xfrm>
            <a:off x="312086" y="4505325"/>
            <a:ext cx="442913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lnSpc>
                <a:spcPts val="2059"/>
              </a:lnSpc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  <a:p>
            <a:pPr marL="161925">
              <a:lnSpc>
                <a:spcPts val="1699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293475" y="4480179"/>
            <a:ext cx="471964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2078"/>
              </a:lnSpc>
              <a:spcBef>
                <a:spcPts val="75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  <a:p>
            <a:pPr marL="43814" algn="ctr">
              <a:lnSpc>
                <a:spcPts val="1718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807008" y="3585189"/>
            <a:ext cx="22574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168070" y="3587855"/>
            <a:ext cx="1905953" cy="1387142"/>
          </a:xfrm>
          <a:prstGeom prst="rect">
            <a:avLst/>
          </a:prstGeom>
        </p:spPr>
        <p:txBody>
          <a:bodyPr vert="horz" wrap="square" lIns="0" tIns="8096" rIns="0" bIns="0" rtlCol="0">
            <a:spAutoFit/>
          </a:bodyPr>
          <a:lstStyle/>
          <a:p>
            <a:pPr>
              <a:spcBef>
                <a:spcPts val="64"/>
              </a:spcBef>
              <a:tabLst>
                <a:tab pos="283369" algn="l"/>
                <a:tab pos="1139666" algn="l"/>
                <a:tab pos="1472089" algn="l"/>
                <a:tab pos="1755934" algn="l"/>
              </a:tabLst>
            </a:pP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r>
              <a:rPr sz="1294" baseline="-14492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2077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r>
              <a:rPr sz="1294" baseline="-12077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r>
              <a:rPr sz="1294" baseline="-14492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9661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endParaRPr sz="1294" baseline="-9661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274"/>
              </a:spcBef>
            </a:pPr>
            <a:endParaRPr sz="863">
              <a:latin typeface="Tahoma"/>
              <a:cs typeface="Tahoma"/>
            </a:endParaRPr>
          </a:p>
          <a:p>
            <a:pPr marR="83820" algn="ctr">
              <a:lnSpc>
                <a:spcPts val="2033"/>
              </a:lnSpc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  <a:p>
            <a:pPr marR="103346" algn="ctr">
              <a:lnSpc>
                <a:spcPts val="167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810826" y="3592428"/>
            <a:ext cx="168593" cy="203486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>
              <a:spcBef>
                <a:spcPts val="11"/>
              </a:spcBef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3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114739" y="3582903"/>
            <a:ext cx="210026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427093" y="3578711"/>
            <a:ext cx="1620203" cy="1399966"/>
          </a:xfrm>
          <a:prstGeom prst="rect">
            <a:avLst/>
          </a:prstGeom>
        </p:spPr>
        <p:txBody>
          <a:bodyPr vert="horz" wrap="square" lIns="0" tIns="8096" rIns="0" bIns="0" rtlCol="0">
            <a:spAutoFit/>
          </a:bodyPr>
          <a:lstStyle/>
          <a:p>
            <a:pPr>
              <a:spcBef>
                <a:spcPts val="64"/>
              </a:spcBef>
              <a:tabLst>
                <a:tab pos="854393" algn="l"/>
                <a:tab pos="1186815" algn="l"/>
                <a:tab pos="1470660" algn="l"/>
              </a:tabLst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4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r>
              <a:rPr sz="1294" baseline="-14492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9661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294" baseline="-9661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488"/>
              </a:spcBef>
            </a:pPr>
            <a:endParaRPr sz="863">
              <a:latin typeface="Tahoma"/>
              <a:cs typeface="Tahoma"/>
            </a:endParaRPr>
          </a:p>
          <a:p>
            <a:pPr marL="440055">
              <a:lnSpc>
                <a:spcPts val="2002"/>
              </a:lnSpc>
              <a:spcBef>
                <a:spcPts val="4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  <a:p>
            <a:pPr marL="552926">
              <a:lnSpc>
                <a:spcPts val="164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371685" y="2842212"/>
            <a:ext cx="2842259" cy="2176939"/>
          </a:xfrm>
          <a:custGeom>
            <a:avLst/>
            <a:gdLst/>
            <a:ahLst/>
            <a:cxnLst/>
            <a:rect l="l" t="t" r="r" b="b"/>
            <a:pathLst>
              <a:path w="3789679" h="2902584">
                <a:moveTo>
                  <a:pt x="552119" y="93624"/>
                </a:moveTo>
                <a:lnTo>
                  <a:pt x="0" y="93624"/>
                </a:lnTo>
                <a:lnTo>
                  <a:pt x="0" y="1612595"/>
                </a:lnTo>
                <a:lnTo>
                  <a:pt x="552119" y="1612595"/>
                </a:lnTo>
                <a:lnTo>
                  <a:pt x="552119" y="93624"/>
                </a:lnTo>
                <a:close/>
              </a:path>
              <a:path w="3789679" h="2902584">
                <a:moveTo>
                  <a:pt x="3789349" y="0"/>
                </a:moveTo>
                <a:lnTo>
                  <a:pt x="966228" y="0"/>
                </a:lnTo>
                <a:lnTo>
                  <a:pt x="966228" y="2902420"/>
                </a:lnTo>
                <a:lnTo>
                  <a:pt x="3789349" y="2902420"/>
                </a:lnTo>
                <a:lnTo>
                  <a:pt x="3789349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287897" y="2816085"/>
            <a:ext cx="4416266" cy="2176939"/>
          </a:xfrm>
          <a:custGeom>
            <a:avLst/>
            <a:gdLst/>
            <a:ahLst/>
            <a:cxnLst/>
            <a:rect l="l" t="t" r="r" b="b"/>
            <a:pathLst>
              <a:path w="5888355" h="2902584">
                <a:moveTo>
                  <a:pt x="990854" y="76873"/>
                </a:moveTo>
                <a:lnTo>
                  <a:pt x="0" y="76873"/>
                </a:lnTo>
                <a:lnTo>
                  <a:pt x="0" y="1616265"/>
                </a:lnTo>
                <a:lnTo>
                  <a:pt x="990854" y="1616265"/>
                </a:lnTo>
                <a:lnTo>
                  <a:pt x="990854" y="76873"/>
                </a:lnTo>
                <a:close/>
              </a:path>
              <a:path w="5888355" h="2902584">
                <a:moveTo>
                  <a:pt x="5888101" y="0"/>
                </a:moveTo>
                <a:lnTo>
                  <a:pt x="1397342" y="0"/>
                </a:lnTo>
                <a:lnTo>
                  <a:pt x="1397342" y="2902420"/>
                </a:lnTo>
                <a:lnTo>
                  <a:pt x="5888101" y="2902420"/>
                </a:lnTo>
                <a:lnTo>
                  <a:pt x="5888101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783583" y="681120"/>
            <a:ext cx="619125" cy="23948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8573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500" spc="41" dirty="0">
                <a:latin typeface="Tahoma"/>
                <a:cs typeface="Tahoma"/>
              </a:rPr>
              <a:t>Step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spc="-38" dirty="0">
                <a:latin typeface="Tahoma"/>
                <a:cs typeface="Tahoma"/>
              </a:rPr>
              <a:t>2: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416997" y="680084"/>
            <a:ext cx="6141719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spc="49" dirty="0">
                <a:latin typeface="Tahoma"/>
                <a:cs typeface="Tahoma"/>
              </a:rPr>
              <a:t>For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spc="38" dirty="0">
                <a:latin typeface="Tahoma"/>
                <a:cs typeface="Tahoma"/>
              </a:rPr>
              <a:t>word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E75B6"/>
                </a:solidFill>
                <a:latin typeface="Tahoma"/>
                <a:cs typeface="Tahoma"/>
              </a:rPr>
              <a:t>x</a:t>
            </a:r>
            <a:r>
              <a:rPr sz="1463" baseline="-17094" dirty="0">
                <a:solidFill>
                  <a:srgbClr val="2E75B6"/>
                </a:solidFill>
                <a:latin typeface="Tahoma"/>
                <a:cs typeface="Tahoma"/>
              </a:rPr>
              <a:t>1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let’s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calculate</a:t>
            </a:r>
            <a:r>
              <a:rPr sz="1500" spc="-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scores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3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2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8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3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8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4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which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represent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how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370551" y="908685"/>
            <a:ext cx="4853464" cy="18138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12909">
              <a:spcBef>
                <a:spcPts val="75"/>
              </a:spcBef>
            </a:pPr>
            <a:r>
              <a:rPr sz="1500" dirty="0">
                <a:latin typeface="Tahoma"/>
                <a:cs typeface="Tahoma"/>
              </a:rPr>
              <a:t>much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attention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56" dirty="0">
                <a:latin typeface="Tahoma"/>
                <a:cs typeface="Tahoma"/>
              </a:rPr>
              <a:t>to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pay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56" dirty="0">
                <a:latin typeface="Tahoma"/>
                <a:cs typeface="Tahoma"/>
              </a:rPr>
              <a:t>to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each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respective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83" dirty="0">
                <a:latin typeface="Tahoma"/>
                <a:cs typeface="Tahoma"/>
              </a:rPr>
              <a:t>”word”</a:t>
            </a:r>
            <a:r>
              <a:rPr sz="1500" spc="23" dirty="0">
                <a:latin typeface="Tahoma"/>
                <a:cs typeface="Tahoma"/>
              </a:rPr>
              <a:t> </a:t>
            </a:r>
            <a:r>
              <a:rPr sz="2194" spc="-28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spc="-28" baseline="-17777" dirty="0">
                <a:solidFill>
                  <a:srgbClr val="1F4E79"/>
                </a:solidFill>
                <a:latin typeface="Tahoma"/>
                <a:cs typeface="Tahoma"/>
              </a:rPr>
              <a:t>i</a:t>
            </a:r>
            <a:endParaRPr sz="1406" baseline="-17777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500">
              <a:latin typeface="Tahoma"/>
              <a:cs typeface="Tahoma"/>
            </a:endParaRPr>
          </a:p>
          <a:p>
            <a:pPr>
              <a:spcBef>
                <a:spcPts val="307"/>
              </a:spcBef>
            </a:pPr>
            <a:endParaRPr sz="1500">
              <a:latin typeface="Tahoma"/>
              <a:cs typeface="Tahoma"/>
            </a:endParaRPr>
          </a:p>
          <a:p>
            <a:pPr marL="38100" marR="3471386" indent="13811" algn="just">
              <a:lnSpc>
                <a:spcPct val="134200"/>
              </a:lnSpc>
            </a:pPr>
            <a:r>
              <a:rPr sz="2194" spc="17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spc="17" baseline="-17777" dirty="0">
                <a:solidFill>
                  <a:srgbClr val="548235"/>
                </a:solidFill>
                <a:latin typeface="Tahoma"/>
                <a:cs typeface="Tahoma"/>
              </a:rPr>
              <a:t>3</a:t>
            </a:r>
            <a:r>
              <a:rPr sz="1406" spc="-5" baseline="-17777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1" dirty="0">
                <a:latin typeface="Tahoma"/>
                <a:cs typeface="Tahoma"/>
              </a:rPr>
              <a:t>=</a:t>
            </a:r>
            <a:r>
              <a:rPr sz="1500" spc="-53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7777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7777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r>
              <a:rPr sz="1406" spc="-5" baseline="-17777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1" dirty="0">
                <a:latin typeface="Tahoma"/>
                <a:cs typeface="Tahoma"/>
              </a:rPr>
              <a:t>=</a:t>
            </a:r>
            <a:r>
              <a:rPr sz="1500" spc="-53" dirty="0">
                <a:latin typeface="Tahoma"/>
                <a:cs typeface="Tahoma"/>
              </a:rPr>
              <a:t> </a:t>
            </a:r>
            <a:r>
              <a:rPr sz="1500" spc="11" dirty="0">
                <a:latin typeface="Tahoma"/>
                <a:cs typeface="Tahoma"/>
              </a:rPr>
              <a:t>16</a:t>
            </a:r>
            <a:r>
              <a:rPr sz="1500" spc="8" dirty="0">
                <a:latin typeface="Tahoma"/>
                <a:cs typeface="Tahoma"/>
              </a:rPr>
              <a:t> </a:t>
            </a:r>
            <a:r>
              <a:rPr sz="2194" spc="17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spc="17" baseline="-17777" dirty="0">
                <a:solidFill>
                  <a:srgbClr val="548235"/>
                </a:solidFill>
                <a:latin typeface="Tahoma"/>
                <a:cs typeface="Tahoma"/>
              </a:rPr>
              <a:t>2</a:t>
            </a:r>
            <a:r>
              <a:rPr sz="1406" spc="-5" baseline="-17777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1" dirty="0">
                <a:latin typeface="Tahoma"/>
                <a:cs typeface="Tahoma"/>
              </a:rPr>
              <a:t>=</a:t>
            </a:r>
            <a:r>
              <a:rPr sz="1500" spc="-53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7777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7777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r>
              <a:rPr sz="1406" spc="-5" baseline="-17777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1" dirty="0">
                <a:latin typeface="Tahoma"/>
                <a:cs typeface="Tahoma"/>
              </a:rPr>
              <a:t>=</a:t>
            </a:r>
            <a:r>
              <a:rPr sz="1500" spc="-53" dirty="0">
                <a:latin typeface="Tahoma"/>
                <a:cs typeface="Tahoma"/>
              </a:rPr>
              <a:t> </a:t>
            </a:r>
            <a:r>
              <a:rPr sz="1500" spc="11" dirty="0">
                <a:latin typeface="Tahoma"/>
                <a:cs typeface="Tahoma"/>
              </a:rPr>
              <a:t>96</a:t>
            </a:r>
            <a:r>
              <a:rPr sz="1500" spc="8" dirty="0">
                <a:latin typeface="Tahoma"/>
                <a:cs typeface="Tahoma"/>
              </a:rPr>
              <a:t> </a:t>
            </a:r>
            <a:r>
              <a:rPr sz="2194" spc="17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spc="17" baseline="-15555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1406" spc="-5" baseline="-15555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1" dirty="0">
                <a:latin typeface="Tahoma"/>
                <a:cs typeface="Tahoma"/>
              </a:rPr>
              <a:t>=</a:t>
            </a:r>
            <a:r>
              <a:rPr sz="1500" spc="-53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5555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5555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r>
              <a:rPr sz="1406" spc="-5" baseline="-15555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1" dirty="0">
                <a:latin typeface="Tahoma"/>
                <a:cs typeface="Tahoma"/>
              </a:rPr>
              <a:t>=</a:t>
            </a:r>
            <a:r>
              <a:rPr sz="1500" spc="-53" dirty="0">
                <a:latin typeface="Tahoma"/>
                <a:cs typeface="Tahoma"/>
              </a:rPr>
              <a:t> </a:t>
            </a:r>
            <a:r>
              <a:rPr sz="1500" spc="11" dirty="0">
                <a:latin typeface="Tahoma"/>
                <a:cs typeface="Tahoma"/>
              </a:rPr>
              <a:t>112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517" y="526165"/>
            <a:ext cx="4862036" cy="61436"/>
          </a:xfrm>
          <a:custGeom>
            <a:avLst/>
            <a:gdLst/>
            <a:ahLst/>
            <a:cxnLst/>
            <a:rect l="l" t="t" r="r" b="b"/>
            <a:pathLst>
              <a:path w="6482715" h="81915">
                <a:moveTo>
                  <a:pt x="6482647" y="0"/>
                </a:moveTo>
                <a:lnTo>
                  <a:pt x="0" y="0"/>
                </a:lnTo>
                <a:lnTo>
                  <a:pt x="0" y="81537"/>
                </a:lnTo>
                <a:lnTo>
                  <a:pt x="6482647" y="81537"/>
                </a:lnTo>
                <a:lnTo>
                  <a:pt x="64826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5623" y="2918759"/>
            <a:ext cx="4149566" cy="1554956"/>
            <a:chOff x="607497" y="3891678"/>
            <a:chExt cx="5532755" cy="2073275"/>
          </a:xfrm>
        </p:grpSpPr>
        <p:sp>
          <p:nvSpPr>
            <p:cNvPr id="5" name="object 5"/>
            <p:cNvSpPr/>
            <p:nvPr/>
          </p:nvSpPr>
          <p:spPr>
            <a:xfrm>
              <a:off x="607491" y="5350103"/>
              <a:ext cx="4297680" cy="614680"/>
            </a:xfrm>
            <a:custGeom>
              <a:avLst/>
              <a:gdLst/>
              <a:ahLst/>
              <a:cxnLst/>
              <a:rect l="l" t="t" r="r" b="b"/>
              <a:pathLst>
                <a:path w="4297680" h="614679">
                  <a:moveTo>
                    <a:pt x="329476" y="276415"/>
                  </a:moveTo>
                  <a:lnTo>
                    <a:pt x="164744" y="47015"/>
                  </a:lnTo>
                  <a:lnTo>
                    <a:pt x="0" y="276415"/>
                  </a:lnTo>
                  <a:lnTo>
                    <a:pt x="119316" y="276415"/>
                  </a:lnTo>
                  <a:lnTo>
                    <a:pt x="119316" y="614464"/>
                  </a:lnTo>
                  <a:lnTo>
                    <a:pt x="210172" y="614464"/>
                  </a:lnTo>
                  <a:lnTo>
                    <a:pt x="210172" y="276415"/>
                  </a:lnTo>
                  <a:lnTo>
                    <a:pt x="329476" y="276415"/>
                  </a:lnTo>
                  <a:close/>
                </a:path>
                <a:path w="4297680" h="614679">
                  <a:moveTo>
                    <a:pt x="2341969" y="243979"/>
                  </a:moveTo>
                  <a:lnTo>
                    <a:pt x="2177224" y="14579"/>
                  </a:lnTo>
                  <a:lnTo>
                    <a:pt x="2012492" y="243979"/>
                  </a:lnTo>
                  <a:lnTo>
                    <a:pt x="2131796" y="243979"/>
                  </a:lnTo>
                  <a:lnTo>
                    <a:pt x="2131796" y="582015"/>
                  </a:lnTo>
                  <a:lnTo>
                    <a:pt x="2222652" y="582015"/>
                  </a:lnTo>
                  <a:lnTo>
                    <a:pt x="2222652" y="243979"/>
                  </a:lnTo>
                  <a:lnTo>
                    <a:pt x="2341969" y="243979"/>
                  </a:lnTo>
                  <a:close/>
                </a:path>
                <a:path w="4297680" h="614679">
                  <a:moveTo>
                    <a:pt x="4297578" y="229387"/>
                  </a:moveTo>
                  <a:lnTo>
                    <a:pt x="4132834" y="0"/>
                  </a:lnTo>
                  <a:lnTo>
                    <a:pt x="3968089" y="229387"/>
                  </a:lnTo>
                  <a:lnTo>
                    <a:pt x="4087406" y="229387"/>
                  </a:lnTo>
                  <a:lnTo>
                    <a:pt x="4087406" y="567436"/>
                  </a:lnTo>
                  <a:lnTo>
                    <a:pt x="4178262" y="567436"/>
                  </a:lnTo>
                  <a:lnTo>
                    <a:pt x="4178262" y="229387"/>
                  </a:lnTo>
                  <a:lnTo>
                    <a:pt x="4297578" y="22938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2888" y="39139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980915"/>
              <a:ext cx="222250" cy="222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734656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488397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630" y="4236529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915" y="3978532"/>
              <a:ext cx="222250" cy="2222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94892" y="391396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159" y="4497922"/>
              <a:ext cx="203199" cy="2032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8159" y="4246053"/>
              <a:ext cx="203199" cy="203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0443" y="3988056"/>
              <a:ext cx="203200" cy="2032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482035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5301" y="4494685"/>
              <a:ext cx="203200" cy="2032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5301" y="4242816"/>
              <a:ext cx="203200" cy="203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7586" y="3984820"/>
              <a:ext cx="203199" cy="2032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876708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29974" y="4494685"/>
              <a:ext cx="203200" cy="2032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9974" y="4242816"/>
              <a:ext cx="203200" cy="203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32259" y="3984820"/>
              <a:ext cx="203200" cy="2032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605180" y="3921872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988822"/>
              <a:ext cx="222250" cy="2222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742563"/>
              <a:ext cx="222250" cy="2222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496305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244435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206" y="3986439"/>
              <a:ext cx="222250" cy="22225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057184" y="3921872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1" y="4505829"/>
              <a:ext cx="203200" cy="2032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1" y="4253960"/>
              <a:ext cx="203200" cy="2032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2734" y="3995963"/>
              <a:ext cx="203200" cy="2032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444327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7594" y="4502592"/>
              <a:ext cx="203200" cy="2032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7594" y="4250723"/>
              <a:ext cx="203200" cy="2032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9877" y="3992726"/>
              <a:ext cx="203200" cy="2032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839000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92266" y="4502592"/>
              <a:ext cx="203200" cy="2032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2266" y="4250723"/>
              <a:ext cx="203200" cy="2032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94551" y="3992726"/>
              <a:ext cx="203200" cy="2032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575592" y="391863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985584"/>
              <a:ext cx="222250" cy="22225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739326"/>
              <a:ext cx="222250" cy="22225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493067"/>
              <a:ext cx="222250" cy="22225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335" y="4241198"/>
              <a:ext cx="222250" cy="22225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620" y="3983201"/>
              <a:ext cx="222250" cy="22225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027597" y="3918634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0863" y="4502590"/>
              <a:ext cx="203200" cy="2032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0863" y="4250721"/>
              <a:ext cx="203200" cy="2032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3148" y="3992726"/>
              <a:ext cx="203200" cy="2032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414740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8006" y="4499353"/>
              <a:ext cx="203200" cy="2032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68006" y="4247484"/>
              <a:ext cx="203200" cy="2032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70291" y="3989489"/>
              <a:ext cx="203200" cy="20320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809413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2679" y="4499353"/>
              <a:ext cx="203200" cy="2032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62679" y="4247484"/>
              <a:ext cx="203200" cy="2032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4964" y="3989489"/>
              <a:ext cx="203200" cy="203200"/>
            </a:xfrm>
            <a:prstGeom prst="rect">
              <a:avLst/>
            </a:prstGeom>
          </p:spPr>
        </p:pic>
      </p:grpSp>
      <p:grpSp>
        <p:nvGrpSpPr>
          <p:cNvPr id="60" name="object 60"/>
          <p:cNvGrpSpPr/>
          <p:nvPr/>
        </p:nvGrpSpPr>
        <p:grpSpPr>
          <a:xfrm>
            <a:off x="4890947" y="2916329"/>
            <a:ext cx="1187768" cy="1533048"/>
            <a:chOff x="6521263" y="3888439"/>
            <a:chExt cx="1583690" cy="2044064"/>
          </a:xfrm>
        </p:grpSpPr>
        <p:sp>
          <p:nvSpPr>
            <p:cNvPr id="61" name="object 61"/>
            <p:cNvSpPr/>
            <p:nvPr/>
          </p:nvSpPr>
          <p:spPr>
            <a:xfrm>
              <a:off x="6540313" y="5364675"/>
              <a:ext cx="329565" cy="567690"/>
            </a:xfrm>
            <a:custGeom>
              <a:avLst/>
              <a:gdLst/>
              <a:ahLst/>
              <a:cxnLst/>
              <a:rect l="l" t="t" r="r" b="b"/>
              <a:pathLst>
                <a:path w="329565" h="567689">
                  <a:moveTo>
                    <a:pt x="164741" y="0"/>
                  </a:moveTo>
                  <a:lnTo>
                    <a:pt x="0" y="229395"/>
                  </a:lnTo>
                  <a:lnTo>
                    <a:pt x="119315" y="229395"/>
                  </a:lnTo>
                  <a:lnTo>
                    <a:pt x="119315" y="567437"/>
                  </a:lnTo>
                  <a:lnTo>
                    <a:pt x="210167" y="567437"/>
                  </a:lnTo>
                  <a:lnTo>
                    <a:pt x="210167" y="229395"/>
                  </a:lnTo>
                  <a:lnTo>
                    <a:pt x="329482" y="229395"/>
                  </a:lnTo>
                  <a:lnTo>
                    <a:pt x="16474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540313" y="3910727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977677"/>
              <a:ext cx="222250" cy="22225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731417"/>
              <a:ext cx="222250" cy="22225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055" y="4485158"/>
              <a:ext cx="222250" cy="22225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233289"/>
              <a:ext cx="222250" cy="22225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6340" y="3975294"/>
              <a:ext cx="222250" cy="22225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6992317" y="3910727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5583" y="4494682"/>
              <a:ext cx="203200" cy="20320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5583" y="4242813"/>
              <a:ext cx="203200" cy="20320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7867" y="3984818"/>
              <a:ext cx="203200" cy="20320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7379460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491446"/>
              <a:ext cx="203200" cy="203198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239577"/>
              <a:ext cx="203200" cy="203200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35010" y="3981580"/>
              <a:ext cx="203200" cy="203200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7774133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491446"/>
              <a:ext cx="203200" cy="203198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239577"/>
              <a:ext cx="203200" cy="20320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29683" y="3981580"/>
              <a:ext cx="203200" cy="203200"/>
            </a:xfrm>
            <a:prstGeom prst="rect">
              <a:avLst/>
            </a:prstGeom>
          </p:spPr>
        </p:pic>
      </p:grpSp>
      <p:sp>
        <p:nvSpPr>
          <p:cNvPr id="80" name="object 80"/>
          <p:cNvSpPr txBox="1"/>
          <p:nvPr/>
        </p:nvSpPr>
        <p:spPr>
          <a:xfrm>
            <a:off x="312086" y="4505325"/>
            <a:ext cx="442913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lnSpc>
                <a:spcPts val="2059"/>
              </a:lnSpc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  <a:p>
            <a:pPr marL="161925">
              <a:lnSpc>
                <a:spcPts val="1699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838885" y="4500753"/>
            <a:ext cx="380048" cy="4712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lnSpc>
                <a:spcPts val="2002"/>
              </a:lnSpc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  <a:p>
            <a:pPr marL="140970">
              <a:lnSpc>
                <a:spcPts val="164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807008" y="3585189"/>
            <a:ext cx="22574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168071" y="3585569"/>
            <a:ext cx="3408521" cy="140237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>
              <a:spcBef>
                <a:spcPts val="83"/>
              </a:spcBef>
              <a:tabLst>
                <a:tab pos="283369" algn="l"/>
                <a:tab pos="1139666" algn="l"/>
                <a:tab pos="1472089" algn="l"/>
                <a:tab pos="1755934" algn="l"/>
                <a:tab pos="2642711" algn="l"/>
                <a:tab pos="2975134" algn="l"/>
                <a:tab pos="3258979" algn="l"/>
              </a:tabLst>
            </a:pP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r>
              <a:rPr sz="1294" baseline="-14492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2077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r>
              <a:rPr sz="1294" baseline="-12077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r>
              <a:rPr sz="1294" baseline="-14492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9661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r>
              <a:rPr sz="1294" baseline="-9661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313" spc="38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56" baseline="-14492" dirty="0">
                <a:solidFill>
                  <a:srgbClr val="7030A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317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9661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endParaRPr sz="1294" baseline="-9661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274"/>
              </a:spcBef>
            </a:pPr>
            <a:endParaRPr sz="863">
              <a:latin typeface="Tahoma"/>
              <a:cs typeface="Tahoma"/>
            </a:endParaRPr>
          </a:p>
          <a:p>
            <a:pPr marR="243364" algn="ctr">
              <a:lnSpc>
                <a:spcPts val="2066"/>
              </a:lnSpc>
              <a:tabLst>
                <a:tab pos="1563529" algn="l"/>
              </a:tabLst>
            </a:pPr>
            <a:r>
              <a:rPr spc="-8" dirty="0">
                <a:latin typeface="Tahoma"/>
                <a:cs typeface="Tahoma"/>
              </a:rPr>
              <a:t>brown</a:t>
            </a:r>
            <a:r>
              <a:rPr dirty="0">
                <a:latin typeface="Tahoma"/>
                <a:cs typeface="Tahoma"/>
              </a:rPr>
              <a:t>	</a:t>
            </a: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  <a:p>
            <a:pPr marR="120968" algn="ctr">
              <a:lnSpc>
                <a:spcPts val="1706"/>
              </a:lnSpc>
              <a:tabLst>
                <a:tab pos="1484948" algn="l"/>
              </a:tabLst>
            </a:pPr>
            <a:r>
              <a:rPr sz="2250" spc="-28" baseline="2777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2820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r>
              <a:rPr sz="1463" baseline="-12820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281536" y="3585570"/>
            <a:ext cx="168593" cy="203486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>
              <a:spcBef>
                <a:spcPts val="11"/>
              </a:spcBef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4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585448" y="3576045"/>
            <a:ext cx="210026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897801" y="3578712"/>
            <a:ext cx="149543" cy="203486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>
              <a:spcBef>
                <a:spcPts val="11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371685" y="2842212"/>
            <a:ext cx="4313396" cy="2176939"/>
          </a:xfrm>
          <a:custGeom>
            <a:avLst/>
            <a:gdLst/>
            <a:ahLst/>
            <a:cxnLst/>
            <a:rect l="l" t="t" r="r" b="b"/>
            <a:pathLst>
              <a:path w="5751195" h="2902584">
                <a:moveTo>
                  <a:pt x="552119" y="93624"/>
                </a:moveTo>
                <a:lnTo>
                  <a:pt x="0" y="93624"/>
                </a:lnTo>
                <a:lnTo>
                  <a:pt x="0" y="1612595"/>
                </a:lnTo>
                <a:lnTo>
                  <a:pt x="552119" y="1612595"/>
                </a:lnTo>
                <a:lnTo>
                  <a:pt x="552119" y="93624"/>
                </a:lnTo>
                <a:close/>
              </a:path>
              <a:path w="5751195" h="2902584">
                <a:moveTo>
                  <a:pt x="5751030" y="0"/>
                </a:moveTo>
                <a:lnTo>
                  <a:pt x="966228" y="0"/>
                </a:lnTo>
                <a:lnTo>
                  <a:pt x="966228" y="2902420"/>
                </a:lnTo>
                <a:lnTo>
                  <a:pt x="5751030" y="2902420"/>
                </a:lnTo>
                <a:lnTo>
                  <a:pt x="5751030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4759147" y="2816085"/>
            <a:ext cx="2945130" cy="1912620"/>
          </a:xfrm>
          <a:custGeom>
            <a:avLst/>
            <a:gdLst/>
            <a:ahLst/>
            <a:cxnLst/>
            <a:rect l="l" t="t" r="r" b="b"/>
            <a:pathLst>
              <a:path w="3926840" h="2550160">
                <a:moveTo>
                  <a:pt x="1015758" y="22212"/>
                </a:moveTo>
                <a:lnTo>
                  <a:pt x="0" y="22212"/>
                </a:lnTo>
                <a:lnTo>
                  <a:pt x="0" y="1595323"/>
                </a:lnTo>
                <a:lnTo>
                  <a:pt x="1015758" y="1595323"/>
                </a:lnTo>
                <a:lnTo>
                  <a:pt x="1015758" y="22212"/>
                </a:lnTo>
                <a:close/>
              </a:path>
              <a:path w="3926840" h="2550160">
                <a:moveTo>
                  <a:pt x="3926433" y="0"/>
                </a:moveTo>
                <a:lnTo>
                  <a:pt x="1385354" y="0"/>
                </a:lnTo>
                <a:lnTo>
                  <a:pt x="1385354" y="2549779"/>
                </a:lnTo>
                <a:lnTo>
                  <a:pt x="3926433" y="2549779"/>
                </a:lnTo>
                <a:lnTo>
                  <a:pt x="3926433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783583" y="681120"/>
            <a:ext cx="619125" cy="23948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8573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500" spc="41" dirty="0">
                <a:latin typeface="Tahoma"/>
                <a:cs typeface="Tahoma"/>
              </a:rPr>
              <a:t>Step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spc="-38" dirty="0">
                <a:latin typeface="Tahoma"/>
                <a:cs typeface="Tahoma"/>
              </a:rPr>
              <a:t>2: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416997" y="680084"/>
            <a:ext cx="6141719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spc="49" dirty="0">
                <a:latin typeface="Tahoma"/>
                <a:cs typeface="Tahoma"/>
              </a:rPr>
              <a:t>For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spc="38" dirty="0">
                <a:latin typeface="Tahoma"/>
                <a:cs typeface="Tahoma"/>
              </a:rPr>
              <a:t>word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E75B6"/>
                </a:solidFill>
                <a:latin typeface="Tahoma"/>
                <a:cs typeface="Tahoma"/>
              </a:rPr>
              <a:t>x</a:t>
            </a:r>
            <a:r>
              <a:rPr sz="1463" baseline="-17094" dirty="0">
                <a:solidFill>
                  <a:srgbClr val="2E75B6"/>
                </a:solidFill>
                <a:latin typeface="Tahoma"/>
                <a:cs typeface="Tahoma"/>
              </a:rPr>
              <a:t>1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let’s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calculate</a:t>
            </a:r>
            <a:r>
              <a:rPr sz="1500" spc="-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scores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3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2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8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3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8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4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which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represent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how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370551" y="908684"/>
            <a:ext cx="4853464" cy="185050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12909">
              <a:spcBef>
                <a:spcPts val="75"/>
              </a:spcBef>
            </a:pPr>
            <a:r>
              <a:rPr sz="1500" dirty="0">
                <a:latin typeface="Tahoma"/>
                <a:cs typeface="Tahoma"/>
              </a:rPr>
              <a:t>much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attention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56" dirty="0">
                <a:latin typeface="Tahoma"/>
                <a:cs typeface="Tahoma"/>
              </a:rPr>
              <a:t>to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pay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56" dirty="0">
                <a:latin typeface="Tahoma"/>
                <a:cs typeface="Tahoma"/>
              </a:rPr>
              <a:t>to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each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respective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83" dirty="0">
                <a:latin typeface="Tahoma"/>
                <a:cs typeface="Tahoma"/>
              </a:rPr>
              <a:t>”word”</a:t>
            </a:r>
            <a:r>
              <a:rPr sz="1500" spc="23" dirty="0">
                <a:latin typeface="Tahoma"/>
                <a:cs typeface="Tahoma"/>
              </a:rPr>
              <a:t> </a:t>
            </a:r>
            <a:r>
              <a:rPr sz="2194" spc="-28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spc="-28" baseline="-17777" dirty="0">
                <a:solidFill>
                  <a:srgbClr val="1F4E79"/>
                </a:solidFill>
                <a:latin typeface="Tahoma"/>
                <a:cs typeface="Tahoma"/>
              </a:rPr>
              <a:t>i</a:t>
            </a:r>
            <a:endParaRPr sz="1406" baseline="-17777">
              <a:latin typeface="Tahoma"/>
              <a:cs typeface="Tahoma"/>
            </a:endParaRPr>
          </a:p>
          <a:p>
            <a:pPr marL="38100" marR="3577114" indent="5715">
              <a:lnSpc>
                <a:spcPct val="128299"/>
              </a:lnSpc>
              <a:spcBef>
                <a:spcPts val="1410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4</a:t>
            </a:r>
            <a:r>
              <a:rPr sz="1406" spc="11" baseline="-15555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5555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5555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r>
              <a:rPr sz="1406" spc="11" baseline="-15555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8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3</a:t>
            </a:r>
            <a:r>
              <a:rPr sz="1406" spc="11" baseline="-17777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7777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7777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r>
              <a:rPr sz="1406" spc="11" baseline="-17777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26" dirty="0">
                <a:latin typeface="Tahoma"/>
                <a:cs typeface="Tahoma"/>
              </a:rPr>
              <a:t>16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2</a:t>
            </a:r>
            <a:r>
              <a:rPr sz="1406" spc="11" baseline="-17777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7777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7777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r>
              <a:rPr sz="1406" spc="11" baseline="-17777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26" dirty="0">
                <a:latin typeface="Tahoma"/>
                <a:cs typeface="Tahoma"/>
              </a:rPr>
              <a:t>96</a:t>
            </a:r>
            <a:endParaRPr sz="1500">
              <a:latin typeface="Tahoma"/>
              <a:cs typeface="Tahoma"/>
            </a:endParaRPr>
          </a:p>
          <a:p>
            <a:pPr marL="51911">
              <a:spcBef>
                <a:spcPts val="739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1406" spc="11" baseline="-15555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5555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5555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r>
              <a:rPr sz="1406" spc="11" baseline="-15555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112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517" y="526165"/>
            <a:ext cx="4862036" cy="61436"/>
          </a:xfrm>
          <a:custGeom>
            <a:avLst/>
            <a:gdLst/>
            <a:ahLst/>
            <a:cxnLst/>
            <a:rect l="l" t="t" r="r" b="b"/>
            <a:pathLst>
              <a:path w="6482715" h="81915">
                <a:moveTo>
                  <a:pt x="6482647" y="0"/>
                </a:moveTo>
                <a:lnTo>
                  <a:pt x="0" y="0"/>
                </a:lnTo>
                <a:lnTo>
                  <a:pt x="0" y="81537"/>
                </a:lnTo>
                <a:lnTo>
                  <a:pt x="6482647" y="81537"/>
                </a:lnTo>
                <a:lnTo>
                  <a:pt x="64826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sp>
        <p:nvSpPr>
          <p:cNvPr id="4" name="object 4"/>
          <p:cNvSpPr/>
          <p:nvPr/>
        </p:nvSpPr>
        <p:spPr>
          <a:xfrm>
            <a:off x="455623" y="4047839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67879" y="2921187"/>
            <a:ext cx="262414" cy="1052036"/>
            <a:chOff x="623838" y="3894915"/>
            <a:chExt cx="349885" cy="1402715"/>
          </a:xfrm>
        </p:grpSpPr>
        <p:sp>
          <p:nvSpPr>
            <p:cNvPr id="6" name="object 6"/>
            <p:cNvSpPr/>
            <p:nvPr/>
          </p:nvSpPr>
          <p:spPr>
            <a:xfrm>
              <a:off x="642888" y="39139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980915"/>
              <a:ext cx="222250" cy="222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734656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488397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630" y="4236529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915" y="3978532"/>
              <a:ext cx="222250" cy="222250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806882" y="2918759"/>
            <a:ext cx="552926" cy="653891"/>
            <a:chOff x="1075842" y="3891678"/>
            <a:chExt cx="737235" cy="871855"/>
          </a:xfrm>
        </p:grpSpPr>
        <p:sp>
          <p:nvSpPr>
            <p:cNvPr id="13" name="object 13"/>
            <p:cNvSpPr/>
            <p:nvPr/>
          </p:nvSpPr>
          <p:spPr>
            <a:xfrm>
              <a:off x="1094892" y="391396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159" y="4497922"/>
              <a:ext cx="203199" cy="203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8159" y="4246053"/>
              <a:ext cx="203199" cy="203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0443" y="3988056"/>
              <a:ext cx="203200" cy="2032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82035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5301" y="4494685"/>
              <a:ext cx="203200" cy="203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5301" y="4242816"/>
              <a:ext cx="203200" cy="203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7586" y="3984820"/>
              <a:ext cx="203199" cy="20320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1393244" y="2918759"/>
            <a:ext cx="262414" cy="651510"/>
            <a:chOff x="1857658" y="3891678"/>
            <a:chExt cx="349885" cy="868680"/>
          </a:xfrm>
        </p:grpSpPr>
        <p:sp>
          <p:nvSpPr>
            <p:cNvPr id="22" name="object 22"/>
            <p:cNvSpPr/>
            <p:nvPr/>
          </p:nvSpPr>
          <p:spPr>
            <a:xfrm>
              <a:off x="1876708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29974" y="4494685"/>
              <a:ext cx="203200" cy="2032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9974" y="4242816"/>
              <a:ext cx="203200" cy="2032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32259" y="3984820"/>
              <a:ext cx="203200" cy="203200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1939598" y="2916329"/>
            <a:ext cx="4139089" cy="1533048"/>
            <a:chOff x="2586130" y="3888439"/>
            <a:chExt cx="5518785" cy="2044064"/>
          </a:xfrm>
        </p:grpSpPr>
        <p:sp>
          <p:nvSpPr>
            <p:cNvPr id="27" name="object 27"/>
            <p:cNvSpPr/>
            <p:nvPr/>
          </p:nvSpPr>
          <p:spPr>
            <a:xfrm>
              <a:off x="2619984" y="5350103"/>
              <a:ext cx="4250055" cy="582295"/>
            </a:xfrm>
            <a:custGeom>
              <a:avLst/>
              <a:gdLst/>
              <a:ahLst/>
              <a:cxnLst/>
              <a:rect l="l" t="t" r="r" b="b"/>
              <a:pathLst>
                <a:path w="4250055" h="582295">
                  <a:moveTo>
                    <a:pt x="329476" y="243979"/>
                  </a:moveTo>
                  <a:lnTo>
                    <a:pt x="164731" y="14579"/>
                  </a:lnTo>
                  <a:lnTo>
                    <a:pt x="0" y="243979"/>
                  </a:lnTo>
                  <a:lnTo>
                    <a:pt x="119303" y="243979"/>
                  </a:lnTo>
                  <a:lnTo>
                    <a:pt x="119303" y="582015"/>
                  </a:lnTo>
                  <a:lnTo>
                    <a:pt x="210159" y="582015"/>
                  </a:lnTo>
                  <a:lnTo>
                    <a:pt x="210159" y="243979"/>
                  </a:lnTo>
                  <a:lnTo>
                    <a:pt x="329476" y="243979"/>
                  </a:lnTo>
                  <a:close/>
                </a:path>
                <a:path w="4250055" h="582295">
                  <a:moveTo>
                    <a:pt x="2285085" y="229387"/>
                  </a:moveTo>
                  <a:lnTo>
                    <a:pt x="2120341" y="0"/>
                  </a:lnTo>
                  <a:lnTo>
                    <a:pt x="1955596" y="229387"/>
                  </a:lnTo>
                  <a:lnTo>
                    <a:pt x="2074913" y="229387"/>
                  </a:lnTo>
                  <a:lnTo>
                    <a:pt x="2074913" y="567436"/>
                  </a:lnTo>
                  <a:lnTo>
                    <a:pt x="2165769" y="567436"/>
                  </a:lnTo>
                  <a:lnTo>
                    <a:pt x="2165769" y="229387"/>
                  </a:lnTo>
                  <a:lnTo>
                    <a:pt x="2285085" y="229387"/>
                  </a:lnTo>
                  <a:close/>
                </a:path>
                <a:path w="4250055" h="582295">
                  <a:moveTo>
                    <a:pt x="4249801" y="243979"/>
                  </a:moveTo>
                  <a:lnTo>
                    <a:pt x="4085069" y="14579"/>
                  </a:lnTo>
                  <a:lnTo>
                    <a:pt x="3920325" y="243979"/>
                  </a:lnTo>
                  <a:lnTo>
                    <a:pt x="4039641" y="243979"/>
                  </a:lnTo>
                  <a:lnTo>
                    <a:pt x="4039641" y="582015"/>
                  </a:lnTo>
                  <a:lnTo>
                    <a:pt x="4130484" y="582015"/>
                  </a:lnTo>
                  <a:lnTo>
                    <a:pt x="4130484" y="243979"/>
                  </a:lnTo>
                  <a:lnTo>
                    <a:pt x="4249801" y="243979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05180" y="3921872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988822"/>
              <a:ext cx="222250" cy="2222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742563"/>
              <a:ext cx="222250" cy="2222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496305"/>
              <a:ext cx="222250" cy="2222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244435"/>
              <a:ext cx="222250" cy="22225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206" y="3986439"/>
              <a:ext cx="222250" cy="22225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057184" y="3921872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0" y="4505829"/>
              <a:ext cx="203200" cy="2032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0" y="4253960"/>
              <a:ext cx="203200" cy="2032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2734" y="3995963"/>
              <a:ext cx="203200" cy="2032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444327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7593" y="4502591"/>
              <a:ext cx="203200" cy="2032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7593" y="4250723"/>
              <a:ext cx="203200" cy="2032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9877" y="3992726"/>
              <a:ext cx="203200" cy="2032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839000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92266" y="4502591"/>
              <a:ext cx="203200" cy="2032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2266" y="4250723"/>
              <a:ext cx="203200" cy="2032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94551" y="3992726"/>
              <a:ext cx="203200" cy="2032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575592" y="391863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985584"/>
              <a:ext cx="222250" cy="22225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739326"/>
              <a:ext cx="222250" cy="22225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493066"/>
              <a:ext cx="222250" cy="22225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335" y="4241198"/>
              <a:ext cx="222250" cy="22225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620" y="3983201"/>
              <a:ext cx="222250" cy="22225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027597" y="3918634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0863" y="4502590"/>
              <a:ext cx="203200" cy="2032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0863" y="4250721"/>
              <a:ext cx="203200" cy="2032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3148" y="3992726"/>
              <a:ext cx="203200" cy="20320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414740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8006" y="4499353"/>
              <a:ext cx="203200" cy="2032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68006" y="4247484"/>
              <a:ext cx="203200" cy="2032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70291" y="3989489"/>
              <a:ext cx="203200" cy="2032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5809413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2679" y="4499353"/>
              <a:ext cx="203200" cy="2032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62679" y="4247484"/>
              <a:ext cx="203200" cy="2032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4964" y="3989489"/>
              <a:ext cx="203200" cy="2032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540313" y="3910727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977677"/>
              <a:ext cx="222250" cy="22225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731417"/>
              <a:ext cx="222250" cy="22225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055" y="4485158"/>
              <a:ext cx="222250" cy="22225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233289"/>
              <a:ext cx="222250" cy="22225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6340" y="3975294"/>
              <a:ext cx="222250" cy="22225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6992317" y="3910727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5583" y="4494682"/>
              <a:ext cx="203200" cy="20320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5583" y="4242813"/>
              <a:ext cx="203200" cy="20320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7867" y="3984818"/>
              <a:ext cx="203200" cy="20320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7379460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491446"/>
              <a:ext cx="203200" cy="203198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239577"/>
              <a:ext cx="203200" cy="20320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35010" y="3981580"/>
              <a:ext cx="203200" cy="203200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7774133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491446"/>
              <a:ext cx="203200" cy="203198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239577"/>
              <a:ext cx="203200" cy="20320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29683" y="3981580"/>
              <a:ext cx="203200" cy="203200"/>
            </a:xfrm>
            <a:prstGeom prst="rect">
              <a:avLst/>
            </a:prstGeom>
          </p:spPr>
        </p:pic>
      </p:grpSp>
      <p:sp>
        <p:nvSpPr>
          <p:cNvPr id="82" name="object 82"/>
          <p:cNvSpPr txBox="1"/>
          <p:nvPr/>
        </p:nvSpPr>
        <p:spPr>
          <a:xfrm>
            <a:off x="797483" y="3585189"/>
            <a:ext cx="561975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38100">
              <a:spcBef>
                <a:spcPts val="86"/>
              </a:spcBef>
              <a:tabLst>
                <a:tab pos="370523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42327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758352" y="3578711"/>
            <a:ext cx="4289108" cy="1411765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marL="549593">
              <a:spcBef>
                <a:spcPts val="356"/>
              </a:spcBef>
              <a:tabLst>
                <a:tab pos="882015" algn="l"/>
                <a:tab pos="1165860" algn="l"/>
                <a:tab pos="2052161" algn="l"/>
                <a:tab pos="2384584" algn="l"/>
                <a:tab pos="2668428" algn="l"/>
                <a:tab pos="3522821" algn="l"/>
                <a:tab pos="3855244" algn="l"/>
                <a:tab pos="4139089" algn="l"/>
              </a:tabLst>
            </a:pPr>
            <a:r>
              <a:rPr sz="1969" spc="67" baseline="9523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863" spc="45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z="863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969" spc="-28" baseline="9523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863" spc="-19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r>
              <a:rPr sz="863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1111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2415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r>
              <a:rPr sz="1294" baseline="2415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969" spc="67" baseline="9523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863" spc="45" dirty="0">
                <a:solidFill>
                  <a:srgbClr val="7030A0"/>
                </a:solidFill>
                <a:latin typeface="Tahoma"/>
                <a:cs typeface="Tahoma"/>
              </a:rPr>
              <a:t>3</a:t>
            </a:r>
            <a:r>
              <a:rPr sz="863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969" spc="-28" baseline="9523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863" spc="-19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r>
              <a:rPr sz="863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2698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2415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r>
              <a:rPr sz="1294" baseline="2415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969" spc="56" baseline="12698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56" baseline="4830" dirty="0">
                <a:solidFill>
                  <a:srgbClr val="7030A0"/>
                </a:solidFill>
                <a:latin typeface="Tahoma"/>
                <a:cs typeface="Tahoma"/>
              </a:rPr>
              <a:t>4</a:t>
            </a:r>
            <a:r>
              <a:rPr sz="1294" baseline="4830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969" spc="-28" baseline="12698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4830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r>
              <a:rPr sz="1294" baseline="4830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4285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7246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294" baseline="7246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53"/>
              </a:spcBef>
            </a:pPr>
            <a:endParaRPr sz="863">
              <a:latin typeface="Tahoma"/>
              <a:cs typeface="Tahoma"/>
            </a:endParaRPr>
          </a:p>
          <a:p>
            <a:pPr marR="851059" algn="r">
              <a:lnSpc>
                <a:spcPts val="2078"/>
              </a:lnSpc>
              <a:tabLst>
                <a:tab pos="1563529" algn="l"/>
                <a:tab pos="3108959" algn="l"/>
              </a:tabLst>
            </a:pPr>
            <a:r>
              <a:rPr spc="-8" dirty="0">
                <a:latin typeface="Tahoma"/>
                <a:cs typeface="Tahoma"/>
              </a:rPr>
              <a:t>brown</a:t>
            </a:r>
            <a:r>
              <a:rPr dirty="0">
                <a:latin typeface="Tahoma"/>
                <a:cs typeface="Tahoma"/>
              </a:rPr>
              <a:t>	</a:t>
            </a:r>
            <a:r>
              <a:rPr spc="75" dirty="0">
                <a:latin typeface="Tahoma"/>
                <a:cs typeface="Tahoma"/>
              </a:rPr>
              <a:t>dog</a:t>
            </a:r>
            <a:r>
              <a:rPr dirty="0">
                <a:latin typeface="Tahoma"/>
                <a:cs typeface="Tahoma"/>
              </a:rPr>
              <a:t>	</a:t>
            </a:r>
            <a:r>
              <a:rPr sz="2700" spc="-50" baseline="-4629" dirty="0">
                <a:latin typeface="Tahoma"/>
                <a:cs typeface="Tahoma"/>
              </a:rPr>
              <a:t>ran</a:t>
            </a:r>
            <a:endParaRPr sz="2700" baseline="-4629">
              <a:latin typeface="Tahoma"/>
              <a:cs typeface="Tahoma"/>
            </a:endParaRPr>
          </a:p>
          <a:p>
            <a:pPr marR="893445" algn="r">
              <a:lnSpc>
                <a:spcPts val="1718"/>
              </a:lnSpc>
              <a:tabLst>
                <a:tab pos="1484948" algn="l"/>
                <a:tab pos="2997518" algn="l"/>
              </a:tabLst>
            </a:pPr>
            <a:r>
              <a:rPr sz="2250" spc="-28" baseline="2777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2820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r>
              <a:rPr sz="1463" baseline="-12820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r>
              <a:rPr sz="1463" baseline="-17094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1778382" y="2905917"/>
            <a:ext cx="4946332" cy="2113121"/>
          </a:xfrm>
          <a:custGeom>
            <a:avLst/>
            <a:gdLst/>
            <a:ahLst/>
            <a:cxnLst/>
            <a:rect l="l" t="t" r="r" b="b"/>
            <a:pathLst>
              <a:path w="6595109" h="2817495">
                <a:moveTo>
                  <a:pt x="6594693" y="0"/>
                </a:moveTo>
                <a:lnTo>
                  <a:pt x="0" y="0"/>
                </a:lnTo>
                <a:lnTo>
                  <a:pt x="0" y="2817476"/>
                </a:lnTo>
                <a:lnTo>
                  <a:pt x="6594693" y="2817476"/>
                </a:lnTo>
                <a:lnTo>
                  <a:pt x="6594693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380076" y="1332357"/>
            <a:ext cx="1395413" cy="1423306"/>
          </a:xfrm>
          <a:prstGeom prst="rect">
            <a:avLst/>
          </a:prstGeom>
        </p:spPr>
        <p:txBody>
          <a:bodyPr vert="horz" wrap="square" lIns="0" tIns="70961" rIns="0" bIns="0" rtlCol="0">
            <a:spAutoFit/>
          </a:bodyPr>
          <a:lstStyle/>
          <a:p>
            <a:pPr marL="34290">
              <a:spcBef>
                <a:spcPts val="559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4</a:t>
            </a:r>
            <a:r>
              <a:rPr sz="1406" spc="11" baseline="-15555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5555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5555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r>
              <a:rPr sz="1406" spc="11" baseline="-15555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8</a:t>
            </a:r>
            <a:endParaRPr sz="1500">
              <a:latin typeface="Tahoma"/>
              <a:cs typeface="Tahoma"/>
            </a:endParaRPr>
          </a:p>
          <a:p>
            <a:pPr marL="42386">
              <a:spcBef>
                <a:spcPts val="488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3</a:t>
            </a:r>
            <a:r>
              <a:rPr sz="1406" spc="11" baseline="-17777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7777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7777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r>
              <a:rPr sz="1406" spc="11" baseline="-17777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26" dirty="0">
                <a:latin typeface="Tahoma"/>
                <a:cs typeface="Tahoma"/>
              </a:rPr>
              <a:t>16</a:t>
            </a:r>
            <a:endParaRPr sz="1500">
              <a:latin typeface="Tahoma"/>
              <a:cs typeface="Tahoma"/>
            </a:endParaRPr>
          </a:p>
          <a:p>
            <a:pPr marL="28575">
              <a:spcBef>
                <a:spcPts val="739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2</a:t>
            </a:r>
            <a:r>
              <a:rPr sz="1406" spc="11" baseline="-17777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7777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7777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r>
              <a:rPr sz="1406" spc="11" baseline="-17777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26" dirty="0">
                <a:latin typeface="Tahoma"/>
                <a:cs typeface="Tahoma"/>
              </a:rPr>
              <a:t>96</a:t>
            </a:r>
            <a:endParaRPr sz="1500">
              <a:latin typeface="Tahoma"/>
              <a:cs typeface="Tahoma"/>
            </a:endParaRPr>
          </a:p>
          <a:p>
            <a:pPr marL="42386">
              <a:spcBef>
                <a:spcPts val="739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1406" spc="11" baseline="-15555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5555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5555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r>
              <a:rPr sz="1406" spc="11" baseline="-15555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112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31136" y="4505325"/>
            <a:ext cx="404813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lnSpc>
                <a:spcPts val="2059"/>
              </a:lnSpc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  <a:p>
            <a:pPr marL="142875">
              <a:lnSpc>
                <a:spcPts val="1699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783583" y="700170"/>
            <a:ext cx="619125" cy="240931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0001" rIns="0" bIns="0" rtlCol="0">
            <a:spAutoFit/>
          </a:bodyPr>
          <a:lstStyle/>
          <a:p>
            <a:pPr>
              <a:spcBef>
                <a:spcPts val="79"/>
              </a:spcBef>
            </a:pPr>
            <a:r>
              <a:rPr sz="1500" spc="41" dirty="0">
                <a:latin typeface="Tahoma"/>
                <a:cs typeface="Tahoma"/>
              </a:rPr>
              <a:t>Step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spc="-38" dirty="0">
                <a:latin typeface="Tahoma"/>
                <a:cs typeface="Tahoma"/>
              </a:rPr>
              <a:t>3: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416997" y="700658"/>
            <a:ext cx="6553676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spc="56" dirty="0">
                <a:latin typeface="Tahoma"/>
                <a:cs typeface="Tahoma"/>
              </a:rPr>
              <a:t>Our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scores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-23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2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-17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3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-23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4</a:t>
            </a:r>
            <a:r>
              <a:rPr sz="1406" spc="225" baseline="-15555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49" dirty="0">
                <a:latin typeface="Tahoma"/>
                <a:cs typeface="Tahoma"/>
              </a:rPr>
              <a:t>don’t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sum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spc="56" dirty="0">
                <a:latin typeface="Tahoma"/>
                <a:cs typeface="Tahoma"/>
              </a:rPr>
              <a:t>to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1.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Let’s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spc="38" dirty="0">
                <a:latin typeface="Tahoma"/>
                <a:cs typeface="Tahoma"/>
              </a:rPr>
              <a:t>divide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45" dirty="0">
                <a:latin typeface="Tahoma"/>
                <a:cs typeface="Tahoma"/>
              </a:rPr>
              <a:t>by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dirty="0">
                <a:latin typeface="Cambria Math"/>
                <a:cs typeface="Cambria Math"/>
              </a:rPr>
              <a:t>√𝑙𝑒𝑛(𝑘</a:t>
            </a:r>
            <a:r>
              <a:rPr sz="1688" baseline="-14814" dirty="0">
                <a:latin typeface="Cambria Math"/>
                <a:cs typeface="Cambria Math"/>
              </a:rPr>
              <a:t>𝑖</a:t>
            </a:r>
            <a:r>
              <a:rPr sz="1500" dirty="0">
                <a:latin typeface="Cambria Math"/>
                <a:cs typeface="Cambria Math"/>
              </a:rPr>
              <a:t>)</a:t>
            </a:r>
            <a:r>
              <a:rPr sz="1500" spc="19" dirty="0">
                <a:latin typeface="Cambria Math"/>
                <a:cs typeface="Cambria Math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11" dirty="0"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C00000"/>
                </a:solidFill>
                <a:latin typeface="Calibri"/>
                <a:cs typeface="Calibri"/>
              </a:rPr>
              <a:t>softmax</a:t>
            </a:r>
            <a:r>
              <a:rPr sz="1500" spc="1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500" spc="-19" dirty="0">
                <a:latin typeface="Calibri"/>
                <a:cs typeface="Calibri"/>
              </a:rPr>
              <a:t>it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2449416" y="1283589"/>
            <a:ext cx="1547336" cy="1417856"/>
          </a:xfrm>
          <a:prstGeom prst="rect">
            <a:avLst/>
          </a:prstGeom>
        </p:spPr>
        <p:txBody>
          <a:bodyPr vert="horz" wrap="square" lIns="0" tIns="121444" rIns="0" bIns="0" rtlCol="0">
            <a:spAutoFit/>
          </a:bodyPr>
          <a:lstStyle/>
          <a:p>
            <a:pPr marL="39052">
              <a:spcBef>
                <a:spcPts val="956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r>
              <a:rPr sz="1463" b="1" spc="185" baseline="-1709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=</a:t>
            </a:r>
            <a:r>
              <a:rPr sz="1500" b="1" spc="-4" dirty="0">
                <a:latin typeface="Calibri"/>
                <a:cs typeface="Calibri"/>
              </a:rPr>
              <a:t> </a:t>
            </a:r>
            <a:r>
              <a:rPr sz="1500" dirty="0">
                <a:latin typeface="Cambria Math"/>
                <a:cs typeface="Cambria Math"/>
              </a:rPr>
              <a:t>𝝈(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𝒔</a:t>
            </a:r>
            <a:r>
              <a:rPr sz="1688" baseline="-14814" dirty="0">
                <a:solidFill>
                  <a:srgbClr val="548235"/>
                </a:solidFill>
                <a:latin typeface="Cambria Math"/>
                <a:cs typeface="Cambria Math"/>
              </a:rPr>
              <a:t>𝟒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/𝟖</a:t>
            </a:r>
            <a:r>
              <a:rPr sz="1500" dirty="0">
                <a:latin typeface="Cambria Math"/>
                <a:cs typeface="Cambria Math"/>
              </a:rPr>
              <a:t>)</a:t>
            </a:r>
            <a:r>
              <a:rPr sz="1500" spc="-60" dirty="0">
                <a:latin typeface="Cambria Math"/>
                <a:cs typeface="Cambria Math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53" dirty="0">
                <a:latin typeface="Tahoma"/>
                <a:cs typeface="Tahoma"/>
              </a:rPr>
              <a:t> </a:t>
            </a:r>
            <a:r>
              <a:rPr sz="1500" spc="-45" dirty="0">
                <a:latin typeface="Tahoma"/>
                <a:cs typeface="Tahoma"/>
              </a:rPr>
              <a:t>0</a:t>
            </a:r>
            <a:endParaRPr sz="1500">
              <a:latin typeface="Tahoma"/>
              <a:cs typeface="Tahoma"/>
            </a:endParaRPr>
          </a:p>
          <a:p>
            <a:pPr marL="28575">
              <a:spcBef>
                <a:spcPts val="881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sz="1463" b="1" spc="185" baseline="-1709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=</a:t>
            </a:r>
            <a:r>
              <a:rPr sz="1500" b="1" spc="-15" dirty="0">
                <a:latin typeface="Calibri"/>
                <a:cs typeface="Calibri"/>
              </a:rPr>
              <a:t> </a:t>
            </a:r>
            <a:r>
              <a:rPr sz="1500" dirty="0">
                <a:latin typeface="Cambria Math"/>
                <a:cs typeface="Cambria Math"/>
              </a:rPr>
              <a:t>𝝈(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𝒔</a:t>
            </a:r>
            <a:r>
              <a:rPr sz="1688" baseline="-14814" dirty="0">
                <a:solidFill>
                  <a:srgbClr val="548235"/>
                </a:solidFill>
                <a:latin typeface="Cambria Math"/>
                <a:cs typeface="Cambria Math"/>
              </a:rPr>
              <a:t>𝟑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/𝟖</a:t>
            </a:r>
            <a:r>
              <a:rPr sz="1500" dirty="0">
                <a:latin typeface="Cambria Math"/>
                <a:cs typeface="Cambria Math"/>
              </a:rPr>
              <a:t>)</a:t>
            </a:r>
            <a:r>
              <a:rPr sz="1500" spc="-60" dirty="0">
                <a:latin typeface="Cambria Math"/>
                <a:cs typeface="Cambria Math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53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.01</a:t>
            </a:r>
            <a:endParaRPr sz="1500">
              <a:latin typeface="Tahoma"/>
              <a:cs typeface="Tahoma"/>
            </a:endParaRPr>
          </a:p>
          <a:p>
            <a:pPr marL="28575">
              <a:spcBef>
                <a:spcPts val="1241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1463" b="1" spc="185" baseline="-1709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=</a:t>
            </a:r>
            <a:r>
              <a:rPr sz="1500" b="1" spc="-4" dirty="0">
                <a:latin typeface="Calibri"/>
                <a:cs typeface="Calibri"/>
              </a:rPr>
              <a:t> </a:t>
            </a:r>
            <a:r>
              <a:rPr sz="1500" dirty="0">
                <a:latin typeface="Cambria Math"/>
                <a:cs typeface="Cambria Math"/>
              </a:rPr>
              <a:t>𝝈(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𝒔</a:t>
            </a:r>
            <a:r>
              <a:rPr sz="1688" baseline="-14814" dirty="0">
                <a:solidFill>
                  <a:srgbClr val="548235"/>
                </a:solidFill>
                <a:latin typeface="Cambria Math"/>
                <a:cs typeface="Cambria Math"/>
              </a:rPr>
              <a:t>𝟐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/𝟖</a:t>
            </a:r>
            <a:r>
              <a:rPr sz="1500" dirty="0">
                <a:latin typeface="Cambria Math"/>
                <a:cs typeface="Cambria Math"/>
              </a:rPr>
              <a:t>)</a:t>
            </a:r>
            <a:r>
              <a:rPr sz="1500" spc="-60" dirty="0">
                <a:latin typeface="Cambria Math"/>
                <a:cs typeface="Cambria Math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53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.12</a:t>
            </a:r>
            <a:endParaRPr sz="1500">
              <a:latin typeface="Tahoma"/>
              <a:cs typeface="Tahoma"/>
            </a:endParaRPr>
          </a:p>
          <a:p>
            <a:pPr marL="28575">
              <a:spcBef>
                <a:spcPts val="795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463" b="1" spc="185" baseline="-1709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=</a:t>
            </a:r>
            <a:r>
              <a:rPr sz="1500" b="1" spc="-4" dirty="0">
                <a:latin typeface="Calibri"/>
                <a:cs typeface="Calibri"/>
              </a:rPr>
              <a:t> </a:t>
            </a:r>
            <a:r>
              <a:rPr sz="1500" dirty="0">
                <a:latin typeface="Cambria Math"/>
                <a:cs typeface="Cambria Math"/>
              </a:rPr>
              <a:t>𝝈(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𝒔</a:t>
            </a:r>
            <a:r>
              <a:rPr sz="1688" baseline="-14814" dirty="0">
                <a:solidFill>
                  <a:srgbClr val="548235"/>
                </a:solidFill>
                <a:latin typeface="Cambria Math"/>
                <a:cs typeface="Cambria Math"/>
              </a:rPr>
              <a:t>𝟏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/𝟖</a:t>
            </a:r>
            <a:r>
              <a:rPr sz="1500" dirty="0">
                <a:latin typeface="Cambria Math"/>
                <a:cs typeface="Cambria Math"/>
              </a:rPr>
              <a:t>)</a:t>
            </a:r>
            <a:r>
              <a:rPr sz="1500" spc="-60" dirty="0">
                <a:latin typeface="Cambria Math"/>
                <a:cs typeface="Cambria Math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53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.87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517" y="526165"/>
            <a:ext cx="4862036" cy="61436"/>
          </a:xfrm>
          <a:custGeom>
            <a:avLst/>
            <a:gdLst/>
            <a:ahLst/>
            <a:cxnLst/>
            <a:rect l="l" t="t" r="r" b="b"/>
            <a:pathLst>
              <a:path w="6482715" h="81915">
                <a:moveTo>
                  <a:pt x="6482647" y="0"/>
                </a:moveTo>
                <a:lnTo>
                  <a:pt x="0" y="0"/>
                </a:lnTo>
                <a:lnTo>
                  <a:pt x="0" y="81537"/>
                </a:lnTo>
                <a:lnTo>
                  <a:pt x="6482647" y="81537"/>
                </a:lnTo>
                <a:lnTo>
                  <a:pt x="64826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sp>
        <p:nvSpPr>
          <p:cNvPr id="4" name="object 4"/>
          <p:cNvSpPr/>
          <p:nvPr/>
        </p:nvSpPr>
        <p:spPr>
          <a:xfrm>
            <a:off x="455623" y="4047839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67879" y="2921187"/>
            <a:ext cx="262414" cy="1052036"/>
            <a:chOff x="623838" y="3894915"/>
            <a:chExt cx="349885" cy="1402715"/>
          </a:xfrm>
        </p:grpSpPr>
        <p:sp>
          <p:nvSpPr>
            <p:cNvPr id="6" name="object 6"/>
            <p:cNvSpPr/>
            <p:nvPr/>
          </p:nvSpPr>
          <p:spPr>
            <a:xfrm>
              <a:off x="642888" y="39139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980915"/>
              <a:ext cx="222250" cy="222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734656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488397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630" y="4236529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915" y="3978532"/>
              <a:ext cx="222250" cy="222250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806882" y="2918759"/>
            <a:ext cx="552926" cy="653891"/>
            <a:chOff x="1075842" y="3891678"/>
            <a:chExt cx="737235" cy="871855"/>
          </a:xfrm>
        </p:grpSpPr>
        <p:sp>
          <p:nvSpPr>
            <p:cNvPr id="13" name="object 13"/>
            <p:cNvSpPr/>
            <p:nvPr/>
          </p:nvSpPr>
          <p:spPr>
            <a:xfrm>
              <a:off x="1094892" y="391396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159" y="4497922"/>
              <a:ext cx="203199" cy="203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8159" y="4246053"/>
              <a:ext cx="203199" cy="203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0443" y="3988056"/>
              <a:ext cx="203200" cy="2032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82035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5301" y="4494685"/>
              <a:ext cx="203200" cy="203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5301" y="4242816"/>
              <a:ext cx="203200" cy="203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7586" y="3984820"/>
              <a:ext cx="203199" cy="20320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1393244" y="2918759"/>
            <a:ext cx="262414" cy="651510"/>
            <a:chOff x="1857658" y="3891678"/>
            <a:chExt cx="349885" cy="868680"/>
          </a:xfrm>
        </p:grpSpPr>
        <p:sp>
          <p:nvSpPr>
            <p:cNvPr id="22" name="object 22"/>
            <p:cNvSpPr/>
            <p:nvPr/>
          </p:nvSpPr>
          <p:spPr>
            <a:xfrm>
              <a:off x="1876708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29974" y="4494685"/>
              <a:ext cx="203200" cy="2032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9974" y="4242816"/>
              <a:ext cx="203200" cy="2032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32259" y="3984820"/>
              <a:ext cx="203200" cy="203200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1939598" y="2916329"/>
            <a:ext cx="4139089" cy="1533048"/>
            <a:chOff x="2586130" y="3888439"/>
            <a:chExt cx="5518785" cy="2044064"/>
          </a:xfrm>
        </p:grpSpPr>
        <p:sp>
          <p:nvSpPr>
            <p:cNvPr id="27" name="object 27"/>
            <p:cNvSpPr/>
            <p:nvPr/>
          </p:nvSpPr>
          <p:spPr>
            <a:xfrm>
              <a:off x="2619984" y="5350103"/>
              <a:ext cx="4250055" cy="582295"/>
            </a:xfrm>
            <a:custGeom>
              <a:avLst/>
              <a:gdLst/>
              <a:ahLst/>
              <a:cxnLst/>
              <a:rect l="l" t="t" r="r" b="b"/>
              <a:pathLst>
                <a:path w="4250055" h="582295">
                  <a:moveTo>
                    <a:pt x="329476" y="243979"/>
                  </a:moveTo>
                  <a:lnTo>
                    <a:pt x="164731" y="14579"/>
                  </a:lnTo>
                  <a:lnTo>
                    <a:pt x="0" y="243979"/>
                  </a:lnTo>
                  <a:lnTo>
                    <a:pt x="119303" y="243979"/>
                  </a:lnTo>
                  <a:lnTo>
                    <a:pt x="119303" y="582015"/>
                  </a:lnTo>
                  <a:lnTo>
                    <a:pt x="210159" y="582015"/>
                  </a:lnTo>
                  <a:lnTo>
                    <a:pt x="210159" y="243979"/>
                  </a:lnTo>
                  <a:lnTo>
                    <a:pt x="329476" y="243979"/>
                  </a:lnTo>
                  <a:close/>
                </a:path>
                <a:path w="4250055" h="582295">
                  <a:moveTo>
                    <a:pt x="2285085" y="229387"/>
                  </a:moveTo>
                  <a:lnTo>
                    <a:pt x="2120341" y="0"/>
                  </a:lnTo>
                  <a:lnTo>
                    <a:pt x="1955596" y="229387"/>
                  </a:lnTo>
                  <a:lnTo>
                    <a:pt x="2074913" y="229387"/>
                  </a:lnTo>
                  <a:lnTo>
                    <a:pt x="2074913" y="567436"/>
                  </a:lnTo>
                  <a:lnTo>
                    <a:pt x="2165769" y="567436"/>
                  </a:lnTo>
                  <a:lnTo>
                    <a:pt x="2165769" y="229387"/>
                  </a:lnTo>
                  <a:lnTo>
                    <a:pt x="2285085" y="229387"/>
                  </a:lnTo>
                  <a:close/>
                </a:path>
                <a:path w="4250055" h="582295">
                  <a:moveTo>
                    <a:pt x="4249801" y="243979"/>
                  </a:moveTo>
                  <a:lnTo>
                    <a:pt x="4085069" y="14579"/>
                  </a:lnTo>
                  <a:lnTo>
                    <a:pt x="3920325" y="243979"/>
                  </a:lnTo>
                  <a:lnTo>
                    <a:pt x="4039641" y="243979"/>
                  </a:lnTo>
                  <a:lnTo>
                    <a:pt x="4039641" y="582015"/>
                  </a:lnTo>
                  <a:lnTo>
                    <a:pt x="4130484" y="582015"/>
                  </a:lnTo>
                  <a:lnTo>
                    <a:pt x="4130484" y="243979"/>
                  </a:lnTo>
                  <a:lnTo>
                    <a:pt x="4249801" y="243979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05180" y="3921872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988822"/>
              <a:ext cx="222250" cy="2222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742563"/>
              <a:ext cx="222250" cy="2222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496305"/>
              <a:ext cx="222250" cy="2222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244435"/>
              <a:ext cx="222250" cy="22225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206" y="3986439"/>
              <a:ext cx="222250" cy="22225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057184" y="3921872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0" y="4505829"/>
              <a:ext cx="203200" cy="2032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0" y="4253960"/>
              <a:ext cx="203200" cy="2032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2734" y="3995963"/>
              <a:ext cx="203200" cy="2032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444327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7593" y="4502591"/>
              <a:ext cx="203200" cy="2032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7593" y="4250723"/>
              <a:ext cx="203200" cy="2032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9877" y="3992726"/>
              <a:ext cx="203200" cy="2032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839000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92266" y="4502591"/>
              <a:ext cx="203200" cy="2032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2266" y="4250723"/>
              <a:ext cx="203200" cy="2032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94551" y="3992726"/>
              <a:ext cx="203200" cy="2032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575592" y="391863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985584"/>
              <a:ext cx="222250" cy="22225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739326"/>
              <a:ext cx="222250" cy="22225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493066"/>
              <a:ext cx="222250" cy="22225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335" y="4241198"/>
              <a:ext cx="222250" cy="22225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620" y="3983201"/>
              <a:ext cx="222250" cy="22225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027597" y="3918634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0863" y="4502590"/>
              <a:ext cx="203200" cy="2032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0863" y="4250721"/>
              <a:ext cx="203200" cy="2032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3148" y="3992726"/>
              <a:ext cx="203200" cy="20320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414740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8006" y="4499353"/>
              <a:ext cx="203200" cy="2032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68006" y="4247484"/>
              <a:ext cx="203200" cy="2032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70291" y="3989489"/>
              <a:ext cx="203200" cy="2032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5809413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2679" y="4499353"/>
              <a:ext cx="203200" cy="2032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62679" y="4247484"/>
              <a:ext cx="203200" cy="2032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4964" y="3989489"/>
              <a:ext cx="203200" cy="2032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540313" y="3910727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977677"/>
              <a:ext cx="222250" cy="22225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731417"/>
              <a:ext cx="222250" cy="22225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055" y="4485158"/>
              <a:ext cx="222250" cy="22225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233289"/>
              <a:ext cx="222250" cy="22225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6340" y="3975294"/>
              <a:ext cx="222250" cy="22225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6992317" y="3910727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5583" y="4494682"/>
              <a:ext cx="203200" cy="20320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5583" y="4242813"/>
              <a:ext cx="203200" cy="20320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7867" y="3984818"/>
              <a:ext cx="203200" cy="20320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7379460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491446"/>
              <a:ext cx="203200" cy="203198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239577"/>
              <a:ext cx="203200" cy="20320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35010" y="3981580"/>
              <a:ext cx="203200" cy="203200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7774133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491446"/>
              <a:ext cx="203200" cy="203198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239577"/>
              <a:ext cx="203200" cy="20320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29683" y="3981580"/>
              <a:ext cx="203200" cy="203200"/>
            </a:xfrm>
            <a:prstGeom prst="rect">
              <a:avLst/>
            </a:prstGeom>
          </p:spPr>
        </p:pic>
      </p:grpSp>
      <p:sp>
        <p:nvSpPr>
          <p:cNvPr id="82" name="object 82"/>
          <p:cNvSpPr txBox="1"/>
          <p:nvPr/>
        </p:nvSpPr>
        <p:spPr>
          <a:xfrm>
            <a:off x="797483" y="3585189"/>
            <a:ext cx="561975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38100">
              <a:spcBef>
                <a:spcPts val="86"/>
              </a:spcBef>
              <a:tabLst>
                <a:tab pos="370523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42327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758352" y="3578711"/>
            <a:ext cx="4289108" cy="1411765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marL="549593">
              <a:spcBef>
                <a:spcPts val="356"/>
              </a:spcBef>
              <a:tabLst>
                <a:tab pos="882015" algn="l"/>
                <a:tab pos="1165860" algn="l"/>
                <a:tab pos="2052161" algn="l"/>
                <a:tab pos="2384584" algn="l"/>
                <a:tab pos="2668428" algn="l"/>
                <a:tab pos="3522821" algn="l"/>
                <a:tab pos="3855244" algn="l"/>
                <a:tab pos="4139089" algn="l"/>
              </a:tabLst>
            </a:pPr>
            <a:r>
              <a:rPr sz="1969" spc="67" baseline="9523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863" spc="45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z="863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969" spc="-28" baseline="9523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863" spc="-19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r>
              <a:rPr sz="863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1111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2415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r>
              <a:rPr sz="1294" baseline="2415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969" spc="67" baseline="9523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863" spc="45" dirty="0">
                <a:solidFill>
                  <a:srgbClr val="7030A0"/>
                </a:solidFill>
                <a:latin typeface="Tahoma"/>
                <a:cs typeface="Tahoma"/>
              </a:rPr>
              <a:t>3</a:t>
            </a:r>
            <a:r>
              <a:rPr sz="863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969" spc="-28" baseline="9523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863" spc="-19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r>
              <a:rPr sz="863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2698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2415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r>
              <a:rPr sz="1294" baseline="2415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969" spc="56" baseline="12698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56" baseline="4830" dirty="0">
                <a:solidFill>
                  <a:srgbClr val="7030A0"/>
                </a:solidFill>
                <a:latin typeface="Tahoma"/>
                <a:cs typeface="Tahoma"/>
              </a:rPr>
              <a:t>4</a:t>
            </a:r>
            <a:r>
              <a:rPr sz="1294" baseline="4830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969" spc="-28" baseline="12698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4830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r>
              <a:rPr sz="1294" baseline="4830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4285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7246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294" baseline="7246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53"/>
              </a:spcBef>
            </a:pPr>
            <a:endParaRPr sz="863">
              <a:latin typeface="Tahoma"/>
              <a:cs typeface="Tahoma"/>
            </a:endParaRPr>
          </a:p>
          <a:p>
            <a:pPr marR="851059" algn="r">
              <a:lnSpc>
                <a:spcPts val="2078"/>
              </a:lnSpc>
              <a:tabLst>
                <a:tab pos="1563529" algn="l"/>
                <a:tab pos="3108959" algn="l"/>
              </a:tabLst>
            </a:pPr>
            <a:r>
              <a:rPr spc="-8" dirty="0">
                <a:latin typeface="Tahoma"/>
                <a:cs typeface="Tahoma"/>
              </a:rPr>
              <a:t>brown</a:t>
            </a:r>
            <a:r>
              <a:rPr dirty="0">
                <a:latin typeface="Tahoma"/>
                <a:cs typeface="Tahoma"/>
              </a:rPr>
              <a:t>	</a:t>
            </a:r>
            <a:r>
              <a:rPr spc="75" dirty="0">
                <a:latin typeface="Tahoma"/>
                <a:cs typeface="Tahoma"/>
              </a:rPr>
              <a:t>dog</a:t>
            </a:r>
            <a:r>
              <a:rPr dirty="0">
                <a:latin typeface="Tahoma"/>
                <a:cs typeface="Tahoma"/>
              </a:rPr>
              <a:t>	</a:t>
            </a:r>
            <a:r>
              <a:rPr sz="2700" spc="-50" baseline="-4629" dirty="0">
                <a:latin typeface="Tahoma"/>
                <a:cs typeface="Tahoma"/>
              </a:rPr>
              <a:t>ran</a:t>
            </a:r>
            <a:endParaRPr sz="2700" baseline="-4629">
              <a:latin typeface="Tahoma"/>
              <a:cs typeface="Tahoma"/>
            </a:endParaRPr>
          </a:p>
          <a:p>
            <a:pPr marR="893445" algn="r">
              <a:lnSpc>
                <a:spcPts val="1718"/>
              </a:lnSpc>
              <a:tabLst>
                <a:tab pos="1484948" algn="l"/>
                <a:tab pos="2997518" algn="l"/>
              </a:tabLst>
            </a:pPr>
            <a:r>
              <a:rPr sz="2250" spc="-28" baseline="2777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2820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r>
              <a:rPr sz="1463" baseline="-12820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r>
              <a:rPr sz="1463" baseline="-17094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1734528" y="2905917"/>
            <a:ext cx="4990148" cy="2113121"/>
          </a:xfrm>
          <a:custGeom>
            <a:avLst/>
            <a:gdLst/>
            <a:ahLst/>
            <a:cxnLst/>
            <a:rect l="l" t="t" r="r" b="b"/>
            <a:pathLst>
              <a:path w="6653530" h="2817495">
                <a:moveTo>
                  <a:pt x="6653165" y="0"/>
                </a:moveTo>
                <a:lnTo>
                  <a:pt x="0" y="0"/>
                </a:lnTo>
                <a:lnTo>
                  <a:pt x="0" y="2817476"/>
                </a:lnTo>
                <a:lnTo>
                  <a:pt x="6653165" y="2817476"/>
                </a:lnTo>
                <a:lnTo>
                  <a:pt x="6653165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380076" y="1332357"/>
            <a:ext cx="1395413" cy="1423306"/>
          </a:xfrm>
          <a:prstGeom prst="rect">
            <a:avLst/>
          </a:prstGeom>
        </p:spPr>
        <p:txBody>
          <a:bodyPr vert="horz" wrap="square" lIns="0" tIns="70961" rIns="0" bIns="0" rtlCol="0">
            <a:spAutoFit/>
          </a:bodyPr>
          <a:lstStyle/>
          <a:p>
            <a:pPr marL="34290">
              <a:spcBef>
                <a:spcPts val="559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4</a:t>
            </a:r>
            <a:r>
              <a:rPr sz="1406" spc="11" baseline="-15555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5555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5555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r>
              <a:rPr sz="1406" spc="11" baseline="-15555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8</a:t>
            </a:r>
            <a:endParaRPr sz="1500">
              <a:latin typeface="Tahoma"/>
              <a:cs typeface="Tahoma"/>
            </a:endParaRPr>
          </a:p>
          <a:p>
            <a:pPr marL="42386">
              <a:spcBef>
                <a:spcPts val="488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3</a:t>
            </a:r>
            <a:r>
              <a:rPr sz="1406" spc="11" baseline="-17777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7777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7777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r>
              <a:rPr sz="1406" spc="11" baseline="-17777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26" dirty="0">
                <a:latin typeface="Tahoma"/>
                <a:cs typeface="Tahoma"/>
              </a:rPr>
              <a:t>16</a:t>
            </a:r>
            <a:endParaRPr sz="1500">
              <a:latin typeface="Tahoma"/>
              <a:cs typeface="Tahoma"/>
            </a:endParaRPr>
          </a:p>
          <a:p>
            <a:pPr marL="28575">
              <a:spcBef>
                <a:spcPts val="739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2</a:t>
            </a:r>
            <a:r>
              <a:rPr sz="1406" spc="11" baseline="-17777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7777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7777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r>
              <a:rPr sz="1406" spc="11" baseline="-17777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26" dirty="0">
                <a:latin typeface="Tahoma"/>
                <a:cs typeface="Tahoma"/>
              </a:rPr>
              <a:t>96</a:t>
            </a:r>
            <a:endParaRPr sz="1500">
              <a:latin typeface="Tahoma"/>
              <a:cs typeface="Tahoma"/>
            </a:endParaRPr>
          </a:p>
          <a:p>
            <a:pPr marL="42386">
              <a:spcBef>
                <a:spcPts val="739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1406" spc="11" baseline="-15555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5555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5555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r>
              <a:rPr sz="1406" spc="11" baseline="-15555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112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331136" y="4505325"/>
            <a:ext cx="404813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lnSpc>
                <a:spcPts val="2059"/>
              </a:lnSpc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  <a:p>
            <a:pPr marL="142875">
              <a:lnSpc>
                <a:spcPts val="1699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783583" y="700170"/>
            <a:ext cx="619125" cy="240931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0001" rIns="0" bIns="0" rtlCol="0">
            <a:spAutoFit/>
          </a:bodyPr>
          <a:lstStyle/>
          <a:p>
            <a:pPr>
              <a:spcBef>
                <a:spcPts val="79"/>
              </a:spcBef>
            </a:pPr>
            <a:r>
              <a:rPr sz="1500" spc="41" dirty="0">
                <a:latin typeface="Tahoma"/>
                <a:cs typeface="Tahoma"/>
              </a:rPr>
              <a:t>Step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spc="-38" dirty="0">
                <a:latin typeface="Tahoma"/>
                <a:cs typeface="Tahoma"/>
              </a:rPr>
              <a:t>3: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416997" y="700658"/>
            <a:ext cx="6553676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spc="56" dirty="0">
                <a:latin typeface="Tahoma"/>
                <a:cs typeface="Tahoma"/>
              </a:rPr>
              <a:t>Our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scores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-23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2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-17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3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-23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4</a:t>
            </a:r>
            <a:r>
              <a:rPr sz="1406" spc="225" baseline="-15555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49" dirty="0">
                <a:latin typeface="Tahoma"/>
                <a:cs typeface="Tahoma"/>
              </a:rPr>
              <a:t>don’t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sum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spc="56" dirty="0">
                <a:latin typeface="Tahoma"/>
                <a:cs typeface="Tahoma"/>
              </a:rPr>
              <a:t>to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1.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Let’s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spc="38" dirty="0">
                <a:latin typeface="Tahoma"/>
                <a:cs typeface="Tahoma"/>
              </a:rPr>
              <a:t>divide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45" dirty="0">
                <a:latin typeface="Tahoma"/>
                <a:cs typeface="Tahoma"/>
              </a:rPr>
              <a:t>by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dirty="0">
                <a:latin typeface="Cambria Math"/>
                <a:cs typeface="Cambria Math"/>
              </a:rPr>
              <a:t>√𝑙𝑒𝑛(𝑘</a:t>
            </a:r>
            <a:r>
              <a:rPr sz="1688" baseline="-14814" dirty="0">
                <a:latin typeface="Cambria Math"/>
                <a:cs typeface="Cambria Math"/>
              </a:rPr>
              <a:t>𝑖</a:t>
            </a:r>
            <a:r>
              <a:rPr sz="1500" dirty="0">
                <a:latin typeface="Cambria Math"/>
                <a:cs typeface="Cambria Math"/>
              </a:rPr>
              <a:t>)</a:t>
            </a:r>
            <a:r>
              <a:rPr sz="1500" spc="19" dirty="0">
                <a:latin typeface="Cambria Math"/>
                <a:cs typeface="Cambria Math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11" dirty="0"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C00000"/>
                </a:solidFill>
                <a:latin typeface="Calibri"/>
                <a:cs typeface="Calibri"/>
              </a:rPr>
              <a:t>softmax</a:t>
            </a:r>
            <a:r>
              <a:rPr sz="1500" spc="1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500" spc="-19" dirty="0">
                <a:latin typeface="Calibri"/>
                <a:cs typeface="Calibri"/>
              </a:rPr>
              <a:t>it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2449416" y="1283589"/>
            <a:ext cx="1547336" cy="1417856"/>
          </a:xfrm>
          <a:prstGeom prst="rect">
            <a:avLst/>
          </a:prstGeom>
        </p:spPr>
        <p:txBody>
          <a:bodyPr vert="horz" wrap="square" lIns="0" tIns="121444" rIns="0" bIns="0" rtlCol="0">
            <a:spAutoFit/>
          </a:bodyPr>
          <a:lstStyle/>
          <a:p>
            <a:pPr marL="39052">
              <a:spcBef>
                <a:spcPts val="956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r>
              <a:rPr sz="1463" b="1" spc="185" baseline="-1709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=</a:t>
            </a:r>
            <a:r>
              <a:rPr sz="1500" b="1" spc="-4" dirty="0">
                <a:latin typeface="Calibri"/>
                <a:cs typeface="Calibri"/>
              </a:rPr>
              <a:t> </a:t>
            </a:r>
            <a:r>
              <a:rPr sz="1500" dirty="0">
                <a:latin typeface="Cambria Math"/>
                <a:cs typeface="Cambria Math"/>
              </a:rPr>
              <a:t>𝝈(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𝒔</a:t>
            </a:r>
            <a:r>
              <a:rPr sz="1688" baseline="-14814" dirty="0">
                <a:solidFill>
                  <a:srgbClr val="548235"/>
                </a:solidFill>
                <a:latin typeface="Cambria Math"/>
                <a:cs typeface="Cambria Math"/>
              </a:rPr>
              <a:t>𝟒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/𝟖</a:t>
            </a:r>
            <a:r>
              <a:rPr sz="1500" dirty="0">
                <a:latin typeface="Cambria Math"/>
                <a:cs typeface="Cambria Math"/>
              </a:rPr>
              <a:t>)</a:t>
            </a:r>
            <a:r>
              <a:rPr sz="1500" spc="-60" dirty="0">
                <a:latin typeface="Cambria Math"/>
                <a:cs typeface="Cambria Math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53" dirty="0">
                <a:latin typeface="Tahoma"/>
                <a:cs typeface="Tahoma"/>
              </a:rPr>
              <a:t> </a:t>
            </a:r>
            <a:r>
              <a:rPr sz="1500" spc="-45" dirty="0">
                <a:latin typeface="Tahoma"/>
                <a:cs typeface="Tahoma"/>
              </a:rPr>
              <a:t>0</a:t>
            </a:r>
            <a:endParaRPr sz="1500">
              <a:latin typeface="Tahoma"/>
              <a:cs typeface="Tahoma"/>
            </a:endParaRPr>
          </a:p>
          <a:p>
            <a:pPr marL="28575">
              <a:spcBef>
                <a:spcPts val="881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sz="1463" b="1" spc="185" baseline="-1709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=</a:t>
            </a:r>
            <a:r>
              <a:rPr sz="1500" b="1" spc="-15" dirty="0">
                <a:latin typeface="Calibri"/>
                <a:cs typeface="Calibri"/>
              </a:rPr>
              <a:t> </a:t>
            </a:r>
            <a:r>
              <a:rPr sz="1500" dirty="0">
                <a:latin typeface="Cambria Math"/>
                <a:cs typeface="Cambria Math"/>
              </a:rPr>
              <a:t>𝝈(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𝒔</a:t>
            </a:r>
            <a:r>
              <a:rPr sz="1688" baseline="-14814" dirty="0">
                <a:solidFill>
                  <a:srgbClr val="548235"/>
                </a:solidFill>
                <a:latin typeface="Cambria Math"/>
                <a:cs typeface="Cambria Math"/>
              </a:rPr>
              <a:t>𝟑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/𝟖</a:t>
            </a:r>
            <a:r>
              <a:rPr sz="1500" dirty="0">
                <a:latin typeface="Cambria Math"/>
                <a:cs typeface="Cambria Math"/>
              </a:rPr>
              <a:t>)</a:t>
            </a:r>
            <a:r>
              <a:rPr sz="1500" spc="-60" dirty="0">
                <a:latin typeface="Cambria Math"/>
                <a:cs typeface="Cambria Math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53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.01</a:t>
            </a:r>
            <a:endParaRPr sz="1500">
              <a:latin typeface="Tahoma"/>
              <a:cs typeface="Tahoma"/>
            </a:endParaRPr>
          </a:p>
          <a:p>
            <a:pPr marL="28575">
              <a:spcBef>
                <a:spcPts val="1241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1463" b="1" spc="185" baseline="-1709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=</a:t>
            </a:r>
            <a:r>
              <a:rPr sz="1500" b="1" spc="-4" dirty="0">
                <a:latin typeface="Calibri"/>
                <a:cs typeface="Calibri"/>
              </a:rPr>
              <a:t> </a:t>
            </a:r>
            <a:r>
              <a:rPr sz="1500" dirty="0">
                <a:latin typeface="Cambria Math"/>
                <a:cs typeface="Cambria Math"/>
              </a:rPr>
              <a:t>𝝈(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𝒔</a:t>
            </a:r>
            <a:r>
              <a:rPr sz="1688" baseline="-14814" dirty="0">
                <a:solidFill>
                  <a:srgbClr val="548235"/>
                </a:solidFill>
                <a:latin typeface="Cambria Math"/>
                <a:cs typeface="Cambria Math"/>
              </a:rPr>
              <a:t>𝟐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/𝟖</a:t>
            </a:r>
            <a:r>
              <a:rPr sz="1500" dirty="0">
                <a:latin typeface="Cambria Math"/>
                <a:cs typeface="Cambria Math"/>
              </a:rPr>
              <a:t>)</a:t>
            </a:r>
            <a:r>
              <a:rPr sz="1500" spc="-60" dirty="0">
                <a:latin typeface="Cambria Math"/>
                <a:cs typeface="Cambria Math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53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.12</a:t>
            </a:r>
            <a:endParaRPr sz="1500">
              <a:latin typeface="Tahoma"/>
              <a:cs typeface="Tahoma"/>
            </a:endParaRPr>
          </a:p>
          <a:p>
            <a:pPr marL="28575">
              <a:spcBef>
                <a:spcPts val="795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463" b="1" spc="185" baseline="-1709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=</a:t>
            </a:r>
            <a:r>
              <a:rPr sz="1500" b="1" spc="-4" dirty="0">
                <a:latin typeface="Calibri"/>
                <a:cs typeface="Calibri"/>
              </a:rPr>
              <a:t> </a:t>
            </a:r>
            <a:r>
              <a:rPr sz="1500" dirty="0">
                <a:latin typeface="Cambria Math"/>
                <a:cs typeface="Cambria Math"/>
              </a:rPr>
              <a:t>𝝈(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𝒔</a:t>
            </a:r>
            <a:r>
              <a:rPr sz="1688" baseline="-14814" dirty="0">
                <a:solidFill>
                  <a:srgbClr val="548235"/>
                </a:solidFill>
                <a:latin typeface="Cambria Math"/>
                <a:cs typeface="Cambria Math"/>
              </a:rPr>
              <a:t>𝟏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/𝟖</a:t>
            </a:r>
            <a:r>
              <a:rPr sz="1500" dirty="0">
                <a:latin typeface="Cambria Math"/>
                <a:cs typeface="Cambria Math"/>
              </a:rPr>
              <a:t>)</a:t>
            </a:r>
            <a:r>
              <a:rPr sz="1500" spc="-60" dirty="0">
                <a:latin typeface="Cambria Math"/>
                <a:cs typeface="Cambria Math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53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.87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612005" y="1445895"/>
            <a:ext cx="3359468" cy="7021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 marR="22860">
              <a:spcBef>
                <a:spcPts val="75"/>
              </a:spcBef>
            </a:pPr>
            <a:r>
              <a:rPr sz="1500" dirty="0">
                <a:latin typeface="Tahoma"/>
                <a:cs typeface="Tahoma"/>
              </a:rPr>
              <a:t>Instead</a:t>
            </a:r>
            <a:r>
              <a:rPr sz="1500" spc="-26" dirty="0">
                <a:latin typeface="Tahoma"/>
                <a:cs typeface="Tahoma"/>
              </a:rPr>
              <a:t> </a:t>
            </a:r>
            <a:r>
              <a:rPr sz="1500" spc="45" dirty="0">
                <a:latin typeface="Tahoma"/>
                <a:cs typeface="Tahoma"/>
              </a:rPr>
              <a:t>of</a:t>
            </a:r>
            <a:r>
              <a:rPr sz="1500" spc="-3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these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FF0000"/>
                </a:solidFill>
                <a:latin typeface="Tahoma"/>
                <a:cs typeface="Tahoma"/>
              </a:rPr>
              <a:t>a</a:t>
            </a:r>
            <a:r>
              <a:rPr sz="1406" baseline="-17777" dirty="0">
                <a:solidFill>
                  <a:srgbClr val="FF0000"/>
                </a:solidFill>
                <a:latin typeface="Tahoma"/>
                <a:cs typeface="Tahoma"/>
              </a:rPr>
              <a:t>i</a:t>
            </a:r>
            <a:r>
              <a:rPr sz="1406" spc="236" baseline="-17777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values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spc="-8" dirty="0">
                <a:latin typeface="Tahoma"/>
                <a:cs typeface="Tahoma"/>
              </a:rPr>
              <a:t>directly </a:t>
            </a:r>
            <a:r>
              <a:rPr sz="1500" dirty="0">
                <a:latin typeface="Tahoma"/>
                <a:cs typeface="Tahoma"/>
              </a:rPr>
              <a:t>weighting</a:t>
            </a:r>
            <a:r>
              <a:rPr sz="1500" spc="5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our</a:t>
            </a:r>
            <a:r>
              <a:rPr sz="1500" spc="53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original</a:t>
            </a:r>
            <a:r>
              <a:rPr sz="1500" spc="56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2E75B6"/>
                </a:solidFill>
                <a:latin typeface="Tahoma"/>
                <a:cs typeface="Tahoma"/>
              </a:rPr>
              <a:t>x</a:t>
            </a:r>
            <a:r>
              <a:rPr sz="1406" baseline="-17777" dirty="0">
                <a:solidFill>
                  <a:srgbClr val="2E75B6"/>
                </a:solidFill>
                <a:latin typeface="Tahoma"/>
                <a:cs typeface="Tahoma"/>
              </a:rPr>
              <a:t>i</a:t>
            </a:r>
            <a:r>
              <a:rPr sz="1406" spc="365" baseline="-17777" dirty="0">
                <a:solidFill>
                  <a:srgbClr val="2E75B6"/>
                </a:solidFill>
                <a:latin typeface="Tahoma"/>
                <a:cs typeface="Tahoma"/>
              </a:rPr>
              <a:t> </a:t>
            </a:r>
            <a:r>
              <a:rPr sz="1500" spc="38" dirty="0">
                <a:latin typeface="Tahoma"/>
                <a:cs typeface="Tahoma"/>
              </a:rPr>
              <a:t>word</a:t>
            </a:r>
            <a:r>
              <a:rPr sz="1500" spc="56" dirty="0">
                <a:latin typeface="Tahoma"/>
                <a:cs typeface="Tahoma"/>
              </a:rPr>
              <a:t> </a:t>
            </a:r>
            <a:r>
              <a:rPr sz="1500" spc="-8" dirty="0">
                <a:latin typeface="Tahoma"/>
                <a:cs typeface="Tahoma"/>
              </a:rPr>
              <a:t>vectors, </a:t>
            </a:r>
            <a:r>
              <a:rPr sz="1500" dirty="0">
                <a:latin typeface="Tahoma"/>
                <a:cs typeface="Tahoma"/>
              </a:rPr>
              <a:t>they</a:t>
            </a:r>
            <a:r>
              <a:rPr sz="1500" spc="53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directly</a:t>
            </a:r>
            <a:r>
              <a:rPr sz="1500" spc="5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weight</a:t>
            </a:r>
            <a:r>
              <a:rPr sz="1500" spc="4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our</a:t>
            </a:r>
            <a:r>
              <a:rPr sz="1500" spc="53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i</a:t>
            </a:r>
            <a:r>
              <a:rPr sz="1406" spc="360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spc="-8" dirty="0">
                <a:latin typeface="Tahoma"/>
                <a:cs typeface="Tahoma"/>
              </a:rPr>
              <a:t>vectors.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517" y="526165"/>
            <a:ext cx="4862036" cy="61436"/>
          </a:xfrm>
          <a:custGeom>
            <a:avLst/>
            <a:gdLst/>
            <a:ahLst/>
            <a:cxnLst/>
            <a:rect l="l" t="t" r="r" b="b"/>
            <a:pathLst>
              <a:path w="6482715" h="81915">
                <a:moveTo>
                  <a:pt x="6482647" y="0"/>
                </a:moveTo>
                <a:lnTo>
                  <a:pt x="0" y="0"/>
                </a:lnTo>
                <a:lnTo>
                  <a:pt x="0" y="81537"/>
                </a:lnTo>
                <a:lnTo>
                  <a:pt x="6482647" y="81537"/>
                </a:lnTo>
                <a:lnTo>
                  <a:pt x="64826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58352" y="3594714"/>
            <a:ext cx="1035368" cy="1380410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 marL="549593">
              <a:spcBef>
                <a:spcPts val="11"/>
              </a:spcBef>
              <a:tabLst>
                <a:tab pos="882015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270"/>
              </a:spcBef>
            </a:pPr>
            <a:endParaRPr sz="863">
              <a:latin typeface="Tahoma"/>
              <a:cs typeface="Tahoma"/>
            </a:endParaRPr>
          </a:p>
          <a:p>
            <a:pPr marR="394811" algn="ctr">
              <a:lnSpc>
                <a:spcPts val="2033"/>
              </a:lnSpc>
              <a:spcBef>
                <a:spcPts val="4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  <a:p>
            <a:pPr marR="413385" algn="ctr">
              <a:lnSpc>
                <a:spcPts val="167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endParaRPr sz="1463" baseline="-17094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5623" y="2918759"/>
            <a:ext cx="1200150" cy="1554956"/>
            <a:chOff x="607497" y="3891678"/>
            <a:chExt cx="1600200" cy="2073275"/>
          </a:xfrm>
        </p:grpSpPr>
        <p:sp>
          <p:nvSpPr>
            <p:cNvPr id="6" name="object 6"/>
            <p:cNvSpPr/>
            <p:nvPr/>
          </p:nvSpPr>
          <p:spPr>
            <a:xfrm>
              <a:off x="607497" y="5397119"/>
              <a:ext cx="329565" cy="567690"/>
            </a:xfrm>
            <a:custGeom>
              <a:avLst/>
              <a:gdLst/>
              <a:ahLst/>
              <a:cxnLst/>
              <a:rect l="l" t="t" r="r" b="b"/>
              <a:pathLst>
                <a:path w="329565" h="567689">
                  <a:moveTo>
                    <a:pt x="164741" y="0"/>
                  </a:moveTo>
                  <a:lnTo>
                    <a:pt x="0" y="229395"/>
                  </a:lnTo>
                  <a:lnTo>
                    <a:pt x="119315" y="229395"/>
                  </a:lnTo>
                  <a:lnTo>
                    <a:pt x="119315" y="567437"/>
                  </a:lnTo>
                  <a:lnTo>
                    <a:pt x="210167" y="567437"/>
                  </a:lnTo>
                  <a:lnTo>
                    <a:pt x="210167" y="229395"/>
                  </a:lnTo>
                  <a:lnTo>
                    <a:pt x="329482" y="229395"/>
                  </a:lnTo>
                  <a:lnTo>
                    <a:pt x="16474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2888" y="39139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980915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734656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488397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630" y="4236529"/>
              <a:ext cx="222250" cy="222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915" y="3978532"/>
              <a:ext cx="222250" cy="2222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94892" y="391396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159" y="4497922"/>
              <a:ext cx="203199" cy="203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8159" y="4246053"/>
              <a:ext cx="203199" cy="203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0443" y="3988056"/>
              <a:ext cx="203200" cy="2032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82035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5301" y="4494685"/>
              <a:ext cx="203200" cy="203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5301" y="4242816"/>
              <a:ext cx="203200" cy="203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7586" y="3984820"/>
              <a:ext cx="203199" cy="2032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876708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29974" y="4494685"/>
              <a:ext cx="203200" cy="203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9974" y="4242816"/>
              <a:ext cx="203200" cy="2032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32259" y="3984820"/>
              <a:ext cx="203200" cy="203200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1939598" y="2916329"/>
            <a:ext cx="4139089" cy="1533048"/>
            <a:chOff x="2586130" y="3888439"/>
            <a:chExt cx="5518785" cy="2044064"/>
          </a:xfrm>
        </p:grpSpPr>
        <p:sp>
          <p:nvSpPr>
            <p:cNvPr id="26" name="object 26"/>
            <p:cNvSpPr/>
            <p:nvPr/>
          </p:nvSpPr>
          <p:spPr>
            <a:xfrm>
              <a:off x="2619984" y="5350103"/>
              <a:ext cx="4250055" cy="582295"/>
            </a:xfrm>
            <a:custGeom>
              <a:avLst/>
              <a:gdLst/>
              <a:ahLst/>
              <a:cxnLst/>
              <a:rect l="l" t="t" r="r" b="b"/>
              <a:pathLst>
                <a:path w="4250055" h="582295">
                  <a:moveTo>
                    <a:pt x="329476" y="243979"/>
                  </a:moveTo>
                  <a:lnTo>
                    <a:pt x="164731" y="14579"/>
                  </a:lnTo>
                  <a:lnTo>
                    <a:pt x="0" y="243979"/>
                  </a:lnTo>
                  <a:lnTo>
                    <a:pt x="119303" y="243979"/>
                  </a:lnTo>
                  <a:lnTo>
                    <a:pt x="119303" y="582015"/>
                  </a:lnTo>
                  <a:lnTo>
                    <a:pt x="210159" y="582015"/>
                  </a:lnTo>
                  <a:lnTo>
                    <a:pt x="210159" y="243979"/>
                  </a:lnTo>
                  <a:lnTo>
                    <a:pt x="329476" y="243979"/>
                  </a:lnTo>
                  <a:close/>
                </a:path>
                <a:path w="4250055" h="582295">
                  <a:moveTo>
                    <a:pt x="2285085" y="229387"/>
                  </a:moveTo>
                  <a:lnTo>
                    <a:pt x="2120341" y="0"/>
                  </a:lnTo>
                  <a:lnTo>
                    <a:pt x="1955596" y="229387"/>
                  </a:lnTo>
                  <a:lnTo>
                    <a:pt x="2074913" y="229387"/>
                  </a:lnTo>
                  <a:lnTo>
                    <a:pt x="2074913" y="567436"/>
                  </a:lnTo>
                  <a:lnTo>
                    <a:pt x="2165769" y="567436"/>
                  </a:lnTo>
                  <a:lnTo>
                    <a:pt x="2165769" y="229387"/>
                  </a:lnTo>
                  <a:lnTo>
                    <a:pt x="2285085" y="229387"/>
                  </a:lnTo>
                  <a:close/>
                </a:path>
                <a:path w="4250055" h="582295">
                  <a:moveTo>
                    <a:pt x="4249801" y="243979"/>
                  </a:moveTo>
                  <a:lnTo>
                    <a:pt x="4085069" y="14579"/>
                  </a:lnTo>
                  <a:lnTo>
                    <a:pt x="3920325" y="243979"/>
                  </a:lnTo>
                  <a:lnTo>
                    <a:pt x="4039641" y="243979"/>
                  </a:lnTo>
                  <a:lnTo>
                    <a:pt x="4039641" y="582015"/>
                  </a:lnTo>
                  <a:lnTo>
                    <a:pt x="4130484" y="582015"/>
                  </a:lnTo>
                  <a:lnTo>
                    <a:pt x="4130484" y="243979"/>
                  </a:lnTo>
                  <a:lnTo>
                    <a:pt x="4249801" y="243979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05180" y="3921872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988822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742563"/>
              <a:ext cx="222250" cy="2222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496305"/>
              <a:ext cx="222250" cy="2222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244435"/>
              <a:ext cx="222250" cy="2222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206" y="3986439"/>
              <a:ext cx="222250" cy="22225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057184" y="3921872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0" y="4505829"/>
              <a:ext cx="203200" cy="2032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0" y="4253960"/>
              <a:ext cx="203200" cy="2032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2734" y="3995963"/>
              <a:ext cx="203200" cy="2032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444327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7593" y="4502591"/>
              <a:ext cx="203200" cy="2032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7593" y="4250723"/>
              <a:ext cx="203200" cy="2032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9877" y="3992726"/>
              <a:ext cx="203200" cy="2032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839000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92266" y="4502591"/>
              <a:ext cx="203200" cy="2032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2266" y="4250723"/>
              <a:ext cx="203200" cy="2032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94551" y="3992726"/>
              <a:ext cx="203200" cy="2032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575592" y="391863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985584"/>
              <a:ext cx="222250" cy="22225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739326"/>
              <a:ext cx="222250" cy="22225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493066"/>
              <a:ext cx="222250" cy="22225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335" y="4241198"/>
              <a:ext cx="222250" cy="22225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620" y="3983201"/>
              <a:ext cx="222250" cy="22225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027597" y="3918634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0863" y="4502590"/>
              <a:ext cx="203200" cy="2032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0863" y="4250721"/>
              <a:ext cx="203200" cy="2032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3148" y="3992726"/>
              <a:ext cx="203200" cy="20320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5414740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8006" y="4499353"/>
              <a:ext cx="203200" cy="2032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68006" y="4247484"/>
              <a:ext cx="203200" cy="2032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70291" y="3989489"/>
              <a:ext cx="203200" cy="20320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5809413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2679" y="4499353"/>
              <a:ext cx="203200" cy="2032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62679" y="4247484"/>
              <a:ext cx="203200" cy="2032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4964" y="3989489"/>
              <a:ext cx="203200" cy="20320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6540313" y="3910727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977677"/>
              <a:ext cx="222250" cy="22225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731417"/>
              <a:ext cx="222250" cy="22225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055" y="4485158"/>
              <a:ext cx="222250" cy="22225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233289"/>
              <a:ext cx="222250" cy="22225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6340" y="3975294"/>
              <a:ext cx="222250" cy="22225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6992317" y="3910727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5583" y="4494682"/>
              <a:ext cx="203200" cy="20320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5583" y="4242813"/>
              <a:ext cx="203200" cy="20320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7867" y="3984818"/>
              <a:ext cx="203200" cy="203200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7379460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491446"/>
              <a:ext cx="203200" cy="203198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239577"/>
              <a:ext cx="203200" cy="20320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35010" y="3981580"/>
              <a:ext cx="203200" cy="203200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7774133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491446"/>
              <a:ext cx="203200" cy="203198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239577"/>
              <a:ext cx="203200" cy="20320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29683" y="3981580"/>
              <a:ext cx="203200" cy="203200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289571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40662" y="3594714"/>
            <a:ext cx="980599" cy="1418882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 marL="494824">
              <a:spcBef>
                <a:spcPts val="11"/>
              </a:spcBef>
              <a:tabLst>
                <a:tab pos="827246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450"/>
              </a:spcBef>
            </a:pPr>
            <a:endParaRPr sz="863">
              <a:latin typeface="Tahoma"/>
              <a:cs typeface="Tahoma"/>
            </a:endParaRPr>
          </a:p>
          <a:p>
            <a:pPr>
              <a:lnSpc>
                <a:spcPts val="2059"/>
              </a:lnSpc>
              <a:spcBef>
                <a:spcPts val="4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  <a:p>
            <a:pPr marL="133350">
              <a:lnSpc>
                <a:spcPts val="1699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42327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427093" y="3585570"/>
            <a:ext cx="149543" cy="203486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>
              <a:spcBef>
                <a:spcPts val="11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867461" y="3585570"/>
            <a:ext cx="899636" cy="1393234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 marL="413861">
              <a:spcBef>
                <a:spcPts val="11"/>
              </a:spcBef>
              <a:tabLst>
                <a:tab pos="746283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4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endParaRPr sz="1294" baseline="-144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488"/>
              </a:spcBef>
            </a:pPr>
            <a:endParaRPr sz="863">
              <a:latin typeface="Tahoma"/>
              <a:cs typeface="Tahoma"/>
            </a:endParaRPr>
          </a:p>
          <a:p>
            <a:pPr>
              <a:lnSpc>
                <a:spcPts val="2002"/>
              </a:lnSpc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  <a:p>
            <a:pPr marL="112395">
              <a:lnSpc>
                <a:spcPts val="164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897801" y="3578712"/>
            <a:ext cx="149543" cy="203486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>
              <a:spcBef>
                <a:spcPts val="11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294" baseline="-14492">
              <a:latin typeface="Tahoma"/>
              <a:cs typeface="Tahoma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1728881" y="2697426"/>
            <a:ext cx="4411980" cy="2351246"/>
            <a:chOff x="2305174" y="3596567"/>
            <a:chExt cx="5882640" cy="3134995"/>
          </a:xfrm>
        </p:grpSpPr>
        <p:sp>
          <p:nvSpPr>
            <p:cNvPr id="88" name="object 88"/>
            <p:cNvSpPr/>
            <p:nvPr/>
          </p:nvSpPr>
          <p:spPr>
            <a:xfrm>
              <a:off x="2305174" y="3874555"/>
              <a:ext cx="1470025" cy="2857500"/>
            </a:xfrm>
            <a:custGeom>
              <a:avLst/>
              <a:gdLst/>
              <a:ahLst/>
              <a:cxnLst/>
              <a:rect l="l" t="t" r="r" b="b"/>
              <a:pathLst>
                <a:path w="1470025" h="2857500">
                  <a:moveTo>
                    <a:pt x="1469811" y="0"/>
                  </a:moveTo>
                  <a:lnTo>
                    <a:pt x="0" y="0"/>
                  </a:lnTo>
                  <a:lnTo>
                    <a:pt x="0" y="2856994"/>
                  </a:lnTo>
                  <a:lnTo>
                    <a:pt x="1469811" y="2856994"/>
                  </a:lnTo>
                  <a:lnTo>
                    <a:pt x="1469811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257256" y="3680942"/>
              <a:ext cx="3515360" cy="3011170"/>
            </a:xfrm>
            <a:custGeom>
              <a:avLst/>
              <a:gdLst/>
              <a:ahLst/>
              <a:cxnLst/>
              <a:rect l="l" t="t" r="r" b="b"/>
              <a:pathLst>
                <a:path w="3515359" h="3011170">
                  <a:moveTo>
                    <a:pt x="1501228" y="0"/>
                  </a:moveTo>
                  <a:lnTo>
                    <a:pt x="0" y="0"/>
                  </a:lnTo>
                  <a:lnTo>
                    <a:pt x="0" y="2856992"/>
                  </a:lnTo>
                  <a:lnTo>
                    <a:pt x="1501228" y="2856992"/>
                  </a:lnTo>
                  <a:lnTo>
                    <a:pt x="1501228" y="0"/>
                  </a:lnTo>
                  <a:close/>
                </a:path>
                <a:path w="3515359" h="3011170">
                  <a:moveTo>
                    <a:pt x="3515029" y="153885"/>
                  </a:moveTo>
                  <a:lnTo>
                    <a:pt x="1959991" y="153885"/>
                  </a:lnTo>
                  <a:lnTo>
                    <a:pt x="1959991" y="3010878"/>
                  </a:lnTo>
                  <a:lnTo>
                    <a:pt x="3515029" y="3010878"/>
                  </a:lnTo>
                  <a:lnTo>
                    <a:pt x="3515029" y="153885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783035" y="3761903"/>
              <a:ext cx="472440" cy="2857500"/>
            </a:xfrm>
            <a:custGeom>
              <a:avLst/>
              <a:gdLst/>
              <a:ahLst/>
              <a:cxnLst/>
              <a:rect l="l" t="t" r="r" b="b"/>
              <a:pathLst>
                <a:path w="472439" h="2857500">
                  <a:moveTo>
                    <a:pt x="472262" y="0"/>
                  </a:moveTo>
                  <a:lnTo>
                    <a:pt x="0" y="0"/>
                  </a:lnTo>
                  <a:lnTo>
                    <a:pt x="0" y="2856994"/>
                  </a:lnTo>
                  <a:lnTo>
                    <a:pt x="472262" y="2856994"/>
                  </a:lnTo>
                  <a:lnTo>
                    <a:pt x="472262" y="0"/>
                  </a:lnTo>
                  <a:close/>
                </a:path>
              </a:pathLst>
            </a:custGeom>
            <a:solidFill>
              <a:srgbClr val="FFFFFF">
                <a:alpha val="411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765788" y="3596567"/>
              <a:ext cx="472440" cy="2857500"/>
            </a:xfrm>
            <a:custGeom>
              <a:avLst/>
              <a:gdLst/>
              <a:ahLst/>
              <a:cxnLst/>
              <a:rect l="l" t="t" r="r" b="b"/>
              <a:pathLst>
                <a:path w="472439" h="2857500">
                  <a:moveTo>
                    <a:pt x="472260" y="0"/>
                  </a:moveTo>
                  <a:lnTo>
                    <a:pt x="0" y="0"/>
                  </a:lnTo>
                  <a:lnTo>
                    <a:pt x="0" y="2856995"/>
                  </a:lnTo>
                  <a:lnTo>
                    <a:pt x="472260" y="2856995"/>
                  </a:lnTo>
                  <a:lnTo>
                    <a:pt x="472260" y="0"/>
                  </a:lnTo>
                  <a:close/>
                </a:path>
              </a:pathLst>
            </a:custGeom>
            <a:solidFill>
              <a:srgbClr val="FFFFFF">
                <a:alpha val="5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715327" y="3647606"/>
              <a:ext cx="472440" cy="2857500"/>
            </a:xfrm>
            <a:custGeom>
              <a:avLst/>
              <a:gdLst/>
              <a:ahLst/>
              <a:cxnLst/>
              <a:rect l="l" t="t" r="r" b="b"/>
              <a:pathLst>
                <a:path w="472440" h="2857500">
                  <a:moveTo>
                    <a:pt x="472260" y="0"/>
                  </a:moveTo>
                  <a:lnTo>
                    <a:pt x="0" y="0"/>
                  </a:lnTo>
                  <a:lnTo>
                    <a:pt x="0" y="2856995"/>
                  </a:lnTo>
                  <a:lnTo>
                    <a:pt x="472260" y="2856995"/>
                  </a:lnTo>
                  <a:lnTo>
                    <a:pt x="472260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783583" y="681120"/>
            <a:ext cx="619125" cy="23948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8573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500" spc="41" dirty="0">
                <a:latin typeface="Tahoma"/>
                <a:cs typeface="Tahoma"/>
              </a:rPr>
              <a:t>Step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spc="-38" dirty="0">
                <a:latin typeface="Tahoma"/>
                <a:cs typeface="Tahoma"/>
              </a:rPr>
              <a:t>4: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416997" y="680084"/>
            <a:ext cx="4503896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dirty="0">
                <a:latin typeface="Tahoma"/>
                <a:cs typeface="Tahoma"/>
              </a:rPr>
              <a:t>Let’s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weight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our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i</a:t>
            </a:r>
            <a:r>
              <a:rPr sz="1406" spc="332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vectors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3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simply</a:t>
            </a:r>
            <a:r>
              <a:rPr sz="1500" spc="3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sum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them</a:t>
            </a:r>
            <a:r>
              <a:rPr sz="1500" spc="34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up!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316161" y="2897369"/>
            <a:ext cx="1052989" cy="2143125"/>
          </a:xfrm>
          <a:custGeom>
            <a:avLst/>
            <a:gdLst/>
            <a:ahLst/>
            <a:cxnLst/>
            <a:rect l="l" t="t" r="r" b="b"/>
            <a:pathLst>
              <a:path w="1403985" h="2857500">
                <a:moveTo>
                  <a:pt x="1403809" y="0"/>
                </a:moveTo>
                <a:lnTo>
                  <a:pt x="0" y="0"/>
                </a:lnTo>
                <a:lnTo>
                  <a:pt x="0" y="2856994"/>
                </a:lnTo>
                <a:lnTo>
                  <a:pt x="1403809" y="2856994"/>
                </a:lnTo>
                <a:lnTo>
                  <a:pt x="1403809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618256" y="968279"/>
            <a:ext cx="3647123" cy="87652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ts val="2104"/>
              </a:lnSpc>
              <a:spcBef>
                <a:spcPts val="75"/>
              </a:spcBef>
            </a:pPr>
            <a:r>
              <a:rPr sz="1763" spc="-19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744" spc="-28" baseline="-17921" dirty="0">
                <a:solidFill>
                  <a:srgbClr val="DE55B3"/>
                </a:solidFill>
                <a:latin typeface="Tahoma"/>
                <a:cs typeface="Tahoma"/>
              </a:rPr>
              <a:t>1</a:t>
            </a:r>
            <a:endParaRPr sz="1744" baseline="-17921">
              <a:latin typeface="Tahoma"/>
              <a:cs typeface="Tahoma"/>
            </a:endParaRPr>
          </a:p>
          <a:p>
            <a:pPr marL="205740" algn="ctr">
              <a:lnSpc>
                <a:spcPts val="2149"/>
              </a:lnSpc>
            </a:pPr>
            <a:r>
              <a:rPr sz="2194" baseline="1424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406" baseline="-17777" dirty="0">
                <a:solidFill>
                  <a:srgbClr val="DE55B3"/>
                </a:solidFill>
                <a:latin typeface="Tahoma"/>
                <a:cs typeface="Tahoma"/>
              </a:rPr>
              <a:t>1</a:t>
            </a:r>
            <a:r>
              <a:rPr sz="1406" spc="17" baseline="-17777" dirty="0">
                <a:solidFill>
                  <a:srgbClr val="DE55B3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r>
              <a:rPr sz="1406" spc="113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r>
              <a:rPr sz="1406" spc="107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r>
              <a:rPr sz="1406" spc="113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spc="-8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spc="-11" baseline="-17094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r>
              <a:rPr spc="-8" dirty="0">
                <a:latin typeface="Cambria Math"/>
                <a:cs typeface="Cambria Math"/>
              </a:rPr>
              <a:t>⋅</a:t>
            </a:r>
            <a:r>
              <a:rPr sz="2194" spc="-11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spc="-11" baseline="-17777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406" baseline="-17777">
              <a:latin typeface="Tahoma"/>
              <a:cs typeface="Tahoma"/>
            </a:endParaRPr>
          </a:p>
          <a:p>
            <a:pPr marL="815340" algn="ctr">
              <a:spcBef>
                <a:spcPts val="431"/>
              </a:spcBef>
            </a:pP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49" dirty="0"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0.87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r>
              <a:rPr sz="1406" spc="84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0.12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r>
              <a:rPr sz="1406" spc="84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0.01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r>
              <a:rPr sz="1406" spc="84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spc="-15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pc="-15" dirty="0">
                <a:latin typeface="Cambria Math"/>
                <a:cs typeface="Cambria Math"/>
              </a:rPr>
              <a:t>⋅</a:t>
            </a:r>
            <a:r>
              <a:rPr sz="2194" spc="-23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spc="-23" baseline="-17777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406" baseline="-17777">
              <a:latin typeface="Tahoma"/>
              <a:cs typeface="Tahoma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606546" y="1311243"/>
            <a:ext cx="262414" cy="680561"/>
            <a:chOff x="808727" y="1748323"/>
            <a:chExt cx="349885" cy="907415"/>
          </a:xfrm>
        </p:grpSpPr>
        <p:sp>
          <p:nvSpPr>
            <p:cNvPr id="98" name="object 98"/>
            <p:cNvSpPr/>
            <p:nvPr/>
          </p:nvSpPr>
          <p:spPr>
            <a:xfrm>
              <a:off x="827777" y="1767373"/>
              <a:ext cx="311785" cy="869315"/>
            </a:xfrm>
            <a:custGeom>
              <a:avLst/>
              <a:gdLst/>
              <a:ahLst/>
              <a:cxnLst/>
              <a:rect l="l" t="t" r="r" b="b"/>
              <a:pathLst>
                <a:path w="311784" h="869314">
                  <a:moveTo>
                    <a:pt x="259473" y="0"/>
                  </a:move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817055"/>
                  </a:lnTo>
                  <a:lnTo>
                    <a:pt x="307290" y="837255"/>
                  </a:lnTo>
                  <a:lnTo>
                    <a:pt x="296169" y="853751"/>
                  </a:lnTo>
                  <a:lnTo>
                    <a:pt x="279673" y="864872"/>
                  </a:lnTo>
                  <a:lnTo>
                    <a:pt x="259473" y="868951"/>
                  </a:lnTo>
                  <a:lnTo>
                    <a:pt x="51895" y="868951"/>
                  </a:lnTo>
                  <a:lnTo>
                    <a:pt x="31695" y="864872"/>
                  </a:lnTo>
                  <a:lnTo>
                    <a:pt x="15199" y="853751"/>
                  </a:lnTo>
                  <a:lnTo>
                    <a:pt x="4078" y="837255"/>
                  </a:lnTo>
                  <a:lnTo>
                    <a:pt x="0" y="817055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close/>
                </a:path>
              </a:pathLst>
            </a:custGeom>
            <a:ln w="38100">
              <a:solidFill>
                <a:srgbClr val="FF7F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82681" y="1851924"/>
              <a:ext cx="203200" cy="20320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82681" y="2098183"/>
              <a:ext cx="203200" cy="203200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82681" y="2344441"/>
              <a:ext cx="203200" cy="203200"/>
            </a:xfrm>
            <a:prstGeom prst="rect">
              <a:avLst/>
            </a:prstGeom>
          </p:spPr>
        </p:pic>
      </p:grpSp>
      <p:sp>
        <p:nvSpPr>
          <p:cNvPr id="102" name="object 102"/>
          <p:cNvSpPr txBox="1"/>
          <p:nvPr/>
        </p:nvSpPr>
        <p:spPr>
          <a:xfrm>
            <a:off x="3322049" y="3592428"/>
            <a:ext cx="974408" cy="1393234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 marL="488633">
              <a:spcBef>
                <a:spcPts val="11"/>
              </a:spcBef>
              <a:tabLst>
                <a:tab pos="821055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endParaRPr sz="1294" baseline="-144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270"/>
              </a:spcBef>
            </a:pPr>
            <a:endParaRPr sz="863">
              <a:latin typeface="Tahoma"/>
              <a:cs typeface="Tahoma"/>
            </a:endParaRPr>
          </a:p>
          <a:p>
            <a:pPr marR="553403" algn="ctr">
              <a:lnSpc>
                <a:spcPts val="2078"/>
              </a:lnSpc>
              <a:spcBef>
                <a:spcPts val="4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  <a:p>
            <a:pPr marR="578168" algn="ctr">
              <a:lnSpc>
                <a:spcPts val="1718"/>
              </a:lnSpc>
            </a:pPr>
            <a:r>
              <a:rPr sz="1500" spc="-38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3556945" y="4838700"/>
            <a:ext cx="88106" cy="15965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75" spc="-38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endParaRPr sz="975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517" y="526165"/>
            <a:ext cx="4862036" cy="61436"/>
          </a:xfrm>
          <a:custGeom>
            <a:avLst/>
            <a:gdLst/>
            <a:ahLst/>
            <a:cxnLst/>
            <a:rect l="l" t="t" r="r" b="b"/>
            <a:pathLst>
              <a:path w="6482715" h="81915">
                <a:moveTo>
                  <a:pt x="6482647" y="0"/>
                </a:moveTo>
                <a:lnTo>
                  <a:pt x="0" y="0"/>
                </a:lnTo>
                <a:lnTo>
                  <a:pt x="0" y="81537"/>
                </a:lnTo>
                <a:lnTo>
                  <a:pt x="6482647" y="81537"/>
                </a:lnTo>
                <a:lnTo>
                  <a:pt x="64826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87706" y="183260"/>
            <a:ext cx="1665923" cy="167161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58352" y="3594714"/>
            <a:ext cx="1035368" cy="1380410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 marL="549593">
              <a:spcBef>
                <a:spcPts val="11"/>
              </a:spcBef>
              <a:tabLst>
                <a:tab pos="882015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270"/>
              </a:spcBef>
            </a:pPr>
            <a:endParaRPr sz="863">
              <a:latin typeface="Tahoma"/>
              <a:cs typeface="Tahoma"/>
            </a:endParaRPr>
          </a:p>
          <a:p>
            <a:pPr marR="394811" algn="ctr">
              <a:lnSpc>
                <a:spcPts val="2033"/>
              </a:lnSpc>
              <a:spcBef>
                <a:spcPts val="4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  <a:p>
            <a:pPr marR="413385" algn="ctr">
              <a:lnSpc>
                <a:spcPts val="167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endParaRPr sz="1463" baseline="-17094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5623" y="2918759"/>
            <a:ext cx="1200150" cy="1554956"/>
            <a:chOff x="607497" y="3891678"/>
            <a:chExt cx="1600200" cy="2073275"/>
          </a:xfrm>
        </p:grpSpPr>
        <p:sp>
          <p:nvSpPr>
            <p:cNvPr id="6" name="object 6"/>
            <p:cNvSpPr/>
            <p:nvPr/>
          </p:nvSpPr>
          <p:spPr>
            <a:xfrm>
              <a:off x="607497" y="5397119"/>
              <a:ext cx="329565" cy="567690"/>
            </a:xfrm>
            <a:custGeom>
              <a:avLst/>
              <a:gdLst/>
              <a:ahLst/>
              <a:cxnLst/>
              <a:rect l="l" t="t" r="r" b="b"/>
              <a:pathLst>
                <a:path w="329565" h="567689">
                  <a:moveTo>
                    <a:pt x="164741" y="0"/>
                  </a:moveTo>
                  <a:lnTo>
                    <a:pt x="0" y="229395"/>
                  </a:lnTo>
                  <a:lnTo>
                    <a:pt x="119315" y="229395"/>
                  </a:lnTo>
                  <a:lnTo>
                    <a:pt x="119315" y="567437"/>
                  </a:lnTo>
                  <a:lnTo>
                    <a:pt x="210167" y="567437"/>
                  </a:lnTo>
                  <a:lnTo>
                    <a:pt x="210167" y="229395"/>
                  </a:lnTo>
                  <a:lnTo>
                    <a:pt x="329482" y="229395"/>
                  </a:lnTo>
                  <a:lnTo>
                    <a:pt x="16474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2888" y="39139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980915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734656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488397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630" y="4236529"/>
              <a:ext cx="222250" cy="222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915" y="3978532"/>
              <a:ext cx="222250" cy="2222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94892" y="391396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159" y="4497922"/>
              <a:ext cx="203199" cy="203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8159" y="4246053"/>
              <a:ext cx="203199" cy="203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0443" y="3988056"/>
              <a:ext cx="203200" cy="2032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82035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5301" y="4494685"/>
              <a:ext cx="203200" cy="203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5301" y="4242816"/>
              <a:ext cx="203200" cy="203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7586" y="3984820"/>
              <a:ext cx="203199" cy="2032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876708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29974" y="4494685"/>
              <a:ext cx="203200" cy="203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9974" y="4242816"/>
              <a:ext cx="203200" cy="2032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32259" y="3984820"/>
              <a:ext cx="203200" cy="203200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1939598" y="2924689"/>
            <a:ext cx="891540" cy="1524476"/>
            <a:chOff x="2586130" y="3899585"/>
            <a:chExt cx="1188720" cy="2032635"/>
          </a:xfrm>
        </p:grpSpPr>
        <p:sp>
          <p:nvSpPr>
            <p:cNvPr id="26" name="object 26"/>
            <p:cNvSpPr/>
            <p:nvPr/>
          </p:nvSpPr>
          <p:spPr>
            <a:xfrm>
              <a:off x="2619984" y="5364676"/>
              <a:ext cx="329565" cy="567690"/>
            </a:xfrm>
            <a:custGeom>
              <a:avLst/>
              <a:gdLst/>
              <a:ahLst/>
              <a:cxnLst/>
              <a:rect l="l" t="t" r="r" b="b"/>
              <a:pathLst>
                <a:path w="329564" h="567689">
                  <a:moveTo>
                    <a:pt x="164741" y="0"/>
                  </a:moveTo>
                  <a:lnTo>
                    <a:pt x="0" y="229395"/>
                  </a:lnTo>
                  <a:lnTo>
                    <a:pt x="119315" y="229395"/>
                  </a:lnTo>
                  <a:lnTo>
                    <a:pt x="119315" y="567436"/>
                  </a:lnTo>
                  <a:lnTo>
                    <a:pt x="210167" y="567436"/>
                  </a:lnTo>
                  <a:lnTo>
                    <a:pt x="210167" y="229395"/>
                  </a:lnTo>
                  <a:lnTo>
                    <a:pt x="329482" y="229395"/>
                  </a:lnTo>
                  <a:lnTo>
                    <a:pt x="16474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05180" y="3921872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988822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742563"/>
              <a:ext cx="222250" cy="2222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496305"/>
              <a:ext cx="222250" cy="2222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244435"/>
              <a:ext cx="222250" cy="2222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206" y="3986439"/>
              <a:ext cx="222250" cy="22225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057184" y="3921872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0" y="4505829"/>
              <a:ext cx="203200" cy="2032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0" y="4253960"/>
              <a:ext cx="203200" cy="2032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2734" y="3995963"/>
              <a:ext cx="203200" cy="2032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444327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7593" y="4502591"/>
              <a:ext cx="203200" cy="2032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7593" y="4250722"/>
              <a:ext cx="203200" cy="2032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9877" y="3992726"/>
              <a:ext cx="203200" cy="203200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2864963" y="2924689"/>
            <a:ext cx="262414" cy="651510"/>
            <a:chOff x="3819950" y="3899585"/>
            <a:chExt cx="349885" cy="868680"/>
          </a:xfrm>
        </p:grpSpPr>
        <p:sp>
          <p:nvSpPr>
            <p:cNvPr id="42" name="object 42"/>
            <p:cNvSpPr/>
            <p:nvPr/>
          </p:nvSpPr>
          <p:spPr>
            <a:xfrm>
              <a:off x="3839000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92266" y="4502591"/>
              <a:ext cx="203200" cy="2032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2266" y="4250722"/>
              <a:ext cx="203200" cy="2032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94551" y="3992726"/>
              <a:ext cx="203200" cy="203200"/>
            </a:xfrm>
            <a:prstGeom prst="rect">
              <a:avLst/>
            </a:prstGeom>
          </p:spPr>
        </p:pic>
      </p:grpSp>
      <p:grpSp>
        <p:nvGrpSpPr>
          <p:cNvPr id="46" name="object 46"/>
          <p:cNvGrpSpPr/>
          <p:nvPr/>
        </p:nvGrpSpPr>
        <p:grpSpPr>
          <a:xfrm>
            <a:off x="3417407" y="2916329"/>
            <a:ext cx="2661284" cy="1533048"/>
            <a:chOff x="4556542" y="3888439"/>
            <a:chExt cx="3548379" cy="2044064"/>
          </a:xfrm>
        </p:grpSpPr>
        <p:sp>
          <p:nvSpPr>
            <p:cNvPr id="47" name="object 47"/>
            <p:cNvSpPr/>
            <p:nvPr/>
          </p:nvSpPr>
          <p:spPr>
            <a:xfrm>
              <a:off x="4575581" y="5350103"/>
              <a:ext cx="2294255" cy="582295"/>
            </a:xfrm>
            <a:custGeom>
              <a:avLst/>
              <a:gdLst/>
              <a:ahLst/>
              <a:cxnLst/>
              <a:rect l="l" t="t" r="r" b="b"/>
              <a:pathLst>
                <a:path w="2294254" h="582295">
                  <a:moveTo>
                    <a:pt x="329488" y="229387"/>
                  </a:moveTo>
                  <a:lnTo>
                    <a:pt x="164744" y="0"/>
                  </a:lnTo>
                  <a:lnTo>
                    <a:pt x="0" y="229387"/>
                  </a:lnTo>
                  <a:lnTo>
                    <a:pt x="119316" y="229387"/>
                  </a:lnTo>
                  <a:lnTo>
                    <a:pt x="119316" y="567436"/>
                  </a:lnTo>
                  <a:lnTo>
                    <a:pt x="210172" y="567436"/>
                  </a:lnTo>
                  <a:lnTo>
                    <a:pt x="210172" y="229387"/>
                  </a:lnTo>
                  <a:lnTo>
                    <a:pt x="329488" y="229387"/>
                  </a:lnTo>
                  <a:close/>
                </a:path>
                <a:path w="2294254" h="582295">
                  <a:moveTo>
                    <a:pt x="2294204" y="243979"/>
                  </a:moveTo>
                  <a:lnTo>
                    <a:pt x="2129472" y="14579"/>
                  </a:lnTo>
                  <a:lnTo>
                    <a:pt x="1964728" y="243979"/>
                  </a:lnTo>
                  <a:lnTo>
                    <a:pt x="2084044" y="243979"/>
                  </a:lnTo>
                  <a:lnTo>
                    <a:pt x="2084044" y="582015"/>
                  </a:lnTo>
                  <a:lnTo>
                    <a:pt x="2174887" y="582015"/>
                  </a:lnTo>
                  <a:lnTo>
                    <a:pt x="2174887" y="243979"/>
                  </a:lnTo>
                  <a:lnTo>
                    <a:pt x="2294204" y="243979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575592" y="391863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985584"/>
              <a:ext cx="222250" cy="22225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739326"/>
              <a:ext cx="222250" cy="22225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493066"/>
              <a:ext cx="222250" cy="22225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335" y="4241198"/>
              <a:ext cx="222250" cy="22225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620" y="3983201"/>
              <a:ext cx="222250" cy="22225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027597" y="3918634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0863" y="4502590"/>
              <a:ext cx="203200" cy="2032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0863" y="4250721"/>
              <a:ext cx="203200" cy="2032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3148" y="3992726"/>
              <a:ext cx="203200" cy="20320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5414740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8006" y="4499353"/>
              <a:ext cx="203200" cy="2032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68006" y="4247484"/>
              <a:ext cx="203200" cy="2032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70291" y="3989489"/>
              <a:ext cx="203200" cy="203200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5809413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2679" y="4499353"/>
              <a:ext cx="203200" cy="2032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62679" y="4247484"/>
              <a:ext cx="203200" cy="20320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4964" y="3989489"/>
              <a:ext cx="203200" cy="2032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540313" y="3910727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977677"/>
              <a:ext cx="222250" cy="22225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731417"/>
              <a:ext cx="222250" cy="22225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055" y="4485158"/>
              <a:ext cx="222250" cy="22225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233289"/>
              <a:ext cx="222250" cy="22225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6340" y="3975294"/>
              <a:ext cx="222250" cy="22225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6992317" y="3910727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5584" y="4494682"/>
              <a:ext cx="203200" cy="203200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5584" y="4242813"/>
              <a:ext cx="203200" cy="203200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7867" y="3984818"/>
              <a:ext cx="203200" cy="203200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7379460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7" y="4491446"/>
              <a:ext cx="203200" cy="203198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7" y="4239577"/>
              <a:ext cx="203200" cy="20320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35010" y="3981580"/>
              <a:ext cx="203200" cy="203200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7774133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491446"/>
              <a:ext cx="203200" cy="203198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239577"/>
              <a:ext cx="203200" cy="20320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29683" y="3981580"/>
              <a:ext cx="203200" cy="203200"/>
            </a:xfrm>
            <a:prstGeom prst="rect">
              <a:avLst/>
            </a:prstGeom>
          </p:spPr>
        </p:pic>
      </p:grpSp>
      <p:sp>
        <p:nvSpPr>
          <p:cNvPr id="84" name="object 84"/>
          <p:cNvSpPr txBox="1"/>
          <p:nvPr/>
        </p:nvSpPr>
        <p:spPr>
          <a:xfrm>
            <a:off x="289571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40662" y="3594714"/>
            <a:ext cx="980599" cy="1418882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 marL="494824">
              <a:spcBef>
                <a:spcPts val="11"/>
              </a:spcBef>
              <a:tabLst>
                <a:tab pos="827246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450"/>
              </a:spcBef>
            </a:pPr>
            <a:endParaRPr sz="863">
              <a:latin typeface="Tahoma"/>
              <a:cs typeface="Tahoma"/>
            </a:endParaRPr>
          </a:p>
          <a:p>
            <a:pPr>
              <a:lnSpc>
                <a:spcPts val="2059"/>
              </a:lnSpc>
              <a:spcBef>
                <a:spcPts val="4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  <a:p>
            <a:pPr marL="133350">
              <a:lnSpc>
                <a:spcPts val="1699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42327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427093" y="3585570"/>
            <a:ext cx="149543" cy="203486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>
              <a:spcBef>
                <a:spcPts val="11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867461" y="3585570"/>
            <a:ext cx="899636" cy="1393234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 marL="413861">
              <a:spcBef>
                <a:spcPts val="11"/>
              </a:spcBef>
              <a:tabLst>
                <a:tab pos="746283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4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endParaRPr sz="1294" baseline="-144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488"/>
              </a:spcBef>
            </a:pPr>
            <a:endParaRPr sz="863">
              <a:latin typeface="Tahoma"/>
              <a:cs typeface="Tahoma"/>
            </a:endParaRPr>
          </a:p>
          <a:p>
            <a:pPr>
              <a:lnSpc>
                <a:spcPts val="2002"/>
              </a:lnSpc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  <a:p>
            <a:pPr marL="112395">
              <a:lnSpc>
                <a:spcPts val="164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897801" y="3578712"/>
            <a:ext cx="149543" cy="203486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>
              <a:spcBef>
                <a:spcPts val="11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1717625" y="2905916"/>
            <a:ext cx="1113949" cy="2143125"/>
          </a:xfrm>
          <a:custGeom>
            <a:avLst/>
            <a:gdLst/>
            <a:ahLst/>
            <a:cxnLst/>
            <a:rect l="l" t="t" r="r" b="b"/>
            <a:pathLst>
              <a:path w="1485264" h="2857500">
                <a:moveTo>
                  <a:pt x="1484820" y="0"/>
                </a:moveTo>
                <a:lnTo>
                  <a:pt x="0" y="0"/>
                </a:lnTo>
                <a:lnTo>
                  <a:pt x="0" y="2856994"/>
                </a:lnTo>
                <a:lnTo>
                  <a:pt x="1484820" y="2856994"/>
                </a:lnTo>
                <a:lnTo>
                  <a:pt x="1484820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783583" y="681120"/>
            <a:ext cx="619125" cy="23948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8573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500" spc="41" dirty="0">
                <a:latin typeface="Tahoma"/>
                <a:cs typeface="Tahoma"/>
              </a:rPr>
              <a:t>Step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spc="-38" dirty="0">
                <a:latin typeface="Tahoma"/>
                <a:cs typeface="Tahoma"/>
              </a:rPr>
              <a:t>5: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316161" y="2897369"/>
            <a:ext cx="1052989" cy="2143125"/>
          </a:xfrm>
          <a:custGeom>
            <a:avLst/>
            <a:gdLst/>
            <a:ahLst/>
            <a:cxnLst/>
            <a:rect l="l" t="t" r="r" b="b"/>
            <a:pathLst>
              <a:path w="1403985" h="2857500">
                <a:moveTo>
                  <a:pt x="1403809" y="0"/>
                </a:moveTo>
                <a:lnTo>
                  <a:pt x="0" y="0"/>
                </a:lnTo>
                <a:lnTo>
                  <a:pt x="0" y="2856994"/>
                </a:lnTo>
                <a:lnTo>
                  <a:pt x="1403809" y="2856994"/>
                </a:lnTo>
                <a:lnTo>
                  <a:pt x="1403809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3" name="object 93"/>
          <p:cNvGrpSpPr/>
          <p:nvPr/>
        </p:nvGrpSpPr>
        <p:grpSpPr>
          <a:xfrm>
            <a:off x="3192948" y="2697426"/>
            <a:ext cx="2947988" cy="2321719"/>
            <a:chOff x="4257264" y="3596567"/>
            <a:chExt cx="3930650" cy="3095625"/>
          </a:xfrm>
        </p:grpSpPr>
        <p:sp>
          <p:nvSpPr>
            <p:cNvPr id="94" name="object 94"/>
            <p:cNvSpPr/>
            <p:nvPr/>
          </p:nvSpPr>
          <p:spPr>
            <a:xfrm>
              <a:off x="4257256" y="3680942"/>
              <a:ext cx="3515360" cy="3011170"/>
            </a:xfrm>
            <a:custGeom>
              <a:avLst/>
              <a:gdLst/>
              <a:ahLst/>
              <a:cxnLst/>
              <a:rect l="l" t="t" r="r" b="b"/>
              <a:pathLst>
                <a:path w="3515359" h="3011170">
                  <a:moveTo>
                    <a:pt x="1501228" y="0"/>
                  </a:moveTo>
                  <a:lnTo>
                    <a:pt x="0" y="0"/>
                  </a:lnTo>
                  <a:lnTo>
                    <a:pt x="0" y="2856992"/>
                  </a:lnTo>
                  <a:lnTo>
                    <a:pt x="1501228" y="2856992"/>
                  </a:lnTo>
                  <a:lnTo>
                    <a:pt x="1501228" y="0"/>
                  </a:lnTo>
                  <a:close/>
                </a:path>
                <a:path w="3515359" h="3011170">
                  <a:moveTo>
                    <a:pt x="3515029" y="153885"/>
                  </a:moveTo>
                  <a:lnTo>
                    <a:pt x="1959991" y="153885"/>
                  </a:lnTo>
                  <a:lnTo>
                    <a:pt x="1959991" y="3010878"/>
                  </a:lnTo>
                  <a:lnTo>
                    <a:pt x="3515029" y="3010878"/>
                  </a:lnTo>
                  <a:lnTo>
                    <a:pt x="3515029" y="153885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765788" y="3596567"/>
              <a:ext cx="472440" cy="2857500"/>
            </a:xfrm>
            <a:custGeom>
              <a:avLst/>
              <a:gdLst/>
              <a:ahLst/>
              <a:cxnLst/>
              <a:rect l="l" t="t" r="r" b="b"/>
              <a:pathLst>
                <a:path w="472439" h="2857500">
                  <a:moveTo>
                    <a:pt x="472260" y="0"/>
                  </a:moveTo>
                  <a:lnTo>
                    <a:pt x="0" y="0"/>
                  </a:lnTo>
                  <a:lnTo>
                    <a:pt x="0" y="2856995"/>
                  </a:lnTo>
                  <a:lnTo>
                    <a:pt x="472260" y="2856995"/>
                  </a:lnTo>
                  <a:lnTo>
                    <a:pt x="472260" y="0"/>
                  </a:lnTo>
                  <a:close/>
                </a:path>
              </a:pathLst>
            </a:custGeom>
            <a:solidFill>
              <a:srgbClr val="FFFFFF">
                <a:alpha val="5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715327" y="3647606"/>
              <a:ext cx="472440" cy="2857500"/>
            </a:xfrm>
            <a:custGeom>
              <a:avLst/>
              <a:gdLst/>
              <a:ahLst/>
              <a:cxnLst/>
              <a:rect l="l" t="t" r="r" b="b"/>
              <a:pathLst>
                <a:path w="472440" h="2857500">
                  <a:moveTo>
                    <a:pt x="472260" y="0"/>
                  </a:moveTo>
                  <a:lnTo>
                    <a:pt x="0" y="0"/>
                  </a:lnTo>
                  <a:lnTo>
                    <a:pt x="0" y="2856995"/>
                  </a:lnTo>
                  <a:lnTo>
                    <a:pt x="472260" y="2856995"/>
                  </a:lnTo>
                  <a:lnTo>
                    <a:pt x="472260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1416996" y="629430"/>
            <a:ext cx="6986588" cy="1223861"/>
          </a:xfrm>
          <a:prstGeom prst="rect">
            <a:avLst/>
          </a:prstGeom>
        </p:spPr>
        <p:txBody>
          <a:bodyPr vert="horz" wrap="square" lIns="0" tIns="60008" rIns="0" bIns="0" rtlCol="0">
            <a:spAutoFit/>
          </a:bodyPr>
          <a:lstStyle/>
          <a:p>
            <a:pPr marL="28575">
              <a:spcBef>
                <a:spcPts val="472"/>
              </a:spcBef>
            </a:pPr>
            <a:r>
              <a:rPr sz="1500" dirty="0">
                <a:latin typeface="Tahoma"/>
                <a:cs typeface="Tahoma"/>
              </a:rPr>
              <a:t>We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repeat</a:t>
            </a:r>
            <a:r>
              <a:rPr sz="1500" spc="2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this</a:t>
            </a:r>
            <a:r>
              <a:rPr sz="1500" spc="23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2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all</a:t>
            </a:r>
            <a:r>
              <a:rPr sz="1500" spc="2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other</a:t>
            </a:r>
            <a:r>
              <a:rPr sz="1500" spc="2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words,</a:t>
            </a:r>
            <a:r>
              <a:rPr sz="1500" spc="23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yielding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us</a:t>
            </a:r>
            <a:r>
              <a:rPr sz="1500" spc="2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great,</a:t>
            </a:r>
            <a:r>
              <a:rPr sz="1500" spc="23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new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406" baseline="-17777" dirty="0">
                <a:solidFill>
                  <a:srgbClr val="DE55B3"/>
                </a:solidFill>
                <a:latin typeface="Tahoma"/>
                <a:cs typeface="Tahoma"/>
              </a:rPr>
              <a:t>i</a:t>
            </a:r>
            <a:r>
              <a:rPr sz="1406" spc="326" baseline="-17777" dirty="0">
                <a:solidFill>
                  <a:srgbClr val="DE55B3"/>
                </a:solidFill>
                <a:latin typeface="Tahoma"/>
                <a:cs typeface="Tahoma"/>
              </a:rPr>
              <a:t> </a:t>
            </a:r>
            <a:r>
              <a:rPr sz="1500" spc="-8" dirty="0">
                <a:latin typeface="Tahoma"/>
                <a:cs typeface="Tahoma"/>
              </a:rPr>
              <a:t>representations!</a:t>
            </a:r>
            <a:endParaRPr sz="1500">
              <a:latin typeface="Tahoma"/>
              <a:cs typeface="Tahoma"/>
            </a:endParaRPr>
          </a:p>
          <a:p>
            <a:pPr marL="1041559">
              <a:spcBef>
                <a:spcPts val="472"/>
              </a:spcBef>
            </a:pPr>
            <a:r>
              <a:rPr sz="1763" spc="-19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744" spc="-28" baseline="-17921" dirty="0">
                <a:solidFill>
                  <a:srgbClr val="DE55B3"/>
                </a:solidFill>
                <a:latin typeface="Tahoma"/>
                <a:cs typeface="Tahoma"/>
              </a:rPr>
              <a:t>2</a:t>
            </a:r>
            <a:endParaRPr sz="1744" baseline="-17921">
              <a:latin typeface="Tahoma"/>
              <a:cs typeface="Tahoma"/>
            </a:endParaRPr>
          </a:p>
          <a:p>
            <a:pPr>
              <a:spcBef>
                <a:spcPts val="1091"/>
              </a:spcBef>
            </a:pPr>
            <a:endParaRPr sz="1163">
              <a:latin typeface="Tahoma"/>
              <a:cs typeface="Tahoma"/>
            </a:endParaRPr>
          </a:p>
          <a:p>
            <a:pPr marR="376238" algn="ctr"/>
            <a:r>
              <a:rPr sz="2194" baseline="1424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406" baseline="-17777" dirty="0">
                <a:solidFill>
                  <a:srgbClr val="DE55B3"/>
                </a:solidFill>
                <a:latin typeface="Tahoma"/>
                <a:cs typeface="Tahoma"/>
              </a:rPr>
              <a:t>2</a:t>
            </a:r>
            <a:r>
              <a:rPr sz="1406" spc="17" baseline="-17777" dirty="0">
                <a:solidFill>
                  <a:srgbClr val="DE55B3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r>
              <a:rPr sz="1406" spc="113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r>
              <a:rPr sz="1406" spc="107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r>
              <a:rPr sz="1406" spc="113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spc="-8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spc="-11" baseline="-17094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r>
              <a:rPr spc="-8" dirty="0">
                <a:latin typeface="Cambria Math"/>
                <a:cs typeface="Cambria Math"/>
              </a:rPr>
              <a:t>⋅</a:t>
            </a:r>
            <a:r>
              <a:rPr sz="2194" spc="-11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spc="-11" baseline="-17777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406" baseline="-17777">
              <a:latin typeface="Tahoma"/>
              <a:cs typeface="Tahoma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1375179" y="2793557"/>
            <a:ext cx="354330" cy="2143125"/>
          </a:xfrm>
          <a:custGeom>
            <a:avLst/>
            <a:gdLst/>
            <a:ahLst/>
            <a:cxnLst/>
            <a:rect l="l" t="t" r="r" b="b"/>
            <a:pathLst>
              <a:path w="472439" h="2857500">
                <a:moveTo>
                  <a:pt x="472260" y="0"/>
                </a:moveTo>
                <a:lnTo>
                  <a:pt x="0" y="0"/>
                </a:lnTo>
                <a:lnTo>
                  <a:pt x="0" y="2856995"/>
                </a:lnTo>
                <a:lnTo>
                  <a:pt x="472260" y="2856995"/>
                </a:lnTo>
                <a:lnTo>
                  <a:pt x="472260" y="0"/>
                </a:lnTo>
                <a:close/>
              </a:path>
            </a:pathLst>
          </a:custGeom>
          <a:solidFill>
            <a:srgbClr val="FFFFFF">
              <a:alpha val="4117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9" name="object 99"/>
          <p:cNvGrpSpPr/>
          <p:nvPr/>
        </p:nvGrpSpPr>
        <p:grpSpPr>
          <a:xfrm>
            <a:off x="2409990" y="1328396"/>
            <a:ext cx="262414" cy="680561"/>
            <a:chOff x="3213319" y="1771194"/>
            <a:chExt cx="349885" cy="907415"/>
          </a:xfrm>
        </p:grpSpPr>
        <p:sp>
          <p:nvSpPr>
            <p:cNvPr id="100" name="object 100"/>
            <p:cNvSpPr/>
            <p:nvPr/>
          </p:nvSpPr>
          <p:spPr>
            <a:xfrm>
              <a:off x="3232369" y="1790244"/>
              <a:ext cx="311785" cy="869315"/>
            </a:xfrm>
            <a:custGeom>
              <a:avLst/>
              <a:gdLst/>
              <a:ahLst/>
              <a:cxnLst/>
              <a:rect l="l" t="t" r="r" b="b"/>
              <a:pathLst>
                <a:path w="311785" h="869314">
                  <a:moveTo>
                    <a:pt x="259473" y="0"/>
                  </a:move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817055"/>
                  </a:lnTo>
                  <a:lnTo>
                    <a:pt x="307290" y="837255"/>
                  </a:lnTo>
                  <a:lnTo>
                    <a:pt x="296169" y="853751"/>
                  </a:lnTo>
                  <a:lnTo>
                    <a:pt x="279673" y="864872"/>
                  </a:lnTo>
                  <a:lnTo>
                    <a:pt x="259473" y="868951"/>
                  </a:lnTo>
                  <a:lnTo>
                    <a:pt x="51895" y="868951"/>
                  </a:lnTo>
                  <a:lnTo>
                    <a:pt x="31695" y="864872"/>
                  </a:lnTo>
                  <a:lnTo>
                    <a:pt x="15199" y="853751"/>
                  </a:lnTo>
                  <a:lnTo>
                    <a:pt x="4078" y="837255"/>
                  </a:lnTo>
                  <a:lnTo>
                    <a:pt x="0" y="817055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close/>
                </a:path>
              </a:pathLst>
            </a:custGeom>
            <a:ln w="38100">
              <a:solidFill>
                <a:srgbClr val="FF7F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87271" y="1874794"/>
              <a:ext cx="203200" cy="203200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287271" y="2121052"/>
              <a:ext cx="203200" cy="203200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287271" y="2367311"/>
              <a:ext cx="203200" cy="203200"/>
            </a:xfrm>
            <a:prstGeom prst="rect">
              <a:avLst/>
            </a:prstGeom>
          </p:spPr>
        </p:pic>
      </p:grpSp>
      <p:sp>
        <p:nvSpPr>
          <p:cNvPr id="104" name="object 104"/>
          <p:cNvSpPr txBox="1"/>
          <p:nvPr/>
        </p:nvSpPr>
        <p:spPr>
          <a:xfrm>
            <a:off x="3322049" y="3592428"/>
            <a:ext cx="974408" cy="1393234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 marL="488633">
              <a:spcBef>
                <a:spcPts val="11"/>
              </a:spcBef>
              <a:tabLst>
                <a:tab pos="821055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endParaRPr sz="1294" baseline="-144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270"/>
              </a:spcBef>
            </a:pPr>
            <a:endParaRPr sz="863">
              <a:latin typeface="Tahoma"/>
              <a:cs typeface="Tahoma"/>
            </a:endParaRPr>
          </a:p>
          <a:p>
            <a:pPr marR="553403" algn="ctr">
              <a:lnSpc>
                <a:spcPts val="2078"/>
              </a:lnSpc>
              <a:spcBef>
                <a:spcPts val="4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  <a:p>
            <a:pPr marR="578168" algn="ctr">
              <a:lnSpc>
                <a:spcPts val="1718"/>
              </a:lnSpc>
            </a:pPr>
            <a:r>
              <a:rPr sz="1500" spc="-38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3556945" y="4838700"/>
            <a:ext cx="88106" cy="15965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75" spc="-38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endParaRPr sz="975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517" y="526165"/>
            <a:ext cx="4862036" cy="61436"/>
          </a:xfrm>
          <a:custGeom>
            <a:avLst/>
            <a:gdLst/>
            <a:ahLst/>
            <a:cxnLst/>
            <a:rect l="l" t="t" r="r" b="b"/>
            <a:pathLst>
              <a:path w="6482715" h="81915">
                <a:moveTo>
                  <a:pt x="6482647" y="0"/>
                </a:moveTo>
                <a:lnTo>
                  <a:pt x="0" y="0"/>
                </a:lnTo>
                <a:lnTo>
                  <a:pt x="0" y="81537"/>
                </a:lnTo>
                <a:lnTo>
                  <a:pt x="6482647" y="81537"/>
                </a:lnTo>
                <a:lnTo>
                  <a:pt x="64826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87706" y="183260"/>
            <a:ext cx="1665923" cy="167161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58352" y="3594714"/>
            <a:ext cx="1035368" cy="1380410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 marL="549593">
              <a:spcBef>
                <a:spcPts val="11"/>
              </a:spcBef>
              <a:tabLst>
                <a:tab pos="882015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270"/>
              </a:spcBef>
            </a:pPr>
            <a:endParaRPr sz="863">
              <a:latin typeface="Tahoma"/>
              <a:cs typeface="Tahoma"/>
            </a:endParaRPr>
          </a:p>
          <a:p>
            <a:pPr marR="394811" algn="ctr">
              <a:lnSpc>
                <a:spcPts val="2033"/>
              </a:lnSpc>
              <a:spcBef>
                <a:spcPts val="4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  <a:p>
            <a:pPr marR="413385" algn="ctr">
              <a:lnSpc>
                <a:spcPts val="167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endParaRPr sz="1463" baseline="-17094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5623" y="2918759"/>
            <a:ext cx="1200150" cy="1554956"/>
            <a:chOff x="607497" y="3891678"/>
            <a:chExt cx="1600200" cy="2073275"/>
          </a:xfrm>
        </p:grpSpPr>
        <p:sp>
          <p:nvSpPr>
            <p:cNvPr id="6" name="object 6"/>
            <p:cNvSpPr/>
            <p:nvPr/>
          </p:nvSpPr>
          <p:spPr>
            <a:xfrm>
              <a:off x="607497" y="5397119"/>
              <a:ext cx="329565" cy="567690"/>
            </a:xfrm>
            <a:custGeom>
              <a:avLst/>
              <a:gdLst/>
              <a:ahLst/>
              <a:cxnLst/>
              <a:rect l="l" t="t" r="r" b="b"/>
              <a:pathLst>
                <a:path w="329565" h="567689">
                  <a:moveTo>
                    <a:pt x="164741" y="0"/>
                  </a:moveTo>
                  <a:lnTo>
                    <a:pt x="0" y="229395"/>
                  </a:lnTo>
                  <a:lnTo>
                    <a:pt x="119315" y="229395"/>
                  </a:lnTo>
                  <a:lnTo>
                    <a:pt x="119315" y="567437"/>
                  </a:lnTo>
                  <a:lnTo>
                    <a:pt x="210167" y="567437"/>
                  </a:lnTo>
                  <a:lnTo>
                    <a:pt x="210167" y="229395"/>
                  </a:lnTo>
                  <a:lnTo>
                    <a:pt x="329482" y="229395"/>
                  </a:lnTo>
                  <a:lnTo>
                    <a:pt x="16474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2888" y="39139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980915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734656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488397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630" y="4236529"/>
              <a:ext cx="222250" cy="222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915" y="3978532"/>
              <a:ext cx="222250" cy="2222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94892" y="391396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159" y="4497922"/>
              <a:ext cx="203199" cy="203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8159" y="4246053"/>
              <a:ext cx="203199" cy="203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0443" y="3988056"/>
              <a:ext cx="203200" cy="2032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82035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5301" y="4494685"/>
              <a:ext cx="203200" cy="203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5301" y="4242816"/>
              <a:ext cx="203200" cy="203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7586" y="3984820"/>
              <a:ext cx="203199" cy="2032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876708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29974" y="4494685"/>
              <a:ext cx="203200" cy="203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9974" y="4242816"/>
              <a:ext cx="203200" cy="2032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32259" y="3984820"/>
              <a:ext cx="203200" cy="203200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1939598" y="2922261"/>
            <a:ext cx="2665571" cy="1526858"/>
            <a:chOff x="2586130" y="3896348"/>
            <a:chExt cx="3554095" cy="2035810"/>
          </a:xfrm>
        </p:grpSpPr>
        <p:sp>
          <p:nvSpPr>
            <p:cNvPr id="26" name="object 26"/>
            <p:cNvSpPr/>
            <p:nvPr/>
          </p:nvSpPr>
          <p:spPr>
            <a:xfrm>
              <a:off x="2619984" y="5350103"/>
              <a:ext cx="2285365" cy="582295"/>
            </a:xfrm>
            <a:custGeom>
              <a:avLst/>
              <a:gdLst/>
              <a:ahLst/>
              <a:cxnLst/>
              <a:rect l="l" t="t" r="r" b="b"/>
              <a:pathLst>
                <a:path w="2285365" h="582295">
                  <a:moveTo>
                    <a:pt x="329476" y="243979"/>
                  </a:moveTo>
                  <a:lnTo>
                    <a:pt x="164731" y="14579"/>
                  </a:lnTo>
                  <a:lnTo>
                    <a:pt x="0" y="243979"/>
                  </a:lnTo>
                  <a:lnTo>
                    <a:pt x="119303" y="243979"/>
                  </a:lnTo>
                  <a:lnTo>
                    <a:pt x="119303" y="582015"/>
                  </a:lnTo>
                  <a:lnTo>
                    <a:pt x="210159" y="582015"/>
                  </a:lnTo>
                  <a:lnTo>
                    <a:pt x="210159" y="243979"/>
                  </a:lnTo>
                  <a:lnTo>
                    <a:pt x="329476" y="243979"/>
                  </a:lnTo>
                  <a:close/>
                </a:path>
                <a:path w="2285365" h="582295">
                  <a:moveTo>
                    <a:pt x="2285085" y="229387"/>
                  </a:moveTo>
                  <a:lnTo>
                    <a:pt x="2120341" y="0"/>
                  </a:lnTo>
                  <a:lnTo>
                    <a:pt x="1955596" y="229387"/>
                  </a:lnTo>
                  <a:lnTo>
                    <a:pt x="2074913" y="229387"/>
                  </a:lnTo>
                  <a:lnTo>
                    <a:pt x="2074913" y="567436"/>
                  </a:lnTo>
                  <a:lnTo>
                    <a:pt x="2165769" y="567436"/>
                  </a:lnTo>
                  <a:lnTo>
                    <a:pt x="2165769" y="229387"/>
                  </a:lnTo>
                  <a:lnTo>
                    <a:pt x="2285085" y="22938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05180" y="3921873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988823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742563"/>
              <a:ext cx="222250" cy="2222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496305"/>
              <a:ext cx="222250" cy="2222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244435"/>
              <a:ext cx="222250" cy="2222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206" y="3986439"/>
              <a:ext cx="222250" cy="22225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057184" y="3921872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0" y="4505829"/>
              <a:ext cx="203200" cy="2032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0" y="4253960"/>
              <a:ext cx="203200" cy="2032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2734" y="3995963"/>
              <a:ext cx="203200" cy="2032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444327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7593" y="4502592"/>
              <a:ext cx="203200" cy="2032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7593" y="4250723"/>
              <a:ext cx="203200" cy="2032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9877" y="3992726"/>
              <a:ext cx="203200" cy="2032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839000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92266" y="4502592"/>
              <a:ext cx="203200" cy="2032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2266" y="4250723"/>
              <a:ext cx="203200" cy="2032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94551" y="3992726"/>
              <a:ext cx="203200" cy="2032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575592" y="391863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985584"/>
              <a:ext cx="222250" cy="22225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739326"/>
              <a:ext cx="222250" cy="22225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493067"/>
              <a:ext cx="222250" cy="22225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335" y="4241198"/>
              <a:ext cx="222250" cy="22225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620" y="3983201"/>
              <a:ext cx="222250" cy="22225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027597" y="3918634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0863" y="4502590"/>
              <a:ext cx="203200" cy="2032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0863" y="4250721"/>
              <a:ext cx="203200" cy="2032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3148" y="3992726"/>
              <a:ext cx="203200" cy="20320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5414740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8006" y="4499353"/>
              <a:ext cx="203200" cy="2032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68006" y="4247484"/>
              <a:ext cx="203200" cy="2032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70291" y="3989489"/>
              <a:ext cx="203200" cy="20320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5809413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2679" y="4499353"/>
              <a:ext cx="203200" cy="2032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62679" y="4247484"/>
              <a:ext cx="203200" cy="2032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4964" y="3989489"/>
              <a:ext cx="203200" cy="203200"/>
            </a:xfrm>
            <a:prstGeom prst="rect">
              <a:avLst/>
            </a:prstGeom>
          </p:spPr>
        </p:pic>
      </p:grpSp>
      <p:grpSp>
        <p:nvGrpSpPr>
          <p:cNvPr id="63" name="object 63"/>
          <p:cNvGrpSpPr/>
          <p:nvPr/>
        </p:nvGrpSpPr>
        <p:grpSpPr>
          <a:xfrm>
            <a:off x="4890947" y="2916329"/>
            <a:ext cx="1187768" cy="1533048"/>
            <a:chOff x="6521263" y="3888439"/>
            <a:chExt cx="1583690" cy="2044064"/>
          </a:xfrm>
        </p:grpSpPr>
        <p:sp>
          <p:nvSpPr>
            <p:cNvPr id="64" name="object 64"/>
            <p:cNvSpPr/>
            <p:nvPr/>
          </p:nvSpPr>
          <p:spPr>
            <a:xfrm>
              <a:off x="6540313" y="5364675"/>
              <a:ext cx="329565" cy="567690"/>
            </a:xfrm>
            <a:custGeom>
              <a:avLst/>
              <a:gdLst/>
              <a:ahLst/>
              <a:cxnLst/>
              <a:rect l="l" t="t" r="r" b="b"/>
              <a:pathLst>
                <a:path w="329565" h="567689">
                  <a:moveTo>
                    <a:pt x="164741" y="0"/>
                  </a:moveTo>
                  <a:lnTo>
                    <a:pt x="0" y="229395"/>
                  </a:lnTo>
                  <a:lnTo>
                    <a:pt x="119315" y="229395"/>
                  </a:lnTo>
                  <a:lnTo>
                    <a:pt x="119315" y="567437"/>
                  </a:lnTo>
                  <a:lnTo>
                    <a:pt x="210167" y="567437"/>
                  </a:lnTo>
                  <a:lnTo>
                    <a:pt x="210167" y="229395"/>
                  </a:lnTo>
                  <a:lnTo>
                    <a:pt x="329482" y="229395"/>
                  </a:lnTo>
                  <a:lnTo>
                    <a:pt x="16474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540313" y="3910727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977677"/>
              <a:ext cx="222250" cy="22225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731417"/>
              <a:ext cx="222250" cy="22225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055" y="4485158"/>
              <a:ext cx="222250" cy="22225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233289"/>
              <a:ext cx="222250" cy="22225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6340" y="3975294"/>
              <a:ext cx="222250" cy="222250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6992317" y="3910727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5583" y="4494682"/>
              <a:ext cx="203200" cy="20320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5583" y="4242813"/>
              <a:ext cx="203200" cy="203200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7867" y="3984818"/>
              <a:ext cx="203200" cy="203200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7379460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491446"/>
              <a:ext cx="203200" cy="203198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239577"/>
              <a:ext cx="203200" cy="203200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35010" y="3981580"/>
              <a:ext cx="203200" cy="203200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7774133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491446"/>
              <a:ext cx="203200" cy="203198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239577"/>
              <a:ext cx="203200" cy="20320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29683" y="3981580"/>
              <a:ext cx="203200" cy="203200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289571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40662" y="3594714"/>
            <a:ext cx="980599" cy="1418882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 marL="494824">
              <a:spcBef>
                <a:spcPts val="11"/>
              </a:spcBef>
              <a:tabLst>
                <a:tab pos="827246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450"/>
              </a:spcBef>
            </a:pPr>
            <a:endParaRPr sz="863">
              <a:latin typeface="Tahoma"/>
              <a:cs typeface="Tahoma"/>
            </a:endParaRPr>
          </a:p>
          <a:p>
            <a:pPr>
              <a:lnSpc>
                <a:spcPts val="2059"/>
              </a:lnSpc>
              <a:spcBef>
                <a:spcPts val="4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  <a:p>
            <a:pPr marL="133350">
              <a:lnSpc>
                <a:spcPts val="1699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42327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398518" y="3576045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867461" y="3585570"/>
            <a:ext cx="899636" cy="1393234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 marL="413861">
              <a:spcBef>
                <a:spcPts val="11"/>
              </a:spcBef>
              <a:tabLst>
                <a:tab pos="746283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4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endParaRPr sz="1294" baseline="-144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488"/>
              </a:spcBef>
            </a:pPr>
            <a:endParaRPr sz="863">
              <a:latin typeface="Tahoma"/>
              <a:cs typeface="Tahoma"/>
            </a:endParaRPr>
          </a:p>
          <a:p>
            <a:pPr>
              <a:lnSpc>
                <a:spcPts val="2002"/>
              </a:lnSpc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  <a:p>
            <a:pPr marL="112395">
              <a:lnSpc>
                <a:spcPts val="164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869226" y="3569187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294" baseline="-14492">
              <a:latin typeface="Tahoma"/>
              <a:cs typeface="Tahoma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1761727" y="2735705"/>
            <a:ext cx="2557463" cy="2313146"/>
            <a:chOff x="2348969" y="3647606"/>
            <a:chExt cx="3409950" cy="3084195"/>
          </a:xfrm>
        </p:grpSpPr>
        <p:sp>
          <p:nvSpPr>
            <p:cNvPr id="90" name="object 90"/>
            <p:cNvSpPr/>
            <p:nvPr/>
          </p:nvSpPr>
          <p:spPr>
            <a:xfrm>
              <a:off x="2348969" y="3874555"/>
              <a:ext cx="1426210" cy="2857500"/>
            </a:xfrm>
            <a:custGeom>
              <a:avLst/>
              <a:gdLst/>
              <a:ahLst/>
              <a:cxnLst/>
              <a:rect l="l" t="t" r="r" b="b"/>
              <a:pathLst>
                <a:path w="1426210" h="2857500">
                  <a:moveTo>
                    <a:pt x="1426016" y="0"/>
                  </a:moveTo>
                  <a:lnTo>
                    <a:pt x="0" y="0"/>
                  </a:lnTo>
                  <a:lnTo>
                    <a:pt x="0" y="2856994"/>
                  </a:lnTo>
                  <a:lnTo>
                    <a:pt x="1426016" y="2856994"/>
                  </a:lnTo>
                  <a:lnTo>
                    <a:pt x="1426016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257264" y="3680932"/>
              <a:ext cx="1501775" cy="2857500"/>
            </a:xfrm>
            <a:custGeom>
              <a:avLst/>
              <a:gdLst/>
              <a:ahLst/>
              <a:cxnLst/>
              <a:rect l="l" t="t" r="r" b="b"/>
              <a:pathLst>
                <a:path w="1501775" h="2857500">
                  <a:moveTo>
                    <a:pt x="1501231" y="0"/>
                  </a:moveTo>
                  <a:lnTo>
                    <a:pt x="0" y="0"/>
                  </a:lnTo>
                  <a:lnTo>
                    <a:pt x="0" y="2856994"/>
                  </a:lnTo>
                  <a:lnTo>
                    <a:pt x="1501231" y="2856994"/>
                  </a:lnTo>
                  <a:lnTo>
                    <a:pt x="1501231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760020" y="3647606"/>
              <a:ext cx="472440" cy="2857500"/>
            </a:xfrm>
            <a:custGeom>
              <a:avLst/>
              <a:gdLst/>
              <a:ahLst/>
              <a:cxnLst/>
              <a:rect l="l" t="t" r="r" b="b"/>
              <a:pathLst>
                <a:path w="472439" h="2857500">
                  <a:moveTo>
                    <a:pt x="472260" y="0"/>
                  </a:moveTo>
                  <a:lnTo>
                    <a:pt x="0" y="0"/>
                  </a:lnTo>
                  <a:lnTo>
                    <a:pt x="0" y="2856994"/>
                  </a:lnTo>
                  <a:lnTo>
                    <a:pt x="472260" y="2856994"/>
                  </a:lnTo>
                  <a:lnTo>
                    <a:pt x="472260" y="0"/>
                  </a:lnTo>
                  <a:close/>
                </a:path>
              </a:pathLst>
            </a:custGeom>
            <a:solidFill>
              <a:srgbClr val="FFFF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4920263" y="1661542"/>
            <a:ext cx="252555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194" baseline="1424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406" baseline="-17777" dirty="0">
                <a:solidFill>
                  <a:srgbClr val="DE55B3"/>
                </a:solidFill>
                <a:latin typeface="Tahoma"/>
                <a:cs typeface="Tahoma"/>
              </a:rPr>
              <a:t>3</a:t>
            </a:r>
            <a:r>
              <a:rPr sz="1406" spc="17" baseline="-17777" dirty="0">
                <a:solidFill>
                  <a:srgbClr val="DE55B3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r>
              <a:rPr sz="1406" spc="113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r>
              <a:rPr sz="1406" spc="107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r>
              <a:rPr sz="1406" spc="113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spc="-8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spc="-11" baseline="-17094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r>
              <a:rPr spc="-8" dirty="0">
                <a:latin typeface="Cambria Math"/>
                <a:cs typeface="Cambria Math"/>
              </a:rPr>
              <a:t>⋅</a:t>
            </a:r>
            <a:r>
              <a:rPr sz="2194" spc="-11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spc="-11" baseline="-17777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406" baseline="-17777">
              <a:latin typeface="Tahoma"/>
              <a:cs typeface="Tahoma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83583" y="681120"/>
            <a:ext cx="619125" cy="23948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8573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500" spc="41" dirty="0">
                <a:latin typeface="Tahoma"/>
                <a:cs typeface="Tahoma"/>
              </a:rPr>
              <a:t>Step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spc="-38" dirty="0">
                <a:latin typeface="Tahoma"/>
                <a:cs typeface="Tahoma"/>
              </a:rPr>
              <a:t>5: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316161" y="2897369"/>
            <a:ext cx="1052989" cy="2143125"/>
          </a:xfrm>
          <a:custGeom>
            <a:avLst/>
            <a:gdLst/>
            <a:ahLst/>
            <a:cxnLst/>
            <a:rect l="l" t="t" r="r" b="b"/>
            <a:pathLst>
              <a:path w="1403985" h="2857500">
                <a:moveTo>
                  <a:pt x="1403809" y="0"/>
                </a:moveTo>
                <a:lnTo>
                  <a:pt x="0" y="0"/>
                </a:lnTo>
                <a:lnTo>
                  <a:pt x="0" y="2856994"/>
                </a:lnTo>
                <a:lnTo>
                  <a:pt x="1403809" y="2856994"/>
                </a:lnTo>
                <a:lnTo>
                  <a:pt x="1403809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6" name="object 96"/>
          <p:cNvGrpSpPr/>
          <p:nvPr/>
        </p:nvGrpSpPr>
        <p:grpSpPr>
          <a:xfrm>
            <a:off x="4662937" y="2735705"/>
            <a:ext cx="1477804" cy="2283619"/>
            <a:chOff x="6217249" y="3647606"/>
            <a:chExt cx="1970405" cy="3044825"/>
          </a:xfrm>
        </p:grpSpPr>
        <p:sp>
          <p:nvSpPr>
            <p:cNvPr id="97" name="object 97"/>
            <p:cNvSpPr/>
            <p:nvPr/>
          </p:nvSpPr>
          <p:spPr>
            <a:xfrm>
              <a:off x="6217249" y="3834819"/>
              <a:ext cx="1555115" cy="2857500"/>
            </a:xfrm>
            <a:custGeom>
              <a:avLst/>
              <a:gdLst/>
              <a:ahLst/>
              <a:cxnLst/>
              <a:rect l="l" t="t" r="r" b="b"/>
              <a:pathLst>
                <a:path w="1555115" h="2857500">
                  <a:moveTo>
                    <a:pt x="1555046" y="0"/>
                  </a:moveTo>
                  <a:lnTo>
                    <a:pt x="0" y="0"/>
                  </a:lnTo>
                  <a:lnTo>
                    <a:pt x="0" y="2856995"/>
                  </a:lnTo>
                  <a:lnTo>
                    <a:pt x="1555046" y="2856995"/>
                  </a:lnTo>
                  <a:lnTo>
                    <a:pt x="1555046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715327" y="3647606"/>
              <a:ext cx="472440" cy="2857500"/>
            </a:xfrm>
            <a:custGeom>
              <a:avLst/>
              <a:gdLst/>
              <a:ahLst/>
              <a:cxnLst/>
              <a:rect l="l" t="t" r="r" b="b"/>
              <a:pathLst>
                <a:path w="472440" h="2857500">
                  <a:moveTo>
                    <a:pt x="472260" y="0"/>
                  </a:moveTo>
                  <a:lnTo>
                    <a:pt x="0" y="0"/>
                  </a:lnTo>
                  <a:lnTo>
                    <a:pt x="0" y="2856995"/>
                  </a:lnTo>
                  <a:lnTo>
                    <a:pt x="472260" y="2856995"/>
                  </a:lnTo>
                  <a:lnTo>
                    <a:pt x="472260" y="0"/>
                  </a:lnTo>
                  <a:close/>
                </a:path>
              </a:pathLst>
            </a:custGeom>
            <a:solidFill>
              <a:srgbClr val="FFFFFF">
                <a:alpha val="419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1416996" y="596397"/>
            <a:ext cx="6986588" cy="698493"/>
          </a:xfrm>
          <a:prstGeom prst="rect">
            <a:avLst/>
          </a:prstGeom>
        </p:spPr>
        <p:txBody>
          <a:bodyPr vert="horz" wrap="square" lIns="0" tIns="92869" rIns="0" bIns="0" rtlCol="0">
            <a:spAutoFit/>
          </a:bodyPr>
          <a:lstStyle/>
          <a:p>
            <a:pPr marL="28575">
              <a:spcBef>
                <a:spcPts val="731"/>
              </a:spcBef>
            </a:pPr>
            <a:r>
              <a:rPr sz="1500" dirty="0">
                <a:latin typeface="Tahoma"/>
                <a:cs typeface="Tahoma"/>
              </a:rPr>
              <a:t>We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repeat</a:t>
            </a:r>
            <a:r>
              <a:rPr sz="1500" spc="2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this</a:t>
            </a:r>
            <a:r>
              <a:rPr sz="1500" spc="23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2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all</a:t>
            </a:r>
            <a:r>
              <a:rPr sz="1500" spc="2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other</a:t>
            </a:r>
            <a:r>
              <a:rPr sz="1500" spc="2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words,</a:t>
            </a:r>
            <a:r>
              <a:rPr sz="1500" spc="23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yielding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us</a:t>
            </a:r>
            <a:r>
              <a:rPr sz="1500" spc="2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great,</a:t>
            </a:r>
            <a:r>
              <a:rPr sz="1500" spc="23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new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406" baseline="-17777" dirty="0">
                <a:solidFill>
                  <a:srgbClr val="DE55B3"/>
                </a:solidFill>
                <a:latin typeface="Tahoma"/>
                <a:cs typeface="Tahoma"/>
              </a:rPr>
              <a:t>i</a:t>
            </a:r>
            <a:r>
              <a:rPr sz="1406" spc="326" baseline="-17777" dirty="0">
                <a:solidFill>
                  <a:srgbClr val="DE55B3"/>
                </a:solidFill>
                <a:latin typeface="Tahoma"/>
                <a:cs typeface="Tahoma"/>
              </a:rPr>
              <a:t> </a:t>
            </a:r>
            <a:r>
              <a:rPr sz="1500" spc="-8" dirty="0">
                <a:latin typeface="Tahoma"/>
                <a:cs typeface="Tahoma"/>
              </a:rPr>
              <a:t>representations!</a:t>
            </a:r>
            <a:endParaRPr sz="1500">
              <a:latin typeface="Tahoma"/>
              <a:cs typeface="Tahoma"/>
            </a:endParaRPr>
          </a:p>
          <a:p>
            <a:pPr marR="1806416" algn="ctr">
              <a:spcBef>
                <a:spcPts val="780"/>
              </a:spcBef>
            </a:pPr>
            <a:r>
              <a:rPr sz="1763" spc="-19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744" spc="-28" baseline="-17921" dirty="0">
                <a:solidFill>
                  <a:srgbClr val="DE55B3"/>
                </a:solidFill>
                <a:latin typeface="Tahoma"/>
                <a:cs typeface="Tahoma"/>
              </a:rPr>
              <a:t>3</a:t>
            </a:r>
            <a:endParaRPr sz="1744" baseline="-17921">
              <a:latin typeface="Tahoma"/>
              <a:cs typeface="Tahoma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1375179" y="2793557"/>
            <a:ext cx="354330" cy="2143125"/>
          </a:xfrm>
          <a:custGeom>
            <a:avLst/>
            <a:gdLst/>
            <a:ahLst/>
            <a:cxnLst/>
            <a:rect l="l" t="t" r="r" b="b"/>
            <a:pathLst>
              <a:path w="472439" h="2857500">
                <a:moveTo>
                  <a:pt x="472260" y="0"/>
                </a:moveTo>
                <a:lnTo>
                  <a:pt x="0" y="0"/>
                </a:lnTo>
                <a:lnTo>
                  <a:pt x="0" y="2856995"/>
                </a:lnTo>
                <a:lnTo>
                  <a:pt x="472260" y="2856995"/>
                </a:lnTo>
                <a:lnTo>
                  <a:pt x="472260" y="0"/>
                </a:lnTo>
                <a:close/>
              </a:path>
            </a:pathLst>
          </a:custGeom>
          <a:solidFill>
            <a:srgbClr val="FFFFFF">
              <a:alpha val="4117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1" name="object 101"/>
          <p:cNvGrpSpPr/>
          <p:nvPr/>
        </p:nvGrpSpPr>
        <p:grpSpPr>
          <a:xfrm>
            <a:off x="3866639" y="1336388"/>
            <a:ext cx="262414" cy="680561"/>
            <a:chOff x="5155518" y="1781850"/>
            <a:chExt cx="349885" cy="907415"/>
          </a:xfrm>
        </p:grpSpPr>
        <p:sp>
          <p:nvSpPr>
            <p:cNvPr id="102" name="object 102"/>
            <p:cNvSpPr/>
            <p:nvPr/>
          </p:nvSpPr>
          <p:spPr>
            <a:xfrm>
              <a:off x="5174568" y="1800900"/>
              <a:ext cx="311785" cy="869315"/>
            </a:xfrm>
            <a:custGeom>
              <a:avLst/>
              <a:gdLst/>
              <a:ahLst/>
              <a:cxnLst/>
              <a:rect l="l" t="t" r="r" b="b"/>
              <a:pathLst>
                <a:path w="311785" h="869314">
                  <a:moveTo>
                    <a:pt x="259473" y="0"/>
                  </a:move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817055"/>
                  </a:lnTo>
                  <a:lnTo>
                    <a:pt x="307290" y="837255"/>
                  </a:lnTo>
                  <a:lnTo>
                    <a:pt x="296169" y="853751"/>
                  </a:lnTo>
                  <a:lnTo>
                    <a:pt x="279673" y="864872"/>
                  </a:lnTo>
                  <a:lnTo>
                    <a:pt x="259473" y="868951"/>
                  </a:lnTo>
                  <a:lnTo>
                    <a:pt x="51895" y="868951"/>
                  </a:lnTo>
                  <a:lnTo>
                    <a:pt x="31695" y="864872"/>
                  </a:lnTo>
                  <a:lnTo>
                    <a:pt x="15199" y="853751"/>
                  </a:lnTo>
                  <a:lnTo>
                    <a:pt x="4078" y="837255"/>
                  </a:lnTo>
                  <a:lnTo>
                    <a:pt x="0" y="817055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close/>
                </a:path>
              </a:pathLst>
            </a:custGeom>
            <a:ln w="38100">
              <a:solidFill>
                <a:srgbClr val="FF7F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29471" y="1885450"/>
              <a:ext cx="203200" cy="203200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229471" y="2131710"/>
              <a:ext cx="203200" cy="203200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29471" y="2377969"/>
              <a:ext cx="203200" cy="203200"/>
            </a:xfrm>
            <a:prstGeom prst="rect">
              <a:avLst/>
            </a:prstGeom>
          </p:spPr>
        </p:pic>
      </p:grpSp>
      <p:sp>
        <p:nvSpPr>
          <p:cNvPr id="106" name="object 106"/>
          <p:cNvSpPr txBox="1"/>
          <p:nvPr/>
        </p:nvSpPr>
        <p:spPr>
          <a:xfrm>
            <a:off x="3322049" y="3592428"/>
            <a:ext cx="974408" cy="1393234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 marL="488633">
              <a:spcBef>
                <a:spcPts val="11"/>
              </a:spcBef>
              <a:tabLst>
                <a:tab pos="821055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endParaRPr sz="1294" baseline="-144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270"/>
              </a:spcBef>
            </a:pPr>
            <a:endParaRPr sz="863">
              <a:latin typeface="Tahoma"/>
              <a:cs typeface="Tahoma"/>
            </a:endParaRPr>
          </a:p>
          <a:p>
            <a:pPr marR="553403" algn="ctr">
              <a:lnSpc>
                <a:spcPts val="2078"/>
              </a:lnSpc>
              <a:spcBef>
                <a:spcPts val="4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  <a:p>
            <a:pPr marR="578168" algn="ctr">
              <a:lnSpc>
                <a:spcPts val="1718"/>
              </a:lnSpc>
            </a:pPr>
            <a:r>
              <a:rPr sz="1500" spc="-38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3556945" y="4838700"/>
            <a:ext cx="88106" cy="15965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75" spc="-38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endParaRPr sz="975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517" y="526165"/>
            <a:ext cx="4862036" cy="61436"/>
          </a:xfrm>
          <a:custGeom>
            <a:avLst/>
            <a:gdLst/>
            <a:ahLst/>
            <a:cxnLst/>
            <a:rect l="l" t="t" r="r" b="b"/>
            <a:pathLst>
              <a:path w="6482715" h="81915">
                <a:moveTo>
                  <a:pt x="6482647" y="0"/>
                </a:moveTo>
                <a:lnTo>
                  <a:pt x="0" y="0"/>
                </a:lnTo>
                <a:lnTo>
                  <a:pt x="0" y="81537"/>
                </a:lnTo>
                <a:lnTo>
                  <a:pt x="6482647" y="81537"/>
                </a:lnTo>
                <a:lnTo>
                  <a:pt x="64826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87706" y="183260"/>
            <a:ext cx="1665923" cy="167161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58352" y="3594714"/>
            <a:ext cx="1035368" cy="1380410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 marL="549593">
              <a:spcBef>
                <a:spcPts val="11"/>
              </a:spcBef>
              <a:tabLst>
                <a:tab pos="882015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270"/>
              </a:spcBef>
            </a:pPr>
            <a:endParaRPr sz="863">
              <a:latin typeface="Tahoma"/>
              <a:cs typeface="Tahoma"/>
            </a:endParaRPr>
          </a:p>
          <a:p>
            <a:pPr marR="394811" algn="ctr">
              <a:lnSpc>
                <a:spcPts val="2033"/>
              </a:lnSpc>
              <a:spcBef>
                <a:spcPts val="4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  <a:p>
            <a:pPr marR="413385" algn="ctr">
              <a:lnSpc>
                <a:spcPts val="167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endParaRPr sz="1463" baseline="-17094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5623" y="2918759"/>
            <a:ext cx="1200150" cy="1554956"/>
            <a:chOff x="607497" y="3891678"/>
            <a:chExt cx="1600200" cy="2073275"/>
          </a:xfrm>
        </p:grpSpPr>
        <p:sp>
          <p:nvSpPr>
            <p:cNvPr id="6" name="object 6"/>
            <p:cNvSpPr/>
            <p:nvPr/>
          </p:nvSpPr>
          <p:spPr>
            <a:xfrm>
              <a:off x="607497" y="5397119"/>
              <a:ext cx="329565" cy="567690"/>
            </a:xfrm>
            <a:custGeom>
              <a:avLst/>
              <a:gdLst/>
              <a:ahLst/>
              <a:cxnLst/>
              <a:rect l="l" t="t" r="r" b="b"/>
              <a:pathLst>
                <a:path w="329565" h="567689">
                  <a:moveTo>
                    <a:pt x="164741" y="0"/>
                  </a:moveTo>
                  <a:lnTo>
                    <a:pt x="0" y="229395"/>
                  </a:lnTo>
                  <a:lnTo>
                    <a:pt x="119315" y="229395"/>
                  </a:lnTo>
                  <a:lnTo>
                    <a:pt x="119315" y="567437"/>
                  </a:lnTo>
                  <a:lnTo>
                    <a:pt x="210167" y="567437"/>
                  </a:lnTo>
                  <a:lnTo>
                    <a:pt x="210167" y="229395"/>
                  </a:lnTo>
                  <a:lnTo>
                    <a:pt x="329482" y="229395"/>
                  </a:lnTo>
                  <a:lnTo>
                    <a:pt x="16474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2888" y="39139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980915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734656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488397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630" y="4236529"/>
              <a:ext cx="222250" cy="222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915" y="3978532"/>
              <a:ext cx="222250" cy="2222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94892" y="391396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159" y="4497922"/>
              <a:ext cx="203199" cy="203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8159" y="4246053"/>
              <a:ext cx="203199" cy="203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0443" y="3988056"/>
              <a:ext cx="203200" cy="2032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82035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5301" y="4494685"/>
              <a:ext cx="203200" cy="203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5301" y="4242816"/>
              <a:ext cx="203200" cy="203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7586" y="3984820"/>
              <a:ext cx="203199" cy="2032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876708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29974" y="4494685"/>
              <a:ext cx="203200" cy="203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9974" y="4242816"/>
              <a:ext cx="203200" cy="2032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32259" y="3984820"/>
              <a:ext cx="203200" cy="203200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1939598" y="2916329"/>
            <a:ext cx="4139089" cy="1533048"/>
            <a:chOff x="2586130" y="3888439"/>
            <a:chExt cx="5518785" cy="2044064"/>
          </a:xfrm>
        </p:grpSpPr>
        <p:sp>
          <p:nvSpPr>
            <p:cNvPr id="26" name="object 26"/>
            <p:cNvSpPr/>
            <p:nvPr/>
          </p:nvSpPr>
          <p:spPr>
            <a:xfrm>
              <a:off x="2619984" y="5350103"/>
              <a:ext cx="4250055" cy="582295"/>
            </a:xfrm>
            <a:custGeom>
              <a:avLst/>
              <a:gdLst/>
              <a:ahLst/>
              <a:cxnLst/>
              <a:rect l="l" t="t" r="r" b="b"/>
              <a:pathLst>
                <a:path w="4250055" h="582295">
                  <a:moveTo>
                    <a:pt x="329476" y="243979"/>
                  </a:moveTo>
                  <a:lnTo>
                    <a:pt x="164731" y="14579"/>
                  </a:lnTo>
                  <a:lnTo>
                    <a:pt x="0" y="243979"/>
                  </a:lnTo>
                  <a:lnTo>
                    <a:pt x="119303" y="243979"/>
                  </a:lnTo>
                  <a:lnTo>
                    <a:pt x="119303" y="582015"/>
                  </a:lnTo>
                  <a:lnTo>
                    <a:pt x="210159" y="582015"/>
                  </a:lnTo>
                  <a:lnTo>
                    <a:pt x="210159" y="243979"/>
                  </a:lnTo>
                  <a:lnTo>
                    <a:pt x="329476" y="243979"/>
                  </a:lnTo>
                  <a:close/>
                </a:path>
                <a:path w="4250055" h="582295">
                  <a:moveTo>
                    <a:pt x="2285085" y="229387"/>
                  </a:moveTo>
                  <a:lnTo>
                    <a:pt x="2120341" y="0"/>
                  </a:lnTo>
                  <a:lnTo>
                    <a:pt x="1955596" y="229387"/>
                  </a:lnTo>
                  <a:lnTo>
                    <a:pt x="2074913" y="229387"/>
                  </a:lnTo>
                  <a:lnTo>
                    <a:pt x="2074913" y="567436"/>
                  </a:lnTo>
                  <a:lnTo>
                    <a:pt x="2165769" y="567436"/>
                  </a:lnTo>
                  <a:lnTo>
                    <a:pt x="2165769" y="229387"/>
                  </a:lnTo>
                  <a:lnTo>
                    <a:pt x="2285085" y="229387"/>
                  </a:lnTo>
                  <a:close/>
                </a:path>
                <a:path w="4250055" h="582295">
                  <a:moveTo>
                    <a:pt x="4249801" y="243979"/>
                  </a:moveTo>
                  <a:lnTo>
                    <a:pt x="4085069" y="14579"/>
                  </a:lnTo>
                  <a:lnTo>
                    <a:pt x="3920325" y="243979"/>
                  </a:lnTo>
                  <a:lnTo>
                    <a:pt x="4039641" y="243979"/>
                  </a:lnTo>
                  <a:lnTo>
                    <a:pt x="4039641" y="582015"/>
                  </a:lnTo>
                  <a:lnTo>
                    <a:pt x="4130484" y="582015"/>
                  </a:lnTo>
                  <a:lnTo>
                    <a:pt x="4130484" y="243979"/>
                  </a:lnTo>
                  <a:lnTo>
                    <a:pt x="4249801" y="243979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05180" y="3921872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988822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742563"/>
              <a:ext cx="222250" cy="2222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496305"/>
              <a:ext cx="222250" cy="2222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244435"/>
              <a:ext cx="222250" cy="2222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206" y="3986439"/>
              <a:ext cx="222250" cy="22225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057184" y="3921872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0" y="4505829"/>
              <a:ext cx="203200" cy="2032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0" y="4253960"/>
              <a:ext cx="203200" cy="2032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2734" y="3995963"/>
              <a:ext cx="203200" cy="2032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444327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7593" y="4502591"/>
              <a:ext cx="203200" cy="2032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7593" y="4250723"/>
              <a:ext cx="203200" cy="2032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9877" y="3992726"/>
              <a:ext cx="203200" cy="2032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839000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92266" y="4502591"/>
              <a:ext cx="203200" cy="2032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2266" y="4250723"/>
              <a:ext cx="203200" cy="2032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94551" y="3992726"/>
              <a:ext cx="203200" cy="2032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575592" y="391863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985584"/>
              <a:ext cx="222250" cy="22225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739326"/>
              <a:ext cx="222250" cy="22225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493066"/>
              <a:ext cx="222250" cy="22225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335" y="4241198"/>
              <a:ext cx="222250" cy="22225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620" y="3983201"/>
              <a:ext cx="222250" cy="22225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027597" y="3918634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0863" y="4502590"/>
              <a:ext cx="203200" cy="2032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0863" y="4250721"/>
              <a:ext cx="203200" cy="2032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3148" y="3992726"/>
              <a:ext cx="203200" cy="20320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5414740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8006" y="4499353"/>
              <a:ext cx="203200" cy="2032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68006" y="4247484"/>
              <a:ext cx="203200" cy="2032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70291" y="3989489"/>
              <a:ext cx="203200" cy="20320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5809413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2679" y="4499353"/>
              <a:ext cx="203200" cy="2032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62679" y="4247484"/>
              <a:ext cx="203200" cy="2032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4964" y="3989489"/>
              <a:ext cx="203200" cy="20320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6540313" y="3910727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977677"/>
              <a:ext cx="222250" cy="22225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731417"/>
              <a:ext cx="222250" cy="22225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055" y="4485158"/>
              <a:ext cx="222250" cy="22225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233289"/>
              <a:ext cx="222250" cy="22225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6340" y="3975294"/>
              <a:ext cx="222250" cy="22225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6992317" y="3910727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5583" y="4494682"/>
              <a:ext cx="203200" cy="20320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5583" y="4242813"/>
              <a:ext cx="203200" cy="20320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7867" y="3984818"/>
              <a:ext cx="203200" cy="203200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7379460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491446"/>
              <a:ext cx="203200" cy="203198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239577"/>
              <a:ext cx="203200" cy="20320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35010" y="3981580"/>
              <a:ext cx="203200" cy="203200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7774133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491446"/>
              <a:ext cx="203200" cy="203198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239577"/>
              <a:ext cx="203200" cy="20320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29683" y="3981580"/>
              <a:ext cx="203200" cy="203200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289571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40662" y="3594714"/>
            <a:ext cx="980599" cy="1418882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 marL="494824">
              <a:spcBef>
                <a:spcPts val="11"/>
              </a:spcBef>
              <a:tabLst>
                <a:tab pos="827246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450"/>
              </a:spcBef>
            </a:pPr>
            <a:endParaRPr sz="863">
              <a:latin typeface="Tahoma"/>
              <a:cs typeface="Tahoma"/>
            </a:endParaRPr>
          </a:p>
          <a:p>
            <a:pPr>
              <a:lnSpc>
                <a:spcPts val="2059"/>
              </a:lnSpc>
              <a:spcBef>
                <a:spcPts val="4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  <a:p>
            <a:pPr marL="133350">
              <a:lnSpc>
                <a:spcPts val="1699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42327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427093" y="3585570"/>
            <a:ext cx="149543" cy="203486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>
              <a:spcBef>
                <a:spcPts val="11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867461" y="3585570"/>
            <a:ext cx="899636" cy="1393234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 marL="413861">
              <a:spcBef>
                <a:spcPts val="11"/>
              </a:spcBef>
              <a:tabLst>
                <a:tab pos="746283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4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endParaRPr sz="1294" baseline="-144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488"/>
              </a:spcBef>
            </a:pPr>
            <a:endParaRPr sz="863">
              <a:latin typeface="Tahoma"/>
              <a:cs typeface="Tahoma"/>
            </a:endParaRPr>
          </a:p>
          <a:p>
            <a:pPr>
              <a:lnSpc>
                <a:spcPts val="2002"/>
              </a:lnSpc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  <a:p>
            <a:pPr marL="112395">
              <a:lnSpc>
                <a:spcPts val="164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869226" y="3569187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294" baseline="-14492">
              <a:latin typeface="Tahoma"/>
              <a:cs typeface="Tahoma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1761727" y="2605834"/>
            <a:ext cx="4067651" cy="2443163"/>
            <a:chOff x="2348969" y="3474445"/>
            <a:chExt cx="5423535" cy="3257550"/>
          </a:xfrm>
        </p:grpSpPr>
        <p:sp>
          <p:nvSpPr>
            <p:cNvPr id="88" name="object 88"/>
            <p:cNvSpPr/>
            <p:nvPr/>
          </p:nvSpPr>
          <p:spPr>
            <a:xfrm>
              <a:off x="2348969" y="3874555"/>
              <a:ext cx="1426210" cy="2857500"/>
            </a:xfrm>
            <a:custGeom>
              <a:avLst/>
              <a:gdLst/>
              <a:ahLst/>
              <a:cxnLst/>
              <a:rect l="l" t="t" r="r" b="b"/>
              <a:pathLst>
                <a:path w="1426210" h="2857500">
                  <a:moveTo>
                    <a:pt x="1426016" y="0"/>
                  </a:moveTo>
                  <a:lnTo>
                    <a:pt x="0" y="0"/>
                  </a:lnTo>
                  <a:lnTo>
                    <a:pt x="0" y="2856994"/>
                  </a:lnTo>
                  <a:lnTo>
                    <a:pt x="1426016" y="2856994"/>
                  </a:lnTo>
                  <a:lnTo>
                    <a:pt x="1426016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257256" y="3680942"/>
              <a:ext cx="3515360" cy="3011170"/>
            </a:xfrm>
            <a:custGeom>
              <a:avLst/>
              <a:gdLst/>
              <a:ahLst/>
              <a:cxnLst/>
              <a:rect l="l" t="t" r="r" b="b"/>
              <a:pathLst>
                <a:path w="3515359" h="3011170">
                  <a:moveTo>
                    <a:pt x="1501228" y="0"/>
                  </a:moveTo>
                  <a:lnTo>
                    <a:pt x="0" y="0"/>
                  </a:lnTo>
                  <a:lnTo>
                    <a:pt x="0" y="2856992"/>
                  </a:lnTo>
                  <a:lnTo>
                    <a:pt x="1501228" y="2856992"/>
                  </a:lnTo>
                  <a:lnTo>
                    <a:pt x="1501228" y="0"/>
                  </a:lnTo>
                  <a:close/>
                </a:path>
                <a:path w="3515359" h="3011170">
                  <a:moveTo>
                    <a:pt x="3515029" y="153885"/>
                  </a:moveTo>
                  <a:lnTo>
                    <a:pt x="1959991" y="153885"/>
                  </a:lnTo>
                  <a:lnTo>
                    <a:pt x="1959991" y="3010878"/>
                  </a:lnTo>
                  <a:lnTo>
                    <a:pt x="3515029" y="3010878"/>
                  </a:lnTo>
                  <a:lnTo>
                    <a:pt x="3515029" y="153885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760020" y="3647606"/>
              <a:ext cx="472440" cy="2857500"/>
            </a:xfrm>
            <a:custGeom>
              <a:avLst/>
              <a:gdLst/>
              <a:ahLst/>
              <a:cxnLst/>
              <a:rect l="l" t="t" r="r" b="b"/>
              <a:pathLst>
                <a:path w="472439" h="2857500">
                  <a:moveTo>
                    <a:pt x="472260" y="0"/>
                  </a:moveTo>
                  <a:lnTo>
                    <a:pt x="0" y="0"/>
                  </a:lnTo>
                  <a:lnTo>
                    <a:pt x="0" y="2856994"/>
                  </a:lnTo>
                  <a:lnTo>
                    <a:pt x="472260" y="2856994"/>
                  </a:lnTo>
                  <a:lnTo>
                    <a:pt x="472260" y="0"/>
                  </a:lnTo>
                  <a:close/>
                </a:path>
              </a:pathLst>
            </a:custGeom>
            <a:solidFill>
              <a:srgbClr val="FFFF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732675" y="3474445"/>
              <a:ext cx="472440" cy="2857500"/>
            </a:xfrm>
            <a:custGeom>
              <a:avLst/>
              <a:gdLst/>
              <a:ahLst/>
              <a:cxnLst/>
              <a:rect l="l" t="t" r="r" b="b"/>
              <a:pathLst>
                <a:path w="472439" h="2857500">
                  <a:moveTo>
                    <a:pt x="472260" y="0"/>
                  </a:moveTo>
                  <a:lnTo>
                    <a:pt x="0" y="0"/>
                  </a:lnTo>
                  <a:lnTo>
                    <a:pt x="0" y="2856995"/>
                  </a:lnTo>
                  <a:lnTo>
                    <a:pt x="472260" y="2856995"/>
                  </a:lnTo>
                  <a:lnTo>
                    <a:pt x="472260" y="0"/>
                  </a:lnTo>
                  <a:close/>
                </a:path>
              </a:pathLst>
            </a:custGeom>
            <a:solidFill>
              <a:srgbClr val="FFFFFF">
                <a:alpha val="521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783583" y="681120"/>
            <a:ext cx="619125" cy="23948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8573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500" spc="41" dirty="0">
                <a:latin typeface="Tahoma"/>
                <a:cs typeface="Tahoma"/>
              </a:rPr>
              <a:t>Step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spc="-38" dirty="0">
                <a:latin typeface="Tahoma"/>
                <a:cs typeface="Tahoma"/>
              </a:rPr>
              <a:t>5: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316161" y="2897369"/>
            <a:ext cx="1052989" cy="2143125"/>
          </a:xfrm>
          <a:custGeom>
            <a:avLst/>
            <a:gdLst/>
            <a:ahLst/>
            <a:cxnLst/>
            <a:rect l="l" t="t" r="r" b="b"/>
            <a:pathLst>
              <a:path w="1403985" h="2857500">
                <a:moveTo>
                  <a:pt x="1403809" y="0"/>
                </a:moveTo>
                <a:lnTo>
                  <a:pt x="0" y="0"/>
                </a:lnTo>
                <a:lnTo>
                  <a:pt x="0" y="2856994"/>
                </a:lnTo>
                <a:lnTo>
                  <a:pt x="1403809" y="2856994"/>
                </a:lnTo>
                <a:lnTo>
                  <a:pt x="1403809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1416996" y="627487"/>
            <a:ext cx="7018973" cy="1212961"/>
          </a:xfrm>
          <a:prstGeom prst="rect">
            <a:avLst/>
          </a:prstGeom>
        </p:spPr>
        <p:txBody>
          <a:bodyPr vert="horz" wrap="square" lIns="0" tIns="61913" rIns="0" bIns="0" rtlCol="0">
            <a:spAutoFit/>
          </a:bodyPr>
          <a:lstStyle/>
          <a:p>
            <a:pPr marL="28575">
              <a:spcBef>
                <a:spcPts val="488"/>
              </a:spcBef>
            </a:pPr>
            <a:r>
              <a:rPr sz="1500" dirty="0">
                <a:latin typeface="Tahoma"/>
                <a:cs typeface="Tahoma"/>
              </a:rPr>
              <a:t>We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repeat</a:t>
            </a:r>
            <a:r>
              <a:rPr sz="1500" spc="2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this</a:t>
            </a:r>
            <a:r>
              <a:rPr sz="1500" spc="23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2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all</a:t>
            </a:r>
            <a:r>
              <a:rPr sz="1500" spc="2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other</a:t>
            </a:r>
            <a:r>
              <a:rPr sz="1500" spc="2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words,</a:t>
            </a:r>
            <a:r>
              <a:rPr sz="1500" spc="23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yielding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us</a:t>
            </a:r>
            <a:r>
              <a:rPr sz="1500" spc="2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great,</a:t>
            </a:r>
            <a:r>
              <a:rPr sz="1500" spc="23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new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406" baseline="-17777" dirty="0">
                <a:solidFill>
                  <a:srgbClr val="DE55B3"/>
                </a:solidFill>
                <a:latin typeface="Tahoma"/>
                <a:cs typeface="Tahoma"/>
              </a:rPr>
              <a:t>i</a:t>
            </a:r>
            <a:r>
              <a:rPr sz="1406" spc="326" baseline="-17777" dirty="0">
                <a:solidFill>
                  <a:srgbClr val="DE55B3"/>
                </a:solidFill>
                <a:latin typeface="Tahoma"/>
                <a:cs typeface="Tahoma"/>
              </a:rPr>
              <a:t> </a:t>
            </a:r>
            <a:r>
              <a:rPr sz="1500" spc="-8" dirty="0">
                <a:latin typeface="Tahoma"/>
                <a:cs typeface="Tahoma"/>
              </a:rPr>
              <a:t>representations!</a:t>
            </a:r>
            <a:endParaRPr sz="1500">
              <a:latin typeface="Tahoma"/>
              <a:cs typeface="Tahoma"/>
            </a:endParaRPr>
          </a:p>
          <a:p>
            <a:pPr marL="994886" algn="ctr">
              <a:spcBef>
                <a:spcPts val="491"/>
              </a:spcBef>
            </a:pPr>
            <a:r>
              <a:rPr sz="1763" spc="-19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744" spc="-28" baseline="-17921" dirty="0">
                <a:solidFill>
                  <a:srgbClr val="DE55B3"/>
                </a:solidFill>
                <a:latin typeface="Tahoma"/>
                <a:cs typeface="Tahoma"/>
              </a:rPr>
              <a:t>4</a:t>
            </a:r>
            <a:endParaRPr sz="1744" baseline="-17921">
              <a:latin typeface="Tahoma"/>
              <a:cs typeface="Tahoma"/>
            </a:endParaRPr>
          </a:p>
          <a:p>
            <a:pPr>
              <a:spcBef>
                <a:spcPts val="982"/>
              </a:spcBef>
            </a:pPr>
            <a:endParaRPr sz="1163">
              <a:latin typeface="Tahoma"/>
              <a:cs typeface="Tahoma"/>
            </a:endParaRPr>
          </a:p>
          <a:p>
            <a:pPr marL="4521994"/>
            <a:r>
              <a:rPr sz="2194" baseline="1424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406" baseline="-17777" dirty="0">
                <a:solidFill>
                  <a:srgbClr val="DE55B3"/>
                </a:solidFill>
                <a:latin typeface="Tahoma"/>
                <a:cs typeface="Tahoma"/>
              </a:rPr>
              <a:t>4</a:t>
            </a:r>
            <a:r>
              <a:rPr sz="1406" spc="17" baseline="-17777" dirty="0">
                <a:solidFill>
                  <a:srgbClr val="DE55B3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r>
              <a:rPr sz="1406" spc="113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r>
              <a:rPr sz="1406" spc="107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r>
              <a:rPr sz="1406" spc="113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spc="-8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spc="-11" baseline="-17094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r>
              <a:rPr spc="-8" dirty="0">
                <a:latin typeface="Cambria Math"/>
                <a:cs typeface="Cambria Math"/>
              </a:rPr>
              <a:t>⋅</a:t>
            </a:r>
            <a:r>
              <a:rPr sz="2194" spc="-11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spc="-11" baseline="-17777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406" baseline="-17777">
              <a:latin typeface="Tahoma"/>
              <a:cs typeface="Tahoma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1375179" y="2793557"/>
            <a:ext cx="354330" cy="2143125"/>
          </a:xfrm>
          <a:custGeom>
            <a:avLst/>
            <a:gdLst/>
            <a:ahLst/>
            <a:cxnLst/>
            <a:rect l="l" t="t" r="r" b="b"/>
            <a:pathLst>
              <a:path w="472439" h="2857500">
                <a:moveTo>
                  <a:pt x="472260" y="0"/>
                </a:moveTo>
                <a:lnTo>
                  <a:pt x="0" y="0"/>
                </a:lnTo>
                <a:lnTo>
                  <a:pt x="0" y="2856995"/>
                </a:lnTo>
                <a:lnTo>
                  <a:pt x="472260" y="2856995"/>
                </a:lnTo>
                <a:lnTo>
                  <a:pt x="472260" y="0"/>
                </a:lnTo>
                <a:close/>
              </a:path>
            </a:pathLst>
          </a:custGeom>
          <a:solidFill>
            <a:srgbClr val="FFFFFF">
              <a:alpha val="4117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6" name="object 96"/>
          <p:cNvGrpSpPr/>
          <p:nvPr/>
        </p:nvGrpSpPr>
        <p:grpSpPr>
          <a:xfrm>
            <a:off x="5302495" y="1325586"/>
            <a:ext cx="262414" cy="680561"/>
            <a:chOff x="7069993" y="1767447"/>
            <a:chExt cx="349885" cy="907415"/>
          </a:xfrm>
        </p:grpSpPr>
        <p:sp>
          <p:nvSpPr>
            <p:cNvPr id="97" name="object 97"/>
            <p:cNvSpPr/>
            <p:nvPr/>
          </p:nvSpPr>
          <p:spPr>
            <a:xfrm>
              <a:off x="7089043" y="1786497"/>
              <a:ext cx="311785" cy="869315"/>
            </a:xfrm>
            <a:custGeom>
              <a:avLst/>
              <a:gdLst/>
              <a:ahLst/>
              <a:cxnLst/>
              <a:rect l="l" t="t" r="r" b="b"/>
              <a:pathLst>
                <a:path w="311784" h="869314">
                  <a:moveTo>
                    <a:pt x="259473" y="0"/>
                  </a:move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817055"/>
                  </a:lnTo>
                  <a:lnTo>
                    <a:pt x="307290" y="837255"/>
                  </a:lnTo>
                  <a:lnTo>
                    <a:pt x="296169" y="853751"/>
                  </a:lnTo>
                  <a:lnTo>
                    <a:pt x="279673" y="864872"/>
                  </a:lnTo>
                  <a:lnTo>
                    <a:pt x="259473" y="868951"/>
                  </a:lnTo>
                  <a:lnTo>
                    <a:pt x="51895" y="868951"/>
                  </a:lnTo>
                  <a:lnTo>
                    <a:pt x="31695" y="864872"/>
                  </a:lnTo>
                  <a:lnTo>
                    <a:pt x="15199" y="853751"/>
                  </a:lnTo>
                  <a:lnTo>
                    <a:pt x="4078" y="837255"/>
                  </a:lnTo>
                  <a:lnTo>
                    <a:pt x="0" y="817055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close/>
                </a:path>
              </a:pathLst>
            </a:custGeom>
            <a:ln w="38100">
              <a:solidFill>
                <a:srgbClr val="FF7F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9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43945" y="1871047"/>
              <a:ext cx="203200" cy="203200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143945" y="2117307"/>
              <a:ext cx="203200" cy="20320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43945" y="2363566"/>
              <a:ext cx="203200" cy="203200"/>
            </a:xfrm>
            <a:prstGeom prst="rect">
              <a:avLst/>
            </a:prstGeom>
          </p:spPr>
        </p:pic>
      </p:grpSp>
      <p:sp>
        <p:nvSpPr>
          <p:cNvPr id="101" name="object 101"/>
          <p:cNvSpPr txBox="1"/>
          <p:nvPr/>
        </p:nvSpPr>
        <p:spPr>
          <a:xfrm>
            <a:off x="3322049" y="3592428"/>
            <a:ext cx="974408" cy="1393234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 marL="488633">
              <a:spcBef>
                <a:spcPts val="11"/>
              </a:spcBef>
              <a:tabLst>
                <a:tab pos="821055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endParaRPr sz="1294" baseline="-144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270"/>
              </a:spcBef>
            </a:pPr>
            <a:endParaRPr sz="863">
              <a:latin typeface="Tahoma"/>
              <a:cs typeface="Tahoma"/>
            </a:endParaRPr>
          </a:p>
          <a:p>
            <a:pPr marR="553403" algn="ctr">
              <a:lnSpc>
                <a:spcPts val="2078"/>
              </a:lnSpc>
              <a:spcBef>
                <a:spcPts val="4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  <a:p>
            <a:pPr marR="578168" algn="ctr">
              <a:lnSpc>
                <a:spcPts val="1718"/>
              </a:lnSpc>
            </a:pPr>
            <a:r>
              <a:rPr sz="1500" spc="-38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556945" y="4838700"/>
            <a:ext cx="88106" cy="15965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75" spc="-38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endParaRPr sz="975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42901" y="758571"/>
            <a:ext cx="4982528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700" dirty="0"/>
              <a:t>Let’s</a:t>
            </a:r>
            <a:r>
              <a:rPr sz="2700" spc="64" dirty="0"/>
              <a:t> </a:t>
            </a:r>
            <a:r>
              <a:rPr sz="2700" dirty="0"/>
              <a:t>illustrate</a:t>
            </a:r>
            <a:r>
              <a:rPr sz="2700" spc="64" dirty="0"/>
              <a:t> </a:t>
            </a:r>
            <a:r>
              <a:rPr sz="2700" spc="34" dirty="0"/>
              <a:t>another</a:t>
            </a:r>
            <a:r>
              <a:rPr sz="2700" spc="68" dirty="0"/>
              <a:t> </a:t>
            </a:r>
            <a:r>
              <a:rPr sz="2700" spc="-8" dirty="0"/>
              <a:t>example: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3155122" y="1271382"/>
            <a:ext cx="3501866" cy="838436"/>
          </a:xfrm>
          <a:prstGeom prst="rect">
            <a:avLst/>
          </a:prstGeom>
        </p:spPr>
        <p:txBody>
          <a:bodyPr vert="horz" wrap="square" lIns="0" tIns="147638" rIns="0" bIns="0" rtlCol="0">
            <a:spAutoFit/>
          </a:bodyPr>
          <a:lstStyle/>
          <a:p>
            <a:pPr marL="19050">
              <a:spcBef>
                <a:spcPts val="1163"/>
              </a:spcBef>
            </a:pPr>
            <a:r>
              <a:rPr sz="1763" spc="-19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744" spc="-28" baseline="-17921" dirty="0">
                <a:solidFill>
                  <a:srgbClr val="DE55B3"/>
                </a:solidFill>
                <a:latin typeface="Tahoma"/>
                <a:cs typeface="Tahoma"/>
              </a:rPr>
              <a:t>2</a:t>
            </a:r>
            <a:endParaRPr sz="1744" baseline="-17921">
              <a:latin typeface="Tahoma"/>
              <a:cs typeface="Tahoma"/>
            </a:endParaRPr>
          </a:p>
          <a:p>
            <a:pPr marL="1014413">
              <a:spcBef>
                <a:spcPts val="1110"/>
              </a:spcBef>
            </a:pPr>
            <a:r>
              <a:rPr sz="2194" baseline="1424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406" baseline="-17777" dirty="0">
                <a:solidFill>
                  <a:srgbClr val="DE55B3"/>
                </a:solidFill>
                <a:latin typeface="Tahoma"/>
                <a:cs typeface="Tahoma"/>
              </a:rPr>
              <a:t>2</a:t>
            </a:r>
            <a:r>
              <a:rPr sz="1406" spc="17" baseline="-17777" dirty="0">
                <a:solidFill>
                  <a:srgbClr val="DE55B3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r>
              <a:rPr sz="1406" spc="113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r>
              <a:rPr sz="1406" spc="107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r>
              <a:rPr sz="1406" spc="113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spc="-8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spc="-11" baseline="-17094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r>
              <a:rPr spc="-8" dirty="0">
                <a:latin typeface="Cambria Math"/>
                <a:cs typeface="Cambria Math"/>
              </a:rPr>
              <a:t>⋅</a:t>
            </a:r>
            <a:r>
              <a:rPr sz="2194" spc="-11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spc="-11" baseline="-17777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406" baseline="-17777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125403" y="1768536"/>
            <a:ext cx="262414" cy="680561"/>
            <a:chOff x="4167203" y="2358047"/>
            <a:chExt cx="349885" cy="907415"/>
          </a:xfrm>
        </p:grpSpPr>
        <p:sp>
          <p:nvSpPr>
            <p:cNvPr id="5" name="object 5"/>
            <p:cNvSpPr/>
            <p:nvPr/>
          </p:nvSpPr>
          <p:spPr>
            <a:xfrm>
              <a:off x="4186253" y="2377097"/>
              <a:ext cx="311785" cy="869315"/>
            </a:xfrm>
            <a:custGeom>
              <a:avLst/>
              <a:gdLst/>
              <a:ahLst/>
              <a:cxnLst/>
              <a:rect l="l" t="t" r="r" b="b"/>
              <a:pathLst>
                <a:path w="311785" h="869314">
                  <a:moveTo>
                    <a:pt x="259473" y="0"/>
                  </a:move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817055"/>
                  </a:lnTo>
                  <a:lnTo>
                    <a:pt x="307290" y="837255"/>
                  </a:lnTo>
                  <a:lnTo>
                    <a:pt x="296169" y="853751"/>
                  </a:lnTo>
                  <a:lnTo>
                    <a:pt x="279673" y="864872"/>
                  </a:lnTo>
                  <a:lnTo>
                    <a:pt x="259473" y="868951"/>
                  </a:lnTo>
                  <a:lnTo>
                    <a:pt x="51895" y="868951"/>
                  </a:lnTo>
                  <a:lnTo>
                    <a:pt x="31695" y="864872"/>
                  </a:lnTo>
                  <a:lnTo>
                    <a:pt x="15199" y="853751"/>
                  </a:lnTo>
                  <a:lnTo>
                    <a:pt x="4078" y="837255"/>
                  </a:lnTo>
                  <a:lnTo>
                    <a:pt x="0" y="817055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close/>
                </a:path>
              </a:pathLst>
            </a:custGeom>
            <a:ln w="38100">
              <a:solidFill>
                <a:srgbClr val="FF7F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156" y="2461647"/>
              <a:ext cx="203200" cy="203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1156" y="2707905"/>
              <a:ext cx="203200" cy="2032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156" y="2954164"/>
              <a:ext cx="203200" cy="2032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233174" y="3193923"/>
            <a:ext cx="2307908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dirty="0">
                <a:latin typeface="Tahoma"/>
                <a:cs typeface="Tahoma"/>
              </a:rPr>
              <a:t>Remember,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spc="41" dirty="0">
                <a:latin typeface="Tahoma"/>
                <a:cs typeface="Tahoma"/>
              </a:rPr>
              <a:t>we</a:t>
            </a:r>
            <a:r>
              <a:rPr sz="2100" spc="-38" dirty="0">
                <a:latin typeface="Tahoma"/>
                <a:cs typeface="Tahoma"/>
              </a:rPr>
              <a:t> </a:t>
            </a:r>
            <a:r>
              <a:rPr sz="2100" spc="-19" dirty="0">
                <a:latin typeface="Tahoma"/>
                <a:cs typeface="Tahoma"/>
              </a:rPr>
              <a:t>use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06566" y="3193022"/>
            <a:ext cx="3395663" cy="333746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0478" rIns="0" bIns="0" rtlCol="0">
            <a:spAutoFit/>
          </a:bodyPr>
          <a:lstStyle/>
          <a:p>
            <a:pPr>
              <a:spcBef>
                <a:spcPts val="83"/>
              </a:spcBef>
            </a:pPr>
            <a:r>
              <a:rPr sz="2100" spc="38" dirty="0">
                <a:latin typeface="Tahoma"/>
                <a:cs typeface="Tahoma"/>
              </a:rPr>
              <a:t>the</a:t>
            </a:r>
            <a:r>
              <a:rPr sz="2100" spc="-53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same</a:t>
            </a:r>
            <a:r>
              <a:rPr sz="2100" spc="-53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3</a:t>
            </a:r>
            <a:r>
              <a:rPr sz="2100" spc="-53" dirty="0">
                <a:latin typeface="Tahoma"/>
                <a:cs typeface="Tahoma"/>
              </a:rPr>
              <a:t> </a:t>
            </a:r>
            <a:r>
              <a:rPr sz="2100" spc="45" dirty="0">
                <a:latin typeface="Tahoma"/>
                <a:cs typeface="Tahoma"/>
              </a:rPr>
              <a:t>weight</a:t>
            </a:r>
            <a:r>
              <a:rPr sz="2100" spc="-56" dirty="0">
                <a:latin typeface="Tahoma"/>
                <a:cs typeface="Tahoma"/>
              </a:rPr>
              <a:t> </a:t>
            </a:r>
            <a:r>
              <a:rPr sz="2100" spc="-8" dirty="0">
                <a:latin typeface="Tahoma"/>
                <a:cs typeface="Tahoma"/>
              </a:rPr>
              <a:t>matrices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14124" y="3504819"/>
            <a:ext cx="4779645" cy="91884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 marR="22860">
              <a:lnSpc>
                <a:spcPct val="151400"/>
              </a:lnSpc>
              <a:spcBef>
                <a:spcPts val="75"/>
              </a:spcBef>
            </a:pPr>
            <a:r>
              <a:rPr sz="2100" dirty="0">
                <a:solidFill>
                  <a:srgbClr val="7030A0"/>
                </a:solidFill>
                <a:latin typeface="Tahoma"/>
                <a:cs typeface="Tahoma"/>
              </a:rPr>
              <a:t>W</a:t>
            </a:r>
            <a:r>
              <a:rPr sz="2138" baseline="-17543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2100" dirty="0">
                <a:latin typeface="Tahoma"/>
                <a:cs typeface="Tahoma"/>
              </a:rPr>
              <a:t>,</a:t>
            </a:r>
            <a:r>
              <a:rPr sz="2100" spc="-60" dirty="0"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7F6000"/>
                </a:solidFill>
                <a:latin typeface="Tahoma"/>
                <a:cs typeface="Tahoma"/>
              </a:rPr>
              <a:t>W</a:t>
            </a:r>
            <a:r>
              <a:rPr sz="2138" baseline="-17543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2100" dirty="0">
                <a:latin typeface="Tahoma"/>
                <a:cs typeface="Tahoma"/>
              </a:rPr>
              <a:t>,</a:t>
            </a:r>
            <a:r>
              <a:rPr sz="2100" spc="-60" dirty="0">
                <a:latin typeface="Tahoma"/>
                <a:cs typeface="Tahoma"/>
              </a:rPr>
              <a:t> </a:t>
            </a:r>
            <a:r>
              <a:rPr sz="2100" spc="53" dirty="0">
                <a:solidFill>
                  <a:srgbClr val="1F4E79"/>
                </a:solidFill>
                <a:latin typeface="Tahoma"/>
                <a:cs typeface="Tahoma"/>
              </a:rPr>
              <a:t>W</a:t>
            </a:r>
            <a:r>
              <a:rPr sz="2138" spc="78" baseline="-17543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2138" spc="213" baseline="-17543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as</a:t>
            </a:r>
            <a:r>
              <a:rPr sz="2100" spc="-64" dirty="0">
                <a:latin typeface="Tahoma"/>
                <a:cs typeface="Tahoma"/>
              </a:rPr>
              <a:t> </a:t>
            </a:r>
            <a:r>
              <a:rPr sz="2100" spc="41" dirty="0">
                <a:latin typeface="Tahoma"/>
                <a:cs typeface="Tahoma"/>
              </a:rPr>
              <a:t>we</a:t>
            </a:r>
            <a:r>
              <a:rPr sz="2100" spc="-53" dirty="0">
                <a:latin typeface="Tahoma"/>
                <a:cs typeface="Tahoma"/>
              </a:rPr>
              <a:t> </a:t>
            </a:r>
            <a:r>
              <a:rPr sz="2100" spc="83" dirty="0">
                <a:latin typeface="Tahoma"/>
                <a:cs typeface="Tahoma"/>
              </a:rPr>
              <a:t>did</a:t>
            </a:r>
            <a:r>
              <a:rPr sz="2100" spc="-56" dirty="0">
                <a:latin typeface="Tahoma"/>
                <a:cs typeface="Tahoma"/>
              </a:rPr>
              <a:t> </a:t>
            </a:r>
            <a:r>
              <a:rPr sz="2100" spc="49" dirty="0">
                <a:latin typeface="Tahoma"/>
                <a:cs typeface="Tahoma"/>
              </a:rPr>
              <a:t>for</a:t>
            </a:r>
            <a:r>
              <a:rPr sz="2100" spc="-53" dirty="0">
                <a:latin typeface="Tahoma"/>
                <a:cs typeface="Tahoma"/>
              </a:rPr>
              <a:t> </a:t>
            </a:r>
            <a:r>
              <a:rPr sz="2100" spc="49" dirty="0">
                <a:latin typeface="Tahoma"/>
                <a:cs typeface="Tahoma"/>
              </a:rPr>
              <a:t>computing</a:t>
            </a:r>
            <a:r>
              <a:rPr sz="2100" spc="-60" dirty="0">
                <a:latin typeface="Tahoma"/>
                <a:cs typeface="Tahoma"/>
              </a:rPr>
              <a:t> </a:t>
            </a:r>
            <a:r>
              <a:rPr sz="3094" spc="-28" baseline="1010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2081" spc="-28" baseline="-18018" dirty="0">
                <a:solidFill>
                  <a:srgbClr val="DE55B3"/>
                </a:solidFill>
                <a:latin typeface="Tahoma"/>
                <a:cs typeface="Tahoma"/>
              </a:rPr>
              <a:t>1</a:t>
            </a:r>
            <a:r>
              <a:rPr sz="2100" spc="-19" dirty="0">
                <a:latin typeface="Tahoma"/>
                <a:cs typeface="Tahoma"/>
              </a:rPr>
              <a:t>. </a:t>
            </a:r>
            <a:r>
              <a:rPr sz="2100" dirty="0">
                <a:latin typeface="Tahoma"/>
                <a:cs typeface="Tahoma"/>
              </a:rPr>
              <a:t>This</a:t>
            </a:r>
            <a:r>
              <a:rPr sz="2100" spc="-41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gives</a:t>
            </a:r>
            <a:r>
              <a:rPr sz="2100" spc="-38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us</a:t>
            </a:r>
            <a:r>
              <a:rPr sz="2100" spc="-38" dirty="0">
                <a:latin typeface="Tahoma"/>
                <a:cs typeface="Tahoma"/>
              </a:rPr>
              <a:t> </a:t>
            </a:r>
            <a:r>
              <a:rPr sz="3094" spc="73" baseline="1010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2081" spc="73" baseline="-18018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z="2138" b="1" spc="73" baseline="-17543" dirty="0">
                <a:solidFill>
                  <a:srgbClr val="7030A0"/>
                </a:solidFill>
                <a:latin typeface="Calibri"/>
                <a:cs typeface="Calibri"/>
              </a:rPr>
              <a:t>,</a:t>
            </a:r>
            <a:r>
              <a:rPr sz="2138" b="1" spc="11" baseline="-17543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3094" baseline="1010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2081" baseline="-18018" dirty="0">
                <a:solidFill>
                  <a:srgbClr val="7F6000"/>
                </a:solidFill>
                <a:latin typeface="Tahoma"/>
                <a:cs typeface="Tahoma"/>
              </a:rPr>
              <a:t>2,</a:t>
            </a:r>
            <a:r>
              <a:rPr sz="2081" spc="-23" baseline="-18018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3094" spc="-28" baseline="1010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2081" spc="-28" baseline="-18018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endParaRPr sz="2081" baseline="-18018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517" y="526165"/>
            <a:ext cx="4862036" cy="61436"/>
          </a:xfrm>
          <a:custGeom>
            <a:avLst/>
            <a:gdLst/>
            <a:ahLst/>
            <a:cxnLst/>
            <a:rect l="l" t="t" r="r" b="b"/>
            <a:pathLst>
              <a:path w="6482715" h="81915">
                <a:moveTo>
                  <a:pt x="6482647" y="0"/>
                </a:moveTo>
                <a:lnTo>
                  <a:pt x="0" y="0"/>
                </a:lnTo>
                <a:lnTo>
                  <a:pt x="0" y="81537"/>
                </a:lnTo>
                <a:lnTo>
                  <a:pt x="6482647" y="81537"/>
                </a:lnTo>
                <a:lnTo>
                  <a:pt x="64826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sp>
        <p:nvSpPr>
          <p:cNvPr id="4" name="object 4"/>
          <p:cNvSpPr/>
          <p:nvPr/>
        </p:nvSpPr>
        <p:spPr>
          <a:xfrm>
            <a:off x="455623" y="4047839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64988" y="4023507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6"/>
                </a:lnTo>
                <a:lnTo>
                  <a:pt x="210167" y="567436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31694" y="4012571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6" y="229395"/>
                </a:lnTo>
                <a:lnTo>
                  <a:pt x="119316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3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05235" y="4023506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467879" y="2921187"/>
            <a:ext cx="262414" cy="1052036"/>
            <a:chOff x="623838" y="3894915"/>
            <a:chExt cx="349885" cy="1402715"/>
          </a:xfrm>
        </p:grpSpPr>
        <p:sp>
          <p:nvSpPr>
            <p:cNvPr id="9" name="object 9"/>
            <p:cNvSpPr/>
            <p:nvPr/>
          </p:nvSpPr>
          <p:spPr>
            <a:xfrm>
              <a:off x="642888" y="39139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980915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734656"/>
              <a:ext cx="222250" cy="222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488397"/>
              <a:ext cx="222250" cy="2222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630" y="4236529"/>
              <a:ext cx="222250" cy="2222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915" y="3978532"/>
              <a:ext cx="222250" cy="22225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12086" y="4505325"/>
            <a:ext cx="442913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lnSpc>
                <a:spcPts val="2059"/>
              </a:lnSpc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  <a:p>
            <a:pPr marL="161925">
              <a:lnSpc>
                <a:spcPts val="1699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29777" y="4482465"/>
            <a:ext cx="692468" cy="48410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2033"/>
              </a:lnSpc>
              <a:spcBef>
                <a:spcPts val="75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  <a:p>
            <a:pPr marR="13335" algn="ctr">
              <a:lnSpc>
                <a:spcPts val="167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93475" y="4480179"/>
            <a:ext cx="471964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2078"/>
              </a:lnSpc>
              <a:spcBef>
                <a:spcPts val="75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  <a:p>
            <a:pPr marL="43814" algn="ctr">
              <a:lnSpc>
                <a:spcPts val="1718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38885" y="4500753"/>
            <a:ext cx="380048" cy="4712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lnSpc>
                <a:spcPts val="2002"/>
              </a:lnSpc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  <a:p>
            <a:pPr marL="140970">
              <a:lnSpc>
                <a:spcPts val="164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83456" y="465201"/>
            <a:ext cx="2616041" cy="7021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 marR="22860" algn="just">
              <a:spcBef>
                <a:spcPts val="75"/>
              </a:spcBef>
            </a:pPr>
            <a:r>
              <a:rPr sz="1500" spc="38" dirty="0">
                <a:latin typeface="Tahoma"/>
                <a:cs typeface="Tahoma"/>
              </a:rPr>
              <a:t>Under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hood,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each </a:t>
            </a:r>
            <a:r>
              <a:rPr sz="1500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baseline="-17094" dirty="0">
                <a:solidFill>
                  <a:srgbClr val="0070C0"/>
                </a:solidFill>
                <a:latin typeface="Tahoma"/>
                <a:cs typeface="Tahoma"/>
              </a:rPr>
              <a:t>i</a:t>
            </a:r>
            <a:r>
              <a:rPr sz="1463" spc="259" baseline="-17094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has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spc="-38" dirty="0">
                <a:latin typeface="Tahoma"/>
                <a:cs typeface="Tahoma"/>
              </a:rPr>
              <a:t>3 </a:t>
            </a:r>
            <a:r>
              <a:rPr sz="1500" dirty="0">
                <a:latin typeface="Tahoma"/>
                <a:cs typeface="Tahoma"/>
              </a:rPr>
              <a:t>small,</a:t>
            </a:r>
            <a:r>
              <a:rPr sz="1500" spc="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associated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vectors.</a:t>
            </a:r>
            <a:r>
              <a:rPr sz="1500" spc="49" dirty="0">
                <a:latin typeface="Tahoma"/>
                <a:cs typeface="Tahoma"/>
              </a:rPr>
              <a:t> </a:t>
            </a:r>
            <a:r>
              <a:rPr sz="1500" spc="34" dirty="0">
                <a:latin typeface="Tahoma"/>
                <a:cs typeface="Tahoma"/>
              </a:rPr>
              <a:t>For </a:t>
            </a:r>
            <a:r>
              <a:rPr sz="1500" dirty="0">
                <a:latin typeface="Tahoma"/>
                <a:cs typeface="Tahoma"/>
              </a:rPr>
              <a:t>example,</a:t>
            </a:r>
            <a:r>
              <a:rPr sz="1500" spc="41" dirty="0"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r>
              <a:rPr sz="1463" spc="332" baseline="-17094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1500" spc="-15" dirty="0">
                <a:latin typeface="Tahoma"/>
                <a:cs typeface="Tahoma"/>
              </a:rPr>
              <a:t>has: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83457" y="1123568"/>
            <a:ext cx="1099185" cy="1048364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285274" indent="-256699">
              <a:spcBef>
                <a:spcPts val="975"/>
              </a:spcBef>
              <a:buFont typeface="Arial MT"/>
              <a:buChar char="•"/>
              <a:tabLst>
                <a:tab pos="285274" algn="l"/>
              </a:tabLst>
            </a:pPr>
            <a:r>
              <a:rPr sz="1500" spc="38" dirty="0">
                <a:solidFill>
                  <a:srgbClr val="7030A0"/>
                </a:solidFill>
                <a:latin typeface="Tahoma"/>
                <a:cs typeface="Tahoma"/>
              </a:rPr>
              <a:t>Query</a:t>
            </a:r>
            <a:r>
              <a:rPr sz="1500" spc="-38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2194" spc="67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67" baseline="-15555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endParaRPr sz="1406" baseline="-15555">
              <a:latin typeface="Tahoma"/>
              <a:cs typeface="Tahoma"/>
            </a:endParaRPr>
          </a:p>
          <a:p>
            <a:pPr marL="285274" indent="-256699">
              <a:spcBef>
                <a:spcPts val="900"/>
              </a:spcBef>
              <a:buFont typeface="Arial MT"/>
              <a:buChar char="•"/>
              <a:tabLst>
                <a:tab pos="285274" algn="l"/>
              </a:tabLst>
            </a:pPr>
            <a:r>
              <a:rPr sz="1500" spc="41" dirty="0">
                <a:solidFill>
                  <a:srgbClr val="BF9000"/>
                </a:solidFill>
                <a:latin typeface="Tahoma"/>
                <a:cs typeface="Tahoma"/>
              </a:rPr>
              <a:t>Key</a:t>
            </a:r>
            <a:r>
              <a:rPr sz="1500" spc="-41" dirty="0">
                <a:solidFill>
                  <a:srgbClr val="BF9000"/>
                </a:solidFill>
                <a:latin typeface="Tahoma"/>
                <a:cs typeface="Tahoma"/>
              </a:rPr>
              <a:t> </a:t>
            </a:r>
            <a:r>
              <a:rPr sz="2194" spc="-28" baseline="1424" dirty="0">
                <a:solidFill>
                  <a:srgbClr val="BF9000"/>
                </a:solidFill>
                <a:latin typeface="Tahoma"/>
                <a:cs typeface="Tahoma"/>
              </a:rPr>
              <a:t>k</a:t>
            </a:r>
            <a:r>
              <a:rPr sz="1406" spc="-28" baseline="-15555" dirty="0">
                <a:solidFill>
                  <a:srgbClr val="BF9000"/>
                </a:solidFill>
                <a:latin typeface="Tahoma"/>
                <a:cs typeface="Tahoma"/>
              </a:rPr>
              <a:t>1</a:t>
            </a:r>
            <a:endParaRPr sz="1406" baseline="-15555">
              <a:latin typeface="Tahoma"/>
              <a:cs typeface="Tahoma"/>
            </a:endParaRPr>
          </a:p>
          <a:p>
            <a:pPr marL="285274" indent="-256699">
              <a:spcBef>
                <a:spcPts val="900"/>
              </a:spcBef>
              <a:buFont typeface="Arial MT"/>
              <a:buChar char="•"/>
              <a:tabLst>
                <a:tab pos="285274" algn="l"/>
              </a:tabLst>
            </a:pPr>
            <a:r>
              <a:rPr sz="1500" dirty="0">
                <a:solidFill>
                  <a:srgbClr val="0070C0"/>
                </a:solidFill>
                <a:latin typeface="Tahoma"/>
                <a:cs typeface="Tahoma"/>
              </a:rPr>
              <a:t>Value</a:t>
            </a:r>
            <a:r>
              <a:rPr sz="1500" spc="-71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2194" spc="-28" baseline="1424" dirty="0">
                <a:solidFill>
                  <a:srgbClr val="0070C0"/>
                </a:solidFill>
                <a:latin typeface="Tahoma"/>
                <a:cs typeface="Tahoma"/>
              </a:rPr>
              <a:t>v</a:t>
            </a:r>
            <a:r>
              <a:rPr sz="1406" spc="-28" baseline="-15555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endParaRPr sz="1406" baseline="-15555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06882" y="2918759"/>
            <a:ext cx="552926" cy="653891"/>
            <a:chOff x="1075842" y="3891678"/>
            <a:chExt cx="737235" cy="871855"/>
          </a:xfrm>
        </p:grpSpPr>
        <p:sp>
          <p:nvSpPr>
            <p:cNvPr id="22" name="object 22"/>
            <p:cNvSpPr/>
            <p:nvPr/>
          </p:nvSpPr>
          <p:spPr>
            <a:xfrm>
              <a:off x="1094892" y="391396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159" y="4497922"/>
              <a:ext cx="203199" cy="2032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8159" y="4246053"/>
              <a:ext cx="203199" cy="2032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0443" y="3988056"/>
              <a:ext cx="203200" cy="2032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482035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5301" y="4494685"/>
              <a:ext cx="203200" cy="2032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5301" y="4242816"/>
              <a:ext cx="203200" cy="2032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7586" y="3984820"/>
              <a:ext cx="203199" cy="203200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1393244" y="2918759"/>
            <a:ext cx="262414" cy="651510"/>
            <a:chOff x="1857658" y="3891678"/>
            <a:chExt cx="349885" cy="868680"/>
          </a:xfrm>
        </p:grpSpPr>
        <p:sp>
          <p:nvSpPr>
            <p:cNvPr id="31" name="object 31"/>
            <p:cNvSpPr/>
            <p:nvPr/>
          </p:nvSpPr>
          <p:spPr>
            <a:xfrm>
              <a:off x="1876708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29974" y="4494685"/>
              <a:ext cx="203200" cy="2032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9974" y="4242816"/>
              <a:ext cx="203200" cy="2032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32259" y="3984820"/>
              <a:ext cx="203200" cy="203200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1939598" y="2927118"/>
            <a:ext cx="262414" cy="1052036"/>
            <a:chOff x="2586130" y="3902823"/>
            <a:chExt cx="349885" cy="1402715"/>
          </a:xfrm>
        </p:grpSpPr>
        <p:sp>
          <p:nvSpPr>
            <p:cNvPr id="36" name="object 36"/>
            <p:cNvSpPr/>
            <p:nvPr/>
          </p:nvSpPr>
          <p:spPr>
            <a:xfrm>
              <a:off x="2605180" y="3921873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988823"/>
              <a:ext cx="222250" cy="22225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742563"/>
              <a:ext cx="222250" cy="22225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496305"/>
              <a:ext cx="222250" cy="22225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244435"/>
              <a:ext cx="222250" cy="22225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206" y="3986439"/>
              <a:ext cx="222250" cy="222250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2278601" y="2924689"/>
            <a:ext cx="552926" cy="653891"/>
            <a:chOff x="3038134" y="3899585"/>
            <a:chExt cx="737235" cy="871855"/>
          </a:xfrm>
        </p:grpSpPr>
        <p:sp>
          <p:nvSpPr>
            <p:cNvPr id="43" name="object 43"/>
            <p:cNvSpPr/>
            <p:nvPr/>
          </p:nvSpPr>
          <p:spPr>
            <a:xfrm>
              <a:off x="3057184" y="3921872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1" y="4505829"/>
              <a:ext cx="203200" cy="2032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1" y="4253960"/>
              <a:ext cx="203200" cy="2032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2734" y="3995963"/>
              <a:ext cx="203200" cy="20320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444327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7594" y="4502591"/>
              <a:ext cx="203200" cy="2032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7594" y="4250722"/>
              <a:ext cx="203200" cy="2032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9877" y="3992726"/>
              <a:ext cx="203200" cy="203200"/>
            </a:xfrm>
            <a:prstGeom prst="rect">
              <a:avLst/>
            </a:prstGeom>
          </p:spPr>
        </p:pic>
      </p:grpSp>
      <p:grpSp>
        <p:nvGrpSpPr>
          <p:cNvPr id="51" name="object 51"/>
          <p:cNvGrpSpPr/>
          <p:nvPr/>
        </p:nvGrpSpPr>
        <p:grpSpPr>
          <a:xfrm>
            <a:off x="2864963" y="2924689"/>
            <a:ext cx="262414" cy="651510"/>
            <a:chOff x="3819950" y="3899585"/>
            <a:chExt cx="349885" cy="868680"/>
          </a:xfrm>
        </p:grpSpPr>
        <p:sp>
          <p:nvSpPr>
            <p:cNvPr id="52" name="object 52"/>
            <p:cNvSpPr/>
            <p:nvPr/>
          </p:nvSpPr>
          <p:spPr>
            <a:xfrm>
              <a:off x="3839000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92266" y="4502591"/>
              <a:ext cx="203200" cy="2032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2266" y="4250722"/>
              <a:ext cx="203200" cy="2032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94551" y="3992726"/>
              <a:ext cx="203200" cy="203200"/>
            </a:xfrm>
            <a:prstGeom prst="rect">
              <a:avLst/>
            </a:prstGeom>
          </p:spPr>
        </p:pic>
      </p:grpSp>
      <p:grpSp>
        <p:nvGrpSpPr>
          <p:cNvPr id="56" name="object 56"/>
          <p:cNvGrpSpPr/>
          <p:nvPr/>
        </p:nvGrpSpPr>
        <p:grpSpPr>
          <a:xfrm>
            <a:off x="3417407" y="2924689"/>
            <a:ext cx="262414" cy="1052036"/>
            <a:chOff x="4556542" y="3899585"/>
            <a:chExt cx="349885" cy="1402715"/>
          </a:xfrm>
        </p:grpSpPr>
        <p:sp>
          <p:nvSpPr>
            <p:cNvPr id="57" name="object 57"/>
            <p:cNvSpPr/>
            <p:nvPr/>
          </p:nvSpPr>
          <p:spPr>
            <a:xfrm>
              <a:off x="4575592" y="391863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985584"/>
              <a:ext cx="222250" cy="22225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739326"/>
              <a:ext cx="222250" cy="22225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493066"/>
              <a:ext cx="222250" cy="22225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335" y="4241198"/>
              <a:ext cx="222250" cy="22225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620" y="3983201"/>
              <a:ext cx="222250" cy="222250"/>
            </a:xfrm>
            <a:prstGeom prst="rect">
              <a:avLst/>
            </a:prstGeom>
          </p:spPr>
        </p:pic>
      </p:grpSp>
      <p:grpSp>
        <p:nvGrpSpPr>
          <p:cNvPr id="63" name="object 63"/>
          <p:cNvGrpSpPr/>
          <p:nvPr/>
        </p:nvGrpSpPr>
        <p:grpSpPr>
          <a:xfrm>
            <a:off x="3756411" y="2922262"/>
            <a:ext cx="552926" cy="653891"/>
            <a:chOff x="5008547" y="3896348"/>
            <a:chExt cx="737235" cy="871855"/>
          </a:xfrm>
        </p:grpSpPr>
        <p:sp>
          <p:nvSpPr>
            <p:cNvPr id="64" name="object 64"/>
            <p:cNvSpPr/>
            <p:nvPr/>
          </p:nvSpPr>
          <p:spPr>
            <a:xfrm>
              <a:off x="5027597" y="3918634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0863" y="4502590"/>
              <a:ext cx="203200" cy="20320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0863" y="4250721"/>
              <a:ext cx="203200" cy="20320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3148" y="3992726"/>
              <a:ext cx="203200" cy="20320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5414740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8006" y="4499353"/>
              <a:ext cx="203200" cy="20320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68006" y="4247484"/>
              <a:ext cx="203200" cy="20320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70291" y="3989489"/>
              <a:ext cx="203200" cy="203200"/>
            </a:xfrm>
            <a:prstGeom prst="rect">
              <a:avLst/>
            </a:prstGeom>
          </p:spPr>
        </p:pic>
      </p:grpSp>
      <p:grpSp>
        <p:nvGrpSpPr>
          <p:cNvPr id="72" name="object 72"/>
          <p:cNvGrpSpPr/>
          <p:nvPr/>
        </p:nvGrpSpPr>
        <p:grpSpPr>
          <a:xfrm>
            <a:off x="4342773" y="2922261"/>
            <a:ext cx="262414" cy="651510"/>
            <a:chOff x="5790363" y="3896348"/>
            <a:chExt cx="349885" cy="868680"/>
          </a:xfrm>
        </p:grpSpPr>
        <p:sp>
          <p:nvSpPr>
            <p:cNvPr id="73" name="object 73"/>
            <p:cNvSpPr/>
            <p:nvPr/>
          </p:nvSpPr>
          <p:spPr>
            <a:xfrm>
              <a:off x="5809413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2679" y="4499353"/>
              <a:ext cx="203200" cy="203200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62679" y="4247484"/>
              <a:ext cx="203200" cy="20320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4964" y="3989489"/>
              <a:ext cx="203200" cy="203200"/>
            </a:xfrm>
            <a:prstGeom prst="rect">
              <a:avLst/>
            </a:prstGeom>
          </p:spPr>
        </p:pic>
      </p:grpSp>
      <p:grpSp>
        <p:nvGrpSpPr>
          <p:cNvPr id="77" name="object 77"/>
          <p:cNvGrpSpPr/>
          <p:nvPr/>
        </p:nvGrpSpPr>
        <p:grpSpPr>
          <a:xfrm>
            <a:off x="4890948" y="2918758"/>
            <a:ext cx="262414" cy="1052036"/>
            <a:chOff x="6521263" y="3891677"/>
            <a:chExt cx="349885" cy="1402715"/>
          </a:xfrm>
        </p:grpSpPr>
        <p:sp>
          <p:nvSpPr>
            <p:cNvPr id="78" name="object 78"/>
            <p:cNvSpPr/>
            <p:nvPr/>
          </p:nvSpPr>
          <p:spPr>
            <a:xfrm>
              <a:off x="6540313" y="3910727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977677"/>
              <a:ext cx="222250" cy="22225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731417"/>
              <a:ext cx="222250" cy="22225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055" y="4485158"/>
              <a:ext cx="222250" cy="22225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233289"/>
              <a:ext cx="222250" cy="22225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6340" y="3975294"/>
              <a:ext cx="222250" cy="222250"/>
            </a:xfrm>
            <a:prstGeom prst="rect">
              <a:avLst/>
            </a:prstGeom>
          </p:spPr>
        </p:pic>
      </p:grpSp>
      <p:grpSp>
        <p:nvGrpSpPr>
          <p:cNvPr id="84" name="object 84"/>
          <p:cNvGrpSpPr/>
          <p:nvPr/>
        </p:nvGrpSpPr>
        <p:grpSpPr>
          <a:xfrm>
            <a:off x="5229951" y="2916330"/>
            <a:ext cx="552926" cy="653891"/>
            <a:chOff x="6973267" y="3888439"/>
            <a:chExt cx="737235" cy="871855"/>
          </a:xfrm>
        </p:grpSpPr>
        <p:sp>
          <p:nvSpPr>
            <p:cNvPr id="85" name="object 85"/>
            <p:cNvSpPr/>
            <p:nvPr/>
          </p:nvSpPr>
          <p:spPr>
            <a:xfrm>
              <a:off x="6992317" y="3910727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5583" y="4494682"/>
              <a:ext cx="203200" cy="20320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5583" y="4242813"/>
              <a:ext cx="203200" cy="20320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7867" y="3984818"/>
              <a:ext cx="203200" cy="203200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7379460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491446"/>
              <a:ext cx="203200" cy="203198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239577"/>
              <a:ext cx="203200" cy="20320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35010" y="3981580"/>
              <a:ext cx="203200" cy="203200"/>
            </a:xfrm>
            <a:prstGeom prst="rect">
              <a:avLst/>
            </a:prstGeom>
          </p:spPr>
        </p:pic>
      </p:grpSp>
      <p:grpSp>
        <p:nvGrpSpPr>
          <p:cNvPr id="93" name="object 93"/>
          <p:cNvGrpSpPr/>
          <p:nvPr/>
        </p:nvGrpSpPr>
        <p:grpSpPr>
          <a:xfrm>
            <a:off x="5816313" y="2916329"/>
            <a:ext cx="262414" cy="651510"/>
            <a:chOff x="7755083" y="3888439"/>
            <a:chExt cx="349885" cy="868680"/>
          </a:xfrm>
        </p:grpSpPr>
        <p:sp>
          <p:nvSpPr>
            <p:cNvPr id="94" name="object 94"/>
            <p:cNvSpPr/>
            <p:nvPr/>
          </p:nvSpPr>
          <p:spPr>
            <a:xfrm>
              <a:off x="7774133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491446"/>
              <a:ext cx="203200" cy="203198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239577"/>
              <a:ext cx="203200" cy="203200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29683" y="3981580"/>
              <a:ext cx="203200" cy="203200"/>
            </a:xfrm>
            <a:prstGeom prst="rect">
              <a:avLst/>
            </a:prstGeom>
          </p:spPr>
        </p:pic>
      </p:grpSp>
      <p:sp>
        <p:nvSpPr>
          <p:cNvPr id="98" name="object 98"/>
          <p:cNvSpPr txBox="1"/>
          <p:nvPr/>
        </p:nvSpPr>
        <p:spPr>
          <a:xfrm>
            <a:off x="2269923" y="3585189"/>
            <a:ext cx="561975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38100">
              <a:spcBef>
                <a:spcPts val="86"/>
              </a:spcBef>
              <a:tabLst>
                <a:tab pos="370523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289571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97483" y="3585189"/>
            <a:ext cx="561975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38100">
              <a:spcBef>
                <a:spcPts val="86"/>
              </a:spcBef>
              <a:tabLst>
                <a:tab pos="370523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42327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772727" y="3582903"/>
            <a:ext cx="851535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38100">
              <a:spcBef>
                <a:spcPts val="86"/>
              </a:spcBef>
              <a:tabLst>
                <a:tab pos="370523" algn="l"/>
                <a:tab pos="653891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2077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endParaRPr sz="1294" baseline="-12077">
              <a:latin typeface="Tahoma"/>
              <a:cs typeface="Tahom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5243436" y="3576045"/>
            <a:ext cx="561975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38100">
              <a:spcBef>
                <a:spcPts val="86"/>
              </a:spcBef>
              <a:tabLst>
                <a:tab pos="370523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4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5869226" y="3569187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783583" y="681121"/>
            <a:ext cx="619125" cy="23948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8573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500" spc="41" dirty="0">
                <a:latin typeface="Tahoma"/>
                <a:cs typeface="Tahoma"/>
              </a:rPr>
              <a:t>Step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spc="-38" dirty="0">
                <a:latin typeface="Tahoma"/>
                <a:cs typeface="Tahoma"/>
              </a:rPr>
              <a:t>1: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436046" y="680084"/>
            <a:ext cx="3720465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500" spc="56" dirty="0">
                <a:latin typeface="Tahoma"/>
                <a:cs typeface="Tahoma"/>
              </a:rPr>
              <a:t>Our</a:t>
            </a:r>
            <a:r>
              <a:rPr sz="1500" spc="-71" dirty="0">
                <a:latin typeface="Tahoma"/>
                <a:cs typeface="Tahoma"/>
              </a:rPr>
              <a:t> </a:t>
            </a:r>
            <a:r>
              <a:rPr sz="1500" spc="-8" dirty="0">
                <a:latin typeface="Tahoma"/>
                <a:cs typeface="Tahoma"/>
              </a:rPr>
              <a:t>Self-</a:t>
            </a:r>
            <a:r>
              <a:rPr sz="1500" spc="41" dirty="0">
                <a:latin typeface="Tahoma"/>
                <a:cs typeface="Tahoma"/>
              </a:rPr>
              <a:t>Attention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spc="53" dirty="0">
                <a:latin typeface="Tahoma"/>
                <a:cs typeface="Tahoma"/>
              </a:rPr>
              <a:t>Head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has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just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3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spc="-8" dirty="0">
                <a:latin typeface="Tahoma"/>
                <a:cs typeface="Tahoma"/>
              </a:rPr>
              <a:t>weight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55008" y="908684"/>
            <a:ext cx="2509838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dirty="0">
                <a:latin typeface="Tahoma"/>
                <a:cs typeface="Tahoma"/>
              </a:rPr>
              <a:t>matrices</a:t>
            </a:r>
            <a:r>
              <a:rPr sz="1500" spc="-19" dirty="0">
                <a:latin typeface="Tahoma"/>
                <a:cs typeface="Tahoma"/>
              </a:rPr>
              <a:t> </a:t>
            </a:r>
            <a:r>
              <a:rPr sz="1500" spc="38" dirty="0">
                <a:solidFill>
                  <a:srgbClr val="7030A0"/>
                </a:solidFill>
                <a:latin typeface="Tahoma"/>
                <a:cs typeface="Tahoma"/>
              </a:rPr>
              <a:t>W</a:t>
            </a:r>
            <a:r>
              <a:rPr sz="1463" spc="56" baseline="-1709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500" spc="38" dirty="0">
                <a:latin typeface="Tahoma"/>
                <a:cs typeface="Tahoma"/>
              </a:rPr>
              <a:t>,</a:t>
            </a:r>
            <a:r>
              <a:rPr sz="1500" spc="-26" dirty="0"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7F6000"/>
                </a:solidFill>
                <a:latin typeface="Tahoma"/>
                <a:cs typeface="Tahoma"/>
              </a:rPr>
              <a:t>W</a:t>
            </a:r>
            <a:r>
              <a:rPr sz="1463" baseline="-1709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26" dirty="0">
                <a:latin typeface="Tahoma"/>
                <a:cs typeface="Tahoma"/>
              </a:rPr>
              <a:t> </a:t>
            </a:r>
            <a:r>
              <a:rPr sz="1500" spc="38" dirty="0">
                <a:solidFill>
                  <a:srgbClr val="1F4E79"/>
                </a:solidFill>
                <a:latin typeface="Tahoma"/>
                <a:cs typeface="Tahoma"/>
              </a:rPr>
              <a:t>W</a:t>
            </a:r>
            <a:r>
              <a:rPr sz="1463" spc="56" baseline="-1709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63" spc="236" baseline="-17094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-8" dirty="0">
                <a:latin typeface="Tahoma"/>
                <a:cs typeface="Tahoma"/>
              </a:rPr>
              <a:t>total.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288659" y="909721"/>
            <a:ext cx="1866900" cy="23948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8573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500" dirty="0">
                <a:latin typeface="Tahoma"/>
                <a:cs typeface="Tahoma"/>
              </a:rPr>
              <a:t>These</a:t>
            </a:r>
            <a:r>
              <a:rPr sz="1500" spc="-23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same</a:t>
            </a:r>
            <a:r>
              <a:rPr sz="1500" spc="-1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3</a:t>
            </a:r>
            <a:r>
              <a:rPr sz="1500" spc="-19" dirty="0">
                <a:latin typeface="Tahoma"/>
                <a:cs typeface="Tahoma"/>
              </a:rPr>
              <a:t> </a:t>
            </a:r>
            <a:r>
              <a:rPr sz="1500" spc="-8" dirty="0">
                <a:latin typeface="Tahoma"/>
                <a:cs typeface="Tahoma"/>
              </a:rPr>
              <a:t>weight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783583" y="1138321"/>
            <a:ext cx="728663" cy="23948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8573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500" spc="-8" dirty="0">
                <a:latin typeface="Tahoma"/>
                <a:cs typeface="Tahoma"/>
              </a:rPr>
              <a:t>matrices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536059" y="1137284"/>
            <a:ext cx="3922871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dirty="0">
                <a:latin typeface="Tahoma"/>
                <a:cs typeface="Tahoma"/>
              </a:rPr>
              <a:t>are</a:t>
            </a:r>
            <a:r>
              <a:rPr sz="1500" spc="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multiplied</a:t>
            </a:r>
            <a:r>
              <a:rPr sz="1500" spc="8" dirty="0">
                <a:latin typeface="Tahoma"/>
                <a:cs typeface="Tahoma"/>
              </a:rPr>
              <a:t> </a:t>
            </a:r>
            <a:r>
              <a:rPr sz="1500" spc="45" dirty="0">
                <a:latin typeface="Tahoma"/>
                <a:cs typeface="Tahoma"/>
              </a:rPr>
              <a:t>by</a:t>
            </a:r>
            <a:r>
              <a:rPr sz="1500" spc="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each</a:t>
            </a:r>
            <a:r>
              <a:rPr sz="1500" spc="8" dirty="0"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baseline="-17094" dirty="0">
                <a:solidFill>
                  <a:srgbClr val="0070C0"/>
                </a:solidFill>
                <a:latin typeface="Tahoma"/>
                <a:cs typeface="Tahoma"/>
              </a:rPr>
              <a:t>i</a:t>
            </a:r>
            <a:r>
              <a:rPr sz="1463" spc="-56" baseline="-17094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1500" spc="56" dirty="0">
                <a:latin typeface="Tahoma"/>
                <a:cs typeface="Tahoma"/>
              </a:rPr>
              <a:t>to</a:t>
            </a:r>
            <a:r>
              <a:rPr sz="1500" spc="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create</a:t>
            </a:r>
            <a:r>
              <a:rPr sz="1500" spc="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all </a:t>
            </a:r>
            <a:r>
              <a:rPr sz="1500" spc="-8" dirty="0">
                <a:latin typeface="Tahoma"/>
                <a:cs typeface="Tahoma"/>
              </a:rPr>
              <a:t>vectors: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1074940" y="1499235"/>
            <a:ext cx="941546" cy="102457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8575" marR="22860" algn="just">
              <a:lnSpc>
                <a:spcPct val="126299"/>
              </a:lnSpc>
              <a:spcBef>
                <a:spcPts val="135"/>
              </a:spcBef>
            </a:pPr>
            <a:r>
              <a:rPr sz="2644" spc="107" baseline="1182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744" spc="107" baseline="-17921" dirty="0">
                <a:solidFill>
                  <a:srgbClr val="7030A0"/>
                </a:solidFill>
                <a:latin typeface="Tahoma"/>
                <a:cs typeface="Tahoma"/>
              </a:rPr>
              <a:t>i</a:t>
            </a:r>
            <a:r>
              <a:rPr sz="1744" spc="-39" baseline="-17921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pc="-120" dirty="0">
                <a:solidFill>
                  <a:srgbClr val="7030A0"/>
                </a:solidFill>
                <a:latin typeface="Tahoma"/>
                <a:cs typeface="Tahoma"/>
              </a:rPr>
              <a:t>=</a:t>
            </a:r>
            <a:r>
              <a:rPr spc="-68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2644" spc="50" baseline="1182" dirty="0">
                <a:solidFill>
                  <a:srgbClr val="7030A0"/>
                </a:solidFill>
                <a:latin typeface="Tahoma"/>
                <a:cs typeface="Tahoma"/>
              </a:rPr>
              <a:t>w</a:t>
            </a:r>
            <a:r>
              <a:rPr sz="1744" spc="50" baseline="-17921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744" spc="-45" baseline="-17921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pc="-8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pc="-11" baseline="-17361" dirty="0">
                <a:solidFill>
                  <a:srgbClr val="0070C0"/>
                </a:solidFill>
                <a:latin typeface="Tahoma"/>
                <a:cs typeface="Tahoma"/>
              </a:rPr>
              <a:t>i</a:t>
            </a:r>
            <a:r>
              <a:rPr spc="28" baseline="-17361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2644" spc="5" baseline="1182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744" spc="5" baseline="-17921" dirty="0">
                <a:solidFill>
                  <a:srgbClr val="7F6000"/>
                </a:solidFill>
                <a:latin typeface="Tahoma"/>
                <a:cs typeface="Tahoma"/>
              </a:rPr>
              <a:t>i</a:t>
            </a:r>
            <a:r>
              <a:rPr sz="1744" spc="-39" baseline="-17921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pc="-120" dirty="0">
                <a:solidFill>
                  <a:srgbClr val="7030A0"/>
                </a:solidFill>
                <a:latin typeface="Tahoma"/>
                <a:cs typeface="Tahoma"/>
              </a:rPr>
              <a:t>=</a:t>
            </a:r>
            <a:r>
              <a:rPr spc="-68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2644" spc="-17" baseline="1182" dirty="0">
                <a:solidFill>
                  <a:srgbClr val="7F6000"/>
                </a:solidFill>
                <a:latin typeface="Tahoma"/>
                <a:cs typeface="Tahoma"/>
              </a:rPr>
              <a:t>w</a:t>
            </a:r>
            <a:r>
              <a:rPr sz="1744" spc="-17" baseline="-17921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744" spc="-39" baseline="-17921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pc="-8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pc="-11" baseline="-17361" dirty="0">
                <a:solidFill>
                  <a:srgbClr val="0070C0"/>
                </a:solidFill>
                <a:latin typeface="Tahoma"/>
                <a:cs typeface="Tahoma"/>
              </a:rPr>
              <a:t>i</a:t>
            </a:r>
            <a:r>
              <a:rPr spc="28" baseline="-17361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2644" spc="5" baseline="1182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744" spc="5" baseline="-17921" dirty="0">
                <a:solidFill>
                  <a:srgbClr val="1F4E79"/>
                </a:solidFill>
                <a:latin typeface="Tahoma"/>
                <a:cs typeface="Tahoma"/>
              </a:rPr>
              <a:t>i</a:t>
            </a:r>
            <a:r>
              <a:rPr sz="1744" spc="-39" baseline="-17921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pc="-120" dirty="0">
                <a:solidFill>
                  <a:srgbClr val="7030A0"/>
                </a:solidFill>
                <a:latin typeface="Tahoma"/>
                <a:cs typeface="Tahoma"/>
              </a:rPr>
              <a:t>=</a:t>
            </a:r>
            <a:r>
              <a:rPr spc="-68" dirty="0">
                <a:solidFill>
                  <a:srgbClr val="7030A0"/>
                </a:solidFill>
                <a:latin typeface="Tahoma"/>
                <a:cs typeface="Tahoma"/>
              </a:rPr>
              <a:t> </a:t>
            </a:r>
            <a:r>
              <a:rPr sz="2644" spc="-17" baseline="1182" dirty="0">
                <a:solidFill>
                  <a:srgbClr val="1F4E79"/>
                </a:solidFill>
                <a:latin typeface="Tahoma"/>
                <a:cs typeface="Tahoma"/>
              </a:rPr>
              <a:t>w</a:t>
            </a:r>
            <a:r>
              <a:rPr sz="1744" spc="-17" baseline="-17921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744" spc="-39" baseline="-17921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pc="-8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pc="-11" baseline="-17361" dirty="0">
                <a:solidFill>
                  <a:srgbClr val="0070C0"/>
                </a:solidFill>
                <a:latin typeface="Tahoma"/>
                <a:cs typeface="Tahoma"/>
              </a:rPr>
              <a:t>i</a:t>
            </a:r>
            <a:endParaRPr baseline="-17361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517" y="526165"/>
            <a:ext cx="4862036" cy="61436"/>
          </a:xfrm>
          <a:custGeom>
            <a:avLst/>
            <a:gdLst/>
            <a:ahLst/>
            <a:cxnLst/>
            <a:rect l="l" t="t" r="r" b="b"/>
            <a:pathLst>
              <a:path w="6482715" h="81915">
                <a:moveTo>
                  <a:pt x="6482647" y="0"/>
                </a:moveTo>
                <a:lnTo>
                  <a:pt x="0" y="0"/>
                </a:lnTo>
                <a:lnTo>
                  <a:pt x="0" y="81537"/>
                </a:lnTo>
                <a:lnTo>
                  <a:pt x="6482647" y="81537"/>
                </a:lnTo>
                <a:lnTo>
                  <a:pt x="64826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sp>
        <p:nvSpPr>
          <p:cNvPr id="4" name="object 4"/>
          <p:cNvSpPr/>
          <p:nvPr/>
        </p:nvSpPr>
        <p:spPr>
          <a:xfrm>
            <a:off x="1964988" y="4023507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6"/>
                </a:lnTo>
                <a:lnTo>
                  <a:pt x="210167" y="567436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55623" y="2918759"/>
            <a:ext cx="903923" cy="1554956"/>
            <a:chOff x="607497" y="3891678"/>
            <a:chExt cx="1205230" cy="2073275"/>
          </a:xfrm>
        </p:grpSpPr>
        <p:sp>
          <p:nvSpPr>
            <p:cNvPr id="6" name="object 6"/>
            <p:cNvSpPr/>
            <p:nvPr/>
          </p:nvSpPr>
          <p:spPr>
            <a:xfrm>
              <a:off x="607497" y="5397119"/>
              <a:ext cx="329565" cy="567690"/>
            </a:xfrm>
            <a:custGeom>
              <a:avLst/>
              <a:gdLst/>
              <a:ahLst/>
              <a:cxnLst/>
              <a:rect l="l" t="t" r="r" b="b"/>
              <a:pathLst>
                <a:path w="329565" h="567689">
                  <a:moveTo>
                    <a:pt x="164741" y="0"/>
                  </a:moveTo>
                  <a:lnTo>
                    <a:pt x="0" y="229395"/>
                  </a:lnTo>
                  <a:lnTo>
                    <a:pt x="119315" y="229395"/>
                  </a:lnTo>
                  <a:lnTo>
                    <a:pt x="119315" y="567437"/>
                  </a:lnTo>
                  <a:lnTo>
                    <a:pt x="210167" y="567437"/>
                  </a:lnTo>
                  <a:lnTo>
                    <a:pt x="210167" y="229395"/>
                  </a:lnTo>
                  <a:lnTo>
                    <a:pt x="329482" y="229395"/>
                  </a:lnTo>
                  <a:lnTo>
                    <a:pt x="16474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2888" y="39139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980915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734656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488397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630" y="4236529"/>
              <a:ext cx="222250" cy="222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915" y="3978532"/>
              <a:ext cx="222250" cy="2222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94892" y="391396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159" y="4497922"/>
              <a:ext cx="203199" cy="203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8159" y="4246053"/>
              <a:ext cx="203199" cy="203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0443" y="3988056"/>
              <a:ext cx="203200" cy="2032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82035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5301" y="4494685"/>
              <a:ext cx="203200" cy="203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5301" y="4242816"/>
              <a:ext cx="203200" cy="203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7586" y="3984820"/>
              <a:ext cx="203199" cy="20320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2278601" y="2916329"/>
            <a:ext cx="3799999" cy="1533048"/>
            <a:chOff x="3038134" y="3888439"/>
            <a:chExt cx="5066665" cy="2044064"/>
          </a:xfrm>
        </p:grpSpPr>
        <p:sp>
          <p:nvSpPr>
            <p:cNvPr id="22" name="object 22"/>
            <p:cNvSpPr/>
            <p:nvPr/>
          </p:nvSpPr>
          <p:spPr>
            <a:xfrm>
              <a:off x="4575581" y="5350103"/>
              <a:ext cx="2294255" cy="582295"/>
            </a:xfrm>
            <a:custGeom>
              <a:avLst/>
              <a:gdLst/>
              <a:ahLst/>
              <a:cxnLst/>
              <a:rect l="l" t="t" r="r" b="b"/>
              <a:pathLst>
                <a:path w="2294254" h="582295">
                  <a:moveTo>
                    <a:pt x="329488" y="229387"/>
                  </a:moveTo>
                  <a:lnTo>
                    <a:pt x="164744" y="0"/>
                  </a:lnTo>
                  <a:lnTo>
                    <a:pt x="0" y="229387"/>
                  </a:lnTo>
                  <a:lnTo>
                    <a:pt x="119316" y="229387"/>
                  </a:lnTo>
                  <a:lnTo>
                    <a:pt x="119316" y="567436"/>
                  </a:lnTo>
                  <a:lnTo>
                    <a:pt x="210172" y="567436"/>
                  </a:lnTo>
                  <a:lnTo>
                    <a:pt x="210172" y="229387"/>
                  </a:lnTo>
                  <a:lnTo>
                    <a:pt x="329488" y="229387"/>
                  </a:lnTo>
                  <a:close/>
                </a:path>
                <a:path w="2294254" h="582295">
                  <a:moveTo>
                    <a:pt x="2294204" y="243979"/>
                  </a:moveTo>
                  <a:lnTo>
                    <a:pt x="2129472" y="14579"/>
                  </a:lnTo>
                  <a:lnTo>
                    <a:pt x="1964728" y="243979"/>
                  </a:lnTo>
                  <a:lnTo>
                    <a:pt x="2084044" y="243979"/>
                  </a:lnTo>
                  <a:lnTo>
                    <a:pt x="2084044" y="582015"/>
                  </a:lnTo>
                  <a:lnTo>
                    <a:pt x="2174887" y="582015"/>
                  </a:lnTo>
                  <a:lnTo>
                    <a:pt x="2174887" y="243979"/>
                  </a:lnTo>
                  <a:lnTo>
                    <a:pt x="2294204" y="243979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57184" y="3921872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1" y="4505829"/>
              <a:ext cx="203200" cy="2032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1" y="4253960"/>
              <a:ext cx="203200" cy="2032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2734" y="3995963"/>
              <a:ext cx="203200" cy="2032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444327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7594" y="4502591"/>
              <a:ext cx="203200" cy="2032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7594" y="4250723"/>
              <a:ext cx="203200" cy="2032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9877" y="3992726"/>
              <a:ext cx="203200" cy="2032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839000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2266" y="4502591"/>
              <a:ext cx="203200" cy="2032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92266" y="4250723"/>
              <a:ext cx="203200" cy="2032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94551" y="3992726"/>
              <a:ext cx="203200" cy="20320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575592" y="391863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985584"/>
              <a:ext cx="222250" cy="22225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739326"/>
              <a:ext cx="222250" cy="22225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493066"/>
              <a:ext cx="222250" cy="22225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335" y="4241198"/>
              <a:ext cx="222250" cy="22225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620" y="3983201"/>
              <a:ext cx="222250" cy="22225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027597" y="3918634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0863" y="4502590"/>
              <a:ext cx="203200" cy="2032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0863" y="4250721"/>
              <a:ext cx="203200" cy="2032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3148" y="3992726"/>
              <a:ext cx="203200" cy="2032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5414740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8006" y="4499353"/>
              <a:ext cx="203200" cy="2032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68006" y="4247484"/>
              <a:ext cx="203200" cy="2032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470291" y="3989489"/>
              <a:ext cx="203200" cy="20320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5809413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62679" y="4499353"/>
              <a:ext cx="203200" cy="2032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2679" y="4247484"/>
              <a:ext cx="203200" cy="2032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64964" y="3989489"/>
              <a:ext cx="203200" cy="20320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540313" y="3910727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977677"/>
              <a:ext cx="222250" cy="22225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731417"/>
              <a:ext cx="222250" cy="22225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055" y="4485158"/>
              <a:ext cx="222250" cy="22225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233289"/>
              <a:ext cx="222250" cy="22225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6340" y="3975294"/>
              <a:ext cx="222250" cy="22225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6992317" y="3910727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5584" y="4494682"/>
              <a:ext cx="203200" cy="2032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5584" y="4242813"/>
              <a:ext cx="203200" cy="2032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7867" y="3984818"/>
              <a:ext cx="203200" cy="20320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7379460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32727" y="4491446"/>
              <a:ext cx="203200" cy="203198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32727" y="4239577"/>
              <a:ext cx="203200" cy="20320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35010" y="3981580"/>
              <a:ext cx="203200" cy="203200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7774133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27400" y="4491446"/>
              <a:ext cx="203200" cy="203198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27400" y="4239577"/>
              <a:ext cx="203200" cy="20320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29683" y="3981580"/>
              <a:ext cx="203200" cy="203200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312086" y="4505325"/>
            <a:ext cx="442913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lnSpc>
                <a:spcPts val="2059"/>
              </a:lnSpc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  <a:p>
            <a:pPr marL="161925">
              <a:lnSpc>
                <a:spcPts val="1699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729777" y="4482465"/>
            <a:ext cx="692468" cy="48410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2033"/>
              </a:lnSpc>
              <a:spcBef>
                <a:spcPts val="75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  <a:p>
            <a:pPr marR="13335" algn="ctr">
              <a:lnSpc>
                <a:spcPts val="167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endParaRPr sz="1463" baseline="-17094">
              <a:latin typeface="Tahoma"/>
              <a:cs typeface="Tahoma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1393244" y="2918759"/>
            <a:ext cx="262414" cy="651510"/>
            <a:chOff x="1857658" y="3891678"/>
            <a:chExt cx="349885" cy="868680"/>
          </a:xfrm>
        </p:grpSpPr>
        <p:sp>
          <p:nvSpPr>
            <p:cNvPr id="74" name="object 74"/>
            <p:cNvSpPr/>
            <p:nvPr/>
          </p:nvSpPr>
          <p:spPr>
            <a:xfrm>
              <a:off x="1876708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9974" y="4494685"/>
              <a:ext cx="203200" cy="20320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29974" y="4242816"/>
              <a:ext cx="203200" cy="20320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932259" y="3984820"/>
              <a:ext cx="203200" cy="203200"/>
            </a:xfrm>
            <a:prstGeom prst="rect">
              <a:avLst/>
            </a:prstGeom>
          </p:spPr>
        </p:pic>
      </p:grpSp>
      <p:grpSp>
        <p:nvGrpSpPr>
          <p:cNvPr id="78" name="object 78"/>
          <p:cNvGrpSpPr/>
          <p:nvPr/>
        </p:nvGrpSpPr>
        <p:grpSpPr>
          <a:xfrm>
            <a:off x="1939598" y="2927118"/>
            <a:ext cx="262414" cy="1052036"/>
            <a:chOff x="2586130" y="3902823"/>
            <a:chExt cx="349885" cy="1402715"/>
          </a:xfrm>
        </p:grpSpPr>
        <p:sp>
          <p:nvSpPr>
            <p:cNvPr id="79" name="object 79"/>
            <p:cNvSpPr/>
            <p:nvPr/>
          </p:nvSpPr>
          <p:spPr>
            <a:xfrm>
              <a:off x="2605180" y="3921873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988823"/>
              <a:ext cx="222250" cy="22225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742563"/>
              <a:ext cx="222250" cy="22225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496305"/>
              <a:ext cx="222250" cy="22225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244435"/>
              <a:ext cx="222250" cy="22225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206" y="3986439"/>
              <a:ext cx="222250" cy="222250"/>
            </a:xfrm>
            <a:prstGeom prst="rect">
              <a:avLst/>
            </a:prstGeom>
          </p:spPr>
        </p:pic>
      </p:grpSp>
      <p:sp>
        <p:nvSpPr>
          <p:cNvPr id="85" name="object 85"/>
          <p:cNvSpPr txBox="1"/>
          <p:nvPr/>
        </p:nvSpPr>
        <p:spPr>
          <a:xfrm>
            <a:off x="394195" y="2466214"/>
            <a:ext cx="127539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1406" spc="11" baseline="-15555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5555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5555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r>
              <a:rPr sz="1406" spc="11" baseline="-15555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26" dirty="0">
                <a:latin typeface="Tahoma"/>
                <a:cs typeface="Tahoma"/>
              </a:rPr>
              <a:t>92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279448" y="3585189"/>
            <a:ext cx="22574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35583" y="3594714"/>
            <a:ext cx="168593" cy="203486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>
              <a:spcBef>
                <a:spcPts val="11"/>
              </a:spcBef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139496" y="3585189"/>
            <a:ext cx="210026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42327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640511" y="3578711"/>
            <a:ext cx="3406616" cy="1398941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>
              <a:spcBef>
                <a:spcPts val="356"/>
              </a:spcBef>
              <a:tabLst>
                <a:tab pos="283369" algn="l"/>
                <a:tab pos="1170146" algn="l"/>
                <a:tab pos="1502569" algn="l"/>
                <a:tab pos="1786414" algn="l"/>
                <a:tab pos="2640806" algn="l"/>
                <a:tab pos="2973228" algn="l"/>
                <a:tab pos="3257074" algn="l"/>
              </a:tabLst>
            </a:pPr>
            <a:r>
              <a:rPr sz="1969" spc="-28" baseline="9523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863" spc="-19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r>
              <a:rPr sz="863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1111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2415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r>
              <a:rPr sz="1294" baseline="2415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969" spc="67" baseline="9523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863" spc="45" dirty="0">
                <a:solidFill>
                  <a:srgbClr val="7030A0"/>
                </a:solidFill>
                <a:latin typeface="Tahoma"/>
                <a:cs typeface="Tahoma"/>
              </a:rPr>
              <a:t>3</a:t>
            </a:r>
            <a:r>
              <a:rPr sz="863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969" spc="-28" baseline="9523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863" spc="-19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r>
              <a:rPr sz="863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2698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2415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r>
              <a:rPr sz="1294" baseline="2415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969" spc="56" baseline="12698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56" baseline="4830" dirty="0">
                <a:solidFill>
                  <a:srgbClr val="7030A0"/>
                </a:solidFill>
                <a:latin typeface="Tahoma"/>
                <a:cs typeface="Tahoma"/>
              </a:rPr>
              <a:t>4</a:t>
            </a:r>
            <a:r>
              <a:rPr sz="1294" baseline="4830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969" spc="-28" baseline="12698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4830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r>
              <a:rPr sz="1294" baseline="4830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4285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7246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294" baseline="7246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34"/>
              </a:spcBef>
            </a:pPr>
            <a:endParaRPr sz="863">
              <a:latin typeface="Tahoma"/>
              <a:cs typeface="Tahoma"/>
            </a:endParaRPr>
          </a:p>
          <a:p>
            <a:pPr marL="681514">
              <a:lnSpc>
                <a:spcPts val="2085"/>
              </a:lnSpc>
              <a:tabLst>
                <a:tab pos="2226469" algn="l"/>
              </a:tabLst>
            </a:pPr>
            <a:r>
              <a:rPr spc="75" dirty="0">
                <a:latin typeface="Tahoma"/>
                <a:cs typeface="Tahoma"/>
              </a:rPr>
              <a:t>dog</a:t>
            </a:r>
            <a:r>
              <a:rPr dirty="0">
                <a:latin typeface="Tahoma"/>
                <a:cs typeface="Tahoma"/>
              </a:rPr>
              <a:t>	</a:t>
            </a:r>
            <a:r>
              <a:rPr sz="2700" spc="-28" baseline="-4629" dirty="0">
                <a:latin typeface="Tahoma"/>
                <a:cs typeface="Tahoma"/>
              </a:rPr>
              <a:t>ran</a:t>
            </a:r>
            <a:endParaRPr sz="2700" baseline="-4629">
              <a:latin typeface="Tahoma"/>
              <a:cs typeface="Tahoma"/>
            </a:endParaRPr>
          </a:p>
          <a:p>
            <a:pPr marL="826770">
              <a:lnSpc>
                <a:spcPts val="1725"/>
              </a:lnSpc>
              <a:tabLst>
                <a:tab pos="2339340" algn="l"/>
              </a:tabLst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r>
              <a:rPr sz="1463" baseline="-17094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371686" y="2912425"/>
            <a:ext cx="715327" cy="1139666"/>
          </a:xfrm>
          <a:custGeom>
            <a:avLst/>
            <a:gdLst/>
            <a:ahLst/>
            <a:cxnLst/>
            <a:rect l="l" t="t" r="r" b="b"/>
            <a:pathLst>
              <a:path w="953769" h="1519554">
                <a:moveTo>
                  <a:pt x="953702" y="0"/>
                </a:moveTo>
                <a:lnTo>
                  <a:pt x="0" y="0"/>
                </a:lnTo>
                <a:lnTo>
                  <a:pt x="0" y="1518975"/>
                </a:lnTo>
                <a:lnTo>
                  <a:pt x="953702" y="1518975"/>
                </a:lnTo>
                <a:lnTo>
                  <a:pt x="953702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559988" y="2842212"/>
            <a:ext cx="4010501" cy="2176939"/>
          </a:xfrm>
          <a:custGeom>
            <a:avLst/>
            <a:gdLst/>
            <a:ahLst/>
            <a:cxnLst/>
            <a:rect l="l" t="t" r="r" b="b"/>
            <a:pathLst>
              <a:path w="5347334" h="2902584">
                <a:moveTo>
                  <a:pt x="5346959" y="0"/>
                </a:moveTo>
                <a:lnTo>
                  <a:pt x="0" y="0"/>
                </a:lnTo>
                <a:lnTo>
                  <a:pt x="0" y="2902416"/>
                </a:lnTo>
                <a:lnTo>
                  <a:pt x="5346959" y="2902416"/>
                </a:lnTo>
                <a:lnTo>
                  <a:pt x="5346959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783583" y="681120"/>
            <a:ext cx="619125" cy="23948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8573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500" spc="41" dirty="0">
                <a:latin typeface="Tahoma"/>
                <a:cs typeface="Tahoma"/>
              </a:rPr>
              <a:t>Step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spc="-38" dirty="0">
                <a:latin typeface="Tahoma"/>
                <a:cs typeface="Tahoma"/>
              </a:rPr>
              <a:t>2: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416997" y="680084"/>
            <a:ext cx="6141719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spc="49" dirty="0">
                <a:latin typeface="Tahoma"/>
                <a:cs typeface="Tahoma"/>
              </a:rPr>
              <a:t>For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spc="38" dirty="0">
                <a:latin typeface="Tahoma"/>
                <a:cs typeface="Tahoma"/>
              </a:rPr>
              <a:t>word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E75B6"/>
                </a:solidFill>
                <a:latin typeface="Tahoma"/>
                <a:cs typeface="Tahoma"/>
              </a:rPr>
              <a:t>x</a:t>
            </a:r>
            <a:r>
              <a:rPr sz="1463" baseline="-17094" dirty="0">
                <a:solidFill>
                  <a:srgbClr val="2E75B6"/>
                </a:solidFill>
                <a:latin typeface="Tahoma"/>
                <a:cs typeface="Tahoma"/>
              </a:rPr>
              <a:t>2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let’s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calculate</a:t>
            </a:r>
            <a:r>
              <a:rPr sz="1500" spc="-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scores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3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2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8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3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8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4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which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represent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how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755008" y="908684"/>
            <a:ext cx="4459129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dirty="0">
                <a:latin typeface="Tahoma"/>
                <a:cs typeface="Tahoma"/>
              </a:rPr>
              <a:t>much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attention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56" dirty="0">
                <a:latin typeface="Tahoma"/>
                <a:cs typeface="Tahoma"/>
              </a:rPr>
              <a:t>to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pay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56" dirty="0">
                <a:latin typeface="Tahoma"/>
                <a:cs typeface="Tahoma"/>
              </a:rPr>
              <a:t>to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each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respective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83" dirty="0">
                <a:latin typeface="Tahoma"/>
                <a:cs typeface="Tahoma"/>
              </a:rPr>
              <a:t>”word”</a:t>
            </a:r>
            <a:r>
              <a:rPr sz="1500" spc="23" dirty="0">
                <a:latin typeface="Tahoma"/>
                <a:cs typeface="Tahoma"/>
              </a:rPr>
              <a:t> </a:t>
            </a:r>
            <a:r>
              <a:rPr sz="2194" spc="-28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spc="-28" baseline="-17777" dirty="0">
                <a:solidFill>
                  <a:srgbClr val="1F4E79"/>
                </a:solidFill>
                <a:latin typeface="Tahoma"/>
                <a:cs typeface="Tahoma"/>
              </a:rPr>
              <a:t>i</a:t>
            </a:r>
            <a:endParaRPr sz="1406" baseline="-17777">
              <a:latin typeface="Tahoma"/>
              <a:cs typeface="Tahoma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1376487" y="2927923"/>
            <a:ext cx="846773" cy="1095851"/>
          </a:xfrm>
          <a:custGeom>
            <a:avLst/>
            <a:gdLst/>
            <a:ahLst/>
            <a:cxnLst/>
            <a:rect l="l" t="t" r="r" b="b"/>
            <a:pathLst>
              <a:path w="1129030" h="1461135">
                <a:moveTo>
                  <a:pt x="1128946" y="0"/>
                </a:moveTo>
                <a:lnTo>
                  <a:pt x="0" y="0"/>
                </a:lnTo>
                <a:lnTo>
                  <a:pt x="0" y="1460778"/>
                </a:lnTo>
                <a:lnTo>
                  <a:pt x="1128946" y="1460778"/>
                </a:lnTo>
                <a:lnTo>
                  <a:pt x="1128946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517" y="526165"/>
            <a:ext cx="4862036" cy="61436"/>
          </a:xfrm>
          <a:custGeom>
            <a:avLst/>
            <a:gdLst/>
            <a:ahLst/>
            <a:cxnLst/>
            <a:rect l="l" t="t" r="r" b="b"/>
            <a:pathLst>
              <a:path w="6482715" h="81915">
                <a:moveTo>
                  <a:pt x="6482647" y="0"/>
                </a:moveTo>
                <a:lnTo>
                  <a:pt x="0" y="0"/>
                </a:lnTo>
                <a:lnTo>
                  <a:pt x="0" y="81537"/>
                </a:lnTo>
                <a:lnTo>
                  <a:pt x="6482647" y="81537"/>
                </a:lnTo>
                <a:lnTo>
                  <a:pt x="64826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5623" y="2916329"/>
            <a:ext cx="5623084" cy="1557338"/>
            <a:chOff x="607497" y="3888439"/>
            <a:chExt cx="7497445" cy="2076450"/>
          </a:xfrm>
        </p:grpSpPr>
        <p:sp>
          <p:nvSpPr>
            <p:cNvPr id="5" name="object 5"/>
            <p:cNvSpPr/>
            <p:nvPr/>
          </p:nvSpPr>
          <p:spPr>
            <a:xfrm>
              <a:off x="607491" y="5350103"/>
              <a:ext cx="6262370" cy="614680"/>
            </a:xfrm>
            <a:custGeom>
              <a:avLst/>
              <a:gdLst/>
              <a:ahLst/>
              <a:cxnLst/>
              <a:rect l="l" t="t" r="r" b="b"/>
              <a:pathLst>
                <a:path w="6262370" h="614679">
                  <a:moveTo>
                    <a:pt x="329476" y="276415"/>
                  </a:moveTo>
                  <a:lnTo>
                    <a:pt x="164744" y="47015"/>
                  </a:lnTo>
                  <a:lnTo>
                    <a:pt x="0" y="276415"/>
                  </a:lnTo>
                  <a:lnTo>
                    <a:pt x="119316" y="276415"/>
                  </a:lnTo>
                  <a:lnTo>
                    <a:pt x="119316" y="614464"/>
                  </a:lnTo>
                  <a:lnTo>
                    <a:pt x="210172" y="614464"/>
                  </a:lnTo>
                  <a:lnTo>
                    <a:pt x="210172" y="276415"/>
                  </a:lnTo>
                  <a:lnTo>
                    <a:pt x="329476" y="276415"/>
                  </a:lnTo>
                  <a:close/>
                </a:path>
                <a:path w="6262370" h="614679">
                  <a:moveTo>
                    <a:pt x="2341969" y="243979"/>
                  </a:moveTo>
                  <a:lnTo>
                    <a:pt x="2177224" y="14579"/>
                  </a:lnTo>
                  <a:lnTo>
                    <a:pt x="2012492" y="243979"/>
                  </a:lnTo>
                  <a:lnTo>
                    <a:pt x="2131796" y="243979"/>
                  </a:lnTo>
                  <a:lnTo>
                    <a:pt x="2131796" y="582015"/>
                  </a:lnTo>
                  <a:lnTo>
                    <a:pt x="2222652" y="582015"/>
                  </a:lnTo>
                  <a:lnTo>
                    <a:pt x="2222652" y="243979"/>
                  </a:lnTo>
                  <a:lnTo>
                    <a:pt x="2341969" y="243979"/>
                  </a:lnTo>
                  <a:close/>
                </a:path>
                <a:path w="6262370" h="614679">
                  <a:moveTo>
                    <a:pt x="4297578" y="229387"/>
                  </a:moveTo>
                  <a:lnTo>
                    <a:pt x="4132834" y="0"/>
                  </a:lnTo>
                  <a:lnTo>
                    <a:pt x="3968089" y="229387"/>
                  </a:lnTo>
                  <a:lnTo>
                    <a:pt x="4087406" y="229387"/>
                  </a:lnTo>
                  <a:lnTo>
                    <a:pt x="4087406" y="567436"/>
                  </a:lnTo>
                  <a:lnTo>
                    <a:pt x="4178262" y="567436"/>
                  </a:lnTo>
                  <a:lnTo>
                    <a:pt x="4178262" y="229387"/>
                  </a:lnTo>
                  <a:lnTo>
                    <a:pt x="4297578" y="229387"/>
                  </a:lnTo>
                  <a:close/>
                </a:path>
                <a:path w="6262370" h="614679">
                  <a:moveTo>
                    <a:pt x="6262294" y="243979"/>
                  </a:moveTo>
                  <a:lnTo>
                    <a:pt x="6097562" y="14579"/>
                  </a:lnTo>
                  <a:lnTo>
                    <a:pt x="5932817" y="243979"/>
                  </a:lnTo>
                  <a:lnTo>
                    <a:pt x="6052134" y="243979"/>
                  </a:lnTo>
                  <a:lnTo>
                    <a:pt x="6052134" y="582015"/>
                  </a:lnTo>
                  <a:lnTo>
                    <a:pt x="6142977" y="582015"/>
                  </a:lnTo>
                  <a:lnTo>
                    <a:pt x="6142977" y="243979"/>
                  </a:lnTo>
                  <a:lnTo>
                    <a:pt x="6262294" y="243979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2888" y="39139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980915"/>
              <a:ext cx="222250" cy="222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734656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488397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630" y="4236529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915" y="3978532"/>
              <a:ext cx="222250" cy="2222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94892" y="391396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159" y="4497922"/>
              <a:ext cx="203199" cy="2032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8159" y="4246053"/>
              <a:ext cx="203199" cy="203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0443" y="3988056"/>
              <a:ext cx="203200" cy="2032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482035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5301" y="4494684"/>
              <a:ext cx="203200" cy="2032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5301" y="4242815"/>
              <a:ext cx="203200" cy="203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7586" y="3984820"/>
              <a:ext cx="203199" cy="2032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876708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29974" y="4494684"/>
              <a:ext cx="203200" cy="2032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9974" y="4242815"/>
              <a:ext cx="203200" cy="203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32259" y="3984820"/>
              <a:ext cx="203200" cy="2032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605180" y="3921872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988822"/>
              <a:ext cx="222250" cy="2222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742563"/>
              <a:ext cx="222250" cy="2222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496305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244435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206" y="3986439"/>
              <a:ext cx="222250" cy="22225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057184" y="3921872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1" y="4505829"/>
              <a:ext cx="203200" cy="2032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1" y="4253960"/>
              <a:ext cx="203200" cy="2032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2734" y="3995963"/>
              <a:ext cx="203200" cy="2032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444327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7594" y="4502591"/>
              <a:ext cx="203200" cy="2032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7594" y="4250723"/>
              <a:ext cx="203200" cy="2032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9877" y="3992726"/>
              <a:ext cx="203200" cy="2032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839000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92266" y="4502591"/>
              <a:ext cx="203200" cy="2032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2266" y="4250723"/>
              <a:ext cx="203200" cy="2032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94551" y="3992726"/>
              <a:ext cx="203200" cy="2032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575592" y="391863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985584"/>
              <a:ext cx="222250" cy="22225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739326"/>
              <a:ext cx="222250" cy="22225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493066"/>
              <a:ext cx="222250" cy="22225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335" y="4241198"/>
              <a:ext cx="222250" cy="22225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620" y="3983201"/>
              <a:ext cx="222250" cy="22225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027597" y="3918634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0863" y="4502590"/>
              <a:ext cx="203200" cy="2032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0863" y="4250721"/>
              <a:ext cx="203200" cy="2032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3148" y="3992726"/>
              <a:ext cx="203200" cy="2032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414740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8006" y="4499353"/>
              <a:ext cx="203200" cy="2032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68006" y="4247484"/>
              <a:ext cx="203200" cy="2032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70291" y="3989489"/>
              <a:ext cx="203200" cy="20320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809413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2679" y="4499353"/>
              <a:ext cx="203200" cy="2032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62679" y="4247484"/>
              <a:ext cx="203200" cy="2032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4964" y="3989489"/>
              <a:ext cx="203200" cy="2032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540313" y="3910727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977677"/>
              <a:ext cx="222250" cy="22225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731417"/>
              <a:ext cx="222250" cy="22225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055" y="4485158"/>
              <a:ext cx="222250" cy="22225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233289"/>
              <a:ext cx="222250" cy="22225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6340" y="3975294"/>
              <a:ext cx="222250" cy="22225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992317" y="3910727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5584" y="4494682"/>
              <a:ext cx="203200" cy="20320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5584" y="4242813"/>
              <a:ext cx="203200" cy="20320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7867" y="3984818"/>
              <a:ext cx="203200" cy="20320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7379460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491446"/>
              <a:ext cx="203200" cy="203198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239577"/>
              <a:ext cx="203200" cy="20320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35010" y="3981580"/>
              <a:ext cx="203200" cy="20320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7774133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491446"/>
              <a:ext cx="203200" cy="203198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239577"/>
              <a:ext cx="203200" cy="20320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29683" y="3981580"/>
              <a:ext cx="203200" cy="203200"/>
            </a:xfrm>
            <a:prstGeom prst="rect">
              <a:avLst/>
            </a:prstGeom>
          </p:spPr>
        </p:pic>
      </p:grpSp>
      <p:sp>
        <p:nvSpPr>
          <p:cNvPr id="78" name="object 78"/>
          <p:cNvSpPr txBox="1"/>
          <p:nvPr/>
        </p:nvSpPr>
        <p:spPr>
          <a:xfrm>
            <a:off x="1729777" y="4482465"/>
            <a:ext cx="692468" cy="48410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2033"/>
              </a:lnSpc>
              <a:spcBef>
                <a:spcPts val="75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  <a:p>
            <a:pPr marR="13335" algn="ctr">
              <a:lnSpc>
                <a:spcPts val="167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269923" y="3585189"/>
            <a:ext cx="561975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38100">
              <a:spcBef>
                <a:spcPts val="86"/>
              </a:spcBef>
              <a:tabLst>
                <a:tab pos="370523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40662" y="3594714"/>
            <a:ext cx="663416" cy="1418882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 algn="r">
              <a:spcBef>
                <a:spcPts val="11"/>
              </a:spcBef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450"/>
              </a:spcBef>
            </a:pPr>
            <a:endParaRPr sz="863">
              <a:latin typeface="Tahoma"/>
              <a:cs typeface="Tahoma"/>
            </a:endParaRPr>
          </a:p>
          <a:p>
            <a:pPr>
              <a:lnSpc>
                <a:spcPts val="2059"/>
              </a:lnSpc>
              <a:spcBef>
                <a:spcPts val="4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  <a:p>
            <a:pPr marL="133350">
              <a:lnSpc>
                <a:spcPts val="1699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168070" y="3587856"/>
            <a:ext cx="433388" cy="210218"/>
          </a:xfrm>
          <a:prstGeom prst="rect">
            <a:avLst/>
          </a:prstGeom>
        </p:spPr>
        <p:txBody>
          <a:bodyPr vert="horz" wrap="square" lIns="0" tIns="8096" rIns="0" bIns="0" rtlCol="0">
            <a:spAutoFit/>
          </a:bodyPr>
          <a:lstStyle/>
          <a:p>
            <a:pPr>
              <a:spcBef>
                <a:spcPts val="64"/>
              </a:spcBef>
              <a:tabLst>
                <a:tab pos="283369" algn="l"/>
              </a:tabLst>
            </a:pP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r>
              <a:rPr sz="1294" baseline="-14492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2077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endParaRPr sz="1294" baseline="-12077">
              <a:latin typeface="Tahoma"/>
              <a:cs typeface="Tahom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924290" y="3578712"/>
            <a:ext cx="3123247" cy="1406699"/>
          </a:xfrm>
          <a:prstGeom prst="rect">
            <a:avLst/>
          </a:prstGeom>
        </p:spPr>
        <p:txBody>
          <a:bodyPr vert="horz" wrap="square" lIns="0" tIns="14764" rIns="0" bIns="0" rtlCol="0">
            <a:spAutoFit/>
          </a:bodyPr>
          <a:lstStyle/>
          <a:p>
            <a:pPr>
              <a:spcBef>
                <a:spcPts val="116"/>
              </a:spcBef>
              <a:tabLst>
                <a:tab pos="886301" algn="l"/>
                <a:tab pos="1218724" algn="l"/>
                <a:tab pos="1502569" algn="l"/>
                <a:tab pos="2356961" algn="l"/>
                <a:tab pos="2689384" algn="l"/>
                <a:tab pos="2973228" algn="l"/>
              </a:tabLst>
            </a:pPr>
            <a:r>
              <a:rPr sz="1969" spc="-28" baseline="1587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2077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r>
              <a:rPr sz="1294" baseline="-12077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2077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r>
              <a:rPr sz="1294" baseline="-12077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969" spc="56" baseline="1587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56" baseline="-9661" dirty="0">
                <a:solidFill>
                  <a:srgbClr val="7030A0"/>
                </a:solidFill>
                <a:latin typeface="Tahoma"/>
                <a:cs typeface="Tahoma"/>
              </a:rPr>
              <a:t>4</a:t>
            </a:r>
            <a:r>
              <a:rPr sz="1294" baseline="-9661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9661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r>
              <a:rPr sz="1294" baseline="-9661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4761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7246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294" baseline="-7246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274"/>
              </a:spcBef>
            </a:pPr>
            <a:endParaRPr sz="863">
              <a:latin typeface="Tahoma"/>
              <a:cs typeface="Tahoma"/>
            </a:endParaRPr>
          </a:p>
          <a:p>
            <a:pPr marL="397669">
              <a:lnSpc>
                <a:spcPts val="2085"/>
              </a:lnSpc>
              <a:tabLst>
                <a:tab pos="1943100" algn="l"/>
              </a:tabLst>
            </a:pPr>
            <a:r>
              <a:rPr spc="75" dirty="0">
                <a:latin typeface="Tahoma"/>
                <a:cs typeface="Tahoma"/>
              </a:rPr>
              <a:t>dog</a:t>
            </a:r>
            <a:r>
              <a:rPr dirty="0">
                <a:latin typeface="Tahoma"/>
                <a:cs typeface="Tahoma"/>
              </a:rPr>
              <a:t>	</a:t>
            </a:r>
            <a:r>
              <a:rPr sz="2700" spc="-28" baseline="-4629" dirty="0">
                <a:latin typeface="Tahoma"/>
                <a:cs typeface="Tahoma"/>
              </a:rPr>
              <a:t>ran</a:t>
            </a:r>
            <a:endParaRPr sz="2700" baseline="-4629">
              <a:latin typeface="Tahoma"/>
              <a:cs typeface="Tahoma"/>
            </a:endParaRPr>
          </a:p>
          <a:p>
            <a:pPr marL="542925">
              <a:lnSpc>
                <a:spcPts val="1725"/>
              </a:lnSpc>
              <a:tabLst>
                <a:tab pos="2055495" algn="l"/>
              </a:tabLst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r>
              <a:rPr sz="1463" baseline="-17094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240513" y="2799427"/>
            <a:ext cx="5967413" cy="2229326"/>
            <a:chOff x="320684" y="3732569"/>
            <a:chExt cx="7956550" cy="2972435"/>
          </a:xfrm>
        </p:grpSpPr>
        <p:sp>
          <p:nvSpPr>
            <p:cNvPr id="84" name="object 84"/>
            <p:cNvSpPr/>
            <p:nvPr/>
          </p:nvSpPr>
          <p:spPr>
            <a:xfrm>
              <a:off x="320675" y="3789616"/>
              <a:ext cx="2681605" cy="2902585"/>
            </a:xfrm>
            <a:custGeom>
              <a:avLst/>
              <a:gdLst/>
              <a:ahLst/>
              <a:cxnLst/>
              <a:rect l="l" t="t" r="r" b="b"/>
              <a:pathLst>
                <a:path w="2681605" h="2902584">
                  <a:moveTo>
                    <a:pt x="1128725" y="93624"/>
                  </a:moveTo>
                  <a:lnTo>
                    <a:pt x="0" y="93624"/>
                  </a:lnTo>
                  <a:lnTo>
                    <a:pt x="0" y="2902420"/>
                  </a:lnTo>
                  <a:lnTo>
                    <a:pt x="1128725" y="2902420"/>
                  </a:lnTo>
                  <a:lnTo>
                    <a:pt x="1128725" y="93624"/>
                  </a:lnTo>
                  <a:close/>
                </a:path>
                <a:path w="2681605" h="2902584">
                  <a:moveTo>
                    <a:pt x="2681605" y="0"/>
                  </a:moveTo>
                  <a:lnTo>
                    <a:pt x="1141133" y="0"/>
                  </a:lnTo>
                  <a:lnTo>
                    <a:pt x="1141133" y="1585214"/>
                  </a:lnTo>
                  <a:lnTo>
                    <a:pt x="2681605" y="1585214"/>
                  </a:lnTo>
                  <a:lnTo>
                    <a:pt x="2681605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786337" y="3732569"/>
              <a:ext cx="4491355" cy="2972435"/>
            </a:xfrm>
            <a:custGeom>
              <a:avLst/>
              <a:gdLst/>
              <a:ahLst/>
              <a:cxnLst/>
              <a:rect l="l" t="t" r="r" b="b"/>
              <a:pathLst>
                <a:path w="4491355" h="2972434">
                  <a:moveTo>
                    <a:pt x="4490763" y="0"/>
                  </a:moveTo>
                  <a:lnTo>
                    <a:pt x="0" y="0"/>
                  </a:lnTo>
                  <a:lnTo>
                    <a:pt x="0" y="2972087"/>
                  </a:lnTo>
                  <a:lnTo>
                    <a:pt x="4490763" y="2972087"/>
                  </a:lnTo>
                  <a:lnTo>
                    <a:pt x="4490763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380076" y="2004441"/>
            <a:ext cx="1381125" cy="748121"/>
          </a:xfrm>
          <a:prstGeom prst="rect">
            <a:avLst/>
          </a:prstGeom>
        </p:spPr>
        <p:txBody>
          <a:bodyPr vert="horz" wrap="square" lIns="0" tIns="103346" rIns="0" bIns="0" rtlCol="0">
            <a:spAutoFit/>
          </a:bodyPr>
          <a:lstStyle/>
          <a:p>
            <a:pPr marL="28575">
              <a:spcBef>
                <a:spcPts val="814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2</a:t>
            </a:r>
            <a:r>
              <a:rPr sz="1406" spc="11" baseline="-17777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7777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7777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r>
              <a:rPr sz="1406" spc="11" baseline="-17777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124</a:t>
            </a:r>
            <a:endParaRPr sz="1500">
              <a:latin typeface="Tahoma"/>
              <a:cs typeface="Tahoma"/>
            </a:endParaRPr>
          </a:p>
          <a:p>
            <a:pPr marL="42386">
              <a:spcBef>
                <a:spcPts val="735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1406" spc="11" baseline="-15555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5555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5555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r>
              <a:rPr sz="1406" spc="11" baseline="-15555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26" dirty="0">
                <a:latin typeface="Tahoma"/>
                <a:cs typeface="Tahoma"/>
              </a:rPr>
              <a:t>92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783583" y="681120"/>
            <a:ext cx="619125" cy="23948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8573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500" spc="41" dirty="0">
                <a:latin typeface="Tahoma"/>
                <a:cs typeface="Tahoma"/>
              </a:rPr>
              <a:t>Step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spc="-38" dirty="0">
                <a:latin typeface="Tahoma"/>
                <a:cs typeface="Tahoma"/>
              </a:rPr>
              <a:t>2: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416997" y="680084"/>
            <a:ext cx="6141719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spc="49" dirty="0">
                <a:latin typeface="Tahoma"/>
                <a:cs typeface="Tahoma"/>
              </a:rPr>
              <a:t>For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spc="38" dirty="0">
                <a:latin typeface="Tahoma"/>
                <a:cs typeface="Tahoma"/>
              </a:rPr>
              <a:t>word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E75B6"/>
                </a:solidFill>
                <a:latin typeface="Tahoma"/>
                <a:cs typeface="Tahoma"/>
              </a:rPr>
              <a:t>x</a:t>
            </a:r>
            <a:r>
              <a:rPr sz="1463" baseline="-17094" dirty="0">
                <a:solidFill>
                  <a:srgbClr val="2E75B6"/>
                </a:solidFill>
                <a:latin typeface="Tahoma"/>
                <a:cs typeface="Tahoma"/>
              </a:rPr>
              <a:t>2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let’s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calculate</a:t>
            </a:r>
            <a:r>
              <a:rPr sz="1500" spc="-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scores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3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2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8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3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8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4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which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represent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how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55008" y="908684"/>
            <a:ext cx="4459129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dirty="0">
                <a:latin typeface="Tahoma"/>
                <a:cs typeface="Tahoma"/>
              </a:rPr>
              <a:t>much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attention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56" dirty="0">
                <a:latin typeface="Tahoma"/>
                <a:cs typeface="Tahoma"/>
              </a:rPr>
              <a:t>to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pay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56" dirty="0">
                <a:latin typeface="Tahoma"/>
                <a:cs typeface="Tahoma"/>
              </a:rPr>
              <a:t>to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each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respective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83" dirty="0">
                <a:latin typeface="Tahoma"/>
                <a:cs typeface="Tahoma"/>
              </a:rPr>
              <a:t>”word”</a:t>
            </a:r>
            <a:r>
              <a:rPr sz="1500" spc="23" dirty="0">
                <a:latin typeface="Tahoma"/>
                <a:cs typeface="Tahoma"/>
              </a:rPr>
              <a:t> </a:t>
            </a:r>
            <a:r>
              <a:rPr sz="2194" spc="-28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spc="-28" baseline="-17777" dirty="0">
                <a:solidFill>
                  <a:srgbClr val="1F4E79"/>
                </a:solidFill>
                <a:latin typeface="Tahoma"/>
                <a:cs typeface="Tahoma"/>
              </a:rPr>
              <a:t>i</a:t>
            </a:r>
            <a:endParaRPr sz="1406" baseline="-1777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517" y="526165"/>
            <a:ext cx="4862036" cy="61436"/>
          </a:xfrm>
          <a:custGeom>
            <a:avLst/>
            <a:gdLst/>
            <a:ahLst/>
            <a:cxnLst/>
            <a:rect l="l" t="t" r="r" b="b"/>
            <a:pathLst>
              <a:path w="6482715" h="81915">
                <a:moveTo>
                  <a:pt x="6482647" y="0"/>
                </a:moveTo>
                <a:lnTo>
                  <a:pt x="0" y="0"/>
                </a:lnTo>
                <a:lnTo>
                  <a:pt x="0" y="81537"/>
                </a:lnTo>
                <a:lnTo>
                  <a:pt x="6482647" y="81537"/>
                </a:lnTo>
                <a:lnTo>
                  <a:pt x="64826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5623" y="2916329"/>
            <a:ext cx="5623084" cy="1557338"/>
            <a:chOff x="607497" y="3888439"/>
            <a:chExt cx="7497445" cy="2076450"/>
          </a:xfrm>
        </p:grpSpPr>
        <p:sp>
          <p:nvSpPr>
            <p:cNvPr id="5" name="object 5"/>
            <p:cNvSpPr/>
            <p:nvPr/>
          </p:nvSpPr>
          <p:spPr>
            <a:xfrm>
              <a:off x="607491" y="5350103"/>
              <a:ext cx="6262370" cy="614680"/>
            </a:xfrm>
            <a:custGeom>
              <a:avLst/>
              <a:gdLst/>
              <a:ahLst/>
              <a:cxnLst/>
              <a:rect l="l" t="t" r="r" b="b"/>
              <a:pathLst>
                <a:path w="6262370" h="614679">
                  <a:moveTo>
                    <a:pt x="329476" y="276415"/>
                  </a:moveTo>
                  <a:lnTo>
                    <a:pt x="164744" y="47015"/>
                  </a:lnTo>
                  <a:lnTo>
                    <a:pt x="0" y="276415"/>
                  </a:lnTo>
                  <a:lnTo>
                    <a:pt x="119316" y="276415"/>
                  </a:lnTo>
                  <a:lnTo>
                    <a:pt x="119316" y="614464"/>
                  </a:lnTo>
                  <a:lnTo>
                    <a:pt x="210172" y="614464"/>
                  </a:lnTo>
                  <a:lnTo>
                    <a:pt x="210172" y="276415"/>
                  </a:lnTo>
                  <a:lnTo>
                    <a:pt x="329476" y="276415"/>
                  </a:lnTo>
                  <a:close/>
                </a:path>
                <a:path w="6262370" h="614679">
                  <a:moveTo>
                    <a:pt x="2341969" y="243979"/>
                  </a:moveTo>
                  <a:lnTo>
                    <a:pt x="2177224" y="14579"/>
                  </a:lnTo>
                  <a:lnTo>
                    <a:pt x="2012492" y="243979"/>
                  </a:lnTo>
                  <a:lnTo>
                    <a:pt x="2131796" y="243979"/>
                  </a:lnTo>
                  <a:lnTo>
                    <a:pt x="2131796" y="582015"/>
                  </a:lnTo>
                  <a:lnTo>
                    <a:pt x="2222652" y="582015"/>
                  </a:lnTo>
                  <a:lnTo>
                    <a:pt x="2222652" y="243979"/>
                  </a:lnTo>
                  <a:lnTo>
                    <a:pt x="2341969" y="243979"/>
                  </a:lnTo>
                  <a:close/>
                </a:path>
                <a:path w="6262370" h="614679">
                  <a:moveTo>
                    <a:pt x="4297578" y="229387"/>
                  </a:moveTo>
                  <a:lnTo>
                    <a:pt x="4132834" y="0"/>
                  </a:lnTo>
                  <a:lnTo>
                    <a:pt x="3968089" y="229387"/>
                  </a:lnTo>
                  <a:lnTo>
                    <a:pt x="4087406" y="229387"/>
                  </a:lnTo>
                  <a:lnTo>
                    <a:pt x="4087406" y="567436"/>
                  </a:lnTo>
                  <a:lnTo>
                    <a:pt x="4178262" y="567436"/>
                  </a:lnTo>
                  <a:lnTo>
                    <a:pt x="4178262" y="229387"/>
                  </a:lnTo>
                  <a:lnTo>
                    <a:pt x="4297578" y="229387"/>
                  </a:lnTo>
                  <a:close/>
                </a:path>
                <a:path w="6262370" h="614679">
                  <a:moveTo>
                    <a:pt x="6262294" y="243979"/>
                  </a:moveTo>
                  <a:lnTo>
                    <a:pt x="6097562" y="14579"/>
                  </a:lnTo>
                  <a:lnTo>
                    <a:pt x="5932817" y="243979"/>
                  </a:lnTo>
                  <a:lnTo>
                    <a:pt x="6052134" y="243979"/>
                  </a:lnTo>
                  <a:lnTo>
                    <a:pt x="6052134" y="582015"/>
                  </a:lnTo>
                  <a:lnTo>
                    <a:pt x="6142977" y="582015"/>
                  </a:lnTo>
                  <a:lnTo>
                    <a:pt x="6142977" y="243979"/>
                  </a:lnTo>
                  <a:lnTo>
                    <a:pt x="6262294" y="243979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2888" y="39139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980915"/>
              <a:ext cx="222250" cy="222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734656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488397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630" y="4236529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915" y="3978532"/>
              <a:ext cx="222250" cy="2222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94892" y="391396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159" y="4497922"/>
              <a:ext cx="203199" cy="2032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8159" y="4246053"/>
              <a:ext cx="203199" cy="203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0443" y="3988056"/>
              <a:ext cx="203200" cy="2032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482035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5301" y="4494684"/>
              <a:ext cx="203200" cy="2032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5301" y="4242815"/>
              <a:ext cx="203200" cy="203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7586" y="3984820"/>
              <a:ext cx="203199" cy="2032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876708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29974" y="4494684"/>
              <a:ext cx="203200" cy="2032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9974" y="4242815"/>
              <a:ext cx="203200" cy="203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32259" y="3984820"/>
              <a:ext cx="203200" cy="2032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605180" y="3921872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988822"/>
              <a:ext cx="222250" cy="2222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742563"/>
              <a:ext cx="222250" cy="2222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496305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244435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206" y="3986439"/>
              <a:ext cx="222250" cy="22225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057184" y="3921872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1" y="4505829"/>
              <a:ext cx="203200" cy="2032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1" y="4253960"/>
              <a:ext cx="203200" cy="2032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2734" y="3995963"/>
              <a:ext cx="203200" cy="2032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444327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7594" y="4502591"/>
              <a:ext cx="203200" cy="2032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7594" y="4250723"/>
              <a:ext cx="203200" cy="2032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9877" y="3992726"/>
              <a:ext cx="203200" cy="2032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839000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92266" y="4502591"/>
              <a:ext cx="203200" cy="2032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2266" y="4250723"/>
              <a:ext cx="203200" cy="2032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94551" y="3992726"/>
              <a:ext cx="203200" cy="2032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575592" y="391863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985584"/>
              <a:ext cx="222250" cy="22225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739326"/>
              <a:ext cx="222250" cy="22225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493066"/>
              <a:ext cx="222250" cy="22225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335" y="4241198"/>
              <a:ext cx="222250" cy="22225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620" y="3983201"/>
              <a:ext cx="222250" cy="22225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027597" y="3918634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0863" y="4502590"/>
              <a:ext cx="203200" cy="2032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0863" y="4250721"/>
              <a:ext cx="203200" cy="2032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3148" y="3992726"/>
              <a:ext cx="203200" cy="2032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414740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8006" y="4499353"/>
              <a:ext cx="203200" cy="2032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68006" y="4247484"/>
              <a:ext cx="203200" cy="2032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70291" y="3989489"/>
              <a:ext cx="203200" cy="20320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809413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2679" y="4499353"/>
              <a:ext cx="203200" cy="2032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62679" y="4247484"/>
              <a:ext cx="203200" cy="2032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4964" y="3989489"/>
              <a:ext cx="203200" cy="2032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540313" y="3910727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977677"/>
              <a:ext cx="222250" cy="22225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731417"/>
              <a:ext cx="222250" cy="22225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055" y="4485158"/>
              <a:ext cx="222250" cy="22225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233289"/>
              <a:ext cx="222250" cy="22225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6340" y="3975294"/>
              <a:ext cx="222250" cy="22225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992317" y="3910727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5584" y="4494682"/>
              <a:ext cx="203200" cy="20320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5584" y="4242813"/>
              <a:ext cx="203200" cy="20320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7867" y="3984818"/>
              <a:ext cx="203200" cy="20320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7379460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491446"/>
              <a:ext cx="203200" cy="203198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239577"/>
              <a:ext cx="203200" cy="20320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35010" y="3981580"/>
              <a:ext cx="203200" cy="20320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7774133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491446"/>
              <a:ext cx="203200" cy="203198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239577"/>
              <a:ext cx="203200" cy="20320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29683" y="3981580"/>
              <a:ext cx="203200" cy="203200"/>
            </a:xfrm>
            <a:prstGeom prst="rect">
              <a:avLst/>
            </a:prstGeom>
          </p:spPr>
        </p:pic>
      </p:grpSp>
      <p:sp>
        <p:nvSpPr>
          <p:cNvPr id="78" name="object 78"/>
          <p:cNvSpPr txBox="1"/>
          <p:nvPr/>
        </p:nvSpPr>
        <p:spPr>
          <a:xfrm>
            <a:off x="1729777" y="4482465"/>
            <a:ext cx="692468" cy="48410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2033"/>
              </a:lnSpc>
              <a:spcBef>
                <a:spcPts val="75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  <a:p>
            <a:pPr marR="13335" algn="ctr">
              <a:lnSpc>
                <a:spcPts val="167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293475" y="4480179"/>
            <a:ext cx="471964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2078"/>
              </a:lnSpc>
              <a:spcBef>
                <a:spcPts val="75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  <a:p>
            <a:pPr marL="43814" algn="ctr">
              <a:lnSpc>
                <a:spcPts val="1718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279448" y="3585189"/>
            <a:ext cx="22574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40662" y="3594714"/>
            <a:ext cx="663416" cy="1418882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 algn="r">
              <a:spcBef>
                <a:spcPts val="11"/>
              </a:spcBef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450"/>
              </a:spcBef>
            </a:pPr>
            <a:endParaRPr sz="863">
              <a:latin typeface="Tahoma"/>
              <a:cs typeface="Tahoma"/>
            </a:endParaRPr>
          </a:p>
          <a:p>
            <a:pPr>
              <a:lnSpc>
                <a:spcPts val="2059"/>
              </a:lnSpc>
              <a:spcBef>
                <a:spcPts val="4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  <a:p>
            <a:pPr marL="133350">
              <a:lnSpc>
                <a:spcPts val="1699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168070" y="3587856"/>
            <a:ext cx="433388" cy="210218"/>
          </a:xfrm>
          <a:prstGeom prst="rect">
            <a:avLst/>
          </a:prstGeom>
        </p:spPr>
        <p:txBody>
          <a:bodyPr vert="horz" wrap="square" lIns="0" tIns="8096" rIns="0" bIns="0" rtlCol="0">
            <a:spAutoFit/>
          </a:bodyPr>
          <a:lstStyle/>
          <a:p>
            <a:pPr>
              <a:spcBef>
                <a:spcPts val="64"/>
              </a:spcBef>
              <a:tabLst>
                <a:tab pos="283369" algn="l"/>
              </a:tabLst>
            </a:pP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r>
              <a:rPr sz="1294" baseline="-14492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2077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endParaRPr sz="1294" baseline="-12077">
              <a:latin typeface="Tahoma"/>
              <a:cs typeface="Tahom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640511" y="3587855"/>
            <a:ext cx="1338739" cy="238527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>
              <a:spcBef>
                <a:spcPts val="285"/>
              </a:spcBef>
              <a:tabLst>
                <a:tab pos="283369" algn="l"/>
                <a:tab pos="1170146" algn="l"/>
              </a:tabLst>
            </a:pPr>
            <a:r>
              <a:rPr sz="1969" spc="-28" baseline="9523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863" spc="-19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r>
              <a:rPr sz="863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1111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2415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r>
              <a:rPr sz="1294" baseline="2415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969" spc="67" baseline="9523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863" spc="45" dirty="0">
                <a:solidFill>
                  <a:srgbClr val="7030A0"/>
                </a:solidFill>
                <a:latin typeface="Tahoma"/>
                <a:cs typeface="Tahoma"/>
              </a:rPr>
              <a:t>3</a:t>
            </a:r>
            <a:endParaRPr sz="863">
              <a:latin typeface="Tahoma"/>
              <a:cs typeface="Tahom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114739" y="3582903"/>
            <a:ext cx="210026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427093" y="3578711"/>
            <a:ext cx="1620203" cy="1399966"/>
          </a:xfrm>
          <a:prstGeom prst="rect">
            <a:avLst/>
          </a:prstGeom>
        </p:spPr>
        <p:txBody>
          <a:bodyPr vert="horz" wrap="square" lIns="0" tIns="8096" rIns="0" bIns="0" rtlCol="0">
            <a:spAutoFit/>
          </a:bodyPr>
          <a:lstStyle/>
          <a:p>
            <a:pPr>
              <a:spcBef>
                <a:spcPts val="64"/>
              </a:spcBef>
              <a:tabLst>
                <a:tab pos="854393" algn="l"/>
                <a:tab pos="1186815" algn="l"/>
                <a:tab pos="1470660" algn="l"/>
              </a:tabLst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4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r>
              <a:rPr sz="1294" baseline="-14492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9661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294" baseline="-9661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488"/>
              </a:spcBef>
            </a:pPr>
            <a:endParaRPr sz="863">
              <a:latin typeface="Tahoma"/>
              <a:cs typeface="Tahoma"/>
            </a:endParaRPr>
          </a:p>
          <a:p>
            <a:pPr marL="440055">
              <a:lnSpc>
                <a:spcPts val="2002"/>
              </a:lnSpc>
              <a:spcBef>
                <a:spcPts val="4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  <a:p>
            <a:pPr marL="552926">
              <a:lnSpc>
                <a:spcPts val="164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269700" y="2816084"/>
            <a:ext cx="7434739" cy="2176939"/>
            <a:chOff x="359599" y="3754778"/>
            <a:chExt cx="9912985" cy="2902585"/>
          </a:xfrm>
        </p:grpSpPr>
        <p:sp>
          <p:nvSpPr>
            <p:cNvPr id="87" name="object 87"/>
            <p:cNvSpPr/>
            <p:nvPr/>
          </p:nvSpPr>
          <p:spPr>
            <a:xfrm>
              <a:off x="359587" y="3789616"/>
              <a:ext cx="2639695" cy="2867660"/>
            </a:xfrm>
            <a:custGeom>
              <a:avLst/>
              <a:gdLst/>
              <a:ahLst/>
              <a:cxnLst/>
              <a:rect l="l" t="t" r="r" b="b"/>
              <a:pathLst>
                <a:path w="2639695" h="2867659">
                  <a:moveTo>
                    <a:pt x="1084910" y="93624"/>
                  </a:moveTo>
                  <a:lnTo>
                    <a:pt x="0" y="93624"/>
                  </a:lnTo>
                  <a:lnTo>
                    <a:pt x="0" y="2867583"/>
                  </a:lnTo>
                  <a:lnTo>
                    <a:pt x="1084910" y="2867583"/>
                  </a:lnTo>
                  <a:lnTo>
                    <a:pt x="1084910" y="93624"/>
                  </a:lnTo>
                  <a:close/>
                </a:path>
                <a:path w="2639695" h="2867659">
                  <a:moveTo>
                    <a:pt x="2639339" y="0"/>
                  </a:moveTo>
                  <a:lnTo>
                    <a:pt x="1102220" y="0"/>
                  </a:lnTo>
                  <a:lnTo>
                    <a:pt x="1102220" y="1607515"/>
                  </a:lnTo>
                  <a:lnTo>
                    <a:pt x="2639339" y="1607515"/>
                  </a:lnTo>
                  <a:lnTo>
                    <a:pt x="2639339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412566" y="3754780"/>
              <a:ext cx="6859905" cy="2902585"/>
            </a:xfrm>
            <a:custGeom>
              <a:avLst/>
              <a:gdLst/>
              <a:ahLst/>
              <a:cxnLst/>
              <a:rect l="l" t="t" r="r" b="b"/>
              <a:pathLst>
                <a:path w="6859905" h="2902584">
                  <a:moveTo>
                    <a:pt x="1962150" y="76873"/>
                  </a:moveTo>
                  <a:lnTo>
                    <a:pt x="0" y="76873"/>
                  </a:lnTo>
                  <a:lnTo>
                    <a:pt x="0" y="1616265"/>
                  </a:lnTo>
                  <a:lnTo>
                    <a:pt x="1962150" y="1616265"/>
                  </a:lnTo>
                  <a:lnTo>
                    <a:pt x="1962150" y="76873"/>
                  </a:lnTo>
                  <a:close/>
                </a:path>
                <a:path w="6859905" h="2902584">
                  <a:moveTo>
                    <a:pt x="6859397" y="0"/>
                  </a:moveTo>
                  <a:lnTo>
                    <a:pt x="2368639" y="0"/>
                  </a:lnTo>
                  <a:lnTo>
                    <a:pt x="2368639" y="2902420"/>
                  </a:lnTo>
                  <a:lnTo>
                    <a:pt x="6859397" y="2902420"/>
                  </a:lnTo>
                  <a:lnTo>
                    <a:pt x="6859397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783583" y="681120"/>
            <a:ext cx="619125" cy="23948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8573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500" spc="41" dirty="0">
                <a:latin typeface="Tahoma"/>
                <a:cs typeface="Tahoma"/>
              </a:rPr>
              <a:t>Step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spc="-38" dirty="0">
                <a:latin typeface="Tahoma"/>
                <a:cs typeface="Tahoma"/>
              </a:rPr>
              <a:t>2: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416997" y="680084"/>
            <a:ext cx="6141719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spc="49" dirty="0">
                <a:latin typeface="Tahoma"/>
                <a:cs typeface="Tahoma"/>
              </a:rPr>
              <a:t>For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spc="38" dirty="0">
                <a:latin typeface="Tahoma"/>
                <a:cs typeface="Tahoma"/>
              </a:rPr>
              <a:t>word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E75B6"/>
                </a:solidFill>
                <a:latin typeface="Tahoma"/>
                <a:cs typeface="Tahoma"/>
              </a:rPr>
              <a:t>x</a:t>
            </a:r>
            <a:r>
              <a:rPr sz="1463" baseline="-17094" dirty="0">
                <a:solidFill>
                  <a:srgbClr val="2E75B6"/>
                </a:solidFill>
                <a:latin typeface="Tahoma"/>
                <a:cs typeface="Tahoma"/>
              </a:rPr>
              <a:t>2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let’s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calculate</a:t>
            </a:r>
            <a:r>
              <a:rPr sz="1500" spc="-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scores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3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2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8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3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8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4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which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represent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how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370551" y="908685"/>
            <a:ext cx="4853464" cy="18138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12909">
              <a:spcBef>
                <a:spcPts val="75"/>
              </a:spcBef>
            </a:pPr>
            <a:r>
              <a:rPr sz="1500" dirty="0">
                <a:latin typeface="Tahoma"/>
                <a:cs typeface="Tahoma"/>
              </a:rPr>
              <a:t>much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attention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56" dirty="0">
                <a:latin typeface="Tahoma"/>
                <a:cs typeface="Tahoma"/>
              </a:rPr>
              <a:t>to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pay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56" dirty="0">
                <a:latin typeface="Tahoma"/>
                <a:cs typeface="Tahoma"/>
              </a:rPr>
              <a:t>to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each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respective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83" dirty="0">
                <a:latin typeface="Tahoma"/>
                <a:cs typeface="Tahoma"/>
              </a:rPr>
              <a:t>”word”</a:t>
            </a:r>
            <a:r>
              <a:rPr sz="1500" spc="23" dirty="0">
                <a:latin typeface="Tahoma"/>
                <a:cs typeface="Tahoma"/>
              </a:rPr>
              <a:t> </a:t>
            </a:r>
            <a:r>
              <a:rPr sz="2194" spc="-28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spc="-28" baseline="-17777" dirty="0">
                <a:solidFill>
                  <a:srgbClr val="1F4E79"/>
                </a:solidFill>
                <a:latin typeface="Tahoma"/>
                <a:cs typeface="Tahoma"/>
              </a:rPr>
              <a:t>i</a:t>
            </a:r>
            <a:endParaRPr sz="1406" baseline="-17777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500">
              <a:latin typeface="Tahoma"/>
              <a:cs typeface="Tahoma"/>
            </a:endParaRPr>
          </a:p>
          <a:p>
            <a:pPr>
              <a:spcBef>
                <a:spcPts val="307"/>
              </a:spcBef>
            </a:pPr>
            <a:endParaRPr sz="1500">
              <a:latin typeface="Tahoma"/>
              <a:cs typeface="Tahoma"/>
            </a:endParaRPr>
          </a:p>
          <a:p>
            <a:pPr marL="38100" marR="3485198" indent="13811">
              <a:lnSpc>
                <a:spcPct val="134200"/>
              </a:lnSpc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3</a:t>
            </a:r>
            <a:r>
              <a:rPr sz="1406" spc="11" baseline="-17777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7777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7777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r>
              <a:rPr sz="1406" spc="11" baseline="-17777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26" dirty="0">
                <a:latin typeface="Tahoma"/>
                <a:cs typeface="Tahoma"/>
              </a:rPr>
              <a:t>22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2</a:t>
            </a:r>
            <a:r>
              <a:rPr sz="1406" spc="11" baseline="-17777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7777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7777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r>
              <a:rPr sz="1406" spc="11" baseline="-17777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124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1406" spc="11" baseline="-15555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5555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5555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r>
              <a:rPr sz="1406" spc="11" baseline="-15555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26" dirty="0">
                <a:latin typeface="Tahoma"/>
                <a:cs typeface="Tahoma"/>
              </a:rPr>
              <a:t>92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517" y="526165"/>
            <a:ext cx="4862036" cy="61436"/>
          </a:xfrm>
          <a:custGeom>
            <a:avLst/>
            <a:gdLst/>
            <a:ahLst/>
            <a:cxnLst/>
            <a:rect l="l" t="t" r="r" b="b"/>
            <a:pathLst>
              <a:path w="6482715" h="81915">
                <a:moveTo>
                  <a:pt x="6482647" y="0"/>
                </a:moveTo>
                <a:lnTo>
                  <a:pt x="0" y="0"/>
                </a:lnTo>
                <a:lnTo>
                  <a:pt x="0" y="81537"/>
                </a:lnTo>
                <a:lnTo>
                  <a:pt x="6482647" y="81537"/>
                </a:lnTo>
                <a:lnTo>
                  <a:pt x="64826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5623" y="2918759"/>
            <a:ext cx="1200150" cy="1554956"/>
            <a:chOff x="607497" y="3891678"/>
            <a:chExt cx="1600200" cy="2073275"/>
          </a:xfrm>
        </p:grpSpPr>
        <p:sp>
          <p:nvSpPr>
            <p:cNvPr id="5" name="object 5"/>
            <p:cNvSpPr/>
            <p:nvPr/>
          </p:nvSpPr>
          <p:spPr>
            <a:xfrm>
              <a:off x="607497" y="5397119"/>
              <a:ext cx="329565" cy="567690"/>
            </a:xfrm>
            <a:custGeom>
              <a:avLst/>
              <a:gdLst/>
              <a:ahLst/>
              <a:cxnLst/>
              <a:rect l="l" t="t" r="r" b="b"/>
              <a:pathLst>
                <a:path w="329565" h="567689">
                  <a:moveTo>
                    <a:pt x="164741" y="0"/>
                  </a:moveTo>
                  <a:lnTo>
                    <a:pt x="0" y="229395"/>
                  </a:lnTo>
                  <a:lnTo>
                    <a:pt x="119315" y="229395"/>
                  </a:lnTo>
                  <a:lnTo>
                    <a:pt x="119315" y="567437"/>
                  </a:lnTo>
                  <a:lnTo>
                    <a:pt x="210167" y="567437"/>
                  </a:lnTo>
                  <a:lnTo>
                    <a:pt x="210167" y="229395"/>
                  </a:lnTo>
                  <a:lnTo>
                    <a:pt x="329482" y="229395"/>
                  </a:lnTo>
                  <a:lnTo>
                    <a:pt x="16474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2888" y="39139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980915"/>
              <a:ext cx="222250" cy="222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734656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488397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630" y="4236529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915" y="3978532"/>
              <a:ext cx="222250" cy="2222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94892" y="391396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159" y="4497922"/>
              <a:ext cx="203199" cy="2032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8159" y="4246053"/>
              <a:ext cx="203199" cy="203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0443" y="3988056"/>
              <a:ext cx="203200" cy="2032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482035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5301" y="4494685"/>
              <a:ext cx="203200" cy="2032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5301" y="4242816"/>
              <a:ext cx="203200" cy="203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7586" y="3984820"/>
              <a:ext cx="203199" cy="2032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876708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29974" y="4494685"/>
              <a:ext cx="203200" cy="2032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9974" y="4242816"/>
              <a:ext cx="203200" cy="203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32259" y="3984820"/>
              <a:ext cx="203200" cy="203200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1939598" y="2922261"/>
            <a:ext cx="2665571" cy="1526858"/>
            <a:chOff x="2586130" y="3896348"/>
            <a:chExt cx="3554095" cy="2035810"/>
          </a:xfrm>
        </p:grpSpPr>
        <p:sp>
          <p:nvSpPr>
            <p:cNvPr id="25" name="object 25"/>
            <p:cNvSpPr/>
            <p:nvPr/>
          </p:nvSpPr>
          <p:spPr>
            <a:xfrm>
              <a:off x="2619984" y="5350103"/>
              <a:ext cx="2285365" cy="582295"/>
            </a:xfrm>
            <a:custGeom>
              <a:avLst/>
              <a:gdLst/>
              <a:ahLst/>
              <a:cxnLst/>
              <a:rect l="l" t="t" r="r" b="b"/>
              <a:pathLst>
                <a:path w="2285365" h="582295">
                  <a:moveTo>
                    <a:pt x="329476" y="243979"/>
                  </a:moveTo>
                  <a:lnTo>
                    <a:pt x="164731" y="14579"/>
                  </a:lnTo>
                  <a:lnTo>
                    <a:pt x="0" y="243979"/>
                  </a:lnTo>
                  <a:lnTo>
                    <a:pt x="119303" y="243979"/>
                  </a:lnTo>
                  <a:lnTo>
                    <a:pt x="119303" y="582015"/>
                  </a:lnTo>
                  <a:lnTo>
                    <a:pt x="210159" y="582015"/>
                  </a:lnTo>
                  <a:lnTo>
                    <a:pt x="210159" y="243979"/>
                  </a:lnTo>
                  <a:lnTo>
                    <a:pt x="329476" y="243979"/>
                  </a:lnTo>
                  <a:close/>
                </a:path>
                <a:path w="2285365" h="582295">
                  <a:moveTo>
                    <a:pt x="2285085" y="229387"/>
                  </a:moveTo>
                  <a:lnTo>
                    <a:pt x="2120341" y="0"/>
                  </a:lnTo>
                  <a:lnTo>
                    <a:pt x="1955596" y="229387"/>
                  </a:lnTo>
                  <a:lnTo>
                    <a:pt x="2074913" y="229387"/>
                  </a:lnTo>
                  <a:lnTo>
                    <a:pt x="2074913" y="567436"/>
                  </a:lnTo>
                  <a:lnTo>
                    <a:pt x="2165769" y="567436"/>
                  </a:lnTo>
                  <a:lnTo>
                    <a:pt x="2165769" y="229387"/>
                  </a:lnTo>
                  <a:lnTo>
                    <a:pt x="2285085" y="22938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05180" y="3921873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988823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742563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496305"/>
              <a:ext cx="222250" cy="2222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244435"/>
              <a:ext cx="222250" cy="2222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206" y="3986439"/>
              <a:ext cx="222250" cy="22225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057184" y="3921872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0" y="4505829"/>
              <a:ext cx="203200" cy="2032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0" y="4253960"/>
              <a:ext cx="203200" cy="2032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2734" y="3995963"/>
              <a:ext cx="203200" cy="20320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444327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7593" y="4502592"/>
              <a:ext cx="203200" cy="2032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7593" y="4250723"/>
              <a:ext cx="203200" cy="2032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9877" y="3992726"/>
              <a:ext cx="203200" cy="20320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839000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92266" y="4502592"/>
              <a:ext cx="203200" cy="2032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2266" y="4250723"/>
              <a:ext cx="203200" cy="2032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94551" y="3992726"/>
              <a:ext cx="203200" cy="20320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575592" y="391863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985584"/>
              <a:ext cx="222250" cy="22225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739326"/>
              <a:ext cx="222250" cy="22225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493067"/>
              <a:ext cx="222250" cy="22225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335" y="4241198"/>
              <a:ext cx="222250" cy="22225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620" y="3983201"/>
              <a:ext cx="222250" cy="22225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027597" y="3918634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0863" y="4502590"/>
              <a:ext cx="203200" cy="2032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0863" y="4250721"/>
              <a:ext cx="203200" cy="2032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3148" y="3992726"/>
              <a:ext cx="203200" cy="2032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414740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8006" y="4499353"/>
              <a:ext cx="203200" cy="2032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68006" y="4247484"/>
              <a:ext cx="203200" cy="2032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70291" y="3989489"/>
              <a:ext cx="203200" cy="20320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5809413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2679" y="4499353"/>
              <a:ext cx="203200" cy="2032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62679" y="4247484"/>
              <a:ext cx="203200" cy="2032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4964" y="3989489"/>
              <a:ext cx="203200" cy="203200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4890947" y="2916329"/>
            <a:ext cx="1187768" cy="1533048"/>
            <a:chOff x="6521263" y="3888439"/>
            <a:chExt cx="1583690" cy="2044064"/>
          </a:xfrm>
        </p:grpSpPr>
        <p:sp>
          <p:nvSpPr>
            <p:cNvPr id="63" name="object 63"/>
            <p:cNvSpPr/>
            <p:nvPr/>
          </p:nvSpPr>
          <p:spPr>
            <a:xfrm>
              <a:off x="6540313" y="5364675"/>
              <a:ext cx="329565" cy="567690"/>
            </a:xfrm>
            <a:custGeom>
              <a:avLst/>
              <a:gdLst/>
              <a:ahLst/>
              <a:cxnLst/>
              <a:rect l="l" t="t" r="r" b="b"/>
              <a:pathLst>
                <a:path w="329565" h="567689">
                  <a:moveTo>
                    <a:pt x="164741" y="0"/>
                  </a:moveTo>
                  <a:lnTo>
                    <a:pt x="0" y="229395"/>
                  </a:lnTo>
                  <a:lnTo>
                    <a:pt x="119315" y="229395"/>
                  </a:lnTo>
                  <a:lnTo>
                    <a:pt x="119315" y="567437"/>
                  </a:lnTo>
                  <a:lnTo>
                    <a:pt x="210167" y="567437"/>
                  </a:lnTo>
                  <a:lnTo>
                    <a:pt x="210167" y="229395"/>
                  </a:lnTo>
                  <a:lnTo>
                    <a:pt x="329482" y="229395"/>
                  </a:lnTo>
                  <a:lnTo>
                    <a:pt x="16474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540313" y="3910727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977677"/>
              <a:ext cx="222250" cy="22225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731417"/>
              <a:ext cx="222250" cy="22225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055" y="4485158"/>
              <a:ext cx="222250" cy="22225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233289"/>
              <a:ext cx="222250" cy="22225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6340" y="3975294"/>
              <a:ext cx="222250" cy="22225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6992317" y="3910727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5583" y="4494682"/>
              <a:ext cx="203200" cy="20320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5583" y="4242813"/>
              <a:ext cx="203200" cy="20320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7867" y="3984818"/>
              <a:ext cx="203200" cy="20320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7379460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491446"/>
              <a:ext cx="203200" cy="203198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239577"/>
              <a:ext cx="203200" cy="20320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35010" y="3981580"/>
              <a:ext cx="203200" cy="203200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7774133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491446"/>
              <a:ext cx="203200" cy="203198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239577"/>
              <a:ext cx="203200" cy="20320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29683" y="3981580"/>
              <a:ext cx="203200" cy="203200"/>
            </a:xfrm>
            <a:prstGeom prst="rect">
              <a:avLst/>
            </a:prstGeom>
          </p:spPr>
        </p:pic>
      </p:grpSp>
      <p:sp>
        <p:nvSpPr>
          <p:cNvPr id="82" name="object 82"/>
          <p:cNvSpPr txBox="1"/>
          <p:nvPr/>
        </p:nvSpPr>
        <p:spPr>
          <a:xfrm>
            <a:off x="1729777" y="4482465"/>
            <a:ext cx="692468" cy="48410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2033"/>
              </a:lnSpc>
              <a:spcBef>
                <a:spcPts val="75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  <a:p>
            <a:pPr marR="13335" algn="ctr">
              <a:lnSpc>
                <a:spcPts val="167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838885" y="4500753"/>
            <a:ext cx="380048" cy="4712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lnSpc>
                <a:spcPts val="2002"/>
              </a:lnSpc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  <a:p>
            <a:pPr marL="140970">
              <a:lnSpc>
                <a:spcPts val="164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279448" y="3585189"/>
            <a:ext cx="22574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40662" y="3587855"/>
            <a:ext cx="1260634" cy="1425614"/>
          </a:xfrm>
          <a:prstGeom prst="rect">
            <a:avLst/>
          </a:prstGeom>
        </p:spPr>
        <p:txBody>
          <a:bodyPr vert="horz" wrap="square" lIns="0" tIns="8096" rIns="0" bIns="0" rtlCol="0">
            <a:spAutoFit/>
          </a:bodyPr>
          <a:lstStyle/>
          <a:p>
            <a:pPr marL="494824">
              <a:spcBef>
                <a:spcPts val="64"/>
              </a:spcBef>
              <a:tabLst>
                <a:tab pos="827246" algn="l"/>
                <a:tab pos="1111091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r>
              <a:rPr sz="1294" baseline="-14492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2077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endParaRPr sz="1294" baseline="-12077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454"/>
              </a:spcBef>
            </a:pPr>
            <a:endParaRPr sz="863">
              <a:latin typeface="Tahoma"/>
              <a:cs typeface="Tahoma"/>
            </a:endParaRPr>
          </a:p>
          <a:p>
            <a:pPr>
              <a:lnSpc>
                <a:spcPts val="2059"/>
              </a:lnSpc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  <a:p>
            <a:pPr marL="133350">
              <a:lnSpc>
                <a:spcPts val="1699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640511" y="3585570"/>
            <a:ext cx="1935956" cy="1392208"/>
          </a:xfrm>
          <a:prstGeom prst="rect">
            <a:avLst/>
          </a:prstGeom>
        </p:spPr>
        <p:txBody>
          <a:bodyPr vert="horz" wrap="square" lIns="0" tIns="38576" rIns="0" bIns="0" rtlCol="0">
            <a:spAutoFit/>
          </a:bodyPr>
          <a:lstStyle/>
          <a:p>
            <a:pPr>
              <a:spcBef>
                <a:spcPts val="304"/>
              </a:spcBef>
              <a:tabLst>
                <a:tab pos="283369" algn="l"/>
                <a:tab pos="1170146" algn="l"/>
                <a:tab pos="1502569" algn="l"/>
                <a:tab pos="1786414" algn="l"/>
              </a:tabLst>
            </a:pPr>
            <a:r>
              <a:rPr sz="1969" spc="-28" baseline="9523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863" spc="-19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r>
              <a:rPr sz="863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1111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2415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r>
              <a:rPr sz="1294" baseline="2415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969" spc="67" baseline="9523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863" spc="45" dirty="0">
                <a:solidFill>
                  <a:srgbClr val="7030A0"/>
                </a:solidFill>
                <a:latin typeface="Tahoma"/>
                <a:cs typeface="Tahoma"/>
              </a:rPr>
              <a:t>3</a:t>
            </a:r>
            <a:r>
              <a:rPr sz="863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969" spc="-28" baseline="9523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863" spc="-19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r>
              <a:rPr sz="863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2698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2415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endParaRPr sz="1294" baseline="2415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34"/>
              </a:spcBef>
            </a:pPr>
            <a:endParaRPr sz="863">
              <a:latin typeface="Tahoma"/>
              <a:cs typeface="Tahoma"/>
            </a:endParaRPr>
          </a:p>
          <a:p>
            <a:pPr marR="152400" algn="ctr">
              <a:lnSpc>
                <a:spcPts val="2078"/>
              </a:lnSpc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  <a:p>
            <a:pPr marR="108109" algn="ctr">
              <a:lnSpc>
                <a:spcPts val="1718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281536" y="3585570"/>
            <a:ext cx="168593" cy="203486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>
              <a:spcBef>
                <a:spcPts val="11"/>
              </a:spcBef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4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585448" y="3576045"/>
            <a:ext cx="210026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897801" y="3578712"/>
            <a:ext cx="149543" cy="203486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>
              <a:spcBef>
                <a:spcPts val="11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269701" y="2912425"/>
            <a:ext cx="1421606" cy="2116455"/>
          </a:xfrm>
          <a:custGeom>
            <a:avLst/>
            <a:gdLst/>
            <a:ahLst/>
            <a:cxnLst/>
            <a:rect l="l" t="t" r="r" b="b"/>
            <a:pathLst>
              <a:path w="1895475" h="2821940">
                <a:moveTo>
                  <a:pt x="1895366" y="0"/>
                </a:moveTo>
                <a:lnTo>
                  <a:pt x="0" y="0"/>
                </a:lnTo>
                <a:lnTo>
                  <a:pt x="0" y="2821423"/>
                </a:lnTo>
                <a:lnTo>
                  <a:pt x="1895366" y="2821423"/>
                </a:lnTo>
                <a:lnTo>
                  <a:pt x="1895366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759147" y="2816085"/>
            <a:ext cx="2945130" cy="1912620"/>
          </a:xfrm>
          <a:custGeom>
            <a:avLst/>
            <a:gdLst/>
            <a:ahLst/>
            <a:cxnLst/>
            <a:rect l="l" t="t" r="r" b="b"/>
            <a:pathLst>
              <a:path w="3926840" h="2550160">
                <a:moveTo>
                  <a:pt x="1015758" y="22212"/>
                </a:moveTo>
                <a:lnTo>
                  <a:pt x="0" y="22212"/>
                </a:lnTo>
                <a:lnTo>
                  <a:pt x="0" y="1595323"/>
                </a:lnTo>
                <a:lnTo>
                  <a:pt x="1015758" y="1595323"/>
                </a:lnTo>
                <a:lnTo>
                  <a:pt x="1015758" y="22212"/>
                </a:lnTo>
                <a:close/>
              </a:path>
              <a:path w="3926840" h="2550160">
                <a:moveTo>
                  <a:pt x="3926433" y="0"/>
                </a:moveTo>
                <a:lnTo>
                  <a:pt x="1385354" y="0"/>
                </a:lnTo>
                <a:lnTo>
                  <a:pt x="1385354" y="2549779"/>
                </a:lnTo>
                <a:lnTo>
                  <a:pt x="3926433" y="2549779"/>
                </a:lnTo>
                <a:lnTo>
                  <a:pt x="3926433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2" name="object 92"/>
          <p:cNvGrpSpPr/>
          <p:nvPr/>
        </p:nvGrpSpPr>
        <p:grpSpPr>
          <a:xfrm>
            <a:off x="1878631" y="2842212"/>
            <a:ext cx="2806541" cy="2176939"/>
            <a:chOff x="2504842" y="3789615"/>
            <a:chExt cx="3742054" cy="2902585"/>
          </a:xfrm>
        </p:grpSpPr>
        <p:sp>
          <p:nvSpPr>
            <p:cNvPr id="93" name="object 93"/>
            <p:cNvSpPr/>
            <p:nvPr/>
          </p:nvSpPr>
          <p:spPr>
            <a:xfrm>
              <a:off x="3396615" y="3789615"/>
              <a:ext cx="2850515" cy="2902585"/>
            </a:xfrm>
            <a:custGeom>
              <a:avLst/>
              <a:gdLst/>
              <a:ahLst/>
              <a:cxnLst/>
              <a:rect l="l" t="t" r="r" b="b"/>
              <a:pathLst>
                <a:path w="2850515" h="2902584">
                  <a:moveTo>
                    <a:pt x="2849998" y="0"/>
                  </a:moveTo>
                  <a:lnTo>
                    <a:pt x="0" y="0"/>
                  </a:lnTo>
                  <a:lnTo>
                    <a:pt x="0" y="2902416"/>
                  </a:lnTo>
                  <a:lnTo>
                    <a:pt x="2849998" y="2902416"/>
                  </a:lnTo>
                  <a:lnTo>
                    <a:pt x="2849998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504842" y="3883233"/>
              <a:ext cx="494665" cy="1481455"/>
            </a:xfrm>
            <a:custGeom>
              <a:avLst/>
              <a:gdLst/>
              <a:ahLst/>
              <a:cxnLst/>
              <a:rect l="l" t="t" r="r" b="b"/>
              <a:pathLst>
                <a:path w="494664" h="1481454">
                  <a:moveTo>
                    <a:pt x="494361" y="0"/>
                  </a:moveTo>
                  <a:lnTo>
                    <a:pt x="0" y="0"/>
                  </a:lnTo>
                  <a:lnTo>
                    <a:pt x="0" y="1481441"/>
                  </a:lnTo>
                  <a:lnTo>
                    <a:pt x="494361" y="1481441"/>
                  </a:lnTo>
                  <a:lnTo>
                    <a:pt x="494361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783583" y="681120"/>
            <a:ext cx="619125" cy="23948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8573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500" spc="41" dirty="0">
                <a:latin typeface="Tahoma"/>
                <a:cs typeface="Tahoma"/>
              </a:rPr>
              <a:t>Step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spc="-38" dirty="0">
                <a:latin typeface="Tahoma"/>
                <a:cs typeface="Tahoma"/>
              </a:rPr>
              <a:t>2: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416997" y="680084"/>
            <a:ext cx="6141719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spc="49" dirty="0">
                <a:latin typeface="Tahoma"/>
                <a:cs typeface="Tahoma"/>
              </a:rPr>
              <a:t>For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spc="38" dirty="0">
                <a:latin typeface="Tahoma"/>
                <a:cs typeface="Tahoma"/>
              </a:rPr>
              <a:t>word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E75B6"/>
                </a:solidFill>
                <a:latin typeface="Tahoma"/>
                <a:cs typeface="Tahoma"/>
              </a:rPr>
              <a:t>x</a:t>
            </a:r>
            <a:r>
              <a:rPr sz="1463" baseline="-17094" dirty="0">
                <a:solidFill>
                  <a:srgbClr val="2E75B6"/>
                </a:solidFill>
                <a:latin typeface="Tahoma"/>
                <a:cs typeface="Tahoma"/>
              </a:rPr>
              <a:t>2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let’s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calculate</a:t>
            </a:r>
            <a:r>
              <a:rPr sz="1500" spc="-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scores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3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2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8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3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28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4</a:t>
            </a:r>
            <a:r>
              <a:rPr sz="1500" dirty="0">
                <a:latin typeface="Tahoma"/>
                <a:cs typeface="Tahoma"/>
              </a:rPr>
              <a:t>,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which</a:t>
            </a:r>
            <a:r>
              <a:rPr sz="1500" spc="-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represent</a:t>
            </a:r>
            <a:r>
              <a:rPr sz="1500" spc="-11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how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70551" y="908684"/>
            <a:ext cx="4853464" cy="182287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12909">
              <a:spcBef>
                <a:spcPts val="75"/>
              </a:spcBef>
            </a:pPr>
            <a:r>
              <a:rPr sz="1500" dirty="0">
                <a:latin typeface="Tahoma"/>
                <a:cs typeface="Tahoma"/>
              </a:rPr>
              <a:t>much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attention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56" dirty="0">
                <a:latin typeface="Tahoma"/>
                <a:cs typeface="Tahoma"/>
              </a:rPr>
              <a:t>to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pay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56" dirty="0">
                <a:latin typeface="Tahoma"/>
                <a:cs typeface="Tahoma"/>
              </a:rPr>
              <a:t>to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each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respective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spc="83" dirty="0">
                <a:latin typeface="Tahoma"/>
                <a:cs typeface="Tahoma"/>
              </a:rPr>
              <a:t>”word”</a:t>
            </a:r>
            <a:r>
              <a:rPr sz="1500" spc="23" dirty="0">
                <a:latin typeface="Tahoma"/>
                <a:cs typeface="Tahoma"/>
              </a:rPr>
              <a:t> </a:t>
            </a:r>
            <a:r>
              <a:rPr sz="2194" spc="-28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spc="-28" baseline="-17777" dirty="0">
                <a:solidFill>
                  <a:srgbClr val="1F4E79"/>
                </a:solidFill>
                <a:latin typeface="Tahoma"/>
                <a:cs typeface="Tahoma"/>
              </a:rPr>
              <a:t>i</a:t>
            </a:r>
            <a:endParaRPr sz="1406" baseline="-17777">
              <a:latin typeface="Tahoma"/>
              <a:cs typeface="Tahoma"/>
            </a:endParaRPr>
          </a:p>
          <a:p>
            <a:pPr marL="38100" marR="3485198" indent="5715">
              <a:lnSpc>
                <a:spcPct val="130300"/>
              </a:lnSpc>
              <a:spcBef>
                <a:spcPts val="1365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4</a:t>
            </a:r>
            <a:r>
              <a:rPr sz="1406" spc="11" baseline="-15555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5555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5555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r>
              <a:rPr sz="1406" spc="11" baseline="-15555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8</a:t>
            </a:r>
            <a:r>
              <a:rPr sz="1500" spc="375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3</a:t>
            </a:r>
            <a:r>
              <a:rPr sz="1406" spc="11" baseline="-17777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7777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7777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r>
              <a:rPr sz="1406" spc="11" baseline="-17777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26" dirty="0">
                <a:latin typeface="Tahoma"/>
                <a:cs typeface="Tahoma"/>
              </a:rPr>
              <a:t>22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2</a:t>
            </a:r>
            <a:r>
              <a:rPr sz="1406" spc="11" baseline="-17777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7777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7777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r>
              <a:rPr sz="1406" spc="11" baseline="-17777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124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1406" spc="11" baseline="-15555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5555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5555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r>
              <a:rPr sz="1406" spc="11" baseline="-15555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26" dirty="0">
                <a:latin typeface="Tahoma"/>
                <a:cs typeface="Tahoma"/>
              </a:rPr>
              <a:t>92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517" y="526165"/>
            <a:ext cx="4862036" cy="61436"/>
          </a:xfrm>
          <a:custGeom>
            <a:avLst/>
            <a:gdLst/>
            <a:ahLst/>
            <a:cxnLst/>
            <a:rect l="l" t="t" r="r" b="b"/>
            <a:pathLst>
              <a:path w="6482715" h="81915">
                <a:moveTo>
                  <a:pt x="6482647" y="0"/>
                </a:moveTo>
                <a:lnTo>
                  <a:pt x="0" y="0"/>
                </a:lnTo>
                <a:lnTo>
                  <a:pt x="0" y="81537"/>
                </a:lnTo>
                <a:lnTo>
                  <a:pt x="6482647" y="81537"/>
                </a:lnTo>
                <a:lnTo>
                  <a:pt x="64826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sp>
        <p:nvSpPr>
          <p:cNvPr id="4" name="object 4"/>
          <p:cNvSpPr/>
          <p:nvPr/>
        </p:nvSpPr>
        <p:spPr>
          <a:xfrm>
            <a:off x="455623" y="4047839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64988" y="4023507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6"/>
                </a:lnTo>
                <a:lnTo>
                  <a:pt x="210167" y="567436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467879" y="2921187"/>
            <a:ext cx="262414" cy="1052036"/>
            <a:chOff x="623838" y="3894915"/>
            <a:chExt cx="349885" cy="1402715"/>
          </a:xfrm>
        </p:grpSpPr>
        <p:sp>
          <p:nvSpPr>
            <p:cNvPr id="7" name="object 7"/>
            <p:cNvSpPr/>
            <p:nvPr/>
          </p:nvSpPr>
          <p:spPr>
            <a:xfrm>
              <a:off x="642888" y="39139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980915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734656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488397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630" y="4236529"/>
              <a:ext cx="222250" cy="222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915" y="3978532"/>
              <a:ext cx="222250" cy="222250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806882" y="2918759"/>
            <a:ext cx="552926" cy="653891"/>
            <a:chOff x="1075842" y="3891678"/>
            <a:chExt cx="737235" cy="871855"/>
          </a:xfrm>
        </p:grpSpPr>
        <p:sp>
          <p:nvSpPr>
            <p:cNvPr id="14" name="object 14"/>
            <p:cNvSpPr/>
            <p:nvPr/>
          </p:nvSpPr>
          <p:spPr>
            <a:xfrm>
              <a:off x="1094892" y="391396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159" y="4497922"/>
              <a:ext cx="203199" cy="203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8159" y="4246053"/>
              <a:ext cx="203199" cy="2032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0443" y="3988056"/>
              <a:ext cx="203200" cy="2032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482035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5301" y="4494685"/>
              <a:ext cx="203200" cy="203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5301" y="4242816"/>
              <a:ext cx="203200" cy="2032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7586" y="3984820"/>
              <a:ext cx="203199" cy="203200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1393244" y="2918759"/>
            <a:ext cx="262414" cy="651510"/>
            <a:chOff x="1857658" y="3891678"/>
            <a:chExt cx="349885" cy="868680"/>
          </a:xfrm>
        </p:grpSpPr>
        <p:sp>
          <p:nvSpPr>
            <p:cNvPr id="23" name="object 23"/>
            <p:cNvSpPr/>
            <p:nvPr/>
          </p:nvSpPr>
          <p:spPr>
            <a:xfrm>
              <a:off x="1876708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29974" y="4494685"/>
              <a:ext cx="203200" cy="2032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9974" y="4242816"/>
              <a:ext cx="203200" cy="2032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32259" y="3984820"/>
              <a:ext cx="203200" cy="203200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1939598" y="2927118"/>
            <a:ext cx="262414" cy="1052036"/>
            <a:chOff x="2586130" y="3902823"/>
            <a:chExt cx="349885" cy="1402715"/>
          </a:xfrm>
        </p:grpSpPr>
        <p:sp>
          <p:nvSpPr>
            <p:cNvPr id="28" name="object 28"/>
            <p:cNvSpPr/>
            <p:nvPr/>
          </p:nvSpPr>
          <p:spPr>
            <a:xfrm>
              <a:off x="2605180" y="3921873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988823"/>
              <a:ext cx="222250" cy="2222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742563"/>
              <a:ext cx="222250" cy="2222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496305"/>
              <a:ext cx="222250" cy="2222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244435"/>
              <a:ext cx="222250" cy="22225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206" y="3986439"/>
              <a:ext cx="222250" cy="222250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2278601" y="2924689"/>
            <a:ext cx="552926" cy="653891"/>
            <a:chOff x="3038134" y="3899585"/>
            <a:chExt cx="737235" cy="871855"/>
          </a:xfrm>
        </p:grpSpPr>
        <p:sp>
          <p:nvSpPr>
            <p:cNvPr id="35" name="object 35"/>
            <p:cNvSpPr/>
            <p:nvPr/>
          </p:nvSpPr>
          <p:spPr>
            <a:xfrm>
              <a:off x="3057184" y="3921872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1" y="4505829"/>
              <a:ext cx="203200" cy="2032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1" y="4253960"/>
              <a:ext cx="203200" cy="2032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2734" y="3995963"/>
              <a:ext cx="203200" cy="20320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444327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7594" y="4502591"/>
              <a:ext cx="203200" cy="2032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7594" y="4250722"/>
              <a:ext cx="203200" cy="2032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9877" y="3992726"/>
              <a:ext cx="203200" cy="203200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2864963" y="2924689"/>
            <a:ext cx="262414" cy="651510"/>
            <a:chOff x="3819950" y="3899585"/>
            <a:chExt cx="349885" cy="868680"/>
          </a:xfrm>
        </p:grpSpPr>
        <p:sp>
          <p:nvSpPr>
            <p:cNvPr id="44" name="object 44"/>
            <p:cNvSpPr/>
            <p:nvPr/>
          </p:nvSpPr>
          <p:spPr>
            <a:xfrm>
              <a:off x="3839000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92266" y="4502591"/>
              <a:ext cx="203200" cy="2032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2266" y="4250722"/>
              <a:ext cx="203200" cy="2032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94551" y="3992726"/>
              <a:ext cx="203200" cy="203200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3417407" y="2916329"/>
            <a:ext cx="2661284" cy="1533048"/>
            <a:chOff x="4556542" y="3888439"/>
            <a:chExt cx="3548379" cy="2044064"/>
          </a:xfrm>
        </p:grpSpPr>
        <p:sp>
          <p:nvSpPr>
            <p:cNvPr id="49" name="object 49"/>
            <p:cNvSpPr/>
            <p:nvPr/>
          </p:nvSpPr>
          <p:spPr>
            <a:xfrm>
              <a:off x="4575581" y="5350103"/>
              <a:ext cx="2294255" cy="582295"/>
            </a:xfrm>
            <a:custGeom>
              <a:avLst/>
              <a:gdLst/>
              <a:ahLst/>
              <a:cxnLst/>
              <a:rect l="l" t="t" r="r" b="b"/>
              <a:pathLst>
                <a:path w="2294254" h="582295">
                  <a:moveTo>
                    <a:pt x="329488" y="229387"/>
                  </a:moveTo>
                  <a:lnTo>
                    <a:pt x="164744" y="0"/>
                  </a:lnTo>
                  <a:lnTo>
                    <a:pt x="0" y="229387"/>
                  </a:lnTo>
                  <a:lnTo>
                    <a:pt x="119316" y="229387"/>
                  </a:lnTo>
                  <a:lnTo>
                    <a:pt x="119316" y="567436"/>
                  </a:lnTo>
                  <a:lnTo>
                    <a:pt x="210172" y="567436"/>
                  </a:lnTo>
                  <a:lnTo>
                    <a:pt x="210172" y="229387"/>
                  </a:lnTo>
                  <a:lnTo>
                    <a:pt x="329488" y="229387"/>
                  </a:lnTo>
                  <a:close/>
                </a:path>
                <a:path w="2294254" h="582295">
                  <a:moveTo>
                    <a:pt x="2294204" y="243979"/>
                  </a:moveTo>
                  <a:lnTo>
                    <a:pt x="2129472" y="14579"/>
                  </a:lnTo>
                  <a:lnTo>
                    <a:pt x="1964728" y="243979"/>
                  </a:lnTo>
                  <a:lnTo>
                    <a:pt x="2084044" y="243979"/>
                  </a:lnTo>
                  <a:lnTo>
                    <a:pt x="2084044" y="582015"/>
                  </a:lnTo>
                  <a:lnTo>
                    <a:pt x="2174887" y="582015"/>
                  </a:lnTo>
                  <a:lnTo>
                    <a:pt x="2174887" y="243979"/>
                  </a:lnTo>
                  <a:lnTo>
                    <a:pt x="2294204" y="243979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575592" y="391863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985584"/>
              <a:ext cx="222250" cy="22225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739326"/>
              <a:ext cx="222250" cy="22225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493066"/>
              <a:ext cx="222250" cy="22225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335" y="4241198"/>
              <a:ext cx="222250" cy="22225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620" y="3983201"/>
              <a:ext cx="222250" cy="22225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027597" y="3918634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0863" y="4502590"/>
              <a:ext cx="203200" cy="2032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0863" y="4250721"/>
              <a:ext cx="203200" cy="2032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3148" y="3992726"/>
              <a:ext cx="203200" cy="2032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5414740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8006" y="4499353"/>
              <a:ext cx="203200" cy="2032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68006" y="4247484"/>
              <a:ext cx="203200" cy="2032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70291" y="3989489"/>
              <a:ext cx="203200" cy="2032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5809413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2679" y="4499353"/>
              <a:ext cx="203200" cy="20320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62679" y="4247484"/>
              <a:ext cx="203200" cy="20320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4964" y="3989489"/>
              <a:ext cx="203200" cy="20320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6540313" y="3910727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977677"/>
              <a:ext cx="222250" cy="22225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731417"/>
              <a:ext cx="222250" cy="22225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055" y="4485158"/>
              <a:ext cx="222250" cy="22225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233289"/>
              <a:ext cx="222250" cy="22225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6340" y="3975294"/>
              <a:ext cx="222250" cy="22225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6992317" y="3910727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5584" y="4494682"/>
              <a:ext cx="203200" cy="20320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5584" y="4242813"/>
              <a:ext cx="203200" cy="20320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7867" y="3984818"/>
              <a:ext cx="203200" cy="203200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7379460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7" y="4491446"/>
              <a:ext cx="203200" cy="203198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7" y="4239577"/>
              <a:ext cx="203200" cy="20320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35010" y="3981580"/>
              <a:ext cx="203200" cy="203200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7774133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491446"/>
              <a:ext cx="203200" cy="203198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239577"/>
              <a:ext cx="203200" cy="20320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29683" y="3981580"/>
              <a:ext cx="203200" cy="203200"/>
            </a:xfrm>
            <a:prstGeom prst="rect">
              <a:avLst/>
            </a:prstGeom>
          </p:spPr>
        </p:pic>
      </p:grpSp>
      <p:sp>
        <p:nvSpPr>
          <p:cNvPr id="86" name="object 86"/>
          <p:cNvSpPr txBox="1"/>
          <p:nvPr/>
        </p:nvSpPr>
        <p:spPr>
          <a:xfrm>
            <a:off x="2269923" y="3585189"/>
            <a:ext cx="561975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38100">
              <a:spcBef>
                <a:spcPts val="86"/>
              </a:spcBef>
              <a:tabLst>
                <a:tab pos="370523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89571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97483" y="3585189"/>
            <a:ext cx="561975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38100">
              <a:spcBef>
                <a:spcPts val="86"/>
              </a:spcBef>
              <a:tabLst>
                <a:tab pos="370523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42327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322049" y="3578712"/>
            <a:ext cx="2725103" cy="1406699"/>
          </a:xfrm>
          <a:prstGeom prst="rect">
            <a:avLst/>
          </a:prstGeom>
        </p:spPr>
        <p:txBody>
          <a:bodyPr vert="horz" wrap="square" lIns="0" tIns="14764" rIns="0" bIns="0" rtlCol="0">
            <a:spAutoFit/>
          </a:bodyPr>
          <a:lstStyle/>
          <a:p>
            <a:pPr marL="488633" algn="ctr">
              <a:spcBef>
                <a:spcPts val="116"/>
              </a:spcBef>
              <a:tabLst>
                <a:tab pos="821055" algn="l"/>
                <a:tab pos="1104900" algn="l"/>
                <a:tab pos="1959293" algn="l"/>
                <a:tab pos="2291715" algn="l"/>
                <a:tab pos="2575559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2077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r>
              <a:rPr sz="1294" baseline="-12077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969" spc="67" baseline="1587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9661" dirty="0">
                <a:solidFill>
                  <a:srgbClr val="7030A0"/>
                </a:solidFill>
                <a:latin typeface="Tahoma"/>
                <a:cs typeface="Tahoma"/>
              </a:rPr>
              <a:t>4</a:t>
            </a:r>
            <a:r>
              <a:rPr sz="1294" baseline="-9661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9661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r>
              <a:rPr sz="1294" baseline="-9661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4761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7246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294" baseline="-7246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274"/>
              </a:spcBef>
            </a:pPr>
            <a:endParaRPr sz="863">
              <a:latin typeface="Tahoma"/>
              <a:cs typeface="Tahoma"/>
            </a:endParaRPr>
          </a:p>
          <a:p>
            <a:pPr>
              <a:lnSpc>
                <a:spcPts val="2085"/>
              </a:lnSpc>
              <a:tabLst>
                <a:tab pos="1544954" algn="l"/>
              </a:tabLst>
            </a:pPr>
            <a:r>
              <a:rPr spc="75" dirty="0">
                <a:latin typeface="Tahoma"/>
                <a:cs typeface="Tahoma"/>
              </a:rPr>
              <a:t>dog</a:t>
            </a:r>
            <a:r>
              <a:rPr dirty="0">
                <a:latin typeface="Tahoma"/>
                <a:cs typeface="Tahoma"/>
              </a:rPr>
              <a:t>	</a:t>
            </a:r>
            <a:r>
              <a:rPr sz="2700" spc="-28" baseline="-4629" dirty="0">
                <a:latin typeface="Tahoma"/>
                <a:cs typeface="Tahoma"/>
              </a:rPr>
              <a:t>ran</a:t>
            </a:r>
            <a:endParaRPr sz="2700" baseline="-4629">
              <a:latin typeface="Tahoma"/>
              <a:cs typeface="Tahoma"/>
            </a:endParaRPr>
          </a:p>
          <a:p>
            <a:pPr marL="145256">
              <a:lnSpc>
                <a:spcPts val="1725"/>
              </a:lnSpc>
              <a:tabLst>
                <a:tab pos="1657826" algn="l"/>
              </a:tabLst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r>
              <a:rPr sz="1463" baseline="-17094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3260151" y="2905917"/>
            <a:ext cx="3464719" cy="2113121"/>
          </a:xfrm>
          <a:custGeom>
            <a:avLst/>
            <a:gdLst/>
            <a:ahLst/>
            <a:cxnLst/>
            <a:rect l="l" t="t" r="r" b="b"/>
            <a:pathLst>
              <a:path w="4619625" h="2817495">
                <a:moveTo>
                  <a:pt x="4619001" y="0"/>
                </a:moveTo>
                <a:lnTo>
                  <a:pt x="0" y="0"/>
                </a:lnTo>
                <a:lnTo>
                  <a:pt x="0" y="2817476"/>
                </a:lnTo>
                <a:lnTo>
                  <a:pt x="4619001" y="2817476"/>
                </a:lnTo>
                <a:lnTo>
                  <a:pt x="4619001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783583" y="700170"/>
            <a:ext cx="619125" cy="240931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0001" rIns="0" bIns="0" rtlCol="0">
            <a:spAutoFit/>
          </a:bodyPr>
          <a:lstStyle/>
          <a:p>
            <a:pPr>
              <a:spcBef>
                <a:spcPts val="79"/>
              </a:spcBef>
            </a:pPr>
            <a:r>
              <a:rPr sz="1500" spc="41" dirty="0">
                <a:latin typeface="Tahoma"/>
                <a:cs typeface="Tahoma"/>
              </a:rPr>
              <a:t>Step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spc="-38" dirty="0">
                <a:latin typeface="Tahoma"/>
                <a:cs typeface="Tahoma"/>
              </a:rPr>
              <a:t>3: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416997" y="700658"/>
            <a:ext cx="6553676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spc="56" dirty="0">
                <a:latin typeface="Tahoma"/>
                <a:cs typeface="Tahoma"/>
              </a:rPr>
              <a:t>Our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scores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-23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2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-17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3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-23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4</a:t>
            </a:r>
            <a:r>
              <a:rPr sz="1406" spc="225" baseline="-15555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49" dirty="0">
                <a:latin typeface="Tahoma"/>
                <a:cs typeface="Tahoma"/>
              </a:rPr>
              <a:t>don’t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sum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spc="56" dirty="0">
                <a:latin typeface="Tahoma"/>
                <a:cs typeface="Tahoma"/>
              </a:rPr>
              <a:t>to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1.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Let’s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spc="38" dirty="0">
                <a:latin typeface="Tahoma"/>
                <a:cs typeface="Tahoma"/>
              </a:rPr>
              <a:t>divide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45" dirty="0">
                <a:latin typeface="Tahoma"/>
                <a:cs typeface="Tahoma"/>
              </a:rPr>
              <a:t>by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dirty="0">
                <a:latin typeface="Cambria Math"/>
                <a:cs typeface="Cambria Math"/>
              </a:rPr>
              <a:t>√𝑙𝑒𝑛(𝑘</a:t>
            </a:r>
            <a:r>
              <a:rPr sz="1688" baseline="-14814" dirty="0">
                <a:latin typeface="Cambria Math"/>
                <a:cs typeface="Cambria Math"/>
              </a:rPr>
              <a:t>𝑖</a:t>
            </a:r>
            <a:r>
              <a:rPr sz="1500" dirty="0">
                <a:latin typeface="Cambria Math"/>
                <a:cs typeface="Cambria Math"/>
              </a:rPr>
              <a:t>)</a:t>
            </a:r>
            <a:r>
              <a:rPr sz="1500" spc="19" dirty="0">
                <a:latin typeface="Cambria Math"/>
                <a:cs typeface="Cambria Math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11" dirty="0"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C00000"/>
                </a:solidFill>
                <a:latin typeface="Calibri"/>
                <a:cs typeface="Calibri"/>
              </a:rPr>
              <a:t>softmax</a:t>
            </a:r>
            <a:r>
              <a:rPr sz="1500" spc="1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500" spc="-19" dirty="0">
                <a:latin typeface="Calibri"/>
                <a:cs typeface="Calibri"/>
              </a:rPr>
              <a:t>it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449416" y="1283589"/>
            <a:ext cx="1547336" cy="1417856"/>
          </a:xfrm>
          <a:prstGeom prst="rect">
            <a:avLst/>
          </a:prstGeom>
        </p:spPr>
        <p:txBody>
          <a:bodyPr vert="horz" wrap="square" lIns="0" tIns="121444" rIns="0" bIns="0" rtlCol="0">
            <a:spAutoFit/>
          </a:bodyPr>
          <a:lstStyle/>
          <a:p>
            <a:pPr marL="39052">
              <a:spcBef>
                <a:spcPts val="956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r>
              <a:rPr sz="1463" b="1" spc="185" baseline="-1709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=</a:t>
            </a:r>
            <a:r>
              <a:rPr sz="1500" b="1" spc="-4" dirty="0">
                <a:latin typeface="Calibri"/>
                <a:cs typeface="Calibri"/>
              </a:rPr>
              <a:t> </a:t>
            </a:r>
            <a:r>
              <a:rPr sz="1500" dirty="0">
                <a:latin typeface="Cambria Math"/>
                <a:cs typeface="Cambria Math"/>
              </a:rPr>
              <a:t>𝝈(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𝒔</a:t>
            </a:r>
            <a:r>
              <a:rPr sz="1688" baseline="-14814" dirty="0">
                <a:solidFill>
                  <a:srgbClr val="548235"/>
                </a:solidFill>
                <a:latin typeface="Cambria Math"/>
                <a:cs typeface="Cambria Math"/>
              </a:rPr>
              <a:t>𝟒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/𝟖</a:t>
            </a:r>
            <a:r>
              <a:rPr sz="1500" dirty="0">
                <a:latin typeface="Cambria Math"/>
                <a:cs typeface="Cambria Math"/>
              </a:rPr>
              <a:t>)</a:t>
            </a:r>
            <a:r>
              <a:rPr sz="1500" spc="-60" dirty="0">
                <a:latin typeface="Cambria Math"/>
                <a:cs typeface="Cambria Math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53" dirty="0">
                <a:latin typeface="Tahoma"/>
                <a:cs typeface="Tahoma"/>
              </a:rPr>
              <a:t> </a:t>
            </a:r>
            <a:r>
              <a:rPr sz="1500" spc="-45" dirty="0">
                <a:latin typeface="Tahoma"/>
                <a:cs typeface="Tahoma"/>
              </a:rPr>
              <a:t>0</a:t>
            </a:r>
            <a:endParaRPr sz="1500">
              <a:latin typeface="Tahoma"/>
              <a:cs typeface="Tahoma"/>
            </a:endParaRPr>
          </a:p>
          <a:p>
            <a:pPr marL="28575">
              <a:spcBef>
                <a:spcPts val="881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sz="1463" b="1" spc="185" baseline="-1709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=</a:t>
            </a:r>
            <a:r>
              <a:rPr sz="1500" b="1" spc="-15" dirty="0">
                <a:latin typeface="Calibri"/>
                <a:cs typeface="Calibri"/>
              </a:rPr>
              <a:t> </a:t>
            </a:r>
            <a:r>
              <a:rPr sz="1500" dirty="0">
                <a:latin typeface="Cambria Math"/>
                <a:cs typeface="Cambria Math"/>
              </a:rPr>
              <a:t>𝝈(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𝒔</a:t>
            </a:r>
            <a:r>
              <a:rPr sz="1688" baseline="-14814" dirty="0">
                <a:solidFill>
                  <a:srgbClr val="548235"/>
                </a:solidFill>
                <a:latin typeface="Cambria Math"/>
                <a:cs typeface="Cambria Math"/>
              </a:rPr>
              <a:t>𝟑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/𝟖</a:t>
            </a:r>
            <a:r>
              <a:rPr sz="1500" dirty="0">
                <a:latin typeface="Cambria Math"/>
                <a:cs typeface="Cambria Math"/>
              </a:rPr>
              <a:t>)</a:t>
            </a:r>
            <a:r>
              <a:rPr sz="1500" spc="-60" dirty="0">
                <a:latin typeface="Cambria Math"/>
                <a:cs typeface="Cambria Math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53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.01</a:t>
            </a:r>
            <a:endParaRPr sz="1500">
              <a:latin typeface="Tahoma"/>
              <a:cs typeface="Tahoma"/>
            </a:endParaRPr>
          </a:p>
          <a:p>
            <a:pPr marL="28575">
              <a:spcBef>
                <a:spcPts val="1241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1463" b="1" spc="185" baseline="-1709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=</a:t>
            </a:r>
            <a:r>
              <a:rPr sz="1500" b="1" spc="-4" dirty="0">
                <a:latin typeface="Calibri"/>
                <a:cs typeface="Calibri"/>
              </a:rPr>
              <a:t> </a:t>
            </a:r>
            <a:r>
              <a:rPr sz="1500" dirty="0">
                <a:latin typeface="Cambria Math"/>
                <a:cs typeface="Cambria Math"/>
              </a:rPr>
              <a:t>𝝈(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𝒔</a:t>
            </a:r>
            <a:r>
              <a:rPr sz="1688" baseline="-14814" dirty="0">
                <a:solidFill>
                  <a:srgbClr val="548235"/>
                </a:solidFill>
                <a:latin typeface="Cambria Math"/>
                <a:cs typeface="Cambria Math"/>
              </a:rPr>
              <a:t>𝟐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/𝟖</a:t>
            </a:r>
            <a:r>
              <a:rPr sz="1500" dirty="0">
                <a:latin typeface="Cambria Math"/>
                <a:cs typeface="Cambria Math"/>
              </a:rPr>
              <a:t>)</a:t>
            </a:r>
            <a:r>
              <a:rPr sz="1500" spc="-60" dirty="0">
                <a:latin typeface="Cambria Math"/>
                <a:cs typeface="Cambria Math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53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.91</a:t>
            </a:r>
            <a:endParaRPr sz="1500">
              <a:latin typeface="Tahoma"/>
              <a:cs typeface="Tahoma"/>
            </a:endParaRPr>
          </a:p>
          <a:p>
            <a:pPr marL="28575">
              <a:spcBef>
                <a:spcPts val="795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463" b="1" spc="185" baseline="-1709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=</a:t>
            </a:r>
            <a:r>
              <a:rPr sz="1500" b="1" spc="-4" dirty="0">
                <a:latin typeface="Calibri"/>
                <a:cs typeface="Calibri"/>
              </a:rPr>
              <a:t> </a:t>
            </a:r>
            <a:r>
              <a:rPr sz="1500" dirty="0">
                <a:latin typeface="Cambria Math"/>
                <a:cs typeface="Cambria Math"/>
              </a:rPr>
              <a:t>𝝈(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𝒔</a:t>
            </a:r>
            <a:r>
              <a:rPr sz="1688" baseline="-14814" dirty="0">
                <a:solidFill>
                  <a:srgbClr val="548235"/>
                </a:solidFill>
                <a:latin typeface="Cambria Math"/>
                <a:cs typeface="Cambria Math"/>
              </a:rPr>
              <a:t>𝟏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/𝟖</a:t>
            </a:r>
            <a:r>
              <a:rPr sz="1500" dirty="0">
                <a:latin typeface="Cambria Math"/>
                <a:cs typeface="Cambria Math"/>
              </a:rPr>
              <a:t>)</a:t>
            </a:r>
            <a:r>
              <a:rPr sz="1500" spc="-60" dirty="0">
                <a:latin typeface="Cambria Math"/>
                <a:cs typeface="Cambria Math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53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.08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380076" y="1332357"/>
            <a:ext cx="1381125" cy="1423306"/>
          </a:xfrm>
          <a:prstGeom prst="rect">
            <a:avLst/>
          </a:prstGeom>
        </p:spPr>
        <p:txBody>
          <a:bodyPr vert="horz" wrap="square" lIns="0" tIns="70961" rIns="0" bIns="0" rtlCol="0">
            <a:spAutoFit/>
          </a:bodyPr>
          <a:lstStyle/>
          <a:p>
            <a:pPr marL="34290">
              <a:spcBef>
                <a:spcPts val="559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4</a:t>
            </a:r>
            <a:r>
              <a:rPr sz="1406" spc="11" baseline="-15555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5555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5555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r>
              <a:rPr sz="1406" spc="11" baseline="-15555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8</a:t>
            </a:r>
            <a:endParaRPr sz="1500">
              <a:latin typeface="Tahoma"/>
              <a:cs typeface="Tahoma"/>
            </a:endParaRPr>
          </a:p>
          <a:p>
            <a:pPr marL="42386">
              <a:spcBef>
                <a:spcPts val="488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3</a:t>
            </a:r>
            <a:r>
              <a:rPr sz="1406" spc="11" baseline="-17777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7777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7777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r>
              <a:rPr sz="1406" spc="11" baseline="-17777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26" dirty="0">
                <a:latin typeface="Tahoma"/>
                <a:cs typeface="Tahoma"/>
              </a:rPr>
              <a:t>22</a:t>
            </a:r>
            <a:endParaRPr sz="1500">
              <a:latin typeface="Tahoma"/>
              <a:cs typeface="Tahoma"/>
            </a:endParaRPr>
          </a:p>
          <a:p>
            <a:pPr marL="28575">
              <a:spcBef>
                <a:spcPts val="739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2</a:t>
            </a:r>
            <a:r>
              <a:rPr sz="1406" spc="11" baseline="-17777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7777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7777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r>
              <a:rPr sz="1406" spc="11" baseline="-17777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124</a:t>
            </a:r>
            <a:endParaRPr sz="1500">
              <a:latin typeface="Tahoma"/>
              <a:cs typeface="Tahoma"/>
            </a:endParaRPr>
          </a:p>
          <a:p>
            <a:pPr marL="42386">
              <a:spcBef>
                <a:spcPts val="739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1406" spc="11" baseline="-15555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5555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5555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r>
              <a:rPr sz="1406" spc="11" baseline="-15555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26" dirty="0">
                <a:latin typeface="Tahoma"/>
                <a:cs typeface="Tahoma"/>
              </a:rPr>
              <a:t>92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251575" y="2865657"/>
            <a:ext cx="1455896" cy="2153603"/>
          </a:xfrm>
          <a:custGeom>
            <a:avLst/>
            <a:gdLst/>
            <a:ahLst/>
            <a:cxnLst/>
            <a:rect l="l" t="t" r="r" b="b"/>
            <a:pathLst>
              <a:path w="1941195" h="2871470">
                <a:moveTo>
                  <a:pt x="1940631" y="0"/>
                </a:moveTo>
                <a:lnTo>
                  <a:pt x="0" y="0"/>
                </a:lnTo>
                <a:lnTo>
                  <a:pt x="0" y="2871155"/>
                </a:lnTo>
                <a:lnTo>
                  <a:pt x="1940631" y="2871155"/>
                </a:lnTo>
                <a:lnTo>
                  <a:pt x="1940631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1748827" y="4482465"/>
            <a:ext cx="654368" cy="48410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2033"/>
              </a:lnSpc>
              <a:spcBef>
                <a:spcPts val="75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  <a:p>
            <a:pPr marR="13335" algn="ctr">
              <a:lnSpc>
                <a:spcPts val="167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331136" y="4505325"/>
            <a:ext cx="404813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lnSpc>
                <a:spcPts val="2059"/>
              </a:lnSpc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  <a:p>
            <a:pPr marL="142875">
              <a:lnSpc>
                <a:spcPts val="1699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endParaRPr sz="1463" baseline="-17094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517" y="526165"/>
            <a:ext cx="4862036" cy="61436"/>
          </a:xfrm>
          <a:custGeom>
            <a:avLst/>
            <a:gdLst/>
            <a:ahLst/>
            <a:cxnLst/>
            <a:rect l="l" t="t" r="r" b="b"/>
            <a:pathLst>
              <a:path w="6482715" h="81915">
                <a:moveTo>
                  <a:pt x="6482647" y="0"/>
                </a:moveTo>
                <a:lnTo>
                  <a:pt x="0" y="0"/>
                </a:lnTo>
                <a:lnTo>
                  <a:pt x="0" y="81537"/>
                </a:lnTo>
                <a:lnTo>
                  <a:pt x="6482647" y="81537"/>
                </a:lnTo>
                <a:lnTo>
                  <a:pt x="64826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sp>
        <p:nvSpPr>
          <p:cNvPr id="4" name="object 4"/>
          <p:cNvSpPr/>
          <p:nvPr/>
        </p:nvSpPr>
        <p:spPr>
          <a:xfrm>
            <a:off x="455623" y="4047839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5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7"/>
                </a:lnTo>
                <a:lnTo>
                  <a:pt x="210167" y="567437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64988" y="4023507"/>
            <a:ext cx="247174" cy="425768"/>
          </a:xfrm>
          <a:custGeom>
            <a:avLst/>
            <a:gdLst/>
            <a:ahLst/>
            <a:cxnLst/>
            <a:rect l="l" t="t" r="r" b="b"/>
            <a:pathLst>
              <a:path w="329564" h="567689">
                <a:moveTo>
                  <a:pt x="164741" y="0"/>
                </a:moveTo>
                <a:lnTo>
                  <a:pt x="0" y="229395"/>
                </a:lnTo>
                <a:lnTo>
                  <a:pt x="119315" y="229395"/>
                </a:lnTo>
                <a:lnTo>
                  <a:pt x="119315" y="567436"/>
                </a:lnTo>
                <a:lnTo>
                  <a:pt x="210167" y="567436"/>
                </a:lnTo>
                <a:lnTo>
                  <a:pt x="210167" y="229395"/>
                </a:lnTo>
                <a:lnTo>
                  <a:pt x="329482" y="229395"/>
                </a:lnTo>
                <a:lnTo>
                  <a:pt x="16474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467879" y="2921187"/>
            <a:ext cx="262414" cy="1052036"/>
            <a:chOff x="623838" y="3894915"/>
            <a:chExt cx="349885" cy="1402715"/>
          </a:xfrm>
        </p:grpSpPr>
        <p:sp>
          <p:nvSpPr>
            <p:cNvPr id="7" name="object 7"/>
            <p:cNvSpPr/>
            <p:nvPr/>
          </p:nvSpPr>
          <p:spPr>
            <a:xfrm>
              <a:off x="642888" y="39139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980915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734656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488397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630" y="4236529"/>
              <a:ext cx="222250" cy="222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915" y="3978532"/>
              <a:ext cx="222250" cy="222250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806882" y="2918759"/>
            <a:ext cx="552926" cy="653891"/>
            <a:chOff x="1075842" y="3891678"/>
            <a:chExt cx="737235" cy="871855"/>
          </a:xfrm>
        </p:grpSpPr>
        <p:sp>
          <p:nvSpPr>
            <p:cNvPr id="14" name="object 14"/>
            <p:cNvSpPr/>
            <p:nvPr/>
          </p:nvSpPr>
          <p:spPr>
            <a:xfrm>
              <a:off x="1094892" y="391396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159" y="4497922"/>
              <a:ext cx="203199" cy="203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8159" y="4246053"/>
              <a:ext cx="203199" cy="2032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0443" y="3988056"/>
              <a:ext cx="203200" cy="2032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482035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5301" y="4494685"/>
              <a:ext cx="203200" cy="203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5301" y="4242816"/>
              <a:ext cx="203200" cy="2032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7586" y="3984820"/>
              <a:ext cx="203199" cy="203200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1393244" y="2918759"/>
            <a:ext cx="262414" cy="651510"/>
            <a:chOff x="1857658" y="3891678"/>
            <a:chExt cx="349885" cy="868680"/>
          </a:xfrm>
        </p:grpSpPr>
        <p:sp>
          <p:nvSpPr>
            <p:cNvPr id="23" name="object 23"/>
            <p:cNvSpPr/>
            <p:nvPr/>
          </p:nvSpPr>
          <p:spPr>
            <a:xfrm>
              <a:off x="1876708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29974" y="4494685"/>
              <a:ext cx="203200" cy="2032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9974" y="4242816"/>
              <a:ext cx="203200" cy="2032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32259" y="3984820"/>
              <a:ext cx="203200" cy="203200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1939598" y="2927118"/>
            <a:ext cx="262414" cy="1052036"/>
            <a:chOff x="2586130" y="3902823"/>
            <a:chExt cx="349885" cy="1402715"/>
          </a:xfrm>
        </p:grpSpPr>
        <p:sp>
          <p:nvSpPr>
            <p:cNvPr id="28" name="object 28"/>
            <p:cNvSpPr/>
            <p:nvPr/>
          </p:nvSpPr>
          <p:spPr>
            <a:xfrm>
              <a:off x="2605180" y="3921873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988823"/>
              <a:ext cx="222250" cy="2222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742563"/>
              <a:ext cx="222250" cy="2222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496305"/>
              <a:ext cx="222250" cy="2222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244435"/>
              <a:ext cx="222250" cy="22225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206" y="3986439"/>
              <a:ext cx="222250" cy="222250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2278601" y="2924689"/>
            <a:ext cx="552926" cy="653891"/>
            <a:chOff x="3038134" y="3899585"/>
            <a:chExt cx="737235" cy="871855"/>
          </a:xfrm>
        </p:grpSpPr>
        <p:sp>
          <p:nvSpPr>
            <p:cNvPr id="35" name="object 35"/>
            <p:cNvSpPr/>
            <p:nvPr/>
          </p:nvSpPr>
          <p:spPr>
            <a:xfrm>
              <a:off x="3057184" y="3921872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1" y="4505829"/>
              <a:ext cx="203200" cy="2032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1" y="4253960"/>
              <a:ext cx="203200" cy="2032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2734" y="3995963"/>
              <a:ext cx="203200" cy="20320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444327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7594" y="4502591"/>
              <a:ext cx="203200" cy="2032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7594" y="4250722"/>
              <a:ext cx="203200" cy="2032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9877" y="3992726"/>
              <a:ext cx="203200" cy="203200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2864963" y="2924689"/>
            <a:ext cx="262414" cy="651510"/>
            <a:chOff x="3819950" y="3899585"/>
            <a:chExt cx="349885" cy="868680"/>
          </a:xfrm>
        </p:grpSpPr>
        <p:sp>
          <p:nvSpPr>
            <p:cNvPr id="44" name="object 44"/>
            <p:cNvSpPr/>
            <p:nvPr/>
          </p:nvSpPr>
          <p:spPr>
            <a:xfrm>
              <a:off x="3839000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92266" y="4502591"/>
              <a:ext cx="203200" cy="2032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2266" y="4250722"/>
              <a:ext cx="203200" cy="2032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94551" y="3992726"/>
              <a:ext cx="203200" cy="203200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3417407" y="2916329"/>
            <a:ext cx="2661284" cy="1533048"/>
            <a:chOff x="4556542" y="3888439"/>
            <a:chExt cx="3548379" cy="2044064"/>
          </a:xfrm>
        </p:grpSpPr>
        <p:sp>
          <p:nvSpPr>
            <p:cNvPr id="49" name="object 49"/>
            <p:cNvSpPr/>
            <p:nvPr/>
          </p:nvSpPr>
          <p:spPr>
            <a:xfrm>
              <a:off x="4575581" y="5350103"/>
              <a:ext cx="2294255" cy="582295"/>
            </a:xfrm>
            <a:custGeom>
              <a:avLst/>
              <a:gdLst/>
              <a:ahLst/>
              <a:cxnLst/>
              <a:rect l="l" t="t" r="r" b="b"/>
              <a:pathLst>
                <a:path w="2294254" h="582295">
                  <a:moveTo>
                    <a:pt x="329488" y="229387"/>
                  </a:moveTo>
                  <a:lnTo>
                    <a:pt x="164744" y="0"/>
                  </a:lnTo>
                  <a:lnTo>
                    <a:pt x="0" y="229387"/>
                  </a:lnTo>
                  <a:lnTo>
                    <a:pt x="119316" y="229387"/>
                  </a:lnTo>
                  <a:lnTo>
                    <a:pt x="119316" y="567436"/>
                  </a:lnTo>
                  <a:lnTo>
                    <a:pt x="210172" y="567436"/>
                  </a:lnTo>
                  <a:lnTo>
                    <a:pt x="210172" y="229387"/>
                  </a:lnTo>
                  <a:lnTo>
                    <a:pt x="329488" y="229387"/>
                  </a:lnTo>
                  <a:close/>
                </a:path>
                <a:path w="2294254" h="582295">
                  <a:moveTo>
                    <a:pt x="2294204" y="243979"/>
                  </a:moveTo>
                  <a:lnTo>
                    <a:pt x="2129472" y="14579"/>
                  </a:lnTo>
                  <a:lnTo>
                    <a:pt x="1964728" y="243979"/>
                  </a:lnTo>
                  <a:lnTo>
                    <a:pt x="2084044" y="243979"/>
                  </a:lnTo>
                  <a:lnTo>
                    <a:pt x="2084044" y="582015"/>
                  </a:lnTo>
                  <a:lnTo>
                    <a:pt x="2174887" y="582015"/>
                  </a:lnTo>
                  <a:lnTo>
                    <a:pt x="2174887" y="243979"/>
                  </a:lnTo>
                  <a:lnTo>
                    <a:pt x="2294204" y="243979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575592" y="391863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985584"/>
              <a:ext cx="222250" cy="22225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739326"/>
              <a:ext cx="222250" cy="22225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493066"/>
              <a:ext cx="222250" cy="22225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335" y="4241198"/>
              <a:ext cx="222250" cy="22225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620" y="3983201"/>
              <a:ext cx="222250" cy="22225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027597" y="3918634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0863" y="4502590"/>
              <a:ext cx="203200" cy="2032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0863" y="4250721"/>
              <a:ext cx="203200" cy="2032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3148" y="3992726"/>
              <a:ext cx="203200" cy="2032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5414740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8006" y="4499353"/>
              <a:ext cx="203200" cy="2032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68006" y="4247484"/>
              <a:ext cx="203200" cy="2032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70291" y="3989489"/>
              <a:ext cx="203200" cy="2032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5809413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2679" y="4499353"/>
              <a:ext cx="203200" cy="20320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62679" y="4247484"/>
              <a:ext cx="203200" cy="20320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4964" y="3989489"/>
              <a:ext cx="203200" cy="20320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6540313" y="3910727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977677"/>
              <a:ext cx="222250" cy="22225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731417"/>
              <a:ext cx="222250" cy="22225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055" y="4485158"/>
              <a:ext cx="222250" cy="22225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233289"/>
              <a:ext cx="222250" cy="22225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6340" y="3975294"/>
              <a:ext cx="222250" cy="22225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6992317" y="3910727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5584" y="4494682"/>
              <a:ext cx="203200" cy="20320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5584" y="4242813"/>
              <a:ext cx="203200" cy="20320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7867" y="3984818"/>
              <a:ext cx="203200" cy="203200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7379460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7" y="4491446"/>
              <a:ext cx="203200" cy="203198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7" y="4239577"/>
              <a:ext cx="203200" cy="20320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35010" y="3981580"/>
              <a:ext cx="203200" cy="203200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7774133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491446"/>
              <a:ext cx="203200" cy="203198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7399" y="4239577"/>
              <a:ext cx="203200" cy="20320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29683" y="3981580"/>
              <a:ext cx="203200" cy="203200"/>
            </a:xfrm>
            <a:prstGeom prst="rect">
              <a:avLst/>
            </a:prstGeom>
          </p:spPr>
        </p:pic>
      </p:grpSp>
      <p:sp>
        <p:nvSpPr>
          <p:cNvPr id="86" name="object 86"/>
          <p:cNvSpPr txBox="1"/>
          <p:nvPr/>
        </p:nvSpPr>
        <p:spPr>
          <a:xfrm>
            <a:off x="2269923" y="3585189"/>
            <a:ext cx="561975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38100">
              <a:spcBef>
                <a:spcPts val="86"/>
              </a:spcBef>
              <a:tabLst>
                <a:tab pos="370523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89571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97483" y="3585189"/>
            <a:ext cx="561975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38100">
              <a:spcBef>
                <a:spcPts val="86"/>
              </a:spcBef>
              <a:tabLst>
                <a:tab pos="370523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42327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322049" y="3578712"/>
            <a:ext cx="2725103" cy="1406699"/>
          </a:xfrm>
          <a:prstGeom prst="rect">
            <a:avLst/>
          </a:prstGeom>
        </p:spPr>
        <p:txBody>
          <a:bodyPr vert="horz" wrap="square" lIns="0" tIns="14764" rIns="0" bIns="0" rtlCol="0">
            <a:spAutoFit/>
          </a:bodyPr>
          <a:lstStyle/>
          <a:p>
            <a:pPr marL="488633" algn="ctr">
              <a:spcBef>
                <a:spcPts val="116"/>
              </a:spcBef>
              <a:tabLst>
                <a:tab pos="821055" algn="l"/>
                <a:tab pos="1104900" algn="l"/>
                <a:tab pos="1959293" algn="l"/>
                <a:tab pos="2291715" algn="l"/>
                <a:tab pos="2575559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2077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r>
              <a:rPr sz="1294" baseline="-12077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969" spc="67" baseline="1587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9661" dirty="0">
                <a:solidFill>
                  <a:srgbClr val="7030A0"/>
                </a:solidFill>
                <a:latin typeface="Tahoma"/>
                <a:cs typeface="Tahoma"/>
              </a:rPr>
              <a:t>4</a:t>
            </a:r>
            <a:r>
              <a:rPr sz="1294" baseline="-9661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9661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r>
              <a:rPr sz="1294" baseline="-9661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4761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7246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294" baseline="-7246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274"/>
              </a:spcBef>
            </a:pPr>
            <a:endParaRPr sz="863">
              <a:latin typeface="Tahoma"/>
              <a:cs typeface="Tahoma"/>
            </a:endParaRPr>
          </a:p>
          <a:p>
            <a:pPr>
              <a:lnSpc>
                <a:spcPts val="2085"/>
              </a:lnSpc>
              <a:tabLst>
                <a:tab pos="1544954" algn="l"/>
              </a:tabLst>
            </a:pPr>
            <a:r>
              <a:rPr spc="75" dirty="0">
                <a:latin typeface="Tahoma"/>
                <a:cs typeface="Tahoma"/>
              </a:rPr>
              <a:t>dog</a:t>
            </a:r>
            <a:r>
              <a:rPr dirty="0">
                <a:latin typeface="Tahoma"/>
                <a:cs typeface="Tahoma"/>
              </a:rPr>
              <a:t>	</a:t>
            </a:r>
            <a:r>
              <a:rPr sz="2700" spc="-28" baseline="-4629" dirty="0">
                <a:latin typeface="Tahoma"/>
                <a:cs typeface="Tahoma"/>
              </a:rPr>
              <a:t>ran</a:t>
            </a:r>
            <a:endParaRPr sz="2700" baseline="-4629">
              <a:latin typeface="Tahoma"/>
              <a:cs typeface="Tahoma"/>
            </a:endParaRPr>
          </a:p>
          <a:p>
            <a:pPr marL="145256">
              <a:lnSpc>
                <a:spcPts val="1725"/>
              </a:lnSpc>
              <a:tabLst>
                <a:tab pos="1657826" algn="l"/>
              </a:tabLst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r>
              <a:rPr sz="1463" baseline="-17094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3260151" y="2905917"/>
            <a:ext cx="3464719" cy="2113121"/>
          </a:xfrm>
          <a:custGeom>
            <a:avLst/>
            <a:gdLst/>
            <a:ahLst/>
            <a:cxnLst/>
            <a:rect l="l" t="t" r="r" b="b"/>
            <a:pathLst>
              <a:path w="4619625" h="2817495">
                <a:moveTo>
                  <a:pt x="4619001" y="0"/>
                </a:moveTo>
                <a:lnTo>
                  <a:pt x="0" y="0"/>
                </a:lnTo>
                <a:lnTo>
                  <a:pt x="0" y="2817476"/>
                </a:lnTo>
                <a:lnTo>
                  <a:pt x="4619001" y="2817476"/>
                </a:lnTo>
                <a:lnTo>
                  <a:pt x="4619001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783583" y="700170"/>
            <a:ext cx="619125" cy="240931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0001" rIns="0" bIns="0" rtlCol="0">
            <a:spAutoFit/>
          </a:bodyPr>
          <a:lstStyle/>
          <a:p>
            <a:pPr>
              <a:spcBef>
                <a:spcPts val="79"/>
              </a:spcBef>
            </a:pPr>
            <a:r>
              <a:rPr sz="1500" spc="41" dirty="0">
                <a:latin typeface="Tahoma"/>
                <a:cs typeface="Tahoma"/>
              </a:rPr>
              <a:t>Step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spc="-38" dirty="0">
                <a:latin typeface="Tahoma"/>
                <a:cs typeface="Tahoma"/>
              </a:rPr>
              <a:t>3: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416997" y="700658"/>
            <a:ext cx="6553676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spc="56" dirty="0">
                <a:latin typeface="Tahoma"/>
                <a:cs typeface="Tahoma"/>
              </a:rPr>
              <a:t>Our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scores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-23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2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-17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3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,</a:t>
            </a:r>
            <a:r>
              <a:rPr sz="2194" spc="-23" baseline="1424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4</a:t>
            </a:r>
            <a:r>
              <a:rPr sz="1406" spc="225" baseline="-15555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49" dirty="0">
                <a:latin typeface="Tahoma"/>
                <a:cs typeface="Tahoma"/>
              </a:rPr>
              <a:t>don’t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sum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spc="56" dirty="0">
                <a:latin typeface="Tahoma"/>
                <a:cs typeface="Tahoma"/>
              </a:rPr>
              <a:t>to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1.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Let’s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spc="38" dirty="0">
                <a:latin typeface="Tahoma"/>
                <a:cs typeface="Tahoma"/>
              </a:rPr>
              <a:t>divide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45" dirty="0">
                <a:latin typeface="Tahoma"/>
                <a:cs typeface="Tahoma"/>
              </a:rPr>
              <a:t>by</a:t>
            </a:r>
            <a:r>
              <a:rPr sz="1500" spc="-41" dirty="0">
                <a:latin typeface="Tahoma"/>
                <a:cs typeface="Tahoma"/>
              </a:rPr>
              <a:t> </a:t>
            </a:r>
            <a:r>
              <a:rPr sz="1500" dirty="0">
                <a:latin typeface="Cambria Math"/>
                <a:cs typeface="Cambria Math"/>
              </a:rPr>
              <a:t>√𝑙𝑒𝑛(𝑘</a:t>
            </a:r>
            <a:r>
              <a:rPr sz="1688" baseline="-14814" dirty="0">
                <a:latin typeface="Cambria Math"/>
                <a:cs typeface="Cambria Math"/>
              </a:rPr>
              <a:t>𝑖</a:t>
            </a:r>
            <a:r>
              <a:rPr sz="1500" dirty="0">
                <a:latin typeface="Cambria Math"/>
                <a:cs typeface="Cambria Math"/>
              </a:rPr>
              <a:t>)</a:t>
            </a:r>
            <a:r>
              <a:rPr sz="1500" spc="19" dirty="0">
                <a:latin typeface="Cambria Math"/>
                <a:cs typeface="Cambria Math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11" dirty="0"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C00000"/>
                </a:solidFill>
                <a:latin typeface="Calibri"/>
                <a:cs typeface="Calibri"/>
              </a:rPr>
              <a:t>softmax</a:t>
            </a:r>
            <a:r>
              <a:rPr sz="1500" spc="1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500" spc="-19" dirty="0">
                <a:latin typeface="Calibri"/>
                <a:cs typeface="Calibri"/>
              </a:rPr>
              <a:t>it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449416" y="1283589"/>
            <a:ext cx="1547336" cy="1417856"/>
          </a:xfrm>
          <a:prstGeom prst="rect">
            <a:avLst/>
          </a:prstGeom>
        </p:spPr>
        <p:txBody>
          <a:bodyPr vert="horz" wrap="square" lIns="0" tIns="121444" rIns="0" bIns="0" rtlCol="0">
            <a:spAutoFit/>
          </a:bodyPr>
          <a:lstStyle/>
          <a:p>
            <a:pPr marL="39052">
              <a:spcBef>
                <a:spcPts val="956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r>
              <a:rPr sz="1463" b="1" spc="185" baseline="-1709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=</a:t>
            </a:r>
            <a:r>
              <a:rPr sz="1500" b="1" spc="-4" dirty="0">
                <a:latin typeface="Calibri"/>
                <a:cs typeface="Calibri"/>
              </a:rPr>
              <a:t> </a:t>
            </a:r>
            <a:r>
              <a:rPr sz="1500" dirty="0">
                <a:latin typeface="Cambria Math"/>
                <a:cs typeface="Cambria Math"/>
              </a:rPr>
              <a:t>𝝈(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𝒔</a:t>
            </a:r>
            <a:r>
              <a:rPr sz="1688" baseline="-14814" dirty="0">
                <a:solidFill>
                  <a:srgbClr val="548235"/>
                </a:solidFill>
                <a:latin typeface="Cambria Math"/>
                <a:cs typeface="Cambria Math"/>
              </a:rPr>
              <a:t>𝟒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/𝟖</a:t>
            </a:r>
            <a:r>
              <a:rPr sz="1500" dirty="0">
                <a:latin typeface="Cambria Math"/>
                <a:cs typeface="Cambria Math"/>
              </a:rPr>
              <a:t>)</a:t>
            </a:r>
            <a:r>
              <a:rPr sz="1500" spc="-60" dirty="0">
                <a:latin typeface="Cambria Math"/>
                <a:cs typeface="Cambria Math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53" dirty="0">
                <a:latin typeface="Tahoma"/>
                <a:cs typeface="Tahoma"/>
              </a:rPr>
              <a:t> </a:t>
            </a:r>
            <a:r>
              <a:rPr sz="1500" spc="-45" dirty="0">
                <a:latin typeface="Tahoma"/>
                <a:cs typeface="Tahoma"/>
              </a:rPr>
              <a:t>0</a:t>
            </a:r>
            <a:endParaRPr sz="1500">
              <a:latin typeface="Tahoma"/>
              <a:cs typeface="Tahoma"/>
            </a:endParaRPr>
          </a:p>
          <a:p>
            <a:pPr marL="28575">
              <a:spcBef>
                <a:spcPts val="881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sz="1463" b="1" spc="185" baseline="-1709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=</a:t>
            </a:r>
            <a:r>
              <a:rPr sz="1500" b="1" spc="-15" dirty="0">
                <a:latin typeface="Calibri"/>
                <a:cs typeface="Calibri"/>
              </a:rPr>
              <a:t> </a:t>
            </a:r>
            <a:r>
              <a:rPr sz="1500" dirty="0">
                <a:latin typeface="Cambria Math"/>
                <a:cs typeface="Cambria Math"/>
              </a:rPr>
              <a:t>𝝈(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𝒔</a:t>
            </a:r>
            <a:r>
              <a:rPr sz="1688" baseline="-14814" dirty="0">
                <a:solidFill>
                  <a:srgbClr val="548235"/>
                </a:solidFill>
                <a:latin typeface="Cambria Math"/>
                <a:cs typeface="Cambria Math"/>
              </a:rPr>
              <a:t>𝟑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/𝟖</a:t>
            </a:r>
            <a:r>
              <a:rPr sz="1500" dirty="0">
                <a:latin typeface="Cambria Math"/>
                <a:cs typeface="Cambria Math"/>
              </a:rPr>
              <a:t>)</a:t>
            </a:r>
            <a:r>
              <a:rPr sz="1500" spc="-60" dirty="0">
                <a:latin typeface="Cambria Math"/>
                <a:cs typeface="Cambria Math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53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.01</a:t>
            </a:r>
            <a:endParaRPr sz="1500">
              <a:latin typeface="Tahoma"/>
              <a:cs typeface="Tahoma"/>
            </a:endParaRPr>
          </a:p>
          <a:p>
            <a:pPr marL="28575">
              <a:spcBef>
                <a:spcPts val="1241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1463" b="1" spc="185" baseline="-1709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=</a:t>
            </a:r>
            <a:r>
              <a:rPr sz="1500" b="1" spc="-4" dirty="0">
                <a:latin typeface="Calibri"/>
                <a:cs typeface="Calibri"/>
              </a:rPr>
              <a:t> </a:t>
            </a:r>
            <a:r>
              <a:rPr sz="1500" dirty="0">
                <a:latin typeface="Cambria Math"/>
                <a:cs typeface="Cambria Math"/>
              </a:rPr>
              <a:t>𝝈(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𝒔</a:t>
            </a:r>
            <a:r>
              <a:rPr sz="1688" baseline="-14814" dirty="0">
                <a:solidFill>
                  <a:srgbClr val="548235"/>
                </a:solidFill>
                <a:latin typeface="Cambria Math"/>
                <a:cs typeface="Cambria Math"/>
              </a:rPr>
              <a:t>𝟐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/𝟖</a:t>
            </a:r>
            <a:r>
              <a:rPr sz="1500" dirty="0">
                <a:latin typeface="Cambria Math"/>
                <a:cs typeface="Cambria Math"/>
              </a:rPr>
              <a:t>)</a:t>
            </a:r>
            <a:r>
              <a:rPr sz="1500" spc="-60" dirty="0">
                <a:latin typeface="Cambria Math"/>
                <a:cs typeface="Cambria Math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53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.91</a:t>
            </a:r>
            <a:endParaRPr sz="1500">
              <a:latin typeface="Tahoma"/>
              <a:cs typeface="Tahoma"/>
            </a:endParaRPr>
          </a:p>
          <a:p>
            <a:pPr marL="28575">
              <a:spcBef>
                <a:spcPts val="795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463" b="1" spc="185" baseline="-1709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=</a:t>
            </a:r>
            <a:r>
              <a:rPr sz="1500" b="1" spc="-4" dirty="0">
                <a:latin typeface="Calibri"/>
                <a:cs typeface="Calibri"/>
              </a:rPr>
              <a:t> </a:t>
            </a:r>
            <a:r>
              <a:rPr sz="1500" dirty="0">
                <a:latin typeface="Cambria Math"/>
                <a:cs typeface="Cambria Math"/>
              </a:rPr>
              <a:t>𝝈(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𝒔</a:t>
            </a:r>
            <a:r>
              <a:rPr sz="1688" baseline="-14814" dirty="0">
                <a:solidFill>
                  <a:srgbClr val="548235"/>
                </a:solidFill>
                <a:latin typeface="Cambria Math"/>
                <a:cs typeface="Cambria Math"/>
              </a:rPr>
              <a:t>𝟏</a:t>
            </a:r>
            <a:r>
              <a:rPr sz="1500" dirty="0">
                <a:solidFill>
                  <a:srgbClr val="548235"/>
                </a:solidFill>
                <a:latin typeface="Cambria Math"/>
                <a:cs typeface="Cambria Math"/>
              </a:rPr>
              <a:t>/𝟖</a:t>
            </a:r>
            <a:r>
              <a:rPr sz="1500" dirty="0">
                <a:latin typeface="Cambria Math"/>
                <a:cs typeface="Cambria Math"/>
              </a:rPr>
              <a:t>)</a:t>
            </a:r>
            <a:r>
              <a:rPr sz="1500" spc="-60" dirty="0">
                <a:latin typeface="Cambria Math"/>
                <a:cs typeface="Cambria Math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53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.08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4612005" y="1445895"/>
            <a:ext cx="3359944" cy="7021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 marR="22860">
              <a:spcBef>
                <a:spcPts val="75"/>
              </a:spcBef>
            </a:pPr>
            <a:r>
              <a:rPr sz="1500" dirty="0">
                <a:latin typeface="Tahoma"/>
                <a:cs typeface="Tahoma"/>
              </a:rPr>
              <a:t>Instead</a:t>
            </a:r>
            <a:r>
              <a:rPr sz="1500" spc="-26" dirty="0">
                <a:latin typeface="Tahoma"/>
                <a:cs typeface="Tahoma"/>
              </a:rPr>
              <a:t> </a:t>
            </a:r>
            <a:r>
              <a:rPr sz="1500" spc="45" dirty="0">
                <a:latin typeface="Tahoma"/>
                <a:cs typeface="Tahoma"/>
              </a:rPr>
              <a:t>of</a:t>
            </a:r>
            <a:r>
              <a:rPr sz="1500" spc="-3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these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FF0000"/>
                </a:solidFill>
                <a:latin typeface="Tahoma"/>
                <a:cs typeface="Tahoma"/>
              </a:rPr>
              <a:t>a</a:t>
            </a:r>
            <a:r>
              <a:rPr sz="1406" baseline="-17777" dirty="0">
                <a:solidFill>
                  <a:srgbClr val="FF0000"/>
                </a:solidFill>
                <a:latin typeface="Tahoma"/>
                <a:cs typeface="Tahoma"/>
              </a:rPr>
              <a:t>i</a:t>
            </a:r>
            <a:r>
              <a:rPr sz="1406" spc="236" baseline="-17777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values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spc="-8" dirty="0">
                <a:latin typeface="Tahoma"/>
                <a:cs typeface="Tahoma"/>
              </a:rPr>
              <a:t>directly </a:t>
            </a:r>
            <a:r>
              <a:rPr sz="1500" dirty="0">
                <a:latin typeface="Tahoma"/>
                <a:cs typeface="Tahoma"/>
              </a:rPr>
              <a:t>weighting</a:t>
            </a:r>
            <a:r>
              <a:rPr sz="1500" spc="5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our</a:t>
            </a:r>
            <a:r>
              <a:rPr sz="1500" spc="5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original</a:t>
            </a:r>
            <a:r>
              <a:rPr sz="1500" spc="53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2E75B6"/>
                </a:solidFill>
                <a:latin typeface="Tahoma"/>
                <a:cs typeface="Tahoma"/>
              </a:rPr>
              <a:t>x</a:t>
            </a:r>
            <a:r>
              <a:rPr sz="1406" baseline="-17777" dirty="0">
                <a:solidFill>
                  <a:srgbClr val="2E75B6"/>
                </a:solidFill>
                <a:latin typeface="Tahoma"/>
                <a:cs typeface="Tahoma"/>
              </a:rPr>
              <a:t>i</a:t>
            </a:r>
            <a:r>
              <a:rPr sz="1406" spc="371" baseline="-17777" dirty="0">
                <a:solidFill>
                  <a:srgbClr val="2E75B6"/>
                </a:solidFill>
                <a:latin typeface="Tahoma"/>
                <a:cs typeface="Tahoma"/>
              </a:rPr>
              <a:t> </a:t>
            </a:r>
            <a:r>
              <a:rPr sz="1500" spc="38" dirty="0">
                <a:latin typeface="Tahoma"/>
                <a:cs typeface="Tahoma"/>
              </a:rPr>
              <a:t>word</a:t>
            </a:r>
            <a:r>
              <a:rPr sz="1500" spc="56" dirty="0">
                <a:latin typeface="Tahoma"/>
                <a:cs typeface="Tahoma"/>
              </a:rPr>
              <a:t> </a:t>
            </a:r>
            <a:r>
              <a:rPr sz="1500" spc="-8" dirty="0">
                <a:latin typeface="Tahoma"/>
                <a:cs typeface="Tahoma"/>
              </a:rPr>
              <a:t>vectors, </a:t>
            </a:r>
            <a:r>
              <a:rPr sz="1500" dirty="0">
                <a:latin typeface="Tahoma"/>
                <a:cs typeface="Tahoma"/>
              </a:rPr>
              <a:t>they</a:t>
            </a:r>
            <a:r>
              <a:rPr sz="1500" spc="53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directly</a:t>
            </a:r>
            <a:r>
              <a:rPr sz="1500" spc="56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weight</a:t>
            </a:r>
            <a:r>
              <a:rPr sz="1500" spc="4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our</a:t>
            </a:r>
            <a:r>
              <a:rPr sz="1500" spc="53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i</a:t>
            </a:r>
            <a:r>
              <a:rPr sz="1406" spc="360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spc="-8" dirty="0">
                <a:latin typeface="Tahoma"/>
                <a:cs typeface="Tahoma"/>
              </a:rPr>
              <a:t>vectors.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80076" y="1332357"/>
            <a:ext cx="1381125" cy="1423306"/>
          </a:xfrm>
          <a:prstGeom prst="rect">
            <a:avLst/>
          </a:prstGeom>
        </p:spPr>
        <p:txBody>
          <a:bodyPr vert="horz" wrap="square" lIns="0" tIns="70961" rIns="0" bIns="0" rtlCol="0">
            <a:spAutoFit/>
          </a:bodyPr>
          <a:lstStyle/>
          <a:p>
            <a:pPr marL="34290">
              <a:spcBef>
                <a:spcPts val="559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4</a:t>
            </a:r>
            <a:r>
              <a:rPr sz="1406" spc="11" baseline="-15555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5555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5555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r>
              <a:rPr sz="1406" spc="11" baseline="-15555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8</a:t>
            </a:r>
            <a:endParaRPr sz="1500">
              <a:latin typeface="Tahoma"/>
              <a:cs typeface="Tahoma"/>
            </a:endParaRPr>
          </a:p>
          <a:p>
            <a:pPr marL="42386">
              <a:spcBef>
                <a:spcPts val="488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3</a:t>
            </a:r>
            <a:r>
              <a:rPr sz="1406" spc="11" baseline="-17777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7777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7777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r>
              <a:rPr sz="1406" spc="11" baseline="-17777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26" dirty="0">
                <a:latin typeface="Tahoma"/>
                <a:cs typeface="Tahoma"/>
              </a:rPr>
              <a:t>22</a:t>
            </a:r>
            <a:endParaRPr sz="1500">
              <a:latin typeface="Tahoma"/>
              <a:cs typeface="Tahoma"/>
            </a:endParaRPr>
          </a:p>
          <a:p>
            <a:pPr marL="28575">
              <a:spcBef>
                <a:spcPts val="739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7777" dirty="0">
                <a:solidFill>
                  <a:srgbClr val="548235"/>
                </a:solidFill>
                <a:latin typeface="Tahoma"/>
                <a:cs typeface="Tahoma"/>
              </a:rPr>
              <a:t>2</a:t>
            </a:r>
            <a:r>
              <a:rPr sz="1406" spc="11" baseline="-17777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7777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7777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r>
              <a:rPr sz="1406" spc="11" baseline="-17777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124</a:t>
            </a:r>
            <a:endParaRPr sz="1500">
              <a:latin typeface="Tahoma"/>
              <a:cs typeface="Tahoma"/>
            </a:endParaRPr>
          </a:p>
          <a:p>
            <a:pPr marL="42386">
              <a:spcBef>
                <a:spcPts val="739"/>
              </a:spcBef>
            </a:pPr>
            <a:r>
              <a:rPr sz="2194" baseline="1424" dirty="0">
                <a:solidFill>
                  <a:srgbClr val="548235"/>
                </a:solidFill>
                <a:latin typeface="Tahoma"/>
                <a:cs typeface="Tahoma"/>
              </a:rPr>
              <a:t>s</a:t>
            </a:r>
            <a:r>
              <a:rPr sz="1406" baseline="-15555" dirty="0">
                <a:solidFill>
                  <a:srgbClr val="548235"/>
                </a:solidFill>
                <a:latin typeface="Tahoma"/>
                <a:cs typeface="Tahoma"/>
              </a:rPr>
              <a:t>1</a:t>
            </a:r>
            <a:r>
              <a:rPr sz="1406" spc="11" baseline="-15555" dirty="0">
                <a:solidFill>
                  <a:srgbClr val="548235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2194" spc="56" baseline="142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406" spc="56" baseline="-15555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pc="38" dirty="0">
                <a:latin typeface="Cambria Math"/>
                <a:cs typeface="Cambria Math"/>
              </a:rPr>
              <a:t>⋅</a:t>
            </a:r>
            <a:r>
              <a:rPr sz="2194" spc="56" baseline="142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406" spc="56" baseline="-15555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r>
              <a:rPr sz="1406" spc="11" baseline="-15555" dirty="0">
                <a:solidFill>
                  <a:srgbClr val="7F6000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8" dirty="0">
                <a:latin typeface="Tahoma"/>
                <a:cs typeface="Tahoma"/>
              </a:rPr>
              <a:t> </a:t>
            </a:r>
            <a:r>
              <a:rPr sz="1500" spc="-26" dirty="0">
                <a:latin typeface="Tahoma"/>
                <a:cs typeface="Tahoma"/>
              </a:rPr>
              <a:t>92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251575" y="2865655"/>
            <a:ext cx="1455896" cy="2163128"/>
          </a:xfrm>
          <a:custGeom>
            <a:avLst/>
            <a:gdLst/>
            <a:ahLst/>
            <a:cxnLst/>
            <a:rect l="l" t="t" r="r" b="b"/>
            <a:pathLst>
              <a:path w="1941195" h="2884170">
                <a:moveTo>
                  <a:pt x="1940631" y="0"/>
                </a:moveTo>
                <a:lnTo>
                  <a:pt x="0" y="0"/>
                </a:lnTo>
                <a:lnTo>
                  <a:pt x="0" y="2883780"/>
                </a:lnTo>
                <a:lnTo>
                  <a:pt x="1940631" y="2883780"/>
                </a:lnTo>
                <a:lnTo>
                  <a:pt x="1940631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1748827" y="4482465"/>
            <a:ext cx="654368" cy="48410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2033"/>
              </a:lnSpc>
              <a:spcBef>
                <a:spcPts val="75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  <a:p>
            <a:pPr marR="13335" algn="ctr">
              <a:lnSpc>
                <a:spcPts val="167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31136" y="4505325"/>
            <a:ext cx="404813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lnSpc>
                <a:spcPts val="2059"/>
              </a:lnSpc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  <a:p>
            <a:pPr marL="142875">
              <a:lnSpc>
                <a:spcPts val="1699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endParaRPr sz="1463" baseline="-17094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517" y="526165"/>
            <a:ext cx="4862036" cy="61436"/>
          </a:xfrm>
          <a:custGeom>
            <a:avLst/>
            <a:gdLst/>
            <a:ahLst/>
            <a:cxnLst/>
            <a:rect l="l" t="t" r="r" b="b"/>
            <a:pathLst>
              <a:path w="6482715" h="81915">
                <a:moveTo>
                  <a:pt x="6482647" y="0"/>
                </a:moveTo>
                <a:lnTo>
                  <a:pt x="0" y="0"/>
                </a:lnTo>
                <a:lnTo>
                  <a:pt x="0" y="81537"/>
                </a:lnTo>
                <a:lnTo>
                  <a:pt x="6482647" y="81537"/>
                </a:lnTo>
                <a:lnTo>
                  <a:pt x="64826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sp>
        <p:nvSpPr>
          <p:cNvPr id="4" name="object 4"/>
          <p:cNvSpPr/>
          <p:nvPr/>
        </p:nvSpPr>
        <p:spPr>
          <a:xfrm>
            <a:off x="1964989" y="4012578"/>
            <a:ext cx="3187541" cy="436721"/>
          </a:xfrm>
          <a:custGeom>
            <a:avLst/>
            <a:gdLst/>
            <a:ahLst/>
            <a:cxnLst/>
            <a:rect l="l" t="t" r="r" b="b"/>
            <a:pathLst>
              <a:path w="4250055" h="582295">
                <a:moveTo>
                  <a:pt x="329476" y="243979"/>
                </a:moveTo>
                <a:lnTo>
                  <a:pt x="164731" y="14579"/>
                </a:lnTo>
                <a:lnTo>
                  <a:pt x="0" y="243979"/>
                </a:lnTo>
                <a:lnTo>
                  <a:pt x="119303" y="243979"/>
                </a:lnTo>
                <a:lnTo>
                  <a:pt x="119303" y="582015"/>
                </a:lnTo>
                <a:lnTo>
                  <a:pt x="210159" y="582015"/>
                </a:lnTo>
                <a:lnTo>
                  <a:pt x="210159" y="243979"/>
                </a:lnTo>
                <a:lnTo>
                  <a:pt x="329476" y="243979"/>
                </a:lnTo>
                <a:close/>
              </a:path>
              <a:path w="4250055" h="582295">
                <a:moveTo>
                  <a:pt x="2285085" y="229387"/>
                </a:moveTo>
                <a:lnTo>
                  <a:pt x="2120341" y="0"/>
                </a:lnTo>
                <a:lnTo>
                  <a:pt x="1955596" y="229387"/>
                </a:lnTo>
                <a:lnTo>
                  <a:pt x="2074913" y="229387"/>
                </a:lnTo>
                <a:lnTo>
                  <a:pt x="2074913" y="567436"/>
                </a:lnTo>
                <a:lnTo>
                  <a:pt x="2165769" y="567436"/>
                </a:lnTo>
                <a:lnTo>
                  <a:pt x="2165769" y="229387"/>
                </a:lnTo>
                <a:lnTo>
                  <a:pt x="2285085" y="229387"/>
                </a:lnTo>
                <a:close/>
              </a:path>
              <a:path w="4250055" h="582295">
                <a:moveTo>
                  <a:pt x="4249801" y="243979"/>
                </a:moveTo>
                <a:lnTo>
                  <a:pt x="4085069" y="14579"/>
                </a:lnTo>
                <a:lnTo>
                  <a:pt x="3920325" y="243979"/>
                </a:lnTo>
                <a:lnTo>
                  <a:pt x="4039641" y="243979"/>
                </a:lnTo>
                <a:lnTo>
                  <a:pt x="4039641" y="582015"/>
                </a:lnTo>
                <a:lnTo>
                  <a:pt x="4130484" y="582015"/>
                </a:lnTo>
                <a:lnTo>
                  <a:pt x="4130484" y="243979"/>
                </a:lnTo>
                <a:lnTo>
                  <a:pt x="4249801" y="243979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55623" y="2918759"/>
            <a:ext cx="1200150" cy="1554956"/>
            <a:chOff x="607497" y="3891678"/>
            <a:chExt cx="1600200" cy="2073275"/>
          </a:xfrm>
        </p:grpSpPr>
        <p:sp>
          <p:nvSpPr>
            <p:cNvPr id="6" name="object 6"/>
            <p:cNvSpPr/>
            <p:nvPr/>
          </p:nvSpPr>
          <p:spPr>
            <a:xfrm>
              <a:off x="607497" y="5397119"/>
              <a:ext cx="329565" cy="567690"/>
            </a:xfrm>
            <a:custGeom>
              <a:avLst/>
              <a:gdLst/>
              <a:ahLst/>
              <a:cxnLst/>
              <a:rect l="l" t="t" r="r" b="b"/>
              <a:pathLst>
                <a:path w="329565" h="567689">
                  <a:moveTo>
                    <a:pt x="164741" y="0"/>
                  </a:moveTo>
                  <a:lnTo>
                    <a:pt x="0" y="229395"/>
                  </a:lnTo>
                  <a:lnTo>
                    <a:pt x="119315" y="229395"/>
                  </a:lnTo>
                  <a:lnTo>
                    <a:pt x="119315" y="567437"/>
                  </a:lnTo>
                  <a:lnTo>
                    <a:pt x="210167" y="567437"/>
                  </a:lnTo>
                  <a:lnTo>
                    <a:pt x="210167" y="229395"/>
                  </a:lnTo>
                  <a:lnTo>
                    <a:pt x="329482" y="229395"/>
                  </a:lnTo>
                  <a:lnTo>
                    <a:pt x="16474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2888" y="391396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980915"/>
              <a:ext cx="222250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734656"/>
              <a:ext cx="222250" cy="222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630" y="4488397"/>
              <a:ext cx="222250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630" y="4236529"/>
              <a:ext cx="222250" cy="222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915" y="3978532"/>
              <a:ext cx="222250" cy="2222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94892" y="391396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159" y="4497922"/>
              <a:ext cx="203199" cy="203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8159" y="4246053"/>
              <a:ext cx="203199" cy="203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0443" y="3988056"/>
              <a:ext cx="203200" cy="2032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82035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5301" y="4494685"/>
              <a:ext cx="203200" cy="203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5301" y="4242816"/>
              <a:ext cx="203200" cy="203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7586" y="3984820"/>
              <a:ext cx="203199" cy="2032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876708" y="391072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29974" y="4494685"/>
              <a:ext cx="203200" cy="203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9974" y="4242816"/>
              <a:ext cx="203200" cy="2032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32259" y="3984820"/>
              <a:ext cx="203200" cy="2032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3556945" y="4838700"/>
            <a:ext cx="88106" cy="15965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75" spc="-38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endParaRPr sz="975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58352" y="3594714"/>
            <a:ext cx="1035368" cy="1380410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 marL="549593">
              <a:spcBef>
                <a:spcPts val="11"/>
              </a:spcBef>
              <a:tabLst>
                <a:tab pos="882015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270"/>
              </a:spcBef>
            </a:pPr>
            <a:endParaRPr sz="863">
              <a:latin typeface="Tahoma"/>
              <a:cs typeface="Tahoma"/>
            </a:endParaRPr>
          </a:p>
          <a:p>
            <a:pPr marR="394811" algn="ctr">
              <a:lnSpc>
                <a:spcPts val="2033"/>
              </a:lnSpc>
              <a:spcBef>
                <a:spcPts val="4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  <a:p>
            <a:pPr marR="413385" algn="ctr">
              <a:lnSpc>
                <a:spcPts val="167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endParaRPr sz="1463" baseline="-17094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39598" y="2916329"/>
            <a:ext cx="3842861" cy="1062990"/>
            <a:chOff x="2586130" y="3888439"/>
            <a:chExt cx="5123815" cy="1417320"/>
          </a:xfrm>
        </p:grpSpPr>
        <p:sp>
          <p:nvSpPr>
            <p:cNvPr id="28" name="object 28"/>
            <p:cNvSpPr/>
            <p:nvPr/>
          </p:nvSpPr>
          <p:spPr>
            <a:xfrm>
              <a:off x="2605180" y="3921872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988822"/>
              <a:ext cx="222250" cy="2222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922" y="4742563"/>
              <a:ext cx="222250" cy="2222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496305"/>
              <a:ext cx="222250" cy="2222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922" y="4244435"/>
              <a:ext cx="222250" cy="22225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206" y="3986439"/>
              <a:ext cx="222250" cy="22225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057184" y="3921872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0" y="4505829"/>
              <a:ext cx="203200" cy="2032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50" y="4253960"/>
              <a:ext cx="203200" cy="2032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2734" y="3995963"/>
              <a:ext cx="203200" cy="2032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444327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7593" y="4502591"/>
              <a:ext cx="203200" cy="2032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7593" y="4250723"/>
              <a:ext cx="203200" cy="2032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9877" y="3992726"/>
              <a:ext cx="203200" cy="2032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839000" y="3918635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92266" y="4502591"/>
              <a:ext cx="203200" cy="2032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2266" y="4250723"/>
              <a:ext cx="203200" cy="2032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94551" y="3992726"/>
              <a:ext cx="203200" cy="2032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575592" y="3918635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5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985584"/>
              <a:ext cx="222250" cy="22225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739326"/>
              <a:ext cx="222250" cy="22225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335" y="4493066"/>
              <a:ext cx="222250" cy="22225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335" y="4241198"/>
              <a:ext cx="222250" cy="22225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620" y="3983201"/>
              <a:ext cx="222250" cy="22225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027597" y="3918634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0863" y="4502590"/>
              <a:ext cx="203200" cy="2032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0863" y="4250721"/>
              <a:ext cx="203200" cy="2032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3148" y="3992726"/>
              <a:ext cx="203200" cy="20320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414740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8006" y="4499353"/>
              <a:ext cx="203200" cy="2032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68006" y="4247484"/>
              <a:ext cx="203200" cy="2032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70291" y="3989489"/>
              <a:ext cx="203200" cy="2032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5809413" y="3915398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5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2679" y="4499353"/>
              <a:ext cx="203200" cy="2032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62679" y="4247484"/>
              <a:ext cx="203200" cy="2032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4964" y="3989489"/>
              <a:ext cx="203200" cy="2032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540313" y="3910727"/>
              <a:ext cx="311785" cy="1364615"/>
            </a:xfrm>
            <a:custGeom>
              <a:avLst/>
              <a:gdLst/>
              <a:ahLst/>
              <a:cxnLst/>
              <a:rect l="l" t="t" r="r" b="b"/>
              <a:pathLst>
                <a:path w="311784" h="1364614">
                  <a:moveTo>
                    <a:pt x="51895" y="1364224"/>
                  </a:moveTo>
                  <a:lnTo>
                    <a:pt x="31695" y="1360145"/>
                  </a:lnTo>
                  <a:lnTo>
                    <a:pt x="15199" y="1349024"/>
                  </a:lnTo>
                  <a:lnTo>
                    <a:pt x="4078" y="1332528"/>
                  </a:lnTo>
                  <a:lnTo>
                    <a:pt x="0" y="1312328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1312328"/>
                  </a:lnTo>
                  <a:lnTo>
                    <a:pt x="307290" y="1332528"/>
                  </a:lnTo>
                  <a:lnTo>
                    <a:pt x="296169" y="1349024"/>
                  </a:lnTo>
                  <a:lnTo>
                    <a:pt x="279673" y="1360145"/>
                  </a:lnTo>
                  <a:lnTo>
                    <a:pt x="259473" y="1364224"/>
                  </a:lnTo>
                  <a:lnTo>
                    <a:pt x="51895" y="1364224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977677"/>
              <a:ext cx="222250" cy="22225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731417"/>
              <a:ext cx="222250" cy="22225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055" y="4485158"/>
              <a:ext cx="222250" cy="22225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055" y="4233289"/>
              <a:ext cx="222250" cy="22225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6340" y="3975294"/>
              <a:ext cx="222250" cy="22225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6992317" y="3910727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5583" y="4494682"/>
              <a:ext cx="203200" cy="20320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5583" y="4242813"/>
              <a:ext cx="203200" cy="20320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7867" y="3984818"/>
              <a:ext cx="203200" cy="20320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7379460" y="3907489"/>
              <a:ext cx="311785" cy="830580"/>
            </a:xfrm>
            <a:custGeom>
              <a:avLst/>
              <a:gdLst/>
              <a:ahLst/>
              <a:cxnLst/>
              <a:rect l="l" t="t" r="r" b="b"/>
              <a:pathLst>
                <a:path w="311784" h="830579">
                  <a:moveTo>
                    <a:pt x="51895" y="830216"/>
                  </a:moveTo>
                  <a:lnTo>
                    <a:pt x="31695" y="826137"/>
                  </a:lnTo>
                  <a:lnTo>
                    <a:pt x="15199" y="815016"/>
                  </a:lnTo>
                  <a:lnTo>
                    <a:pt x="4078" y="798520"/>
                  </a:lnTo>
                  <a:lnTo>
                    <a:pt x="0" y="778320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778320"/>
                  </a:lnTo>
                  <a:lnTo>
                    <a:pt x="307290" y="798520"/>
                  </a:lnTo>
                  <a:lnTo>
                    <a:pt x="296169" y="815016"/>
                  </a:lnTo>
                  <a:lnTo>
                    <a:pt x="279673" y="826137"/>
                  </a:lnTo>
                  <a:lnTo>
                    <a:pt x="259473" y="830216"/>
                  </a:lnTo>
                  <a:lnTo>
                    <a:pt x="51895" y="830216"/>
                  </a:lnTo>
                  <a:close/>
                </a:path>
              </a:pathLst>
            </a:custGeom>
            <a:ln w="38100">
              <a:solidFill>
                <a:srgbClr val="7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491446"/>
              <a:ext cx="203200" cy="203198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32726" y="4239577"/>
              <a:ext cx="203200" cy="20320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35010" y="3981580"/>
              <a:ext cx="203200" cy="203200"/>
            </a:xfrm>
            <a:prstGeom prst="rect">
              <a:avLst/>
            </a:prstGeom>
          </p:spPr>
        </p:pic>
      </p:grpSp>
      <p:sp>
        <p:nvSpPr>
          <p:cNvPr id="78" name="object 78"/>
          <p:cNvSpPr txBox="1"/>
          <p:nvPr/>
        </p:nvSpPr>
        <p:spPr>
          <a:xfrm>
            <a:off x="289571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40662" y="3594714"/>
            <a:ext cx="980599" cy="1418882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 marL="494824">
              <a:spcBef>
                <a:spcPts val="11"/>
              </a:spcBef>
              <a:tabLst>
                <a:tab pos="827246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450"/>
              </a:spcBef>
            </a:pPr>
            <a:endParaRPr sz="863">
              <a:latin typeface="Tahoma"/>
              <a:cs typeface="Tahoma"/>
            </a:endParaRPr>
          </a:p>
          <a:p>
            <a:pPr>
              <a:lnSpc>
                <a:spcPts val="2059"/>
              </a:lnSpc>
              <a:spcBef>
                <a:spcPts val="4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  <a:p>
            <a:pPr marL="133350">
              <a:lnSpc>
                <a:spcPts val="1699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42327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322049" y="3592428"/>
            <a:ext cx="974408" cy="1393234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 marL="488633">
              <a:spcBef>
                <a:spcPts val="11"/>
              </a:spcBef>
              <a:tabLst>
                <a:tab pos="821055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endParaRPr sz="1294" baseline="-144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270"/>
              </a:spcBef>
            </a:pPr>
            <a:endParaRPr sz="863">
              <a:latin typeface="Tahoma"/>
              <a:cs typeface="Tahoma"/>
            </a:endParaRPr>
          </a:p>
          <a:p>
            <a:pPr marR="553403" algn="ctr">
              <a:lnSpc>
                <a:spcPts val="2078"/>
              </a:lnSpc>
              <a:spcBef>
                <a:spcPts val="4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  <a:p>
            <a:pPr marR="578168" algn="ctr">
              <a:lnSpc>
                <a:spcPts val="1718"/>
              </a:lnSpc>
            </a:pPr>
            <a:r>
              <a:rPr sz="1500" spc="-38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4427093" y="3585570"/>
            <a:ext cx="149543" cy="203486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>
              <a:spcBef>
                <a:spcPts val="11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867461" y="3585570"/>
            <a:ext cx="899636" cy="1393234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 marL="413861">
              <a:spcBef>
                <a:spcPts val="11"/>
              </a:spcBef>
              <a:tabLst>
                <a:tab pos="746283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4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endParaRPr sz="1294" baseline="-144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488"/>
              </a:spcBef>
            </a:pPr>
            <a:endParaRPr sz="863">
              <a:latin typeface="Tahoma"/>
              <a:cs typeface="Tahoma"/>
            </a:endParaRPr>
          </a:p>
          <a:p>
            <a:pPr>
              <a:lnSpc>
                <a:spcPts val="2002"/>
              </a:lnSpc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  <a:p>
            <a:pPr marL="112395">
              <a:lnSpc>
                <a:spcPts val="164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897801" y="3578712"/>
            <a:ext cx="149543" cy="203486"/>
          </a:xfrm>
          <a:prstGeom prst="rect">
            <a:avLst/>
          </a:prstGeom>
        </p:spPr>
        <p:txBody>
          <a:bodyPr vert="horz" wrap="square" lIns="0" tIns="1429" rIns="0" bIns="0" rtlCol="0">
            <a:spAutoFit/>
          </a:bodyPr>
          <a:lstStyle/>
          <a:p>
            <a:pPr>
              <a:spcBef>
                <a:spcPts val="11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294" baseline="-14492">
              <a:latin typeface="Tahoma"/>
              <a:cs typeface="Tahoma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1728881" y="2697426"/>
            <a:ext cx="4411980" cy="2351246"/>
            <a:chOff x="2305174" y="3596567"/>
            <a:chExt cx="5882640" cy="3134995"/>
          </a:xfrm>
        </p:grpSpPr>
        <p:sp>
          <p:nvSpPr>
            <p:cNvPr id="86" name="object 86"/>
            <p:cNvSpPr/>
            <p:nvPr/>
          </p:nvSpPr>
          <p:spPr>
            <a:xfrm>
              <a:off x="2305174" y="3874555"/>
              <a:ext cx="1476375" cy="2857500"/>
            </a:xfrm>
            <a:custGeom>
              <a:avLst/>
              <a:gdLst/>
              <a:ahLst/>
              <a:cxnLst/>
              <a:rect l="l" t="t" r="r" b="b"/>
              <a:pathLst>
                <a:path w="1476375" h="2857500">
                  <a:moveTo>
                    <a:pt x="1475893" y="0"/>
                  </a:moveTo>
                  <a:lnTo>
                    <a:pt x="0" y="0"/>
                  </a:lnTo>
                  <a:lnTo>
                    <a:pt x="0" y="2856994"/>
                  </a:lnTo>
                  <a:lnTo>
                    <a:pt x="1475893" y="2856994"/>
                  </a:lnTo>
                  <a:lnTo>
                    <a:pt x="1475893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257256" y="3680942"/>
              <a:ext cx="3515360" cy="3011170"/>
            </a:xfrm>
            <a:custGeom>
              <a:avLst/>
              <a:gdLst/>
              <a:ahLst/>
              <a:cxnLst/>
              <a:rect l="l" t="t" r="r" b="b"/>
              <a:pathLst>
                <a:path w="3515359" h="3011170">
                  <a:moveTo>
                    <a:pt x="1501228" y="0"/>
                  </a:moveTo>
                  <a:lnTo>
                    <a:pt x="0" y="0"/>
                  </a:lnTo>
                  <a:lnTo>
                    <a:pt x="0" y="2856992"/>
                  </a:lnTo>
                  <a:lnTo>
                    <a:pt x="1501228" y="2856992"/>
                  </a:lnTo>
                  <a:lnTo>
                    <a:pt x="1501228" y="0"/>
                  </a:lnTo>
                  <a:close/>
                </a:path>
                <a:path w="3515359" h="3011170">
                  <a:moveTo>
                    <a:pt x="3515029" y="153885"/>
                  </a:moveTo>
                  <a:lnTo>
                    <a:pt x="1959991" y="153885"/>
                  </a:lnTo>
                  <a:lnTo>
                    <a:pt x="1959991" y="3010878"/>
                  </a:lnTo>
                  <a:lnTo>
                    <a:pt x="3515029" y="3010878"/>
                  </a:lnTo>
                  <a:lnTo>
                    <a:pt x="3515029" y="153885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783035" y="3761903"/>
              <a:ext cx="472440" cy="2857500"/>
            </a:xfrm>
            <a:custGeom>
              <a:avLst/>
              <a:gdLst/>
              <a:ahLst/>
              <a:cxnLst/>
              <a:rect l="l" t="t" r="r" b="b"/>
              <a:pathLst>
                <a:path w="472439" h="2857500">
                  <a:moveTo>
                    <a:pt x="472262" y="0"/>
                  </a:moveTo>
                  <a:lnTo>
                    <a:pt x="0" y="0"/>
                  </a:lnTo>
                  <a:lnTo>
                    <a:pt x="0" y="2856994"/>
                  </a:lnTo>
                  <a:lnTo>
                    <a:pt x="472262" y="2856994"/>
                  </a:lnTo>
                  <a:lnTo>
                    <a:pt x="472262" y="0"/>
                  </a:lnTo>
                  <a:close/>
                </a:path>
              </a:pathLst>
            </a:custGeom>
            <a:solidFill>
              <a:srgbClr val="FFFFFF">
                <a:alpha val="129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765788" y="3596567"/>
              <a:ext cx="472440" cy="2857500"/>
            </a:xfrm>
            <a:custGeom>
              <a:avLst/>
              <a:gdLst/>
              <a:ahLst/>
              <a:cxnLst/>
              <a:rect l="l" t="t" r="r" b="b"/>
              <a:pathLst>
                <a:path w="472439" h="2857500">
                  <a:moveTo>
                    <a:pt x="472260" y="0"/>
                  </a:moveTo>
                  <a:lnTo>
                    <a:pt x="0" y="0"/>
                  </a:lnTo>
                  <a:lnTo>
                    <a:pt x="0" y="2856995"/>
                  </a:lnTo>
                  <a:lnTo>
                    <a:pt x="472260" y="2856995"/>
                  </a:lnTo>
                  <a:lnTo>
                    <a:pt x="472260" y="0"/>
                  </a:lnTo>
                  <a:close/>
                </a:path>
              </a:pathLst>
            </a:custGeom>
            <a:solidFill>
              <a:srgbClr val="FFFFFF">
                <a:alpha val="788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715327" y="3647606"/>
              <a:ext cx="472440" cy="2857500"/>
            </a:xfrm>
            <a:custGeom>
              <a:avLst/>
              <a:gdLst/>
              <a:ahLst/>
              <a:cxnLst/>
              <a:rect l="l" t="t" r="r" b="b"/>
              <a:pathLst>
                <a:path w="472440" h="2857500">
                  <a:moveTo>
                    <a:pt x="472260" y="0"/>
                  </a:moveTo>
                  <a:lnTo>
                    <a:pt x="0" y="0"/>
                  </a:lnTo>
                  <a:lnTo>
                    <a:pt x="0" y="2856995"/>
                  </a:lnTo>
                  <a:lnTo>
                    <a:pt x="472260" y="2856995"/>
                  </a:lnTo>
                  <a:lnTo>
                    <a:pt x="472260" y="0"/>
                  </a:lnTo>
                  <a:close/>
                </a:path>
              </a:pathLst>
            </a:custGeom>
            <a:solidFill>
              <a:srgbClr val="FFFFFF">
                <a:alpha val="8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783583" y="681120"/>
            <a:ext cx="619125" cy="23948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8573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500" spc="41" dirty="0">
                <a:latin typeface="Tahoma"/>
                <a:cs typeface="Tahoma"/>
              </a:rPr>
              <a:t>Step</a:t>
            </a:r>
            <a:r>
              <a:rPr sz="1500" spc="-56" dirty="0">
                <a:latin typeface="Tahoma"/>
                <a:cs typeface="Tahoma"/>
              </a:rPr>
              <a:t> </a:t>
            </a:r>
            <a:r>
              <a:rPr sz="1500" spc="-38" dirty="0">
                <a:latin typeface="Tahoma"/>
                <a:cs typeface="Tahoma"/>
              </a:rPr>
              <a:t>4: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316161" y="2897369"/>
            <a:ext cx="1052989" cy="2143125"/>
          </a:xfrm>
          <a:custGeom>
            <a:avLst/>
            <a:gdLst/>
            <a:ahLst/>
            <a:cxnLst/>
            <a:rect l="l" t="t" r="r" b="b"/>
            <a:pathLst>
              <a:path w="1403985" h="2857500">
                <a:moveTo>
                  <a:pt x="1403809" y="0"/>
                </a:moveTo>
                <a:lnTo>
                  <a:pt x="0" y="0"/>
                </a:lnTo>
                <a:lnTo>
                  <a:pt x="0" y="2856994"/>
                </a:lnTo>
                <a:lnTo>
                  <a:pt x="1403809" y="2856994"/>
                </a:lnTo>
                <a:lnTo>
                  <a:pt x="1403809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1416996" y="680085"/>
            <a:ext cx="5118735" cy="128689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dirty="0">
                <a:latin typeface="Tahoma"/>
                <a:cs typeface="Tahoma"/>
              </a:rPr>
              <a:t>Let’s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weight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our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i</a:t>
            </a:r>
            <a:r>
              <a:rPr sz="1406" spc="332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vectors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3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simply</a:t>
            </a:r>
            <a:r>
              <a:rPr sz="1500" spc="3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sum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them</a:t>
            </a:r>
            <a:r>
              <a:rPr sz="1500" spc="34" dirty="0">
                <a:latin typeface="Tahoma"/>
                <a:cs typeface="Tahoma"/>
              </a:rPr>
              <a:t> </a:t>
            </a:r>
            <a:r>
              <a:rPr sz="1500" spc="-19" dirty="0">
                <a:latin typeface="Tahoma"/>
                <a:cs typeface="Tahoma"/>
              </a:rPr>
              <a:t>up!</a:t>
            </a:r>
            <a:endParaRPr sz="1500">
              <a:latin typeface="Tahoma"/>
              <a:cs typeface="Tahoma"/>
            </a:endParaRPr>
          </a:p>
          <a:p>
            <a:pPr marL="1519238">
              <a:lnSpc>
                <a:spcPts val="2104"/>
              </a:lnSpc>
              <a:spcBef>
                <a:spcPts val="1444"/>
              </a:spcBef>
            </a:pPr>
            <a:r>
              <a:rPr sz="1763" spc="-19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744" spc="-28" baseline="-17921" dirty="0">
                <a:solidFill>
                  <a:srgbClr val="DE55B3"/>
                </a:solidFill>
                <a:latin typeface="Tahoma"/>
                <a:cs typeface="Tahoma"/>
              </a:rPr>
              <a:t>2</a:t>
            </a:r>
            <a:endParaRPr sz="1744" baseline="-17921">
              <a:latin typeface="Tahoma"/>
              <a:cs typeface="Tahoma"/>
            </a:endParaRPr>
          </a:p>
          <a:p>
            <a:pPr marL="2173605">
              <a:lnSpc>
                <a:spcPts val="2149"/>
              </a:lnSpc>
            </a:pPr>
            <a:r>
              <a:rPr sz="2194" baseline="1424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406" baseline="-17777" dirty="0">
                <a:solidFill>
                  <a:srgbClr val="DE55B3"/>
                </a:solidFill>
                <a:latin typeface="Tahoma"/>
                <a:cs typeface="Tahoma"/>
              </a:rPr>
              <a:t>2</a:t>
            </a:r>
            <a:r>
              <a:rPr sz="1406" spc="17" baseline="-17777" dirty="0">
                <a:solidFill>
                  <a:srgbClr val="DE55B3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r>
              <a:rPr sz="1406" spc="113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r>
              <a:rPr sz="1406" spc="107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baseline="-17094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7777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r>
              <a:rPr sz="1406" spc="113" baseline="-17777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spc="-8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63" b="1" spc="-11" baseline="-17094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r>
              <a:rPr spc="-8" dirty="0">
                <a:latin typeface="Cambria Math"/>
                <a:cs typeface="Cambria Math"/>
              </a:rPr>
              <a:t>⋅</a:t>
            </a:r>
            <a:r>
              <a:rPr sz="2194" spc="-11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spc="-11" baseline="-17777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406" baseline="-17777">
              <a:latin typeface="Tahoma"/>
              <a:cs typeface="Tahoma"/>
            </a:endParaRPr>
          </a:p>
          <a:p>
            <a:pPr marL="2335054">
              <a:spcBef>
                <a:spcPts val="431"/>
              </a:spcBef>
            </a:pPr>
            <a:r>
              <a:rPr sz="1500" spc="-105" dirty="0">
                <a:latin typeface="Tahoma"/>
                <a:cs typeface="Tahoma"/>
              </a:rPr>
              <a:t>=</a:t>
            </a:r>
            <a:r>
              <a:rPr sz="1500" spc="-49" dirty="0"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0.08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5555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r>
              <a:rPr sz="1406" spc="84" baseline="-15555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0.91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5555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r>
              <a:rPr sz="1406" spc="84" baseline="-15555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0.01</a:t>
            </a:r>
            <a:r>
              <a:rPr dirty="0">
                <a:latin typeface="Cambria Math"/>
                <a:cs typeface="Cambria Math"/>
              </a:rPr>
              <a:t>⋅</a:t>
            </a:r>
            <a:r>
              <a:rPr sz="2194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baseline="-15555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r>
              <a:rPr sz="1406" spc="84" baseline="-15555" dirty="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500" b="1" spc="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b="1" spc="-15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pc="-15" dirty="0">
                <a:latin typeface="Cambria Math"/>
                <a:cs typeface="Cambria Math"/>
              </a:rPr>
              <a:t>⋅</a:t>
            </a:r>
            <a:r>
              <a:rPr sz="2194" spc="-23" baseline="142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406" spc="-23" baseline="-15555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406" baseline="-15555">
              <a:latin typeface="Tahoma"/>
              <a:cs typeface="Tahoma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2886579" y="1434277"/>
            <a:ext cx="262414" cy="680561"/>
            <a:chOff x="3848772" y="1912369"/>
            <a:chExt cx="349885" cy="907415"/>
          </a:xfrm>
        </p:grpSpPr>
        <p:sp>
          <p:nvSpPr>
            <p:cNvPr id="95" name="object 95"/>
            <p:cNvSpPr/>
            <p:nvPr/>
          </p:nvSpPr>
          <p:spPr>
            <a:xfrm>
              <a:off x="3867822" y="1931419"/>
              <a:ext cx="311785" cy="869315"/>
            </a:xfrm>
            <a:custGeom>
              <a:avLst/>
              <a:gdLst/>
              <a:ahLst/>
              <a:cxnLst/>
              <a:rect l="l" t="t" r="r" b="b"/>
              <a:pathLst>
                <a:path w="311785" h="869314">
                  <a:moveTo>
                    <a:pt x="259473" y="0"/>
                  </a:move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817055"/>
                  </a:lnTo>
                  <a:lnTo>
                    <a:pt x="307290" y="837255"/>
                  </a:lnTo>
                  <a:lnTo>
                    <a:pt x="296169" y="853751"/>
                  </a:lnTo>
                  <a:lnTo>
                    <a:pt x="279673" y="864872"/>
                  </a:lnTo>
                  <a:lnTo>
                    <a:pt x="259473" y="868951"/>
                  </a:lnTo>
                  <a:lnTo>
                    <a:pt x="51895" y="868951"/>
                  </a:lnTo>
                  <a:lnTo>
                    <a:pt x="31695" y="864872"/>
                  </a:lnTo>
                  <a:lnTo>
                    <a:pt x="15199" y="853751"/>
                  </a:lnTo>
                  <a:lnTo>
                    <a:pt x="4078" y="837255"/>
                  </a:lnTo>
                  <a:lnTo>
                    <a:pt x="0" y="817055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close/>
                </a:path>
              </a:pathLst>
            </a:custGeom>
            <a:ln w="38100">
              <a:solidFill>
                <a:srgbClr val="FF7F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922726" y="2015970"/>
              <a:ext cx="203200" cy="203200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922726" y="2262229"/>
              <a:ext cx="203200" cy="203200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922726" y="2508487"/>
              <a:ext cx="203200" cy="203200"/>
            </a:xfrm>
            <a:prstGeom prst="rect">
              <a:avLst/>
            </a:prstGeom>
          </p:spPr>
        </p:pic>
      </p:grpSp>
      <p:sp>
        <p:nvSpPr>
          <p:cNvPr id="99" name="object 99"/>
          <p:cNvSpPr/>
          <p:nvPr/>
        </p:nvSpPr>
        <p:spPr>
          <a:xfrm>
            <a:off x="1376226" y="2782214"/>
            <a:ext cx="354330" cy="2143125"/>
          </a:xfrm>
          <a:custGeom>
            <a:avLst/>
            <a:gdLst/>
            <a:ahLst/>
            <a:cxnLst/>
            <a:rect l="l" t="t" r="r" b="b"/>
            <a:pathLst>
              <a:path w="472439" h="2857500">
                <a:moveTo>
                  <a:pt x="472260" y="0"/>
                </a:moveTo>
                <a:lnTo>
                  <a:pt x="0" y="0"/>
                </a:lnTo>
                <a:lnTo>
                  <a:pt x="0" y="2856995"/>
                </a:lnTo>
                <a:lnTo>
                  <a:pt x="472260" y="2856995"/>
                </a:lnTo>
                <a:lnTo>
                  <a:pt x="472260" y="0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5445" y="2307998"/>
            <a:ext cx="201930" cy="303848"/>
          </a:xfrm>
          <a:custGeom>
            <a:avLst/>
            <a:gdLst/>
            <a:ahLst/>
            <a:cxnLst/>
            <a:rect l="l" t="t" r="r" b="b"/>
            <a:pathLst>
              <a:path w="269240" h="405129">
                <a:moveTo>
                  <a:pt x="134373" y="0"/>
                </a:moveTo>
                <a:lnTo>
                  <a:pt x="0" y="187109"/>
                </a:lnTo>
                <a:lnTo>
                  <a:pt x="97321" y="187109"/>
                </a:lnTo>
                <a:lnTo>
                  <a:pt x="97321" y="404536"/>
                </a:lnTo>
                <a:lnTo>
                  <a:pt x="171424" y="404536"/>
                </a:lnTo>
                <a:lnTo>
                  <a:pt x="171424" y="187109"/>
                </a:lnTo>
                <a:lnTo>
                  <a:pt x="268745" y="187109"/>
                </a:lnTo>
                <a:lnTo>
                  <a:pt x="134373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74517" y="526165"/>
            <a:ext cx="4862036" cy="61436"/>
          </a:xfrm>
          <a:custGeom>
            <a:avLst/>
            <a:gdLst/>
            <a:ahLst/>
            <a:cxnLst/>
            <a:rect l="l" t="t" r="r" b="b"/>
            <a:pathLst>
              <a:path w="6482715" h="81915">
                <a:moveTo>
                  <a:pt x="6482647" y="0"/>
                </a:moveTo>
                <a:lnTo>
                  <a:pt x="0" y="0"/>
                </a:lnTo>
                <a:lnTo>
                  <a:pt x="0" y="81537"/>
                </a:lnTo>
                <a:lnTo>
                  <a:pt x="6482647" y="81537"/>
                </a:lnTo>
                <a:lnTo>
                  <a:pt x="64826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3744" y="63830"/>
            <a:ext cx="665051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5273">
              <a:spcBef>
                <a:spcPts val="75"/>
              </a:spcBef>
            </a:pPr>
            <a:r>
              <a:rPr spc="-8" dirty="0"/>
              <a:t>Self-Attention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2086" y="4505325"/>
            <a:ext cx="442913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lnSpc>
                <a:spcPts val="2059"/>
              </a:lnSpc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The</a:t>
            </a:r>
            <a:endParaRPr>
              <a:latin typeface="Tahoma"/>
              <a:cs typeface="Tahoma"/>
            </a:endParaRPr>
          </a:p>
          <a:p>
            <a:pPr marL="161925">
              <a:lnSpc>
                <a:spcPts val="1699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9777" y="4482465"/>
            <a:ext cx="692468" cy="48410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2033"/>
              </a:lnSpc>
              <a:spcBef>
                <a:spcPts val="75"/>
              </a:spcBef>
            </a:pPr>
            <a:r>
              <a:rPr spc="-8" dirty="0">
                <a:latin typeface="Tahoma"/>
                <a:cs typeface="Tahoma"/>
              </a:rPr>
              <a:t>brown</a:t>
            </a:r>
            <a:endParaRPr>
              <a:latin typeface="Tahoma"/>
              <a:cs typeface="Tahoma"/>
            </a:endParaRPr>
          </a:p>
          <a:p>
            <a:pPr marR="13335" algn="ctr">
              <a:lnSpc>
                <a:spcPts val="167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93475" y="4480179"/>
            <a:ext cx="471964" cy="49693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2078"/>
              </a:lnSpc>
              <a:spcBef>
                <a:spcPts val="75"/>
              </a:spcBef>
            </a:pPr>
            <a:r>
              <a:rPr spc="75" dirty="0">
                <a:latin typeface="Tahoma"/>
                <a:cs typeface="Tahoma"/>
              </a:rPr>
              <a:t>dog</a:t>
            </a:r>
            <a:endParaRPr>
              <a:latin typeface="Tahoma"/>
              <a:cs typeface="Tahoma"/>
            </a:endParaRPr>
          </a:p>
          <a:p>
            <a:pPr marL="43814" algn="ctr">
              <a:lnSpc>
                <a:spcPts val="1718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endParaRPr sz="1463" baseline="-17094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38885" y="4500753"/>
            <a:ext cx="380048" cy="4712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lnSpc>
                <a:spcPts val="2002"/>
              </a:lnSpc>
              <a:spcBef>
                <a:spcPts val="75"/>
              </a:spcBef>
            </a:pPr>
            <a:r>
              <a:rPr spc="-19" dirty="0">
                <a:latin typeface="Tahoma"/>
                <a:cs typeface="Tahoma"/>
              </a:rPr>
              <a:t>ran</a:t>
            </a:r>
            <a:endParaRPr>
              <a:latin typeface="Tahoma"/>
              <a:cs typeface="Tahoma"/>
            </a:endParaRPr>
          </a:p>
          <a:p>
            <a:pPr marL="140970">
              <a:lnSpc>
                <a:spcPts val="1643"/>
              </a:lnSpc>
            </a:pP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222" y="2612015"/>
            <a:ext cx="6093773" cy="186140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269923" y="3585189"/>
            <a:ext cx="561975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38100">
              <a:spcBef>
                <a:spcPts val="86"/>
              </a:spcBef>
              <a:tabLst>
                <a:tab pos="370523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9571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7483" y="3585189"/>
            <a:ext cx="561975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38100">
              <a:spcBef>
                <a:spcPts val="86"/>
              </a:spcBef>
              <a:tabLst>
                <a:tab pos="370523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23275" y="3578331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72727" y="3582903"/>
            <a:ext cx="851535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38100">
              <a:spcBef>
                <a:spcPts val="86"/>
              </a:spcBef>
              <a:tabLst>
                <a:tab pos="370523" algn="l"/>
                <a:tab pos="653891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2077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endParaRPr sz="1294" baseline="-12077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43436" y="3576045"/>
            <a:ext cx="561975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38100">
              <a:spcBef>
                <a:spcPts val="86"/>
              </a:spcBef>
              <a:tabLst>
                <a:tab pos="370523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4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69226" y="3569187"/>
            <a:ext cx="206693" cy="213104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1313" spc="-19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4492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294" baseline="-14492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5008" y="680084"/>
            <a:ext cx="4719638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500" spc="-45" dirty="0">
                <a:latin typeface="Tahoma"/>
                <a:cs typeface="Tahoma"/>
              </a:rPr>
              <a:t>Tada!</a:t>
            </a:r>
            <a:r>
              <a:rPr sz="1500" dirty="0">
                <a:latin typeface="Tahoma"/>
                <a:cs typeface="Tahoma"/>
              </a:rPr>
              <a:t> </a:t>
            </a:r>
            <a:r>
              <a:rPr sz="1500" spc="90" dirty="0">
                <a:latin typeface="Tahoma"/>
                <a:cs typeface="Tahoma"/>
              </a:rPr>
              <a:t>Now</a:t>
            </a:r>
            <a:r>
              <a:rPr sz="1500" dirty="0">
                <a:latin typeface="Tahoma"/>
                <a:cs typeface="Tahoma"/>
              </a:rPr>
              <a:t> we</a:t>
            </a:r>
            <a:r>
              <a:rPr sz="1500" spc="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have</a:t>
            </a:r>
            <a:r>
              <a:rPr sz="1500" spc="1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great, new representations</a:t>
            </a:r>
            <a:r>
              <a:rPr sz="1500" spc="4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406" baseline="-17777" dirty="0">
                <a:solidFill>
                  <a:srgbClr val="DE55B3"/>
                </a:solidFill>
                <a:latin typeface="Tahoma"/>
                <a:cs typeface="Tahoma"/>
              </a:rPr>
              <a:t>i</a:t>
            </a:r>
            <a:r>
              <a:rPr sz="1406" spc="293" baseline="-17777" dirty="0">
                <a:solidFill>
                  <a:srgbClr val="DE55B3"/>
                </a:solidFill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via</a:t>
            </a:r>
            <a:r>
              <a:rPr sz="1500" spc="4" dirty="0">
                <a:latin typeface="Tahoma"/>
                <a:cs typeface="Tahoma"/>
              </a:rPr>
              <a:t> </a:t>
            </a:r>
            <a:r>
              <a:rPr sz="1500" spc="-38" dirty="0">
                <a:latin typeface="Tahoma"/>
                <a:cs typeface="Tahoma"/>
              </a:rPr>
              <a:t>a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97983" y="681120"/>
            <a:ext cx="1625441" cy="23948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8573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500" spc="-8" dirty="0">
                <a:latin typeface="Tahoma"/>
                <a:cs typeface="Tahoma"/>
              </a:rPr>
              <a:t>self-</a:t>
            </a:r>
            <a:r>
              <a:rPr sz="1500" dirty="0">
                <a:latin typeface="Tahoma"/>
                <a:cs typeface="Tahoma"/>
              </a:rPr>
              <a:t>attention</a:t>
            </a:r>
            <a:r>
              <a:rPr sz="1500" spc="184" dirty="0">
                <a:latin typeface="Tahoma"/>
                <a:cs typeface="Tahoma"/>
              </a:rPr>
              <a:t> </a:t>
            </a:r>
            <a:r>
              <a:rPr sz="1500" spc="-15" dirty="0">
                <a:latin typeface="Tahoma"/>
                <a:cs typeface="Tahoma"/>
              </a:rPr>
              <a:t>head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980802" y="1531386"/>
            <a:ext cx="262414" cy="680561"/>
            <a:chOff x="6641069" y="2041847"/>
            <a:chExt cx="349885" cy="907415"/>
          </a:xfrm>
        </p:grpSpPr>
        <p:sp>
          <p:nvSpPr>
            <p:cNvPr id="20" name="object 20"/>
            <p:cNvSpPr/>
            <p:nvPr/>
          </p:nvSpPr>
          <p:spPr>
            <a:xfrm>
              <a:off x="6660119" y="2060897"/>
              <a:ext cx="311785" cy="869315"/>
            </a:xfrm>
            <a:custGeom>
              <a:avLst/>
              <a:gdLst/>
              <a:ahLst/>
              <a:cxnLst/>
              <a:rect l="l" t="t" r="r" b="b"/>
              <a:pathLst>
                <a:path w="311784" h="869314">
                  <a:moveTo>
                    <a:pt x="259473" y="0"/>
                  </a:move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817055"/>
                  </a:lnTo>
                  <a:lnTo>
                    <a:pt x="307290" y="837255"/>
                  </a:lnTo>
                  <a:lnTo>
                    <a:pt x="296169" y="853751"/>
                  </a:lnTo>
                  <a:lnTo>
                    <a:pt x="279673" y="864872"/>
                  </a:lnTo>
                  <a:lnTo>
                    <a:pt x="259473" y="868951"/>
                  </a:lnTo>
                  <a:lnTo>
                    <a:pt x="51895" y="868951"/>
                  </a:lnTo>
                  <a:lnTo>
                    <a:pt x="31695" y="864872"/>
                  </a:lnTo>
                  <a:lnTo>
                    <a:pt x="15199" y="853751"/>
                  </a:lnTo>
                  <a:lnTo>
                    <a:pt x="4078" y="837255"/>
                  </a:lnTo>
                  <a:lnTo>
                    <a:pt x="0" y="817055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close/>
                </a:path>
              </a:pathLst>
            </a:custGeom>
            <a:ln w="38100">
              <a:solidFill>
                <a:srgbClr val="FF7F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15023" y="2145447"/>
              <a:ext cx="203200" cy="2032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15023" y="2391707"/>
              <a:ext cx="203200" cy="203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15023" y="2637966"/>
              <a:ext cx="203200" cy="20320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3585582" y="1206023"/>
            <a:ext cx="234315" cy="28091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763" spc="-19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744" spc="-28" baseline="-17921" dirty="0">
                <a:solidFill>
                  <a:srgbClr val="DE55B3"/>
                </a:solidFill>
                <a:latin typeface="Tahoma"/>
                <a:cs typeface="Tahoma"/>
              </a:rPr>
              <a:t>3</a:t>
            </a:r>
            <a:endParaRPr sz="1744" baseline="-17921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561693" y="1571836"/>
            <a:ext cx="262414" cy="680561"/>
            <a:chOff x="4748924" y="2095781"/>
            <a:chExt cx="349885" cy="907415"/>
          </a:xfrm>
        </p:grpSpPr>
        <p:sp>
          <p:nvSpPr>
            <p:cNvPr id="26" name="object 26"/>
            <p:cNvSpPr/>
            <p:nvPr/>
          </p:nvSpPr>
          <p:spPr>
            <a:xfrm>
              <a:off x="4767974" y="2114831"/>
              <a:ext cx="311785" cy="869315"/>
            </a:xfrm>
            <a:custGeom>
              <a:avLst/>
              <a:gdLst/>
              <a:ahLst/>
              <a:cxnLst/>
              <a:rect l="l" t="t" r="r" b="b"/>
              <a:pathLst>
                <a:path w="311785" h="869314">
                  <a:moveTo>
                    <a:pt x="259473" y="0"/>
                  </a:move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817055"/>
                  </a:lnTo>
                  <a:lnTo>
                    <a:pt x="307290" y="837255"/>
                  </a:lnTo>
                  <a:lnTo>
                    <a:pt x="296169" y="853751"/>
                  </a:lnTo>
                  <a:lnTo>
                    <a:pt x="279673" y="864872"/>
                  </a:lnTo>
                  <a:lnTo>
                    <a:pt x="259473" y="868951"/>
                  </a:lnTo>
                  <a:lnTo>
                    <a:pt x="51895" y="868951"/>
                  </a:lnTo>
                  <a:lnTo>
                    <a:pt x="31695" y="864872"/>
                  </a:lnTo>
                  <a:lnTo>
                    <a:pt x="15199" y="853751"/>
                  </a:lnTo>
                  <a:lnTo>
                    <a:pt x="4078" y="837255"/>
                  </a:lnTo>
                  <a:lnTo>
                    <a:pt x="0" y="817055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close/>
                </a:path>
              </a:pathLst>
            </a:custGeom>
            <a:ln w="38100">
              <a:solidFill>
                <a:srgbClr val="FF7F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22877" y="2199382"/>
              <a:ext cx="203200" cy="2032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22877" y="2445641"/>
              <a:ext cx="203200" cy="2032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22877" y="2691899"/>
              <a:ext cx="203200" cy="20320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2156947" y="1194593"/>
            <a:ext cx="3081338" cy="28091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  <a:tabLst>
                <a:tab pos="2866072" algn="l"/>
              </a:tabLst>
            </a:pPr>
            <a:r>
              <a:rPr sz="1763" spc="-19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744" spc="-28" baseline="-17921" dirty="0">
                <a:solidFill>
                  <a:srgbClr val="DE55B3"/>
                </a:solidFill>
                <a:latin typeface="Tahoma"/>
                <a:cs typeface="Tahoma"/>
              </a:rPr>
              <a:t>2</a:t>
            </a:r>
            <a:r>
              <a:rPr sz="1744" baseline="-17921" dirty="0">
                <a:solidFill>
                  <a:srgbClr val="DE55B3"/>
                </a:solidFill>
                <a:latin typeface="Tahoma"/>
                <a:cs typeface="Tahoma"/>
              </a:rPr>
              <a:t>	</a:t>
            </a:r>
            <a:r>
              <a:rPr sz="1763" spc="-19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744" spc="-28" baseline="-17921" dirty="0">
                <a:solidFill>
                  <a:srgbClr val="DE55B3"/>
                </a:solidFill>
                <a:latin typeface="Tahoma"/>
                <a:cs typeface="Tahoma"/>
              </a:rPr>
              <a:t>4</a:t>
            </a:r>
            <a:endParaRPr sz="1744" baseline="-17921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142584" y="1560656"/>
            <a:ext cx="262414" cy="680561"/>
            <a:chOff x="2856778" y="2080874"/>
            <a:chExt cx="349885" cy="907415"/>
          </a:xfrm>
        </p:grpSpPr>
        <p:sp>
          <p:nvSpPr>
            <p:cNvPr id="32" name="object 32"/>
            <p:cNvSpPr/>
            <p:nvPr/>
          </p:nvSpPr>
          <p:spPr>
            <a:xfrm>
              <a:off x="2875828" y="2099924"/>
              <a:ext cx="311785" cy="869315"/>
            </a:xfrm>
            <a:custGeom>
              <a:avLst/>
              <a:gdLst/>
              <a:ahLst/>
              <a:cxnLst/>
              <a:rect l="l" t="t" r="r" b="b"/>
              <a:pathLst>
                <a:path w="311785" h="869314">
                  <a:moveTo>
                    <a:pt x="259473" y="0"/>
                  </a:move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817055"/>
                  </a:lnTo>
                  <a:lnTo>
                    <a:pt x="307290" y="837255"/>
                  </a:lnTo>
                  <a:lnTo>
                    <a:pt x="296169" y="853751"/>
                  </a:lnTo>
                  <a:lnTo>
                    <a:pt x="279673" y="864872"/>
                  </a:lnTo>
                  <a:lnTo>
                    <a:pt x="259473" y="868951"/>
                  </a:lnTo>
                  <a:lnTo>
                    <a:pt x="51895" y="868951"/>
                  </a:lnTo>
                  <a:lnTo>
                    <a:pt x="31695" y="864872"/>
                  </a:lnTo>
                  <a:lnTo>
                    <a:pt x="15199" y="853751"/>
                  </a:lnTo>
                  <a:lnTo>
                    <a:pt x="4078" y="837255"/>
                  </a:lnTo>
                  <a:lnTo>
                    <a:pt x="0" y="817055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close/>
                </a:path>
              </a:pathLst>
            </a:custGeom>
            <a:ln w="38100">
              <a:solidFill>
                <a:srgbClr val="FF7F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30730" y="2184474"/>
              <a:ext cx="203200" cy="2032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730" y="2430734"/>
              <a:ext cx="203200" cy="2032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730" y="2676993"/>
              <a:ext cx="203200" cy="20320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583028" y="1217453"/>
            <a:ext cx="234315" cy="28091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763" spc="-19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744" spc="-28" baseline="-17921" dirty="0">
                <a:solidFill>
                  <a:srgbClr val="DE55B3"/>
                </a:solidFill>
                <a:latin typeface="Tahoma"/>
                <a:cs typeface="Tahoma"/>
              </a:rPr>
              <a:t>1</a:t>
            </a:r>
            <a:endParaRPr sz="1744" baseline="-17921">
              <a:latin typeface="Tahoma"/>
              <a:cs typeface="Tahom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59139" y="1583773"/>
            <a:ext cx="262414" cy="680561"/>
            <a:chOff x="745518" y="2111696"/>
            <a:chExt cx="349885" cy="907415"/>
          </a:xfrm>
        </p:grpSpPr>
        <p:sp>
          <p:nvSpPr>
            <p:cNvPr id="38" name="object 38"/>
            <p:cNvSpPr/>
            <p:nvPr/>
          </p:nvSpPr>
          <p:spPr>
            <a:xfrm>
              <a:off x="764568" y="2130746"/>
              <a:ext cx="311785" cy="869315"/>
            </a:xfrm>
            <a:custGeom>
              <a:avLst/>
              <a:gdLst/>
              <a:ahLst/>
              <a:cxnLst/>
              <a:rect l="l" t="t" r="r" b="b"/>
              <a:pathLst>
                <a:path w="311784" h="869314">
                  <a:moveTo>
                    <a:pt x="259473" y="0"/>
                  </a:moveTo>
                  <a:lnTo>
                    <a:pt x="279673" y="4078"/>
                  </a:lnTo>
                  <a:lnTo>
                    <a:pt x="296169" y="15199"/>
                  </a:lnTo>
                  <a:lnTo>
                    <a:pt x="307290" y="31695"/>
                  </a:lnTo>
                  <a:lnTo>
                    <a:pt x="311369" y="51895"/>
                  </a:lnTo>
                  <a:lnTo>
                    <a:pt x="311369" y="817055"/>
                  </a:lnTo>
                  <a:lnTo>
                    <a:pt x="307290" y="837255"/>
                  </a:lnTo>
                  <a:lnTo>
                    <a:pt x="296169" y="853751"/>
                  </a:lnTo>
                  <a:lnTo>
                    <a:pt x="279673" y="864872"/>
                  </a:lnTo>
                  <a:lnTo>
                    <a:pt x="259473" y="868951"/>
                  </a:lnTo>
                  <a:lnTo>
                    <a:pt x="51895" y="868951"/>
                  </a:lnTo>
                  <a:lnTo>
                    <a:pt x="31695" y="864872"/>
                  </a:lnTo>
                  <a:lnTo>
                    <a:pt x="15199" y="853751"/>
                  </a:lnTo>
                  <a:lnTo>
                    <a:pt x="4078" y="837255"/>
                  </a:lnTo>
                  <a:lnTo>
                    <a:pt x="0" y="817055"/>
                  </a:lnTo>
                  <a:lnTo>
                    <a:pt x="0" y="51895"/>
                  </a:lnTo>
                  <a:lnTo>
                    <a:pt x="4078" y="31695"/>
                  </a:lnTo>
                  <a:lnTo>
                    <a:pt x="15199" y="15199"/>
                  </a:lnTo>
                  <a:lnTo>
                    <a:pt x="31695" y="4078"/>
                  </a:lnTo>
                  <a:lnTo>
                    <a:pt x="51895" y="0"/>
                  </a:lnTo>
                  <a:lnTo>
                    <a:pt x="259473" y="0"/>
                  </a:lnTo>
                  <a:close/>
                </a:path>
              </a:pathLst>
            </a:custGeom>
            <a:ln w="38100">
              <a:solidFill>
                <a:srgbClr val="FF7F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471" y="2215296"/>
              <a:ext cx="203200" cy="2032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471" y="2461555"/>
              <a:ext cx="203200" cy="2032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9471" y="2707815"/>
              <a:ext cx="203200" cy="203200"/>
            </a:xfrm>
            <a:prstGeom prst="rect">
              <a:avLst/>
            </a:prstGeom>
          </p:spPr>
        </p:pic>
      </p:grpSp>
      <p:sp>
        <p:nvSpPr>
          <p:cNvPr id="42" name="object 42"/>
          <p:cNvSpPr/>
          <p:nvPr/>
        </p:nvSpPr>
        <p:spPr>
          <a:xfrm>
            <a:off x="2318810" y="2624267"/>
            <a:ext cx="1898809" cy="247650"/>
          </a:xfrm>
          <a:custGeom>
            <a:avLst/>
            <a:gdLst/>
            <a:ahLst/>
            <a:cxnLst/>
            <a:rect l="l" t="t" r="r" b="b"/>
            <a:pathLst>
              <a:path w="2531745" h="330200">
                <a:moveTo>
                  <a:pt x="2531629" y="0"/>
                </a:moveTo>
                <a:lnTo>
                  <a:pt x="0" y="0"/>
                </a:lnTo>
                <a:lnTo>
                  <a:pt x="0" y="330006"/>
                </a:lnTo>
                <a:lnTo>
                  <a:pt x="2531629" y="330006"/>
                </a:lnTo>
                <a:lnTo>
                  <a:pt x="25316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2460625" y="2623184"/>
            <a:ext cx="1669733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500" spc="-15" dirty="0">
                <a:solidFill>
                  <a:srgbClr val="D9D9D9"/>
                </a:solidFill>
                <a:latin typeface="Tahoma"/>
                <a:cs typeface="Tahoma"/>
              </a:rPr>
              <a:t>Self-</a:t>
            </a:r>
            <a:r>
              <a:rPr sz="1500" dirty="0">
                <a:solidFill>
                  <a:srgbClr val="D9D9D9"/>
                </a:solidFill>
                <a:latin typeface="Tahoma"/>
                <a:cs typeface="Tahoma"/>
              </a:rPr>
              <a:t>attention</a:t>
            </a:r>
            <a:r>
              <a:rPr sz="1500" spc="4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500" spc="26" dirty="0">
                <a:solidFill>
                  <a:srgbClr val="D9D9D9"/>
                </a:solidFill>
                <a:latin typeface="Tahoma"/>
                <a:cs typeface="Tahoma"/>
              </a:rPr>
              <a:t>Head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154536" y="2308002"/>
            <a:ext cx="3038475" cy="345757"/>
          </a:xfrm>
          <a:custGeom>
            <a:avLst/>
            <a:gdLst/>
            <a:ahLst/>
            <a:cxnLst/>
            <a:rect l="l" t="t" r="r" b="b"/>
            <a:pathLst>
              <a:path w="4051300" h="461010">
                <a:moveTo>
                  <a:pt x="268744" y="243497"/>
                </a:moveTo>
                <a:lnTo>
                  <a:pt x="134378" y="56388"/>
                </a:lnTo>
                <a:lnTo>
                  <a:pt x="0" y="243497"/>
                </a:lnTo>
                <a:lnTo>
                  <a:pt x="97320" y="243497"/>
                </a:lnTo>
                <a:lnTo>
                  <a:pt x="97320" y="460933"/>
                </a:lnTo>
                <a:lnTo>
                  <a:pt x="171424" y="460933"/>
                </a:lnTo>
                <a:lnTo>
                  <a:pt x="171424" y="243497"/>
                </a:lnTo>
                <a:lnTo>
                  <a:pt x="268744" y="243497"/>
                </a:lnTo>
                <a:close/>
              </a:path>
              <a:path w="4051300" h="461010">
                <a:moveTo>
                  <a:pt x="2164003" y="208927"/>
                </a:moveTo>
                <a:lnTo>
                  <a:pt x="2029625" y="21818"/>
                </a:lnTo>
                <a:lnTo>
                  <a:pt x="1895259" y="208927"/>
                </a:lnTo>
                <a:lnTo>
                  <a:pt x="1992579" y="208927"/>
                </a:lnTo>
                <a:lnTo>
                  <a:pt x="1992579" y="426364"/>
                </a:lnTo>
                <a:lnTo>
                  <a:pt x="2066683" y="426364"/>
                </a:lnTo>
                <a:lnTo>
                  <a:pt x="2066683" y="208927"/>
                </a:lnTo>
                <a:lnTo>
                  <a:pt x="2164003" y="208927"/>
                </a:lnTo>
                <a:close/>
              </a:path>
              <a:path w="4051300" h="461010">
                <a:moveTo>
                  <a:pt x="4050766" y="187109"/>
                </a:moveTo>
                <a:lnTo>
                  <a:pt x="3916388" y="0"/>
                </a:lnTo>
                <a:lnTo>
                  <a:pt x="3782022" y="187109"/>
                </a:lnTo>
                <a:lnTo>
                  <a:pt x="3879342" y="187109"/>
                </a:lnTo>
                <a:lnTo>
                  <a:pt x="3879342" y="404533"/>
                </a:lnTo>
                <a:lnTo>
                  <a:pt x="3953446" y="404533"/>
                </a:lnTo>
                <a:lnTo>
                  <a:pt x="3953446" y="187109"/>
                </a:lnTo>
                <a:lnTo>
                  <a:pt x="4050766" y="187109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0662" y="192785"/>
            <a:ext cx="6782276" cy="4813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235"/>
            <a:r>
              <a:rPr sz="2100" spc="-8" dirty="0">
                <a:latin typeface="Tahoma"/>
                <a:cs typeface="Tahoma"/>
              </a:rPr>
              <a:t>Self-Attention</a:t>
            </a:r>
            <a:endParaRPr sz="2100">
              <a:latin typeface="Tahoma"/>
              <a:cs typeface="Tahoma"/>
            </a:endParaRPr>
          </a:p>
          <a:p>
            <a:pPr marL="442913">
              <a:spcBef>
                <a:spcPts val="1391"/>
              </a:spcBef>
            </a:pPr>
            <a:r>
              <a:rPr sz="1500" spc="-45" dirty="0">
                <a:latin typeface="Tahoma"/>
                <a:cs typeface="Tahoma"/>
              </a:rPr>
              <a:t>Tada!</a:t>
            </a:r>
            <a:r>
              <a:rPr sz="1500" spc="8" dirty="0">
                <a:latin typeface="Tahoma"/>
                <a:cs typeface="Tahoma"/>
              </a:rPr>
              <a:t> </a:t>
            </a:r>
            <a:r>
              <a:rPr sz="1500" spc="90" dirty="0">
                <a:latin typeface="Tahoma"/>
                <a:cs typeface="Tahoma"/>
              </a:rPr>
              <a:t>Now</a:t>
            </a:r>
            <a:r>
              <a:rPr sz="1500" spc="1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have</a:t>
            </a:r>
            <a:r>
              <a:rPr sz="1500" spc="1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great,</a:t>
            </a:r>
            <a:r>
              <a:rPr sz="1500" spc="11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new</a:t>
            </a:r>
            <a:r>
              <a:rPr sz="1500" spc="8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representations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2194" baseline="1424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406" baseline="-17777" dirty="0">
                <a:solidFill>
                  <a:srgbClr val="DE55B3"/>
                </a:solidFill>
                <a:latin typeface="Tahoma"/>
                <a:cs typeface="Tahoma"/>
              </a:rPr>
              <a:t>i</a:t>
            </a:r>
            <a:r>
              <a:rPr sz="1406" spc="304" baseline="-17777" dirty="0">
                <a:solidFill>
                  <a:srgbClr val="DE55B3"/>
                </a:solidFill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via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spc="-8" dirty="0">
                <a:latin typeface="Tahoma"/>
                <a:cs typeface="Tahoma"/>
              </a:rPr>
              <a:t>self-</a:t>
            </a:r>
            <a:r>
              <a:rPr sz="1500" dirty="0">
                <a:latin typeface="Tahoma"/>
                <a:cs typeface="Tahoma"/>
              </a:rPr>
              <a:t>attention</a:t>
            </a:r>
            <a:r>
              <a:rPr sz="1500" spc="11" dirty="0">
                <a:latin typeface="Tahoma"/>
                <a:cs typeface="Tahoma"/>
              </a:rPr>
              <a:t> </a:t>
            </a:r>
            <a:r>
              <a:rPr sz="1500" spc="-15" dirty="0">
                <a:latin typeface="Tahoma"/>
                <a:cs typeface="Tahoma"/>
              </a:rPr>
              <a:t>head</a:t>
            </a:r>
            <a:endParaRPr sz="1500">
              <a:latin typeface="Tahoma"/>
              <a:cs typeface="Tahoma"/>
            </a:endParaRPr>
          </a:p>
          <a:p>
            <a:pPr marL="642461">
              <a:spcBef>
                <a:spcPts val="832"/>
              </a:spcBef>
              <a:tabLst>
                <a:tab pos="2225993" algn="l"/>
                <a:tab pos="3645218" algn="l"/>
                <a:tab pos="5063966" algn="l"/>
              </a:tabLst>
            </a:pPr>
            <a:r>
              <a:rPr sz="1763" spc="-19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744" spc="-28" baseline="-17921" dirty="0">
                <a:solidFill>
                  <a:srgbClr val="DE55B3"/>
                </a:solidFill>
                <a:latin typeface="Tahoma"/>
                <a:cs typeface="Tahoma"/>
              </a:rPr>
              <a:t>1</a:t>
            </a:r>
            <a:r>
              <a:rPr sz="1744" baseline="-17921" dirty="0">
                <a:solidFill>
                  <a:srgbClr val="DE55B3"/>
                </a:solidFill>
                <a:latin typeface="Tahoma"/>
                <a:cs typeface="Tahoma"/>
              </a:rPr>
              <a:t>	</a:t>
            </a:r>
            <a:r>
              <a:rPr sz="2644" spc="-28" baseline="5910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744" spc="-28" baseline="-8960" dirty="0">
                <a:solidFill>
                  <a:srgbClr val="DE55B3"/>
                </a:solidFill>
                <a:latin typeface="Tahoma"/>
                <a:cs typeface="Tahoma"/>
              </a:rPr>
              <a:t>2</a:t>
            </a:r>
            <a:r>
              <a:rPr sz="1744" baseline="-8960" dirty="0">
                <a:solidFill>
                  <a:srgbClr val="DE55B3"/>
                </a:solidFill>
                <a:latin typeface="Tahoma"/>
                <a:cs typeface="Tahoma"/>
              </a:rPr>
              <a:t>	</a:t>
            </a:r>
            <a:r>
              <a:rPr sz="2644" spc="-28" baseline="3546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744" spc="-28" baseline="-12544" dirty="0">
                <a:solidFill>
                  <a:srgbClr val="DE55B3"/>
                </a:solidFill>
                <a:latin typeface="Tahoma"/>
                <a:cs typeface="Tahoma"/>
              </a:rPr>
              <a:t>3</a:t>
            </a:r>
            <a:r>
              <a:rPr sz="1744" baseline="-12544" dirty="0">
                <a:solidFill>
                  <a:srgbClr val="DE55B3"/>
                </a:solidFill>
                <a:latin typeface="Tahoma"/>
                <a:cs typeface="Tahoma"/>
              </a:rPr>
              <a:t>	</a:t>
            </a:r>
            <a:r>
              <a:rPr sz="2644" spc="-28" baseline="13002" dirty="0">
                <a:solidFill>
                  <a:srgbClr val="DE55B3"/>
                </a:solidFill>
                <a:latin typeface="Tahoma"/>
                <a:cs typeface="Tahoma"/>
              </a:rPr>
              <a:t>z</a:t>
            </a:r>
            <a:r>
              <a:rPr sz="1744" spc="-28" baseline="1792" dirty="0">
                <a:solidFill>
                  <a:srgbClr val="DE55B3"/>
                </a:solidFill>
                <a:latin typeface="Tahoma"/>
                <a:cs typeface="Tahoma"/>
              </a:rPr>
              <a:t>4</a:t>
            </a:r>
            <a:endParaRPr sz="1744" baseline="1792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63">
              <a:latin typeface="Tahoma"/>
              <a:cs typeface="Tahoma"/>
            </a:endParaRPr>
          </a:p>
          <a:p>
            <a:pPr>
              <a:spcBef>
                <a:spcPts val="1298"/>
              </a:spcBef>
            </a:pPr>
            <a:endParaRPr sz="1163">
              <a:latin typeface="Tahoma"/>
              <a:cs typeface="Tahoma"/>
            </a:endParaRPr>
          </a:p>
          <a:p>
            <a:pPr marL="494824">
              <a:spcBef>
                <a:spcPts val="4"/>
              </a:spcBef>
              <a:tabLst>
                <a:tab pos="827246" algn="l"/>
                <a:tab pos="1111091" algn="l"/>
                <a:tab pos="1966913" algn="l"/>
                <a:tab pos="2299335" algn="l"/>
                <a:tab pos="2583180" algn="l"/>
                <a:tab pos="3469958" algn="l"/>
                <a:tab pos="3802380" algn="l"/>
                <a:tab pos="4086225" algn="l"/>
                <a:tab pos="4940618" algn="l"/>
                <a:tab pos="5273040" algn="l"/>
                <a:tab pos="5556885" algn="l"/>
              </a:tabLst>
            </a:pP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1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1</a:t>
            </a:r>
            <a:r>
              <a:rPr sz="1294" baseline="-14492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12077" dirty="0">
                <a:solidFill>
                  <a:srgbClr val="1F4E79"/>
                </a:solidFill>
                <a:latin typeface="Tahoma"/>
                <a:cs typeface="Tahoma"/>
              </a:rPr>
              <a:t>1</a:t>
            </a:r>
            <a:r>
              <a:rPr sz="1294" baseline="-12077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313" spc="45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14492" dirty="0">
                <a:solidFill>
                  <a:srgbClr val="7030A0"/>
                </a:solidFill>
                <a:latin typeface="Tahoma"/>
                <a:cs typeface="Tahoma"/>
              </a:rPr>
              <a:t>2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2</a:t>
            </a:r>
            <a:r>
              <a:rPr sz="1294" baseline="-14492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1587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9661" dirty="0">
                <a:solidFill>
                  <a:srgbClr val="1F4E79"/>
                </a:solidFill>
                <a:latin typeface="Tahoma"/>
                <a:cs typeface="Tahoma"/>
              </a:rPr>
              <a:t>2</a:t>
            </a:r>
            <a:r>
              <a:rPr sz="1294" baseline="-9661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313" spc="38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56" baseline="-14492" dirty="0">
                <a:solidFill>
                  <a:srgbClr val="7030A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313" spc="-19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14492" dirty="0">
                <a:solidFill>
                  <a:srgbClr val="7F6000"/>
                </a:solidFill>
                <a:latin typeface="Tahoma"/>
                <a:cs typeface="Tahoma"/>
              </a:rPr>
              <a:t>3</a:t>
            </a:r>
            <a:r>
              <a:rPr sz="1294" baseline="-14492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3174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9661" dirty="0">
                <a:solidFill>
                  <a:srgbClr val="1F4E79"/>
                </a:solidFill>
                <a:latin typeface="Tahoma"/>
                <a:cs typeface="Tahoma"/>
              </a:rPr>
              <a:t>3</a:t>
            </a:r>
            <a:r>
              <a:rPr sz="1294" baseline="-9661" dirty="0">
                <a:solidFill>
                  <a:srgbClr val="1F4E79"/>
                </a:solidFill>
                <a:latin typeface="Tahoma"/>
                <a:cs typeface="Tahoma"/>
              </a:rPr>
              <a:t>	</a:t>
            </a:r>
            <a:r>
              <a:rPr sz="1969" spc="67" baseline="3174" dirty="0">
                <a:solidFill>
                  <a:srgbClr val="7030A0"/>
                </a:solidFill>
                <a:latin typeface="Tahoma"/>
                <a:cs typeface="Tahoma"/>
              </a:rPr>
              <a:t>q</a:t>
            </a:r>
            <a:r>
              <a:rPr sz="1294" spc="67" baseline="-9661" dirty="0">
                <a:solidFill>
                  <a:srgbClr val="7030A0"/>
                </a:solidFill>
                <a:latin typeface="Tahoma"/>
                <a:cs typeface="Tahoma"/>
              </a:rPr>
              <a:t>4</a:t>
            </a:r>
            <a:r>
              <a:rPr sz="1294" baseline="-9661" dirty="0">
                <a:solidFill>
                  <a:srgbClr val="7030A0"/>
                </a:solidFill>
                <a:latin typeface="Tahoma"/>
                <a:cs typeface="Tahoma"/>
              </a:rPr>
              <a:t>	</a:t>
            </a:r>
            <a:r>
              <a:rPr sz="1969" spc="-28" baseline="3174" dirty="0">
                <a:solidFill>
                  <a:srgbClr val="7F6000"/>
                </a:solidFill>
                <a:latin typeface="Tahoma"/>
                <a:cs typeface="Tahoma"/>
              </a:rPr>
              <a:t>k</a:t>
            </a:r>
            <a:r>
              <a:rPr sz="1294" spc="-28" baseline="-9661" dirty="0">
                <a:solidFill>
                  <a:srgbClr val="7F6000"/>
                </a:solidFill>
                <a:latin typeface="Tahoma"/>
                <a:cs typeface="Tahoma"/>
              </a:rPr>
              <a:t>4</a:t>
            </a:r>
            <a:r>
              <a:rPr sz="1294" baseline="-9661" dirty="0">
                <a:solidFill>
                  <a:srgbClr val="7F6000"/>
                </a:solidFill>
                <a:latin typeface="Tahoma"/>
                <a:cs typeface="Tahoma"/>
              </a:rPr>
              <a:t>	</a:t>
            </a:r>
            <a:r>
              <a:rPr sz="1969" spc="-28" baseline="4761" dirty="0">
                <a:solidFill>
                  <a:srgbClr val="1F4E79"/>
                </a:solidFill>
                <a:latin typeface="Tahoma"/>
                <a:cs typeface="Tahoma"/>
              </a:rPr>
              <a:t>v</a:t>
            </a:r>
            <a:r>
              <a:rPr sz="1294" spc="-28" baseline="-7246" dirty="0">
                <a:solidFill>
                  <a:srgbClr val="1F4E79"/>
                </a:solidFill>
                <a:latin typeface="Tahoma"/>
                <a:cs typeface="Tahoma"/>
              </a:rPr>
              <a:t>4</a:t>
            </a:r>
            <a:endParaRPr sz="1294" baseline="-7246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63">
              <a:latin typeface="Tahoma"/>
              <a:cs typeface="Tahoma"/>
            </a:endParaRPr>
          </a:p>
          <a:p>
            <a:pPr>
              <a:spcBef>
                <a:spcPts val="270"/>
              </a:spcBef>
            </a:pPr>
            <a:endParaRPr sz="863">
              <a:latin typeface="Tahoma"/>
              <a:cs typeface="Tahoma"/>
            </a:endParaRPr>
          </a:p>
          <a:p>
            <a:pPr>
              <a:lnSpc>
                <a:spcPts val="2078"/>
              </a:lnSpc>
              <a:spcBef>
                <a:spcPts val="4"/>
              </a:spcBef>
              <a:tabLst>
                <a:tab pos="1417320" algn="l"/>
                <a:tab pos="2981325" algn="l"/>
                <a:tab pos="4526756" algn="l"/>
              </a:tabLst>
            </a:pPr>
            <a:r>
              <a:rPr sz="2700" spc="-28" baseline="-5787" dirty="0">
                <a:latin typeface="Tahoma"/>
                <a:cs typeface="Tahoma"/>
              </a:rPr>
              <a:t>The</a:t>
            </a:r>
            <a:r>
              <a:rPr sz="2700" baseline="-5787" dirty="0">
                <a:latin typeface="Tahoma"/>
                <a:cs typeface="Tahoma"/>
              </a:rPr>
              <a:t>	</a:t>
            </a:r>
            <a:r>
              <a:rPr spc="-15" dirty="0">
                <a:latin typeface="Tahoma"/>
                <a:cs typeface="Tahoma"/>
              </a:rPr>
              <a:t>brown</a:t>
            </a:r>
            <a:r>
              <a:rPr dirty="0">
                <a:latin typeface="Tahoma"/>
                <a:cs typeface="Tahoma"/>
              </a:rPr>
              <a:t>	</a:t>
            </a:r>
            <a:r>
              <a:rPr spc="75" dirty="0">
                <a:latin typeface="Tahoma"/>
                <a:cs typeface="Tahoma"/>
              </a:rPr>
              <a:t>dog</a:t>
            </a:r>
            <a:r>
              <a:rPr dirty="0">
                <a:latin typeface="Tahoma"/>
                <a:cs typeface="Tahoma"/>
              </a:rPr>
              <a:t>	</a:t>
            </a:r>
            <a:r>
              <a:rPr sz="2700" spc="-28" baseline="-4629" dirty="0">
                <a:latin typeface="Tahoma"/>
                <a:cs typeface="Tahoma"/>
              </a:rPr>
              <a:t>ran</a:t>
            </a:r>
            <a:endParaRPr sz="2700" baseline="-4629">
              <a:latin typeface="Tahoma"/>
              <a:cs typeface="Tahoma"/>
            </a:endParaRPr>
          </a:p>
          <a:p>
            <a:pPr marL="133350">
              <a:lnSpc>
                <a:spcPts val="1718"/>
              </a:lnSpc>
              <a:tabLst>
                <a:tab pos="1641158" algn="l"/>
                <a:tab pos="3126581" algn="l"/>
                <a:tab pos="4639151" algn="l"/>
              </a:tabLst>
            </a:pPr>
            <a:r>
              <a:rPr sz="2250" spc="-28" baseline="-5555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25641" dirty="0">
                <a:solidFill>
                  <a:srgbClr val="0070C0"/>
                </a:solidFill>
                <a:latin typeface="Tahoma"/>
                <a:cs typeface="Tahoma"/>
              </a:rPr>
              <a:t>1</a:t>
            </a:r>
            <a:r>
              <a:rPr sz="1463" baseline="-25641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2250" spc="-28" baseline="2777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2820" dirty="0">
                <a:solidFill>
                  <a:srgbClr val="0070C0"/>
                </a:solidFill>
                <a:latin typeface="Tahoma"/>
                <a:cs typeface="Tahoma"/>
              </a:rPr>
              <a:t>2</a:t>
            </a:r>
            <a:r>
              <a:rPr sz="1463" baseline="-12820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3</a:t>
            </a:r>
            <a:r>
              <a:rPr sz="1463" baseline="-17094" dirty="0">
                <a:solidFill>
                  <a:srgbClr val="0070C0"/>
                </a:solidFill>
                <a:latin typeface="Tahoma"/>
                <a:cs typeface="Tahoma"/>
              </a:rPr>
              <a:t>	</a:t>
            </a:r>
            <a:r>
              <a:rPr sz="1500" spc="-19" dirty="0">
                <a:solidFill>
                  <a:srgbClr val="0070C0"/>
                </a:solidFill>
                <a:latin typeface="Tahoma"/>
                <a:cs typeface="Tahoma"/>
              </a:rPr>
              <a:t>x</a:t>
            </a:r>
            <a:r>
              <a:rPr sz="1463" spc="-28" baseline="-17094" dirty="0">
                <a:solidFill>
                  <a:srgbClr val="0070C0"/>
                </a:solidFill>
                <a:latin typeface="Tahoma"/>
                <a:cs typeface="Tahoma"/>
              </a:rPr>
              <a:t>4</a:t>
            </a:r>
            <a:endParaRPr sz="1463" baseline="-17094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5917" y="83914"/>
            <a:ext cx="8892540" cy="4935379"/>
            <a:chOff x="167889" y="111885"/>
            <a:chExt cx="11856720" cy="6580505"/>
          </a:xfrm>
        </p:grpSpPr>
        <p:sp>
          <p:nvSpPr>
            <p:cNvPr id="4" name="object 4"/>
            <p:cNvSpPr/>
            <p:nvPr/>
          </p:nvSpPr>
          <p:spPr>
            <a:xfrm>
              <a:off x="167889" y="111885"/>
              <a:ext cx="11856720" cy="6580505"/>
            </a:xfrm>
            <a:custGeom>
              <a:avLst/>
              <a:gdLst/>
              <a:ahLst/>
              <a:cxnLst/>
              <a:rect l="l" t="t" r="r" b="b"/>
              <a:pathLst>
                <a:path w="11856720" h="6580505">
                  <a:moveTo>
                    <a:pt x="11856222" y="0"/>
                  </a:moveTo>
                  <a:lnTo>
                    <a:pt x="0" y="0"/>
                  </a:lnTo>
                  <a:lnTo>
                    <a:pt x="0" y="6580146"/>
                  </a:lnTo>
                  <a:lnTo>
                    <a:pt x="11856222" y="6580146"/>
                  </a:lnTo>
                  <a:lnTo>
                    <a:pt x="11856222" y="0"/>
                  </a:lnTo>
                  <a:close/>
                </a:path>
              </a:pathLst>
            </a:custGeom>
            <a:solidFill>
              <a:srgbClr val="FFFFFF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0986" y="258125"/>
              <a:ext cx="9177474" cy="5032693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/>
          <p:nvPr/>
        </p:nvSpPr>
        <p:spPr>
          <a:xfrm>
            <a:off x="2002155" y="903118"/>
            <a:ext cx="1230154" cy="326597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063" spc="-30" dirty="0">
                <a:latin typeface="Tahoma"/>
                <a:cs typeface="Tahoma"/>
              </a:rPr>
              <a:t>Takeaway:</a:t>
            </a:r>
            <a:endParaRPr sz="2063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02155" y="1548003"/>
            <a:ext cx="4573429" cy="980076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 marR="3810">
              <a:lnSpc>
                <a:spcPct val="99600"/>
              </a:lnSpc>
              <a:spcBef>
                <a:spcPts val="83"/>
              </a:spcBef>
            </a:pPr>
            <a:r>
              <a:rPr sz="3094" baseline="1010" dirty="0">
                <a:solidFill>
                  <a:srgbClr val="C00000"/>
                </a:solidFill>
                <a:latin typeface="Tahoma"/>
                <a:cs typeface="Tahoma"/>
              </a:rPr>
              <a:t>Self-</a:t>
            </a:r>
            <a:r>
              <a:rPr sz="3094" spc="73" baseline="1010" dirty="0">
                <a:solidFill>
                  <a:srgbClr val="C00000"/>
                </a:solidFill>
                <a:latin typeface="Tahoma"/>
                <a:cs typeface="Tahoma"/>
              </a:rPr>
              <a:t>Attention</a:t>
            </a:r>
            <a:r>
              <a:rPr sz="3094" spc="-107" baseline="101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86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powerful;</a:t>
            </a:r>
            <a:r>
              <a:rPr sz="2100" spc="-86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allows</a:t>
            </a:r>
            <a:r>
              <a:rPr sz="2100" spc="-86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us</a:t>
            </a:r>
            <a:r>
              <a:rPr sz="2100" spc="-86" dirty="0">
                <a:latin typeface="Tahoma"/>
                <a:cs typeface="Tahoma"/>
              </a:rPr>
              <a:t> </a:t>
            </a:r>
            <a:r>
              <a:rPr sz="2100" spc="19" dirty="0">
                <a:latin typeface="Tahoma"/>
                <a:cs typeface="Tahoma"/>
              </a:rPr>
              <a:t>to </a:t>
            </a:r>
            <a:r>
              <a:rPr sz="2100" dirty="0">
                <a:latin typeface="Tahoma"/>
                <a:cs typeface="Tahoma"/>
              </a:rPr>
              <a:t>create</a:t>
            </a:r>
            <a:r>
              <a:rPr sz="2100" spc="-41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great,</a:t>
            </a:r>
            <a:r>
              <a:rPr sz="2100" spc="-49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context-</a:t>
            </a:r>
            <a:r>
              <a:rPr sz="2100" spc="-8" dirty="0">
                <a:latin typeface="Tahoma"/>
                <a:cs typeface="Tahoma"/>
              </a:rPr>
              <a:t>aware representations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5025</Words>
  <Application>Microsoft Office PowerPoint</Application>
  <PresentationFormat>On-screen Show (16:9)</PresentationFormat>
  <Paragraphs>1726</Paragraphs>
  <Slides>82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91" baseType="lpstr">
      <vt:lpstr>Arial</vt:lpstr>
      <vt:lpstr>Arial MT</vt:lpstr>
      <vt:lpstr>Calibri</vt:lpstr>
      <vt:lpstr>Cambria Math</vt:lpstr>
      <vt:lpstr>Tahoma</vt:lpstr>
      <vt:lpstr>Times New Roman</vt:lpstr>
      <vt:lpstr>Trebuchet MS</vt:lpstr>
      <vt:lpstr>Wingdings</vt:lpstr>
      <vt:lpstr>Office Theme</vt:lpstr>
      <vt:lpstr> Recurrent Neural Networks</vt:lpstr>
      <vt:lpstr>“Vanilla” Neural Network</vt:lpstr>
      <vt:lpstr>Recurrent Neural Networks: Process Sequences</vt:lpstr>
      <vt:lpstr>Recurrent Neural Networks: Process Sequences</vt:lpstr>
      <vt:lpstr>Recurrent Neural Networks: Process Sequences</vt:lpstr>
      <vt:lpstr>Recurrent Neural Networks: Process Sequences</vt:lpstr>
      <vt:lpstr>Recurrent Neural Network</vt:lpstr>
      <vt:lpstr>Recurrent Neural Network</vt:lpstr>
      <vt:lpstr>Unrolled RNN</vt:lpstr>
      <vt:lpstr>RNN hidden state update</vt:lpstr>
      <vt:lpstr>RNN output generation</vt:lpstr>
      <vt:lpstr>Recurrent Neural Network</vt:lpstr>
      <vt:lpstr>Recurrent Neural Network</vt:lpstr>
      <vt:lpstr>(Vanilla) Recurrent Neural Network The state consists of a single “hidden” vector h:</vt:lpstr>
      <vt:lpstr>RNN: Computational Graph</vt:lpstr>
      <vt:lpstr>RNN: Computational Graph</vt:lpstr>
      <vt:lpstr>RNN: Computational Graph</vt:lpstr>
      <vt:lpstr>RNN: Computational Graph</vt:lpstr>
      <vt:lpstr>RNN: Computational Graph: Many to Many</vt:lpstr>
      <vt:lpstr>RNN: Computational Graph: Many to Many</vt:lpstr>
      <vt:lpstr>RNN: Computational Graph: Many to Many</vt:lpstr>
      <vt:lpstr>RNN: Computational Graph: Many to One</vt:lpstr>
      <vt:lpstr>RNN: Computational Graph: Many to One</vt:lpstr>
      <vt:lpstr>RNN: Computational Graph: One to Many</vt:lpstr>
      <vt:lpstr>Long Short Term Memory (LSTM)</vt:lpstr>
      <vt:lpstr>Vanilla RNN Gradient Flow</vt:lpstr>
      <vt:lpstr>Vanilla RNN Gradient Flow</vt:lpstr>
      <vt:lpstr>Vanilla RNN Gradient Flow</vt:lpstr>
      <vt:lpstr>Do LSTMs solve the vanishing gradient problem?</vt:lpstr>
      <vt:lpstr>Other RNN Variants</vt:lpstr>
      <vt:lpstr>Summary</vt:lpstr>
      <vt:lpstr>Attention and Transformers</vt:lpstr>
      <vt:lpstr>PowerPoint Presentation</vt:lpstr>
      <vt:lpstr>PowerPoint Presentation</vt:lpstr>
      <vt:lpstr>Outline</vt:lpstr>
      <vt:lpstr>Outline</vt:lpstr>
      <vt:lpstr>seq2seq + Attention</vt:lpstr>
      <vt:lpstr>seq2seq + Attention</vt:lpstr>
      <vt:lpstr>seq2seq + Attention</vt:lpstr>
      <vt:lpstr>seq2seq + Attention</vt:lpstr>
      <vt:lpstr>seq2seq + Attention</vt:lpstr>
      <vt:lpstr>seq2seq + Attention</vt:lpstr>
      <vt:lpstr>seq2seq + Attention</vt:lpstr>
      <vt:lpstr>seq2seq + Attention</vt:lpstr>
      <vt:lpstr>seq2seq + Attention</vt:lpstr>
      <vt:lpstr>seq2seq + Attention</vt:lpstr>
      <vt:lpstr>seq2seq + Attention</vt:lpstr>
      <vt:lpstr>seq2seq + Attention</vt:lpstr>
      <vt:lpstr>seq2seq + Attention</vt:lpstr>
      <vt:lpstr>For convenience, here’s the Attention calculation summarized on 1 slide</vt:lpstr>
      <vt:lpstr>For convenience, here’s the Attention calculation summarized on 1 slide</vt:lpstr>
      <vt:lpstr>Popular Attention Scoring functions:</vt:lpstr>
      <vt:lpstr>seq2seq + Attention</vt:lpstr>
      <vt:lpstr>Takeaway:</vt:lpstr>
      <vt:lpstr>Outline</vt:lpstr>
      <vt:lpstr>Goals</vt:lpstr>
      <vt:lpstr>Self-Attention</vt:lpstr>
      <vt:lpstr>Self-Attention</vt:lpstr>
      <vt:lpstr>Self-Attention</vt:lpstr>
      <vt:lpstr>Self-Attention</vt:lpstr>
      <vt:lpstr>Self-Attention</vt:lpstr>
      <vt:lpstr>Self-Attention</vt:lpstr>
      <vt:lpstr>Self-Attention</vt:lpstr>
      <vt:lpstr>Self-Attention</vt:lpstr>
      <vt:lpstr>Self-Attention</vt:lpstr>
      <vt:lpstr>Self-Attention</vt:lpstr>
      <vt:lpstr>Self-Attention</vt:lpstr>
      <vt:lpstr>Self-Attention</vt:lpstr>
      <vt:lpstr>Self-Attention</vt:lpstr>
      <vt:lpstr>Self-Attention</vt:lpstr>
      <vt:lpstr>Self-Attention</vt:lpstr>
      <vt:lpstr>Let’s illustrate another example:</vt:lpstr>
      <vt:lpstr>Self-Attention</vt:lpstr>
      <vt:lpstr>Self-Attention</vt:lpstr>
      <vt:lpstr>Self-Attention</vt:lpstr>
      <vt:lpstr>Self-Attention</vt:lpstr>
      <vt:lpstr>Self-Attention</vt:lpstr>
      <vt:lpstr>Self-Attention</vt:lpstr>
      <vt:lpstr>Self-Attention</vt:lpstr>
      <vt:lpstr>Self-Attention</vt:lpstr>
      <vt:lpstr>Self-Attention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10_ RNN.pptx</dc:title>
  <dc:creator>hp</dc:creator>
  <cp:lastModifiedBy>Rahul Vaish</cp:lastModifiedBy>
  <cp:revision>4</cp:revision>
  <dcterms:created xsi:type="dcterms:W3CDTF">2026-06-05T18:01:28Z</dcterms:created>
  <dcterms:modified xsi:type="dcterms:W3CDTF">2026-06-05T18:59:39Z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2026-06-05T00:00:00Z</vt:filetime>
  </property>
  <property fmtid="{D5CDD505-2E9C-101B-9397-08002B2CF9AE}" pid="3" name="Creator">
    <vt:lpwstr>Google</vt:lpwstr>
  </property>
  <property fmtid="{D5CDD505-2E9C-101B-9397-08002B2CF9AE}" pid="4" name="LastSaved">
    <vt:filetime>2026-06-05T00:00:00Z</vt:filetime>
  </property>
</Properties>
</file>